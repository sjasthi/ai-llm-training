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51"/>
  </p:notesMasterIdLst>
  <p:sldIdLst>
    <p:sldId id="256" r:id="rId2"/>
    <p:sldId id="349" r:id="rId3"/>
    <p:sldId id="310" r:id="rId4"/>
    <p:sldId id="311" r:id="rId5"/>
    <p:sldId id="312" r:id="rId6"/>
    <p:sldId id="313" r:id="rId7"/>
    <p:sldId id="315" r:id="rId8"/>
    <p:sldId id="316" r:id="rId9"/>
    <p:sldId id="317" r:id="rId10"/>
    <p:sldId id="318" r:id="rId11"/>
    <p:sldId id="319" r:id="rId12"/>
    <p:sldId id="320" r:id="rId13"/>
    <p:sldId id="321" r:id="rId14"/>
    <p:sldId id="357" r:id="rId15"/>
    <p:sldId id="358" r:id="rId16"/>
    <p:sldId id="322" r:id="rId17"/>
    <p:sldId id="323" r:id="rId18"/>
    <p:sldId id="324" r:id="rId19"/>
    <p:sldId id="257" r:id="rId20"/>
    <p:sldId id="354" r:id="rId21"/>
    <p:sldId id="325" r:id="rId22"/>
    <p:sldId id="326" r:id="rId23"/>
    <p:sldId id="327" r:id="rId24"/>
    <p:sldId id="328" r:id="rId25"/>
    <p:sldId id="329" r:id="rId26"/>
    <p:sldId id="330" r:id="rId27"/>
    <p:sldId id="331" r:id="rId28"/>
    <p:sldId id="332" r:id="rId29"/>
    <p:sldId id="353" r:id="rId30"/>
    <p:sldId id="333" r:id="rId31"/>
    <p:sldId id="334" r:id="rId32"/>
    <p:sldId id="335" r:id="rId33"/>
    <p:sldId id="336" r:id="rId34"/>
    <p:sldId id="337" r:id="rId35"/>
    <p:sldId id="338" r:id="rId36"/>
    <p:sldId id="339" r:id="rId37"/>
    <p:sldId id="340" r:id="rId38"/>
    <p:sldId id="341" r:id="rId39"/>
    <p:sldId id="356" r:id="rId40"/>
    <p:sldId id="342" r:id="rId41"/>
    <p:sldId id="343" r:id="rId42"/>
    <p:sldId id="344" r:id="rId43"/>
    <p:sldId id="345" r:id="rId44"/>
    <p:sldId id="346" r:id="rId45"/>
    <p:sldId id="347" r:id="rId46"/>
    <p:sldId id="348" r:id="rId47"/>
    <p:sldId id="350" r:id="rId48"/>
    <p:sldId id="351" r:id="rId49"/>
    <p:sldId id="352" r:id="rId50"/>
  </p:sldIdLst>
  <p:sldSz cx="9144000" cy="5143500" type="screen16x9"/>
  <p:notesSz cx="6858000" cy="9144000"/>
  <p:embeddedFontLst>
    <p:embeddedFont>
      <p:font typeface="Lato" panose="020F0502020204030203" pitchFamily="34" charset="0"/>
      <p:regular r:id="rId52"/>
      <p:bold r:id="rId53"/>
      <p:italic r:id="rId54"/>
      <p:boldItalic r:id="rId55"/>
    </p:embeddedFont>
    <p:embeddedFont>
      <p:font typeface="Raleway" pitchFamily="2" charset="0"/>
      <p:regular r:id="rId56"/>
      <p:bold r:id="rId57"/>
      <p:italic r:id="rId58"/>
      <p:boldItalic r:id="rId59"/>
    </p:embeddedFont>
    <p:embeddedFont>
      <p:font typeface="Segoe UI" panose="020B0502040204020203" pitchFamily="34" charset="0"/>
      <p:regular r:id="rId60"/>
      <p:bold r:id="rId61"/>
      <p:italic r:id="rId62"/>
      <p:boldItalic r:id="rId6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5" roundtripDataSignature="AMtx7miKoCctrl6jxTwhlD6g4DECZGgM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78B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588" autoAdjust="0"/>
  </p:normalViewPr>
  <p:slideViewPr>
    <p:cSldViewPr snapToGrid="0">
      <p:cViewPr varScale="1">
        <p:scale>
          <a:sx n="127" d="100"/>
          <a:sy n="127" d="100"/>
        </p:scale>
        <p:origin x="1086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4.fntdata"/><Relationship Id="rId63" Type="http://schemas.openxmlformats.org/officeDocument/2006/relationships/font" Target="fonts/font12.fntdata"/><Relationship Id="rId89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2.fntdata"/><Relationship Id="rId58" Type="http://schemas.openxmlformats.org/officeDocument/2006/relationships/font" Target="fonts/font7.fntdata"/><Relationship Id="rId8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6.fntdata"/><Relationship Id="rId61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1.fntdata"/><Relationship Id="rId60" Type="http://schemas.openxmlformats.org/officeDocument/2006/relationships/font" Target="fonts/font9.fntdata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5.fntdata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85" Type="http://customschemas.google.com/relationships/presentationmetadata" Target="meta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3.fntdata"/><Relationship Id="rId62" Type="http://schemas.openxmlformats.org/officeDocument/2006/relationships/font" Target="fonts/font11.fntdata"/><Relationship Id="rId88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219456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c2ac586c3b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" name="Google Shape;195;g2c2ac586c3b_0_1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6" name="Google Shape;196;g2c2ac586c3b_0_18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academy.constructor.org/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2c2ac586c3b_0_7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" name="Google Shape;15;g2c2ac586c3b_0_7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6" name="Google Shape;16;g2c2ac586c3b_0_7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g2c2ac586c3b_0_7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" name="Google Shape;18;g2c2ac586c3b_0_79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9" name="Google Shape;19;g2c2ac586c3b_0_79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g2c2ac586c3b_0_7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g2c2ac586c3b_0_8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4" name="Google Shape;44;g2c2ac586c3b_0_8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g2c2ac586c3b_0_8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" name="Google Shape;46;g2c2ac586c3b_0_87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g2c2ac586c3b_0_8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2c2ac586c3b_0_9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" name="Google Shape;50;g2c2ac586c3b_0_9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1" name="Google Shape;51;g2c2ac586c3b_0_9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g2c2ac586c3b_0_9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" name="Google Shape;53;g2c2ac586c3b_0_9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4" name="Google Shape;54;g2c2ac586c3b_0_9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g2c2ac586c3b_0_9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c2ac586c3b_0_10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" name="Google Shape;58;g2c2ac586c3b_0_10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9" name="Google Shape;59;g2c2ac586c3b_0_10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g2c2ac586c3b_0_10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" name="Google Shape;61;g2c2ac586c3b_0_101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2" name="Google Shape;62;g2c2ac586c3b_0_101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g2c2ac586c3b_0_101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g2c2ac586c3b_0_10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c2ac586c3b_0_110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" name="Google Shape;67;g2c2ac586c3b_0_110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8" name="Google Shape;68;g2c2ac586c3b_0_11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g2c2ac586c3b_0_11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" name="Google Shape;70;g2c2ac586c3b_0_110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71" name="Google Shape;71;g2c2ac586c3b_0_1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c2ac586c3b_0_11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4" name="Google Shape;74;g2c2ac586c3b_0_11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5" name="Google Shape;75;g2c2ac586c3b_0_11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g2c2ac586c3b_0_11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" name="Google Shape;77;g2c2ac586c3b_0_11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78" name="Google Shape;78;g2c2ac586c3b_0_11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9" name="Google Shape;79;g2c2ac586c3b_0_11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g2c2ac586c3b_0_125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2" name="Google Shape;82;g2c2ac586c3b_0_12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g2c2ac586c3b_0_12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g2c2ac586c3b_0_125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5" name="Google Shape;85;g2c2ac586c3b_0_12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c2ac586c3b_0_13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" name="Google Shape;88;g2c2ac586c3b_0_13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89" name="Google Shape;89;g2c2ac586c3b_0_1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g2c2ac586c3b_0_1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" name="Google Shape;91;g2c2ac586c3b_0_131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92" name="Google Shape;92;g2c2ac586c3b_0_131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3" name="Google Shape;93;g2c2ac586c3b_0_131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4" name="Google Shape;94;g2c2ac586c3b_0_13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c2ac586c3b_0_14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97" name="Google Shape;97;g2c2ac586c3b_0_14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g2c2ac586c3b_0_143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00" name="Google Shape;100;g2c2ac586c3b_0_14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g2c2ac586c3b_0_14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2" name="Google Shape;102;g2c2ac586c3b_0_143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3" name="Google Shape;103;g2c2ac586c3b_0_143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4" name="Google Shape;104;g2c2ac586c3b_0_14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c2ac586c3b_0_15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Cover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c2ac586c3b_0_15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g2c2ac586c3b_0_152"/>
          <p:cNvSpPr/>
          <p:nvPr/>
        </p:nvSpPr>
        <p:spPr>
          <a:xfrm>
            <a:off x="6964680" y="-1"/>
            <a:ext cx="21792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2c2ac586c3b_0_152"/>
          <p:cNvSpPr txBox="1">
            <a:spLocks noGrp="1"/>
          </p:cNvSpPr>
          <p:nvPr>
            <p:ph type="body" idx="1"/>
          </p:nvPr>
        </p:nvSpPr>
        <p:spPr>
          <a:xfrm>
            <a:off x="7348713" y="377070"/>
            <a:ext cx="1433400" cy="32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1" name="Google Shape;111;g2c2ac586c3b_0_152"/>
          <p:cNvSpPr txBox="1">
            <a:spLocks noGrp="1"/>
          </p:cNvSpPr>
          <p:nvPr>
            <p:ph type="body" idx="2"/>
          </p:nvPr>
        </p:nvSpPr>
        <p:spPr>
          <a:xfrm>
            <a:off x="98425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2" name="Google Shape;112;g2c2ac586c3b_0_152"/>
          <p:cNvSpPr txBox="1">
            <a:spLocks noGrp="1"/>
          </p:cNvSpPr>
          <p:nvPr>
            <p:ph type="body" idx="3"/>
          </p:nvPr>
        </p:nvSpPr>
        <p:spPr>
          <a:xfrm>
            <a:off x="1379892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500"/>
              <a:buFont typeface="Arial"/>
              <a:buNone/>
              <a:defRPr sz="15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3" name="Google Shape;113;g2c2ac586c3b_0_152"/>
          <p:cNvSpPr txBox="1">
            <a:spLocks noGrp="1"/>
          </p:cNvSpPr>
          <p:nvPr>
            <p:ph type="body" idx="4"/>
          </p:nvPr>
        </p:nvSpPr>
        <p:spPr>
          <a:xfrm>
            <a:off x="2661359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500"/>
              <a:buFont typeface="Arial"/>
              <a:buNone/>
              <a:defRPr sz="15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4" name="Google Shape;114;g2c2ac586c3b_0_152"/>
          <p:cNvSpPr txBox="1">
            <a:spLocks noGrp="1"/>
          </p:cNvSpPr>
          <p:nvPr>
            <p:ph type="body" idx="5"/>
          </p:nvPr>
        </p:nvSpPr>
        <p:spPr>
          <a:xfrm>
            <a:off x="3942826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500"/>
              <a:buFont typeface="Arial"/>
              <a:buNone/>
              <a:defRPr sz="15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5" name="Google Shape;115;g2c2ac586c3b_0_152"/>
          <p:cNvSpPr txBox="1">
            <a:spLocks noGrp="1"/>
          </p:cNvSpPr>
          <p:nvPr>
            <p:ph type="body" idx="6"/>
          </p:nvPr>
        </p:nvSpPr>
        <p:spPr>
          <a:xfrm>
            <a:off x="650576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500"/>
              <a:buFont typeface="Arial"/>
              <a:buNone/>
              <a:defRPr sz="15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6" name="Google Shape;116;g2c2ac586c3b_0_152"/>
          <p:cNvSpPr txBox="1">
            <a:spLocks noGrp="1"/>
          </p:cNvSpPr>
          <p:nvPr>
            <p:ph type="body" idx="7"/>
          </p:nvPr>
        </p:nvSpPr>
        <p:spPr>
          <a:xfrm>
            <a:off x="778723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500"/>
              <a:buFont typeface="Arial"/>
              <a:buNone/>
              <a:defRPr sz="15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7" name="Google Shape;117;g2c2ac586c3b_0_152"/>
          <p:cNvSpPr txBox="1">
            <a:spLocks noGrp="1"/>
          </p:cNvSpPr>
          <p:nvPr>
            <p:ph type="body" idx="8"/>
          </p:nvPr>
        </p:nvSpPr>
        <p:spPr>
          <a:xfrm>
            <a:off x="5224293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500"/>
              <a:buFont typeface="Arial"/>
              <a:buNone/>
              <a:defRPr sz="15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8" name="Google Shape;118;g2c2ac586c3b_0_152"/>
          <p:cNvSpPr txBox="1">
            <a:spLocks noGrp="1"/>
          </p:cNvSpPr>
          <p:nvPr>
            <p:ph type="title"/>
          </p:nvPr>
        </p:nvSpPr>
        <p:spPr>
          <a:xfrm>
            <a:off x="349075" y="1798320"/>
            <a:ext cx="6135300" cy="18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400"/>
              <a:buFont typeface="Arial"/>
              <a:buNone/>
              <a:defRPr sz="4400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g2c2ac586c3b_0_152"/>
          <p:cNvSpPr txBox="1">
            <a:spLocks noGrp="1"/>
          </p:cNvSpPr>
          <p:nvPr>
            <p:ph type="body" idx="9"/>
          </p:nvPr>
        </p:nvSpPr>
        <p:spPr>
          <a:xfrm>
            <a:off x="349075" y="4182254"/>
            <a:ext cx="6131100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0" name="Google Shape;120;g2c2ac586c3b_0_152"/>
          <p:cNvSpPr/>
          <p:nvPr/>
        </p:nvSpPr>
        <p:spPr>
          <a:xfrm>
            <a:off x="7348714" y="4314941"/>
            <a:ext cx="1433400" cy="4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sng" strike="noStrike" cap="none">
                <a:solidFill>
                  <a:srgbClr val="66B4FF"/>
                </a:solidFill>
                <a:latin typeface="Arial"/>
                <a:ea typeface="Arial"/>
                <a:cs typeface="Arial"/>
                <a:sym typeface="Ari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academy.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sng" strike="noStrike" cap="none">
                <a:solidFill>
                  <a:srgbClr val="66B4FF"/>
                </a:solidFill>
                <a:latin typeface="Arial"/>
                <a:ea typeface="Arial"/>
                <a:cs typeface="Arial"/>
                <a:sym typeface="Ari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constructor.org</a:t>
            </a:r>
            <a:endParaRPr sz="1600" b="0" i="0" u="none" strike="noStrike" cap="none">
              <a:solidFill>
                <a:srgbClr val="66B4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4">
  <p:cSld name="Title and Content_19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e914f250ad_0_1788"/>
          <p:cNvSpPr txBox="1">
            <a:spLocks noGrp="1"/>
          </p:cNvSpPr>
          <p:nvPr>
            <p:ph type="title"/>
          </p:nvPr>
        </p:nvSpPr>
        <p:spPr>
          <a:xfrm>
            <a:off x="383607" y="237317"/>
            <a:ext cx="8365200" cy="4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g2e914f250ad_0_1788"/>
          <p:cNvSpPr txBox="1">
            <a:spLocks noGrp="1"/>
          </p:cNvSpPr>
          <p:nvPr>
            <p:ph type="body" idx="1"/>
          </p:nvPr>
        </p:nvSpPr>
        <p:spPr>
          <a:xfrm>
            <a:off x="383608" y="1957019"/>
            <a:ext cx="8365200" cy="25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21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AutoNum type="alphaLcParenR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00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10"/>
              <a:buFont typeface="Arial"/>
              <a:buAutoNum type="romanLcPeriod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4" name="Google Shape;124;g2e914f250ad_0_1788"/>
          <p:cNvSpPr txBox="1">
            <a:spLocks noGrp="1"/>
          </p:cNvSpPr>
          <p:nvPr>
            <p:ph type="body" idx="2"/>
          </p:nvPr>
        </p:nvSpPr>
        <p:spPr>
          <a:xfrm>
            <a:off x="383607" y="1166813"/>
            <a:ext cx="8364600" cy="5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5" name="Google Shape;125;g2e914f250ad_0_1788"/>
          <p:cNvSpPr txBox="1">
            <a:spLocks noGrp="1"/>
          </p:cNvSpPr>
          <p:nvPr>
            <p:ph type="body" idx="3"/>
          </p:nvPr>
        </p:nvSpPr>
        <p:spPr>
          <a:xfrm>
            <a:off x="383607" y="735013"/>
            <a:ext cx="83652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6" name="Google Shape;126;g2e914f250ad_0_1788"/>
          <p:cNvSpPr txBox="1">
            <a:spLocks noGrp="1"/>
          </p:cNvSpPr>
          <p:nvPr>
            <p:ph type="body" idx="4"/>
          </p:nvPr>
        </p:nvSpPr>
        <p:spPr>
          <a:xfrm>
            <a:off x="98425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" name="Google Shape;127;g2e914f250ad_0_1788"/>
          <p:cNvSpPr txBox="1">
            <a:spLocks noGrp="1"/>
          </p:cNvSpPr>
          <p:nvPr>
            <p:ph type="body" idx="5"/>
          </p:nvPr>
        </p:nvSpPr>
        <p:spPr>
          <a:xfrm>
            <a:off x="1379892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500"/>
              <a:buFont typeface="Arial"/>
              <a:buNone/>
              <a:defRPr sz="15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8" name="Google Shape;128;g2e914f250ad_0_1788"/>
          <p:cNvSpPr txBox="1">
            <a:spLocks noGrp="1"/>
          </p:cNvSpPr>
          <p:nvPr>
            <p:ph type="body" idx="6"/>
          </p:nvPr>
        </p:nvSpPr>
        <p:spPr>
          <a:xfrm>
            <a:off x="2661359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500"/>
              <a:buFont typeface="Arial"/>
              <a:buNone/>
              <a:defRPr sz="15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" name="Google Shape;129;g2e914f250ad_0_1788"/>
          <p:cNvSpPr txBox="1">
            <a:spLocks noGrp="1"/>
          </p:cNvSpPr>
          <p:nvPr>
            <p:ph type="body" idx="7"/>
          </p:nvPr>
        </p:nvSpPr>
        <p:spPr>
          <a:xfrm>
            <a:off x="3942826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500"/>
              <a:buFont typeface="Arial"/>
              <a:buNone/>
              <a:defRPr sz="15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0" name="Google Shape;130;g2e914f250ad_0_1788"/>
          <p:cNvSpPr txBox="1">
            <a:spLocks noGrp="1"/>
          </p:cNvSpPr>
          <p:nvPr>
            <p:ph type="body" idx="8"/>
          </p:nvPr>
        </p:nvSpPr>
        <p:spPr>
          <a:xfrm>
            <a:off x="650576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500"/>
              <a:buFont typeface="Arial"/>
              <a:buNone/>
              <a:defRPr sz="15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1" name="Google Shape;131;g2e914f250ad_0_1788"/>
          <p:cNvSpPr txBox="1">
            <a:spLocks noGrp="1"/>
          </p:cNvSpPr>
          <p:nvPr>
            <p:ph type="body" idx="9"/>
          </p:nvPr>
        </p:nvSpPr>
        <p:spPr>
          <a:xfrm>
            <a:off x="778723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500"/>
              <a:buFont typeface="Arial"/>
              <a:buNone/>
              <a:defRPr sz="15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2" name="Google Shape;132;g2e914f250ad_0_1788"/>
          <p:cNvSpPr txBox="1">
            <a:spLocks noGrp="1"/>
          </p:cNvSpPr>
          <p:nvPr>
            <p:ph type="body" idx="13"/>
          </p:nvPr>
        </p:nvSpPr>
        <p:spPr>
          <a:xfrm>
            <a:off x="5224293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500"/>
              <a:buFont typeface="Arial"/>
              <a:buNone/>
              <a:defRPr sz="15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6">
  <p:cSld name="Title and Content_21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e914f250ad_0_2275"/>
          <p:cNvSpPr txBox="1">
            <a:spLocks noGrp="1"/>
          </p:cNvSpPr>
          <p:nvPr>
            <p:ph type="title"/>
          </p:nvPr>
        </p:nvSpPr>
        <p:spPr>
          <a:xfrm>
            <a:off x="383607" y="237317"/>
            <a:ext cx="8365200" cy="4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g2e914f250ad_0_2275"/>
          <p:cNvSpPr txBox="1">
            <a:spLocks noGrp="1"/>
          </p:cNvSpPr>
          <p:nvPr>
            <p:ph type="body" idx="1"/>
          </p:nvPr>
        </p:nvSpPr>
        <p:spPr>
          <a:xfrm>
            <a:off x="383608" y="1957019"/>
            <a:ext cx="8365200" cy="25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21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AutoNum type="alphaLcParenR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00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10"/>
              <a:buFont typeface="Arial"/>
              <a:buAutoNum type="romanLcPeriod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6" name="Google Shape;136;g2e914f250ad_0_2275"/>
          <p:cNvSpPr txBox="1">
            <a:spLocks noGrp="1"/>
          </p:cNvSpPr>
          <p:nvPr>
            <p:ph type="body" idx="2"/>
          </p:nvPr>
        </p:nvSpPr>
        <p:spPr>
          <a:xfrm>
            <a:off x="383607" y="1166813"/>
            <a:ext cx="8364600" cy="5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7" name="Google Shape;137;g2e914f250ad_0_2275"/>
          <p:cNvSpPr txBox="1">
            <a:spLocks noGrp="1"/>
          </p:cNvSpPr>
          <p:nvPr>
            <p:ph type="body" idx="3"/>
          </p:nvPr>
        </p:nvSpPr>
        <p:spPr>
          <a:xfrm>
            <a:off x="383607" y="735013"/>
            <a:ext cx="83652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8" name="Google Shape;138;g2e914f250ad_0_2275"/>
          <p:cNvSpPr txBox="1">
            <a:spLocks noGrp="1"/>
          </p:cNvSpPr>
          <p:nvPr>
            <p:ph type="body" idx="4"/>
          </p:nvPr>
        </p:nvSpPr>
        <p:spPr>
          <a:xfrm>
            <a:off x="98425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9" name="Google Shape;139;g2e914f250ad_0_2275"/>
          <p:cNvSpPr txBox="1">
            <a:spLocks noGrp="1"/>
          </p:cNvSpPr>
          <p:nvPr>
            <p:ph type="body" idx="5"/>
          </p:nvPr>
        </p:nvSpPr>
        <p:spPr>
          <a:xfrm>
            <a:off x="1379892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500"/>
              <a:buFont typeface="Arial"/>
              <a:buNone/>
              <a:defRPr sz="15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0" name="Google Shape;140;g2e914f250ad_0_2275"/>
          <p:cNvSpPr txBox="1">
            <a:spLocks noGrp="1"/>
          </p:cNvSpPr>
          <p:nvPr>
            <p:ph type="body" idx="6"/>
          </p:nvPr>
        </p:nvSpPr>
        <p:spPr>
          <a:xfrm>
            <a:off x="2661359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500"/>
              <a:buFont typeface="Arial"/>
              <a:buNone/>
              <a:defRPr sz="15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1" name="Google Shape;141;g2e914f250ad_0_2275"/>
          <p:cNvSpPr txBox="1">
            <a:spLocks noGrp="1"/>
          </p:cNvSpPr>
          <p:nvPr>
            <p:ph type="body" idx="7"/>
          </p:nvPr>
        </p:nvSpPr>
        <p:spPr>
          <a:xfrm>
            <a:off x="3942826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500"/>
              <a:buFont typeface="Arial"/>
              <a:buNone/>
              <a:defRPr sz="15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2" name="Google Shape;142;g2e914f250ad_0_2275"/>
          <p:cNvSpPr txBox="1">
            <a:spLocks noGrp="1"/>
          </p:cNvSpPr>
          <p:nvPr>
            <p:ph type="body" idx="8"/>
          </p:nvPr>
        </p:nvSpPr>
        <p:spPr>
          <a:xfrm>
            <a:off x="650576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500"/>
              <a:buFont typeface="Arial"/>
              <a:buNone/>
              <a:defRPr sz="15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" name="Google Shape;143;g2e914f250ad_0_2275"/>
          <p:cNvSpPr txBox="1">
            <a:spLocks noGrp="1"/>
          </p:cNvSpPr>
          <p:nvPr>
            <p:ph type="body" idx="9"/>
          </p:nvPr>
        </p:nvSpPr>
        <p:spPr>
          <a:xfrm>
            <a:off x="778723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500"/>
              <a:buFont typeface="Arial"/>
              <a:buNone/>
              <a:defRPr sz="15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4" name="Google Shape;144;g2e914f250ad_0_2275"/>
          <p:cNvSpPr txBox="1">
            <a:spLocks noGrp="1"/>
          </p:cNvSpPr>
          <p:nvPr>
            <p:ph type="body" idx="13"/>
          </p:nvPr>
        </p:nvSpPr>
        <p:spPr>
          <a:xfrm>
            <a:off x="5224293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500"/>
              <a:buFont typeface="Arial"/>
              <a:buNone/>
              <a:defRPr sz="15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>
  <p:cSld name="Title and Content_22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e914f250ad_0_3222"/>
          <p:cNvSpPr txBox="1">
            <a:spLocks noGrp="1"/>
          </p:cNvSpPr>
          <p:nvPr>
            <p:ph type="title"/>
          </p:nvPr>
        </p:nvSpPr>
        <p:spPr>
          <a:xfrm>
            <a:off x="383607" y="237317"/>
            <a:ext cx="8365200" cy="4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g2e914f250ad_0_3222"/>
          <p:cNvSpPr txBox="1">
            <a:spLocks noGrp="1"/>
          </p:cNvSpPr>
          <p:nvPr>
            <p:ph type="body" idx="1"/>
          </p:nvPr>
        </p:nvSpPr>
        <p:spPr>
          <a:xfrm>
            <a:off x="383608" y="1957019"/>
            <a:ext cx="8365200" cy="25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21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AutoNum type="alphaLcParenR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00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10"/>
              <a:buFont typeface="Arial"/>
              <a:buAutoNum type="romanLcPeriod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8" name="Google Shape;148;g2e914f250ad_0_3222"/>
          <p:cNvSpPr txBox="1">
            <a:spLocks noGrp="1"/>
          </p:cNvSpPr>
          <p:nvPr>
            <p:ph type="body" idx="2"/>
          </p:nvPr>
        </p:nvSpPr>
        <p:spPr>
          <a:xfrm>
            <a:off x="383607" y="1166813"/>
            <a:ext cx="8364600" cy="5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9" name="Google Shape;149;g2e914f250ad_0_3222"/>
          <p:cNvSpPr txBox="1">
            <a:spLocks noGrp="1"/>
          </p:cNvSpPr>
          <p:nvPr>
            <p:ph type="body" idx="3"/>
          </p:nvPr>
        </p:nvSpPr>
        <p:spPr>
          <a:xfrm>
            <a:off x="383607" y="735013"/>
            <a:ext cx="83652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0" name="Google Shape;150;g2e914f250ad_0_3222"/>
          <p:cNvSpPr txBox="1">
            <a:spLocks noGrp="1"/>
          </p:cNvSpPr>
          <p:nvPr>
            <p:ph type="body" idx="4"/>
          </p:nvPr>
        </p:nvSpPr>
        <p:spPr>
          <a:xfrm>
            <a:off x="98425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1" name="Google Shape;151;g2e914f250ad_0_3222"/>
          <p:cNvSpPr txBox="1">
            <a:spLocks noGrp="1"/>
          </p:cNvSpPr>
          <p:nvPr>
            <p:ph type="body" idx="5"/>
          </p:nvPr>
        </p:nvSpPr>
        <p:spPr>
          <a:xfrm>
            <a:off x="1379892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500"/>
              <a:buFont typeface="Arial"/>
              <a:buNone/>
              <a:defRPr sz="15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2" name="Google Shape;152;g2e914f250ad_0_3222"/>
          <p:cNvSpPr txBox="1">
            <a:spLocks noGrp="1"/>
          </p:cNvSpPr>
          <p:nvPr>
            <p:ph type="body" idx="6"/>
          </p:nvPr>
        </p:nvSpPr>
        <p:spPr>
          <a:xfrm>
            <a:off x="2661359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500"/>
              <a:buFont typeface="Arial"/>
              <a:buNone/>
              <a:defRPr sz="15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3" name="Google Shape;153;g2e914f250ad_0_3222"/>
          <p:cNvSpPr txBox="1">
            <a:spLocks noGrp="1"/>
          </p:cNvSpPr>
          <p:nvPr>
            <p:ph type="body" idx="7"/>
          </p:nvPr>
        </p:nvSpPr>
        <p:spPr>
          <a:xfrm>
            <a:off x="3942826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500"/>
              <a:buFont typeface="Arial"/>
              <a:buNone/>
              <a:defRPr sz="15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4" name="Google Shape;154;g2e914f250ad_0_3222"/>
          <p:cNvSpPr txBox="1">
            <a:spLocks noGrp="1"/>
          </p:cNvSpPr>
          <p:nvPr>
            <p:ph type="body" idx="8"/>
          </p:nvPr>
        </p:nvSpPr>
        <p:spPr>
          <a:xfrm>
            <a:off x="650576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500"/>
              <a:buFont typeface="Arial"/>
              <a:buNone/>
              <a:defRPr sz="15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5" name="Google Shape;155;g2e914f250ad_0_3222"/>
          <p:cNvSpPr txBox="1">
            <a:spLocks noGrp="1"/>
          </p:cNvSpPr>
          <p:nvPr>
            <p:ph type="body" idx="9"/>
          </p:nvPr>
        </p:nvSpPr>
        <p:spPr>
          <a:xfrm>
            <a:off x="778723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500"/>
              <a:buFont typeface="Arial"/>
              <a:buNone/>
              <a:defRPr sz="15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6" name="Google Shape;156;g2e914f250ad_0_3222"/>
          <p:cNvSpPr txBox="1">
            <a:spLocks noGrp="1"/>
          </p:cNvSpPr>
          <p:nvPr>
            <p:ph type="body" idx="13"/>
          </p:nvPr>
        </p:nvSpPr>
        <p:spPr>
          <a:xfrm>
            <a:off x="5224293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500"/>
              <a:buFont typeface="Arial"/>
              <a:buNone/>
              <a:defRPr sz="15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 1">
  <p:cSld name="Title and Content_1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e914f250ad_0_3708"/>
          <p:cNvSpPr txBox="1">
            <a:spLocks noGrp="1"/>
          </p:cNvSpPr>
          <p:nvPr>
            <p:ph type="title"/>
          </p:nvPr>
        </p:nvSpPr>
        <p:spPr>
          <a:xfrm>
            <a:off x="383607" y="237317"/>
            <a:ext cx="8365200" cy="4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g2e914f250ad_0_3708"/>
          <p:cNvSpPr txBox="1">
            <a:spLocks noGrp="1"/>
          </p:cNvSpPr>
          <p:nvPr>
            <p:ph type="body" idx="1"/>
          </p:nvPr>
        </p:nvSpPr>
        <p:spPr>
          <a:xfrm>
            <a:off x="383608" y="1957019"/>
            <a:ext cx="8365200" cy="25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21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AutoNum type="alphaLcParenR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00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10"/>
              <a:buFont typeface="Arial"/>
              <a:buAutoNum type="romanLcPeriod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0" name="Google Shape;160;g2e914f250ad_0_3708"/>
          <p:cNvSpPr txBox="1">
            <a:spLocks noGrp="1"/>
          </p:cNvSpPr>
          <p:nvPr>
            <p:ph type="body" idx="2"/>
          </p:nvPr>
        </p:nvSpPr>
        <p:spPr>
          <a:xfrm>
            <a:off x="383607" y="1166813"/>
            <a:ext cx="8364600" cy="5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1" name="Google Shape;161;g2e914f250ad_0_3708"/>
          <p:cNvSpPr txBox="1">
            <a:spLocks noGrp="1"/>
          </p:cNvSpPr>
          <p:nvPr>
            <p:ph type="body" idx="3"/>
          </p:nvPr>
        </p:nvSpPr>
        <p:spPr>
          <a:xfrm>
            <a:off x="383607" y="735013"/>
            <a:ext cx="83652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2" name="Google Shape;162;g2e914f250ad_0_3708"/>
          <p:cNvSpPr txBox="1">
            <a:spLocks noGrp="1"/>
          </p:cNvSpPr>
          <p:nvPr>
            <p:ph type="body" idx="4"/>
          </p:nvPr>
        </p:nvSpPr>
        <p:spPr>
          <a:xfrm>
            <a:off x="98425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3" name="Google Shape;163;g2e914f250ad_0_3708"/>
          <p:cNvSpPr txBox="1">
            <a:spLocks noGrp="1"/>
          </p:cNvSpPr>
          <p:nvPr>
            <p:ph type="body" idx="5"/>
          </p:nvPr>
        </p:nvSpPr>
        <p:spPr>
          <a:xfrm>
            <a:off x="1379892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500"/>
              <a:buFont typeface="Arial"/>
              <a:buNone/>
              <a:defRPr sz="15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4" name="Google Shape;164;g2e914f250ad_0_3708"/>
          <p:cNvSpPr txBox="1">
            <a:spLocks noGrp="1"/>
          </p:cNvSpPr>
          <p:nvPr>
            <p:ph type="body" idx="6"/>
          </p:nvPr>
        </p:nvSpPr>
        <p:spPr>
          <a:xfrm>
            <a:off x="2661359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500"/>
              <a:buFont typeface="Arial"/>
              <a:buNone/>
              <a:defRPr sz="15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5" name="Google Shape;165;g2e914f250ad_0_3708"/>
          <p:cNvSpPr txBox="1">
            <a:spLocks noGrp="1"/>
          </p:cNvSpPr>
          <p:nvPr>
            <p:ph type="body" idx="7"/>
          </p:nvPr>
        </p:nvSpPr>
        <p:spPr>
          <a:xfrm>
            <a:off x="3942826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500"/>
              <a:buFont typeface="Arial"/>
              <a:buNone/>
              <a:defRPr sz="15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6" name="Google Shape;166;g2e914f250ad_0_3708"/>
          <p:cNvSpPr txBox="1">
            <a:spLocks noGrp="1"/>
          </p:cNvSpPr>
          <p:nvPr>
            <p:ph type="body" idx="8"/>
          </p:nvPr>
        </p:nvSpPr>
        <p:spPr>
          <a:xfrm>
            <a:off x="650576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500"/>
              <a:buFont typeface="Arial"/>
              <a:buNone/>
              <a:defRPr sz="15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7" name="Google Shape;167;g2e914f250ad_0_3708"/>
          <p:cNvSpPr txBox="1">
            <a:spLocks noGrp="1"/>
          </p:cNvSpPr>
          <p:nvPr>
            <p:ph type="body" idx="9"/>
          </p:nvPr>
        </p:nvSpPr>
        <p:spPr>
          <a:xfrm>
            <a:off x="778723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500"/>
              <a:buFont typeface="Arial"/>
              <a:buNone/>
              <a:defRPr sz="15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8" name="Google Shape;168;g2e914f250ad_0_3708"/>
          <p:cNvSpPr txBox="1">
            <a:spLocks noGrp="1"/>
          </p:cNvSpPr>
          <p:nvPr>
            <p:ph type="body" idx="13"/>
          </p:nvPr>
        </p:nvSpPr>
        <p:spPr>
          <a:xfrm>
            <a:off x="5224293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500"/>
              <a:buFont typeface="Arial"/>
              <a:buNone/>
              <a:defRPr sz="15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22">
  <p:cSld name="Title and Content_29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e914f250ad_0_4272"/>
          <p:cNvSpPr txBox="1">
            <a:spLocks noGrp="1"/>
          </p:cNvSpPr>
          <p:nvPr>
            <p:ph type="title"/>
          </p:nvPr>
        </p:nvSpPr>
        <p:spPr>
          <a:xfrm>
            <a:off x="383607" y="237317"/>
            <a:ext cx="8365200" cy="4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g2e914f250ad_0_4272"/>
          <p:cNvSpPr txBox="1">
            <a:spLocks noGrp="1"/>
          </p:cNvSpPr>
          <p:nvPr>
            <p:ph type="body" idx="1"/>
          </p:nvPr>
        </p:nvSpPr>
        <p:spPr>
          <a:xfrm>
            <a:off x="383608" y="1957019"/>
            <a:ext cx="8365200" cy="25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21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AutoNum type="alphaLcParenR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00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10"/>
              <a:buFont typeface="Arial"/>
              <a:buAutoNum type="romanLcPeriod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2" name="Google Shape;172;g2e914f250ad_0_4272"/>
          <p:cNvSpPr txBox="1">
            <a:spLocks noGrp="1"/>
          </p:cNvSpPr>
          <p:nvPr>
            <p:ph type="body" idx="2"/>
          </p:nvPr>
        </p:nvSpPr>
        <p:spPr>
          <a:xfrm>
            <a:off x="383607" y="1166813"/>
            <a:ext cx="8364600" cy="5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3" name="Google Shape;173;g2e914f250ad_0_4272"/>
          <p:cNvSpPr txBox="1">
            <a:spLocks noGrp="1"/>
          </p:cNvSpPr>
          <p:nvPr>
            <p:ph type="body" idx="3"/>
          </p:nvPr>
        </p:nvSpPr>
        <p:spPr>
          <a:xfrm>
            <a:off x="383607" y="735013"/>
            <a:ext cx="83652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4" name="Google Shape;174;g2e914f250ad_0_4272"/>
          <p:cNvSpPr txBox="1">
            <a:spLocks noGrp="1"/>
          </p:cNvSpPr>
          <p:nvPr>
            <p:ph type="body" idx="4"/>
          </p:nvPr>
        </p:nvSpPr>
        <p:spPr>
          <a:xfrm>
            <a:off x="98425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5" name="Google Shape;175;g2e914f250ad_0_4272"/>
          <p:cNvSpPr txBox="1">
            <a:spLocks noGrp="1"/>
          </p:cNvSpPr>
          <p:nvPr>
            <p:ph type="body" idx="5"/>
          </p:nvPr>
        </p:nvSpPr>
        <p:spPr>
          <a:xfrm>
            <a:off x="1379892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500"/>
              <a:buFont typeface="Arial"/>
              <a:buNone/>
              <a:defRPr sz="15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6" name="Google Shape;176;g2e914f250ad_0_4272"/>
          <p:cNvSpPr txBox="1">
            <a:spLocks noGrp="1"/>
          </p:cNvSpPr>
          <p:nvPr>
            <p:ph type="body" idx="6"/>
          </p:nvPr>
        </p:nvSpPr>
        <p:spPr>
          <a:xfrm>
            <a:off x="2661359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500"/>
              <a:buFont typeface="Arial"/>
              <a:buNone/>
              <a:defRPr sz="15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7" name="Google Shape;177;g2e914f250ad_0_4272"/>
          <p:cNvSpPr txBox="1">
            <a:spLocks noGrp="1"/>
          </p:cNvSpPr>
          <p:nvPr>
            <p:ph type="body" idx="7"/>
          </p:nvPr>
        </p:nvSpPr>
        <p:spPr>
          <a:xfrm>
            <a:off x="3942826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500"/>
              <a:buFont typeface="Arial"/>
              <a:buNone/>
              <a:defRPr sz="15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8" name="Google Shape;178;g2e914f250ad_0_4272"/>
          <p:cNvSpPr txBox="1">
            <a:spLocks noGrp="1"/>
          </p:cNvSpPr>
          <p:nvPr>
            <p:ph type="body" idx="8"/>
          </p:nvPr>
        </p:nvSpPr>
        <p:spPr>
          <a:xfrm>
            <a:off x="650576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500"/>
              <a:buFont typeface="Arial"/>
              <a:buNone/>
              <a:defRPr sz="15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9" name="Google Shape;179;g2e914f250ad_0_4272"/>
          <p:cNvSpPr txBox="1">
            <a:spLocks noGrp="1"/>
          </p:cNvSpPr>
          <p:nvPr>
            <p:ph type="body" idx="9"/>
          </p:nvPr>
        </p:nvSpPr>
        <p:spPr>
          <a:xfrm>
            <a:off x="778723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500"/>
              <a:buFont typeface="Arial"/>
              <a:buNone/>
              <a:defRPr sz="15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0" name="Google Shape;180;g2e914f250ad_0_4272"/>
          <p:cNvSpPr txBox="1">
            <a:spLocks noGrp="1"/>
          </p:cNvSpPr>
          <p:nvPr>
            <p:ph type="body" idx="13"/>
          </p:nvPr>
        </p:nvSpPr>
        <p:spPr>
          <a:xfrm>
            <a:off x="5224293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500"/>
              <a:buFont typeface="Arial"/>
              <a:buNone/>
              <a:defRPr sz="15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21">
  <p:cSld name="Title and Content_28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e914f250ad_0_4284"/>
          <p:cNvSpPr txBox="1">
            <a:spLocks noGrp="1"/>
          </p:cNvSpPr>
          <p:nvPr>
            <p:ph type="title"/>
          </p:nvPr>
        </p:nvSpPr>
        <p:spPr>
          <a:xfrm>
            <a:off x="383607" y="237317"/>
            <a:ext cx="8365200" cy="4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g2e914f250ad_0_4284"/>
          <p:cNvSpPr txBox="1">
            <a:spLocks noGrp="1"/>
          </p:cNvSpPr>
          <p:nvPr>
            <p:ph type="body" idx="1"/>
          </p:nvPr>
        </p:nvSpPr>
        <p:spPr>
          <a:xfrm>
            <a:off x="383608" y="1957019"/>
            <a:ext cx="8365200" cy="25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21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AutoNum type="alphaLcParenR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00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10"/>
              <a:buFont typeface="Arial"/>
              <a:buAutoNum type="romanLcPeriod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4" name="Google Shape;184;g2e914f250ad_0_4284"/>
          <p:cNvSpPr txBox="1">
            <a:spLocks noGrp="1"/>
          </p:cNvSpPr>
          <p:nvPr>
            <p:ph type="body" idx="2"/>
          </p:nvPr>
        </p:nvSpPr>
        <p:spPr>
          <a:xfrm>
            <a:off x="383607" y="1166813"/>
            <a:ext cx="8364600" cy="5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5" name="Google Shape;185;g2e914f250ad_0_4284"/>
          <p:cNvSpPr txBox="1">
            <a:spLocks noGrp="1"/>
          </p:cNvSpPr>
          <p:nvPr>
            <p:ph type="body" idx="3"/>
          </p:nvPr>
        </p:nvSpPr>
        <p:spPr>
          <a:xfrm>
            <a:off x="383607" y="735013"/>
            <a:ext cx="83652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6" name="Google Shape;186;g2e914f250ad_0_4284"/>
          <p:cNvSpPr txBox="1">
            <a:spLocks noGrp="1"/>
          </p:cNvSpPr>
          <p:nvPr>
            <p:ph type="body" idx="4"/>
          </p:nvPr>
        </p:nvSpPr>
        <p:spPr>
          <a:xfrm>
            <a:off x="98425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7" name="Google Shape;187;g2e914f250ad_0_4284"/>
          <p:cNvSpPr txBox="1">
            <a:spLocks noGrp="1"/>
          </p:cNvSpPr>
          <p:nvPr>
            <p:ph type="body" idx="5"/>
          </p:nvPr>
        </p:nvSpPr>
        <p:spPr>
          <a:xfrm>
            <a:off x="1379892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500"/>
              <a:buFont typeface="Arial"/>
              <a:buNone/>
              <a:defRPr sz="15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8" name="Google Shape;188;g2e914f250ad_0_4284"/>
          <p:cNvSpPr txBox="1">
            <a:spLocks noGrp="1"/>
          </p:cNvSpPr>
          <p:nvPr>
            <p:ph type="body" idx="6"/>
          </p:nvPr>
        </p:nvSpPr>
        <p:spPr>
          <a:xfrm>
            <a:off x="2661359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500"/>
              <a:buFont typeface="Arial"/>
              <a:buNone/>
              <a:defRPr sz="15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" name="Google Shape;189;g2e914f250ad_0_4284"/>
          <p:cNvSpPr txBox="1">
            <a:spLocks noGrp="1"/>
          </p:cNvSpPr>
          <p:nvPr>
            <p:ph type="body" idx="7"/>
          </p:nvPr>
        </p:nvSpPr>
        <p:spPr>
          <a:xfrm>
            <a:off x="3942826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500"/>
              <a:buFont typeface="Arial"/>
              <a:buNone/>
              <a:defRPr sz="15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0" name="Google Shape;190;g2e914f250ad_0_4284"/>
          <p:cNvSpPr txBox="1">
            <a:spLocks noGrp="1"/>
          </p:cNvSpPr>
          <p:nvPr>
            <p:ph type="body" idx="8"/>
          </p:nvPr>
        </p:nvSpPr>
        <p:spPr>
          <a:xfrm>
            <a:off x="650576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500"/>
              <a:buFont typeface="Arial"/>
              <a:buNone/>
              <a:defRPr sz="15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1" name="Google Shape;191;g2e914f250ad_0_4284"/>
          <p:cNvSpPr txBox="1">
            <a:spLocks noGrp="1"/>
          </p:cNvSpPr>
          <p:nvPr>
            <p:ph type="body" idx="9"/>
          </p:nvPr>
        </p:nvSpPr>
        <p:spPr>
          <a:xfrm>
            <a:off x="778723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500"/>
              <a:buFont typeface="Arial"/>
              <a:buNone/>
              <a:defRPr sz="15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2" name="Google Shape;192;g2e914f250ad_0_4284"/>
          <p:cNvSpPr txBox="1">
            <a:spLocks noGrp="1"/>
          </p:cNvSpPr>
          <p:nvPr>
            <p:ph type="body" idx="13"/>
          </p:nvPr>
        </p:nvSpPr>
        <p:spPr>
          <a:xfrm>
            <a:off x="5224293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500"/>
              <a:buFont typeface="Arial"/>
              <a:buNone/>
              <a:defRPr sz="150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86F62"/>
              </a:buClr>
              <a:buSzPts val="1350"/>
              <a:buFont typeface="Arial"/>
              <a:buNone/>
              <a:defRPr sz="1350" b="1" i="0" u="none" strike="noStrike" cap="none">
                <a:solidFill>
                  <a:srgbClr val="E86F6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2c2ac586c3b_0_7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" name="Google Shape;11;g2c2ac586c3b_0_7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pic>
        <p:nvPicPr>
          <p:cNvPr id="12" name="Google Shape;12;g2c2ac586c3b_0_75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7493706" y="4568875"/>
            <a:ext cx="1515093" cy="45215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1.xml"/><Relationship Id="rId1" Type="http://schemas.openxmlformats.org/officeDocument/2006/relationships/themeOverride" Target="../theme/themeOverride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1C46771-33FE-EACD-AF75-03C35CE671BA}"/>
              </a:ext>
            </a:extLst>
          </p:cNvPr>
          <p:cNvSpPr/>
          <p:nvPr/>
        </p:nvSpPr>
        <p:spPr>
          <a:xfrm>
            <a:off x="2" y="0"/>
            <a:ext cx="9143998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98" name="Google Shape;198;g2c2ac586c3b_0_18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>
              <a:buSzPct val="100000"/>
            </a:pPr>
            <a:r>
              <a:rPr lang="en-US" sz="3800" dirty="0">
                <a:solidFill>
                  <a:schemeClr val="bg1"/>
                </a:solidFill>
              </a:rPr>
              <a:t>GenAI Under the Hood: Transformers — From Theory to Fine-Tuning</a:t>
            </a:r>
            <a:endParaRPr sz="3800" dirty="0">
              <a:solidFill>
                <a:schemeClr val="bg1"/>
              </a:solidFill>
            </a:endParaRPr>
          </a:p>
        </p:txBody>
      </p:sp>
      <p:sp>
        <p:nvSpPr>
          <p:cNvPr id="199" name="Google Shape;199;g2c2ac586c3b_0_18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4824506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dirty="0">
                <a:solidFill>
                  <a:schemeClr val="bg1"/>
                </a:solidFill>
              </a:rPr>
              <a:t>Shreshth Srivastav (Shrey) | 11</a:t>
            </a:r>
            <a:r>
              <a:rPr lang="en-US" baseline="30000" dirty="0">
                <a:solidFill>
                  <a:schemeClr val="bg1"/>
                </a:solidFill>
              </a:rPr>
              <a:t>th</a:t>
            </a:r>
            <a:r>
              <a:rPr lang="en-US" dirty="0">
                <a:solidFill>
                  <a:schemeClr val="bg1"/>
                </a:solidFill>
              </a:rPr>
              <a:t> March 2026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78">
            <a:extLst>
              <a:ext uri="{FF2B5EF4-FFF2-40B4-BE49-F238E27FC236}">
                <a16:creationId xmlns:a16="http://schemas.microsoft.com/office/drawing/2014/main" id="{822DEB43-B34F-F90D-CB02-B8924637847D}"/>
              </a:ext>
            </a:extLst>
          </p:cNvPr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2" name="TextBox 1"/>
          <p:cNvSpPr txBox="1"/>
          <p:nvPr/>
        </p:nvSpPr>
        <p:spPr>
          <a:xfrm>
            <a:off x="548640" y="205740"/>
            <a:ext cx="4114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sz="2400"/>
              <a:t>Workshop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39" y="582930"/>
            <a:ext cx="686138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94A3B8"/>
                </a:solidFill>
                <a:latin typeface="Segoe UI"/>
              </a:defRPr>
            </a:pPr>
            <a:r>
              <a:rPr lang="en-US" b="1" dirty="0"/>
              <a:t>Advanced NLP for GenAI: Transformers, Attention &amp; Hands-On Fine-Tuning</a:t>
            </a:r>
            <a:endParaRPr sz="1050" dirty="0"/>
          </a:p>
        </p:txBody>
      </p:sp>
      <p:sp>
        <p:nvSpPr>
          <p:cNvPr id="4" name="Rectangle 3"/>
          <p:cNvSpPr/>
          <p:nvPr/>
        </p:nvSpPr>
        <p:spPr>
          <a:xfrm>
            <a:off x="548640" y="891540"/>
            <a:ext cx="205740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graphicFrame>
        <p:nvGraphicFramePr>
          <p:cNvPr id="80" name="Table 79">
            <a:extLst>
              <a:ext uri="{FF2B5EF4-FFF2-40B4-BE49-F238E27FC236}">
                <a16:creationId xmlns:a16="http://schemas.microsoft.com/office/drawing/2014/main" id="{3D77B5A6-2890-C91A-90FC-92F5A68CB3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1218858"/>
              </p:ext>
            </p:extLst>
          </p:nvPr>
        </p:nvGraphicFramePr>
        <p:xfrm>
          <a:off x="664131" y="1133793"/>
          <a:ext cx="7815737" cy="3453765"/>
        </p:xfrm>
        <a:graphic>
          <a:graphicData uri="http://schemas.openxmlformats.org/drawingml/2006/table">
            <a:tbl>
              <a:tblPr firstRow="1" firstCol="1" bandRow="1">
                <a:tableStyleId>{8FD4443E-F989-4FC4-A0C8-D5A2AF1F390B}</a:tableStyleId>
              </a:tblPr>
              <a:tblGrid>
                <a:gridCol w="580524">
                  <a:extLst>
                    <a:ext uri="{9D8B030D-6E8A-4147-A177-3AD203B41FA5}">
                      <a16:colId xmlns:a16="http://schemas.microsoft.com/office/drawing/2014/main" val="1753054534"/>
                    </a:ext>
                  </a:extLst>
                </a:gridCol>
                <a:gridCol w="2478411">
                  <a:extLst>
                    <a:ext uri="{9D8B030D-6E8A-4147-A177-3AD203B41FA5}">
                      <a16:colId xmlns:a16="http://schemas.microsoft.com/office/drawing/2014/main" val="2260822411"/>
                    </a:ext>
                  </a:extLst>
                </a:gridCol>
                <a:gridCol w="4756802">
                  <a:extLst>
                    <a:ext uri="{9D8B030D-6E8A-4147-A177-3AD203B41FA5}">
                      <a16:colId xmlns:a16="http://schemas.microsoft.com/office/drawing/2014/main" val="1943392134"/>
                    </a:ext>
                  </a:extLst>
                </a:gridCol>
              </a:tblGrid>
              <a:tr h="2262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800" dirty="0">
                          <a:effectLst/>
                        </a:rPr>
                        <a:t>S. No</a:t>
                      </a:r>
                      <a:endParaRPr lang="en-IN" sz="9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142" marR="5142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>
                          <a:effectLst/>
                        </a:rPr>
                        <a:t>Module / Topic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1703" marR="61703" marT="51419" marB="5141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>
                          <a:effectLst/>
                        </a:rPr>
                        <a:t>Key Activities &amp; Learning Outcomes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1703" marR="61703" marT="51419" marB="51419" anchor="ctr"/>
                </a:tc>
                <a:extLst>
                  <a:ext uri="{0D108BD9-81ED-4DB2-BD59-A6C34878D82A}">
                    <a16:rowId xmlns:a16="http://schemas.microsoft.com/office/drawing/2014/main" val="1928771095"/>
                  </a:ext>
                </a:extLst>
              </a:tr>
              <a:tr h="18716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700" dirty="0">
                          <a:effectLst/>
                        </a:rPr>
                        <a:t>1</a:t>
                      </a:r>
                      <a:endParaRPr lang="en-IN" sz="9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142" marR="5142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dirty="0">
                          <a:effectLst/>
                        </a:rPr>
                        <a:t>Welcome &amp; Workshop Overview</a:t>
                      </a:r>
                      <a:endParaRPr lang="en-IN" sz="9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1703" marR="61703" marT="41135" marB="41135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>
                          <a:effectLst/>
                        </a:rPr>
                        <a:t>Introductions, learning objectives, tools setup check (Google Colab / Jupyter), agenda walkthrough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1703" marR="61703" marT="41135" marB="41135"/>
                </a:tc>
                <a:extLst>
                  <a:ext uri="{0D108BD9-81ED-4DB2-BD59-A6C34878D82A}">
                    <a16:rowId xmlns:a16="http://schemas.microsoft.com/office/drawing/2014/main" val="62658990"/>
                  </a:ext>
                </a:extLst>
              </a:tr>
              <a:tr h="18716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700" dirty="0">
                          <a:effectLst/>
                        </a:rPr>
                        <a:t>2</a:t>
                      </a:r>
                      <a:endParaRPr lang="en-IN" sz="9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142" marR="5142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>
                          <a:effectLst/>
                        </a:rPr>
                        <a:t>Why Transformers? From RNNs to Attention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1703" marR="61703" marT="41135" marB="41135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>
                          <a:effectLst/>
                        </a:rPr>
                        <a:t>Limitations of RNNs/LSTMs, the birth of "Attention Is All You Need", why sequence-to-sequence needed a revolution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1703" marR="61703" marT="41135" marB="41135"/>
                </a:tc>
                <a:extLst>
                  <a:ext uri="{0D108BD9-81ED-4DB2-BD59-A6C34878D82A}">
                    <a16:rowId xmlns:a16="http://schemas.microsoft.com/office/drawing/2014/main" val="1778257134"/>
                  </a:ext>
                </a:extLst>
              </a:tr>
              <a:tr h="29206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700" dirty="0">
                          <a:effectLst/>
                        </a:rPr>
                        <a:t>3</a:t>
                      </a:r>
                      <a:endParaRPr lang="en-IN" sz="9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142" marR="5142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>
                          <a:effectLst/>
                        </a:rPr>
                        <a:t>Transformer Architecture Deep Dive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1703" marR="61703" marT="41135" marB="41135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>
                          <a:effectLst/>
                        </a:rPr>
                        <a:t>Install HuggingFace Transformers + Datasets + Tokenizers • Run a zero-shot classification pipeline in 5 lines • Explore tokenizer behavior interactively • Inspect model card metadata • Troubleshoot common install issues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1703" marR="61703" marT="41135" marB="41135"/>
                </a:tc>
                <a:extLst>
                  <a:ext uri="{0D108BD9-81ED-4DB2-BD59-A6C34878D82A}">
                    <a16:rowId xmlns:a16="http://schemas.microsoft.com/office/drawing/2014/main" val="493480225"/>
                  </a:ext>
                </a:extLst>
              </a:tr>
              <a:tr h="29206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700" dirty="0">
                          <a:effectLst/>
                        </a:rPr>
                        <a:t>4</a:t>
                      </a:r>
                      <a:endParaRPr lang="en-IN" sz="9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142" marR="5142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>
                          <a:effectLst/>
                        </a:rPr>
                        <a:t>The Transformer Family Tree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1703" marR="61703" marT="41135" marB="41135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>
                          <a:effectLst/>
                        </a:rPr>
                        <a:t>Encoder-only (BERT), Decoder-only (GPT), Encoder-Decoder (T5, BART), when to use what, tokenization basics (BPE, WordPiece)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1703" marR="61703" marT="41135" marB="41135"/>
                </a:tc>
                <a:extLst>
                  <a:ext uri="{0D108BD9-81ED-4DB2-BD59-A6C34878D82A}">
                    <a16:rowId xmlns:a16="http://schemas.microsoft.com/office/drawing/2014/main" val="1472966292"/>
                  </a:ext>
                </a:extLst>
              </a:tr>
              <a:tr h="18716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700">
                          <a:effectLst/>
                        </a:rPr>
                        <a:t>5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142" marR="5142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>
                          <a:effectLst/>
                        </a:rPr>
                        <a:t>Break - 1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1703" marR="61703" marT="41135" marB="41135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dirty="0">
                          <a:effectLst/>
                        </a:rPr>
                        <a:t>Open floor for questions.</a:t>
                      </a:r>
                      <a:endParaRPr lang="en-IN" sz="9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1703" marR="61703" marT="41135" marB="41135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7300312"/>
                  </a:ext>
                </a:extLst>
              </a:tr>
              <a:tr h="29206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700" dirty="0">
                          <a:effectLst/>
                        </a:rPr>
                        <a:t>6</a:t>
                      </a:r>
                      <a:endParaRPr lang="en-IN" sz="9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142" marR="5142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>
                          <a:effectLst/>
                        </a:rPr>
                        <a:t>Use Case Introduction – Text Summarization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1703" marR="61703" marT="41135" marB="41135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>
                          <a:effectLst/>
                        </a:rPr>
                        <a:t>Why summarization? Extractive vs. Abstractive, real-world applications, introducing the project: "Build an Abstractive News Summarizer using T5/BART", dataset overview (CNN/DailyMail subset)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1703" marR="61703" marT="41135" marB="41135"/>
                </a:tc>
                <a:extLst>
                  <a:ext uri="{0D108BD9-81ED-4DB2-BD59-A6C34878D82A}">
                    <a16:rowId xmlns:a16="http://schemas.microsoft.com/office/drawing/2014/main" val="440270083"/>
                  </a:ext>
                </a:extLst>
              </a:tr>
              <a:tr h="39695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700" dirty="0">
                          <a:effectLst/>
                        </a:rPr>
                        <a:t>7</a:t>
                      </a:r>
                      <a:endParaRPr lang="en-IN" sz="9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142" marR="5142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>
                          <a:effectLst/>
                        </a:rPr>
                        <a:t>Exploring Transformers &amp; Building an Inference Pipeline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1703" marR="61703" marT="41135" marB="41135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>
                          <a:effectLst/>
                        </a:rPr>
                        <a:t>What they build: Load a pre-trained t5-small model via Hugging Face transformers, tokenize input articles, run abstractive summarization inference, evaluate outputs qualitatively, explore attention weights visualization, experiment with generation params (beam search, temperature, top-k)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1703" marR="61703" marT="41135" marB="41135"/>
                </a:tc>
                <a:extLst>
                  <a:ext uri="{0D108BD9-81ED-4DB2-BD59-A6C34878D82A}">
                    <a16:rowId xmlns:a16="http://schemas.microsoft.com/office/drawing/2014/main" val="1294568427"/>
                  </a:ext>
                </a:extLst>
              </a:tr>
              <a:tr h="18716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700" dirty="0">
                          <a:effectLst/>
                        </a:rPr>
                        <a:t>8</a:t>
                      </a:r>
                      <a:endParaRPr lang="en-IN" sz="9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142" marR="5142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>
                          <a:effectLst/>
                        </a:rPr>
                        <a:t>Break - 2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1703" marR="61703" marT="41135" marB="41135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dirty="0">
                          <a:effectLst/>
                        </a:rPr>
                        <a:t>Open floor for questions.</a:t>
                      </a:r>
                      <a:endParaRPr lang="en-IN" sz="9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1703" marR="61703" marT="41135" marB="41135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7245403"/>
                  </a:ext>
                </a:extLst>
              </a:tr>
              <a:tr h="29206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700" dirty="0">
                          <a:effectLst/>
                        </a:rPr>
                        <a:t>9</a:t>
                      </a:r>
                      <a:endParaRPr lang="en-IN" sz="9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142" marR="5142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>
                          <a:effectLst/>
                        </a:rPr>
                        <a:t>Fine-Tuning Fundamentals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1703" marR="61703" marT="41135" marB="41135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>
                          <a:effectLst/>
                        </a:rPr>
                        <a:t>Transfer Learning concept, why fine-tune vs. prompt, Hugging Face Trainer API overview, metrics for summarization (ROUGE), training considerations (learning rate, epochs, overfitting)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1703" marR="61703" marT="41135" marB="41135"/>
                </a:tc>
                <a:extLst>
                  <a:ext uri="{0D108BD9-81ED-4DB2-BD59-A6C34878D82A}">
                    <a16:rowId xmlns:a16="http://schemas.microsoft.com/office/drawing/2014/main" val="1077350778"/>
                  </a:ext>
                </a:extLst>
              </a:tr>
              <a:tr h="39695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700" dirty="0">
                          <a:effectLst/>
                        </a:rPr>
                        <a:t>10</a:t>
                      </a:r>
                      <a:endParaRPr lang="en-IN" sz="9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142" marR="5142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>
                          <a:effectLst/>
                        </a:rPr>
                        <a:t>Fine-Tuning a Transformer for Custom Summarization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1703" marR="61703" marT="41135" marB="41135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>
                          <a:effectLst/>
                        </a:rPr>
                        <a:t>What they build: Prepare &amp; preprocess a small subset of CNN/DailyMail, tokenize with padding/truncation, configure Seq2SeqTrainer with training args, fine-tune t5-small on the subset, compare fine-tuned vs. base model outputs, compute ROUGE scores, save &amp; reload the model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1703" marR="61703" marT="41135" marB="41135"/>
                </a:tc>
                <a:extLst>
                  <a:ext uri="{0D108BD9-81ED-4DB2-BD59-A6C34878D82A}">
                    <a16:rowId xmlns:a16="http://schemas.microsoft.com/office/drawing/2014/main" val="2203041317"/>
                  </a:ext>
                </a:extLst>
              </a:tr>
              <a:tr h="29206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700" dirty="0">
                          <a:effectLst/>
                        </a:rPr>
                        <a:t>11</a:t>
                      </a:r>
                      <a:endParaRPr lang="en-IN" sz="9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142" marR="5142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>
                          <a:effectLst/>
                        </a:rPr>
                        <a:t>Wrap-Up &amp; Key Takeaways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1703" marR="61703" marT="41135" marB="41135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>
                          <a:effectLst/>
                        </a:rPr>
                        <a:t>Recap of Transformer concepts, when to use which model, production considerations (quantization, ONNX, API serving), curated resource list for further learning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1703" marR="61703" marT="41135" marB="41135"/>
                </a:tc>
                <a:extLst>
                  <a:ext uri="{0D108BD9-81ED-4DB2-BD59-A6C34878D82A}">
                    <a16:rowId xmlns:a16="http://schemas.microsoft.com/office/drawing/2014/main" val="4212176032"/>
                  </a:ext>
                </a:extLst>
              </a:tr>
              <a:tr h="18716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700" dirty="0">
                          <a:effectLst/>
                        </a:rPr>
                        <a:t>12</a:t>
                      </a:r>
                      <a:endParaRPr lang="en-IN" sz="9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142" marR="5142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>
                          <a:effectLst/>
                        </a:rPr>
                        <a:t>Live Q&amp;A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1703" marR="61703" marT="41135" marB="41135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dirty="0">
                          <a:effectLst/>
                        </a:rPr>
                        <a:t>Open floor for all questions, career/project guidance, closing remarks</a:t>
                      </a:r>
                      <a:endParaRPr lang="en-IN" sz="9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1703" marR="61703" marT="41135" marB="41135"/>
                </a:tc>
                <a:extLst>
                  <a:ext uri="{0D108BD9-81ED-4DB2-BD59-A6C34878D82A}">
                    <a16:rowId xmlns:a16="http://schemas.microsoft.com/office/drawing/2014/main" val="295576195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4" name="TextBox 3"/>
          <p:cNvSpPr txBox="1"/>
          <p:nvPr/>
        </p:nvSpPr>
        <p:spPr>
          <a:xfrm>
            <a:off x="342900" y="204046"/>
            <a:ext cx="6858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sz="2400" dirty="0"/>
              <a:t>The NLP Timeline – Four Eras of Evolution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" y="649816"/>
            <a:ext cx="6858000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rPr sz="1125" dirty="0"/>
              <a:t>How we went from counting words to generating human-like language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712806"/>
            <a:ext cx="8023860" cy="0"/>
          </a:xfrm>
          <a:prstGeom prst="line">
            <a:avLst/>
          </a:prstGeom>
          <a:ln w="38100">
            <a:solidFill>
              <a:srgbClr val="3344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254EEA1-85E5-6C3B-D9D0-432EC180F432}"/>
              </a:ext>
            </a:extLst>
          </p:cNvPr>
          <p:cNvGrpSpPr/>
          <p:nvPr/>
        </p:nvGrpSpPr>
        <p:grpSpPr>
          <a:xfrm>
            <a:off x="474230" y="1232746"/>
            <a:ext cx="1920240" cy="2983230"/>
            <a:chOff x="474230" y="1232746"/>
            <a:chExt cx="1920240" cy="2983230"/>
          </a:xfrm>
        </p:grpSpPr>
        <p:sp>
          <p:nvSpPr>
            <p:cNvPr id="8" name="Oval 7"/>
            <p:cNvSpPr/>
            <p:nvPr/>
          </p:nvSpPr>
          <p:spPr>
            <a:xfrm>
              <a:off x="1358912" y="1637368"/>
              <a:ext cx="150876" cy="150876"/>
            </a:xfrm>
            <a:prstGeom prst="ellipse">
              <a:avLst/>
            </a:prstGeom>
            <a:solidFill>
              <a:srgbClr val="14B8A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cxnSp>
          <p:nvCxnSpPr>
            <p:cNvPr id="9" name="Connector 8"/>
            <p:cNvCxnSpPr/>
            <p:nvPr/>
          </p:nvCxnSpPr>
          <p:spPr>
            <a:xfrm>
              <a:off x="1434350" y="1788244"/>
              <a:ext cx="0" cy="233172"/>
            </a:xfrm>
            <a:prstGeom prst="line">
              <a:avLst/>
            </a:prstGeom>
            <a:ln w="19050">
              <a:solidFill>
                <a:srgbClr val="14B8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474230" y="1232746"/>
              <a:ext cx="1920240" cy="2423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300" b="1">
                  <a:solidFill>
                    <a:srgbClr val="14B8A6"/>
                  </a:solidFill>
                  <a:latin typeface="Segoe UI"/>
                </a:defRPr>
              </a:pPr>
              <a:r>
                <a:rPr sz="975"/>
                <a:t>Pre-2013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474230" y="2021416"/>
              <a:ext cx="1920240" cy="2194560"/>
            </a:xfrm>
            <a:prstGeom prst="roundRect">
              <a:avLst>
                <a:gd name="adj" fmla="val 5000"/>
              </a:avLst>
            </a:prstGeom>
            <a:solidFill>
              <a:srgbClr val="1E293B"/>
            </a:solidFill>
            <a:ln w="19050">
              <a:solidFill>
                <a:srgbClr val="14B8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577100" y="2124286"/>
              <a:ext cx="308610" cy="308610"/>
            </a:xfrm>
            <a:prstGeom prst="roundRect">
              <a:avLst>
                <a:gd name="adj" fmla="val 5000"/>
              </a:avLst>
            </a:prstGeom>
            <a:solidFill>
              <a:srgbClr val="14B8A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400" b="1">
                  <a:solidFill>
                    <a:srgbClr val="0F172A"/>
                  </a:solidFill>
                  <a:latin typeface="Segoe UI"/>
                </a:defRPr>
              </a:pPr>
              <a:r>
                <a:rPr sz="1050"/>
                <a:t>1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54290" y="2103713"/>
              <a:ext cx="133731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600" b="1">
                  <a:solidFill>
                    <a:srgbClr val="FFFFFF"/>
                  </a:solidFill>
                  <a:latin typeface="Segoe UI"/>
                </a:defRPr>
              </a:pPr>
              <a:r>
                <a:rPr sz="1200" dirty="0"/>
                <a:t>Classical NLP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77100" y="2467186"/>
              <a:ext cx="171450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14B8A6"/>
                  </a:solidFill>
                  <a:latin typeface="Segoe UI"/>
                </a:defRPr>
              </a:pPr>
              <a:r>
                <a:rPr sz="675"/>
                <a:t>KEY TECHNIQUES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77100" y="2624920"/>
              <a:ext cx="1714500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/>
                <a:t>Rule-based systems</a:t>
              </a:r>
              <a:br>
                <a:rPr sz="825"/>
              </a:br>
              <a:r>
                <a:rPr sz="825"/>
                <a:t>Bag of Words</a:t>
              </a:r>
              <a:br>
                <a:rPr sz="825"/>
              </a:br>
              <a:r>
                <a:rPr sz="825"/>
                <a:t>TF-IDF</a:t>
              </a:r>
              <a:br>
                <a:rPr sz="825"/>
              </a:br>
              <a:r>
                <a:rPr sz="825"/>
                <a:t>n-grams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77100" y="3290146"/>
              <a:ext cx="171450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14B8A6"/>
                  </a:solidFill>
                  <a:latin typeface="Segoe UI"/>
                </a:defRPr>
              </a:pPr>
              <a:r>
                <a:rPr sz="675"/>
                <a:t>EXAMPLES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77100" y="3447880"/>
              <a:ext cx="1714500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94A3B8"/>
                  </a:solidFill>
                  <a:latin typeface="Segoe UI"/>
                </a:defRPr>
              </a:pPr>
              <a:r>
                <a:rPr sz="750"/>
                <a:t>Spam filters, keyword search,</a:t>
              </a:r>
              <a:br>
                <a:rPr sz="750"/>
              </a:br>
              <a:r>
                <a:rPr sz="750"/>
                <a:t>sentiment lexicons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4ED256A9-0174-23CD-98CD-8C49C6D616A8}"/>
              </a:ext>
            </a:extLst>
          </p:cNvPr>
          <p:cNvGrpSpPr/>
          <p:nvPr/>
        </p:nvGrpSpPr>
        <p:grpSpPr>
          <a:xfrm>
            <a:off x="2565920" y="1232746"/>
            <a:ext cx="1920240" cy="2983230"/>
            <a:chOff x="2565920" y="1232746"/>
            <a:chExt cx="1920240" cy="2983230"/>
          </a:xfrm>
        </p:grpSpPr>
        <p:sp>
          <p:nvSpPr>
            <p:cNvPr id="18" name="Oval 17"/>
            <p:cNvSpPr/>
            <p:nvPr/>
          </p:nvSpPr>
          <p:spPr>
            <a:xfrm>
              <a:off x="3450602" y="1637368"/>
              <a:ext cx="150876" cy="150876"/>
            </a:xfrm>
            <a:prstGeom prst="ellipse">
              <a:avLst/>
            </a:prstGeom>
            <a:solidFill>
              <a:srgbClr val="3B8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3526040" y="1788244"/>
              <a:ext cx="0" cy="233172"/>
            </a:xfrm>
            <a:prstGeom prst="line">
              <a:avLst/>
            </a:prstGeom>
            <a:ln w="19050">
              <a:solidFill>
                <a:srgbClr val="3B82F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2565920" y="1232746"/>
              <a:ext cx="1920240" cy="2423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300" b="1">
                  <a:solidFill>
                    <a:srgbClr val="3B82F6"/>
                  </a:solidFill>
                  <a:latin typeface="Segoe UI"/>
                </a:defRPr>
              </a:pPr>
              <a:r>
                <a:rPr sz="975"/>
                <a:t>2013 – 2015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2565920" y="2021416"/>
              <a:ext cx="1920240" cy="2194560"/>
            </a:xfrm>
            <a:prstGeom prst="roundRect">
              <a:avLst>
                <a:gd name="adj" fmla="val 5000"/>
              </a:avLst>
            </a:prstGeom>
            <a:solidFill>
              <a:srgbClr val="1E293B"/>
            </a:solidFill>
            <a:ln w="19050">
              <a:solidFill>
                <a:srgbClr val="3B82F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2668790" y="2124286"/>
              <a:ext cx="308610" cy="308610"/>
            </a:xfrm>
            <a:prstGeom prst="roundRect">
              <a:avLst>
                <a:gd name="adj" fmla="val 5000"/>
              </a:avLst>
            </a:prstGeom>
            <a:solidFill>
              <a:srgbClr val="3B8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400" b="1">
                  <a:solidFill>
                    <a:srgbClr val="0F172A"/>
                  </a:solidFill>
                  <a:latin typeface="Segoe UI"/>
                </a:defRPr>
              </a:pPr>
              <a:r>
                <a:rPr sz="1050"/>
                <a:t>2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045980" y="2103713"/>
              <a:ext cx="13373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600" b="1">
                  <a:solidFill>
                    <a:srgbClr val="FFFFFF"/>
                  </a:solidFill>
                  <a:latin typeface="Segoe UI"/>
                </a:defRPr>
              </a:pPr>
              <a:r>
                <a:rPr sz="1200" dirty="0"/>
                <a:t>Word Embeddings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668790" y="2467186"/>
              <a:ext cx="171450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3B82F6"/>
                  </a:solidFill>
                  <a:latin typeface="Segoe UI"/>
                </a:defRPr>
              </a:pPr>
              <a:r>
                <a:rPr sz="675"/>
                <a:t>KEY TECHNIQUES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668790" y="2624920"/>
              <a:ext cx="1714500" cy="4732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/>
                <a:t>Word2Vec</a:t>
              </a:r>
              <a:br>
                <a:rPr sz="825"/>
              </a:br>
              <a:r>
                <a:rPr sz="825"/>
                <a:t>GloVe</a:t>
              </a:r>
              <a:br>
                <a:rPr sz="825"/>
              </a:br>
              <a:r>
                <a:rPr sz="825"/>
                <a:t>fastText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668790" y="3290146"/>
              <a:ext cx="171450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3B82F6"/>
                  </a:solidFill>
                  <a:latin typeface="Segoe UI"/>
                </a:defRPr>
              </a:pPr>
              <a:r>
                <a:rPr sz="675"/>
                <a:t>EXAMPLES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668790" y="3447880"/>
              <a:ext cx="1714500" cy="4385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94A3B8"/>
                  </a:solidFill>
                  <a:latin typeface="Segoe UI"/>
                </a:defRPr>
              </a:pPr>
              <a:r>
                <a:rPr sz="750"/>
                <a:t>Semantic similarity,</a:t>
              </a:r>
              <a:br>
                <a:rPr sz="750"/>
              </a:br>
              <a:r>
                <a:rPr sz="750"/>
                <a:t>analogy tasks (king − man + woman = queen)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B9F1756-EF93-B7E1-3ADC-B3864A601B9F}"/>
              </a:ext>
            </a:extLst>
          </p:cNvPr>
          <p:cNvGrpSpPr/>
          <p:nvPr/>
        </p:nvGrpSpPr>
        <p:grpSpPr>
          <a:xfrm>
            <a:off x="4657610" y="1232746"/>
            <a:ext cx="1920240" cy="2983230"/>
            <a:chOff x="4657610" y="1232746"/>
            <a:chExt cx="1920240" cy="2983230"/>
          </a:xfrm>
        </p:grpSpPr>
        <p:sp>
          <p:nvSpPr>
            <p:cNvPr id="28" name="Oval 27"/>
            <p:cNvSpPr/>
            <p:nvPr/>
          </p:nvSpPr>
          <p:spPr>
            <a:xfrm>
              <a:off x="5542292" y="1637368"/>
              <a:ext cx="150876" cy="150876"/>
            </a:xfrm>
            <a:prstGeom prst="ellipse">
              <a:avLst/>
            </a:prstGeom>
            <a:solidFill>
              <a:srgbClr val="A78B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cxnSp>
          <p:nvCxnSpPr>
            <p:cNvPr id="29" name="Connector 28"/>
            <p:cNvCxnSpPr/>
            <p:nvPr/>
          </p:nvCxnSpPr>
          <p:spPr>
            <a:xfrm>
              <a:off x="5617730" y="1788244"/>
              <a:ext cx="0" cy="233172"/>
            </a:xfrm>
            <a:prstGeom prst="line">
              <a:avLst/>
            </a:prstGeom>
            <a:ln w="19050">
              <a:solidFill>
                <a:srgbClr val="A78BF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4657610" y="1232746"/>
              <a:ext cx="1920240" cy="2423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300" b="1">
                  <a:solidFill>
                    <a:srgbClr val="A78BFA"/>
                  </a:solidFill>
                  <a:latin typeface="Segoe UI"/>
                </a:defRPr>
              </a:pPr>
              <a:r>
                <a:rPr sz="975"/>
                <a:t>2015 – 2017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4657610" y="2021416"/>
              <a:ext cx="1920240" cy="2194560"/>
            </a:xfrm>
            <a:prstGeom prst="roundRect">
              <a:avLst>
                <a:gd name="adj" fmla="val 5000"/>
              </a:avLst>
            </a:prstGeom>
            <a:solidFill>
              <a:srgbClr val="1E293B"/>
            </a:solidFill>
            <a:ln w="19050">
              <a:solidFill>
                <a:srgbClr val="A78BF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4760480" y="2124286"/>
              <a:ext cx="308610" cy="308610"/>
            </a:xfrm>
            <a:prstGeom prst="roundRect">
              <a:avLst>
                <a:gd name="adj" fmla="val 5000"/>
              </a:avLst>
            </a:prstGeom>
            <a:solidFill>
              <a:srgbClr val="A78B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400" b="1">
                  <a:solidFill>
                    <a:srgbClr val="0F172A"/>
                  </a:solidFill>
                  <a:latin typeface="Segoe UI"/>
                </a:defRPr>
              </a:pPr>
              <a:r>
                <a:rPr sz="1050"/>
                <a:t>3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137670" y="2103713"/>
              <a:ext cx="13373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600" b="1">
                  <a:solidFill>
                    <a:srgbClr val="FFFFFF"/>
                  </a:solidFill>
                  <a:latin typeface="Segoe UI"/>
                </a:defRPr>
              </a:pPr>
              <a:r>
                <a:rPr sz="1200"/>
                <a:t>Recurrent Networks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760480" y="2467186"/>
              <a:ext cx="171450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A78BFA"/>
                  </a:solidFill>
                  <a:latin typeface="Segoe UI"/>
                </a:defRPr>
              </a:pPr>
              <a:r>
                <a:rPr sz="675"/>
                <a:t>KEY TECHNIQUES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760480" y="2624920"/>
              <a:ext cx="1714500" cy="4732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/>
                <a:t>RNN / LSTM / GRU</a:t>
              </a:r>
              <a:br>
                <a:rPr sz="825"/>
              </a:br>
              <a:r>
                <a:rPr sz="825"/>
                <a:t>Seq2Seq + Attention</a:t>
              </a:r>
              <a:br>
                <a:rPr sz="825"/>
              </a:br>
              <a:r>
                <a:rPr sz="825"/>
                <a:t>Bidirectional RNNs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760480" y="3290146"/>
              <a:ext cx="171450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A78BFA"/>
                  </a:solidFill>
                  <a:latin typeface="Segoe UI"/>
                </a:defRPr>
              </a:pPr>
              <a:r>
                <a:rPr sz="675"/>
                <a:t>EXAMPLES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760480" y="3447880"/>
              <a:ext cx="1714500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94A3B8"/>
                  </a:solidFill>
                  <a:latin typeface="Segoe UI"/>
                </a:defRPr>
              </a:pPr>
              <a:r>
                <a:rPr sz="750"/>
                <a:t>Machine translation (Google NMT),</a:t>
              </a:r>
              <a:br>
                <a:rPr sz="750"/>
              </a:br>
              <a:r>
                <a:rPr sz="750"/>
                <a:t>chatbots, speech recognition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51D6FC7-5763-FEA6-23A5-C57F0551E105}"/>
              </a:ext>
            </a:extLst>
          </p:cNvPr>
          <p:cNvGrpSpPr/>
          <p:nvPr/>
        </p:nvGrpSpPr>
        <p:grpSpPr>
          <a:xfrm>
            <a:off x="6749300" y="958426"/>
            <a:ext cx="1926070" cy="3257550"/>
            <a:chOff x="6749300" y="958426"/>
            <a:chExt cx="1926070" cy="3257550"/>
          </a:xfrm>
        </p:grpSpPr>
        <p:sp>
          <p:nvSpPr>
            <p:cNvPr id="40" name="TextBox 39"/>
            <p:cNvSpPr txBox="1"/>
            <p:nvPr/>
          </p:nvSpPr>
          <p:spPr>
            <a:xfrm>
              <a:off x="6749300" y="1232746"/>
              <a:ext cx="1920240" cy="2423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300" b="1">
                  <a:solidFill>
                    <a:srgbClr val="F59E0B"/>
                  </a:solidFill>
                  <a:latin typeface="Segoe UI"/>
                </a:defRPr>
              </a:pPr>
              <a:r>
                <a:rPr sz="975"/>
                <a:t>2017 – Present</a:t>
              </a:r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B7E54209-2108-06CC-4BD8-467BFB228495}"/>
                </a:ext>
              </a:extLst>
            </p:cNvPr>
            <p:cNvGrpSpPr/>
            <p:nvPr/>
          </p:nvGrpSpPr>
          <p:grpSpPr>
            <a:xfrm>
              <a:off x="6749300" y="958426"/>
              <a:ext cx="1926070" cy="3257550"/>
              <a:chOff x="6749300" y="958426"/>
              <a:chExt cx="1926070" cy="3257550"/>
            </a:xfrm>
          </p:grpSpPr>
          <p:sp>
            <p:nvSpPr>
              <p:cNvPr id="7" name="Isosceles Triangle 6"/>
              <p:cNvSpPr/>
              <p:nvPr/>
            </p:nvSpPr>
            <p:spPr>
              <a:xfrm rot="5400000">
                <a:off x="8469630" y="1609936"/>
                <a:ext cx="205740" cy="205740"/>
              </a:xfrm>
              <a:prstGeom prst="triangle">
                <a:avLst/>
              </a:prstGeom>
              <a:solidFill>
                <a:srgbClr val="33445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38" name="Oval 37"/>
              <p:cNvSpPr/>
              <p:nvPr/>
            </p:nvSpPr>
            <p:spPr>
              <a:xfrm>
                <a:off x="7633982" y="1637368"/>
                <a:ext cx="150876" cy="150876"/>
              </a:xfrm>
              <a:prstGeom prst="ellipse">
                <a:avLst/>
              </a:prstGeom>
              <a:solidFill>
                <a:srgbClr val="F59E0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cxnSp>
            <p:nvCxnSpPr>
              <p:cNvPr id="39" name="Connector 38"/>
              <p:cNvCxnSpPr/>
              <p:nvPr/>
            </p:nvCxnSpPr>
            <p:spPr>
              <a:xfrm>
                <a:off x="7709420" y="1788244"/>
                <a:ext cx="0" cy="233172"/>
              </a:xfrm>
              <a:prstGeom prst="line">
                <a:avLst/>
              </a:prstGeom>
              <a:ln w="19050">
                <a:solidFill>
                  <a:srgbClr val="F59E0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Rounded Rectangle 40"/>
              <p:cNvSpPr/>
              <p:nvPr/>
            </p:nvSpPr>
            <p:spPr>
              <a:xfrm>
                <a:off x="6749300" y="2021416"/>
                <a:ext cx="1920240" cy="2194560"/>
              </a:xfrm>
              <a:prstGeom prst="roundRect">
                <a:avLst>
                  <a:gd name="adj" fmla="val 5000"/>
                </a:avLst>
              </a:prstGeom>
              <a:solidFill>
                <a:srgbClr val="1E293B"/>
              </a:solidFill>
              <a:ln w="19050">
                <a:solidFill>
                  <a:srgbClr val="F59E0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42" name="Rounded Rectangle 41"/>
              <p:cNvSpPr/>
              <p:nvPr/>
            </p:nvSpPr>
            <p:spPr>
              <a:xfrm>
                <a:off x="6852170" y="2124286"/>
                <a:ext cx="308610" cy="308610"/>
              </a:xfrm>
              <a:prstGeom prst="roundRect">
                <a:avLst>
                  <a:gd name="adj" fmla="val 5000"/>
                </a:avLst>
              </a:prstGeom>
              <a:solidFill>
                <a:srgbClr val="F59E0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 sz="1400" b="1">
                    <a:solidFill>
                      <a:srgbClr val="0F172A"/>
                    </a:solidFill>
                    <a:latin typeface="Segoe UI"/>
                  </a:defRPr>
                </a:pPr>
                <a:r>
                  <a:rPr sz="1050"/>
                  <a:t>4</a:t>
                </a:r>
              </a:p>
            </p:txBody>
          </p:sp>
          <p:sp>
            <p:nvSpPr>
              <p:cNvPr id="43" name="TextBox 42"/>
              <p:cNvSpPr txBox="1"/>
              <p:nvPr/>
            </p:nvSpPr>
            <p:spPr>
              <a:xfrm>
                <a:off x="7229360" y="2103713"/>
                <a:ext cx="133731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1600" b="1">
                    <a:solidFill>
                      <a:srgbClr val="FFFFFF"/>
                    </a:solidFill>
                    <a:latin typeface="Segoe UI"/>
                  </a:defRPr>
                </a:pPr>
                <a:r>
                  <a:rPr sz="1200"/>
                  <a:t>Transformers</a:t>
                </a:r>
              </a:p>
            </p:txBody>
          </p:sp>
          <p:sp>
            <p:nvSpPr>
              <p:cNvPr id="44" name="TextBox 43"/>
              <p:cNvSpPr txBox="1"/>
              <p:nvPr/>
            </p:nvSpPr>
            <p:spPr>
              <a:xfrm>
                <a:off x="6852170" y="2467186"/>
                <a:ext cx="1714500" cy="1962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900" b="1">
                    <a:solidFill>
                      <a:srgbClr val="F59E0B"/>
                    </a:solidFill>
                    <a:latin typeface="Segoe UI"/>
                  </a:defRPr>
                </a:pPr>
                <a:r>
                  <a:rPr sz="675"/>
                  <a:t>KEY TECHNIQUES</a:t>
                </a:r>
              </a:p>
            </p:txBody>
          </p:sp>
          <p:sp>
            <p:nvSpPr>
              <p:cNvPr id="45" name="TextBox 44"/>
              <p:cNvSpPr txBox="1"/>
              <p:nvPr/>
            </p:nvSpPr>
            <p:spPr>
              <a:xfrm>
                <a:off x="6852170" y="2624920"/>
                <a:ext cx="1714500" cy="4732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1100" b="0">
                    <a:solidFill>
                      <a:srgbClr val="B0B8C8"/>
                    </a:solidFill>
                    <a:latin typeface="Segoe UI"/>
                  </a:defRPr>
                </a:pPr>
                <a:r>
                  <a:rPr sz="825"/>
                  <a:t>Self-Attention</a:t>
                </a:r>
                <a:br>
                  <a:rPr sz="825"/>
                </a:br>
                <a:r>
                  <a:rPr sz="825"/>
                  <a:t>BERT, GPT, T5</a:t>
                </a:r>
                <a:br>
                  <a:rPr sz="825"/>
                </a:br>
                <a:r>
                  <a:rPr sz="825"/>
                  <a:t>LLaMA, ChatGPT</a:t>
                </a:r>
              </a:p>
            </p:txBody>
          </p:sp>
          <p:sp>
            <p:nvSpPr>
              <p:cNvPr id="46" name="TextBox 45"/>
              <p:cNvSpPr txBox="1"/>
              <p:nvPr/>
            </p:nvSpPr>
            <p:spPr>
              <a:xfrm>
                <a:off x="6852170" y="3290146"/>
                <a:ext cx="1714500" cy="1962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900" b="1">
                    <a:solidFill>
                      <a:srgbClr val="F59E0B"/>
                    </a:solidFill>
                    <a:latin typeface="Segoe UI"/>
                  </a:defRPr>
                </a:pPr>
                <a:r>
                  <a:rPr sz="675"/>
                  <a:t>EXAMPLES</a:t>
                </a:r>
              </a:p>
            </p:txBody>
          </p:sp>
          <p:sp>
            <p:nvSpPr>
              <p:cNvPr id="47" name="TextBox 46"/>
              <p:cNvSpPr txBox="1"/>
              <p:nvPr/>
            </p:nvSpPr>
            <p:spPr>
              <a:xfrm>
                <a:off x="6852170" y="3447880"/>
                <a:ext cx="1714500" cy="3231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1000" b="0">
                    <a:solidFill>
                      <a:srgbClr val="94A3B8"/>
                    </a:solidFill>
                    <a:latin typeface="Segoe UI"/>
                  </a:defRPr>
                </a:pPr>
                <a:r>
                  <a:rPr sz="750"/>
                  <a:t>Gen AI, code generation,</a:t>
                </a:r>
                <a:br>
                  <a:rPr sz="750"/>
                </a:br>
                <a:r>
                  <a:rPr sz="750"/>
                  <a:t>summarization, reasoning, agents</a:t>
                </a:r>
              </a:p>
            </p:txBody>
          </p:sp>
          <p:sp>
            <p:nvSpPr>
              <p:cNvPr id="48" name="TextBox 47"/>
              <p:cNvSpPr txBox="1"/>
              <p:nvPr/>
            </p:nvSpPr>
            <p:spPr>
              <a:xfrm>
                <a:off x="7297940" y="958426"/>
                <a:ext cx="1028700" cy="2077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000" b="1">
                    <a:solidFill>
                      <a:srgbClr val="F59E0B"/>
                    </a:solidFill>
                    <a:latin typeface="Segoe UI"/>
                  </a:defRPr>
                </a:pPr>
                <a:r>
                  <a:rPr sz="750" dirty="0"/>
                  <a:t>▼ WE ARE HERE</a:t>
                </a:r>
              </a:p>
            </p:txBody>
          </p:sp>
        </p:grpSp>
      </p:grpSp>
      <p:sp>
        <p:nvSpPr>
          <p:cNvPr id="49" name="Rounded Rectangle 48"/>
          <p:cNvSpPr/>
          <p:nvPr/>
        </p:nvSpPr>
        <p:spPr>
          <a:xfrm>
            <a:off x="342900" y="4522471"/>
            <a:ext cx="8455914" cy="288036"/>
          </a:xfrm>
          <a:prstGeom prst="roundRect">
            <a:avLst>
              <a:gd name="adj" fmla="val 5000"/>
            </a:avLst>
          </a:prstGeom>
          <a:solidFill>
            <a:srgbClr val="1C2735"/>
          </a:solidFill>
          <a:ln w="19050">
            <a:solidFill>
              <a:srgbClr val="334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59E0B"/>
                </a:solidFill>
                <a:latin typeface="Segoe UI"/>
              </a:rPr>
              <a:t>💡 Key Insight:  </a:t>
            </a:r>
            <a:r>
              <a:rPr sz="900">
                <a:solidFill>
                  <a:srgbClr val="B0B8C8"/>
                </a:solidFill>
                <a:latin typeface="Segoe UI"/>
              </a:rPr>
              <a:t>Each era solved a problem the previous one couldn't — Transformers solved ALL the remaining ones at once.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 dirty="0"/>
          </a:p>
        </p:txBody>
      </p:sp>
      <p:sp>
        <p:nvSpPr>
          <p:cNvPr id="4" name="TextBox 3"/>
          <p:cNvSpPr txBox="1"/>
          <p:nvPr/>
        </p:nvSpPr>
        <p:spPr>
          <a:xfrm>
            <a:off x="342900" y="197279"/>
            <a:ext cx="6858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sz="2400"/>
              <a:t>How RNNs Process Text – The Unrolled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" y="643049"/>
            <a:ext cx="6858000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rPr sz="1125"/>
              <a:t>Sequential processing: each token waits for the previous one — this is the bottleneck</a:t>
            </a: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08646030-A781-CB97-91E3-BCF799A920DA}"/>
              </a:ext>
            </a:extLst>
          </p:cNvPr>
          <p:cNvGrpSpPr/>
          <p:nvPr/>
        </p:nvGrpSpPr>
        <p:grpSpPr>
          <a:xfrm>
            <a:off x="2016252" y="1191689"/>
            <a:ext cx="1086993" cy="2518895"/>
            <a:chOff x="2016252" y="1191689"/>
            <a:chExt cx="1086993" cy="2518895"/>
          </a:xfrm>
        </p:grpSpPr>
        <p:cxnSp>
          <p:nvCxnSpPr>
            <p:cNvPr id="31" name="Connector 30"/>
            <p:cNvCxnSpPr/>
            <p:nvPr/>
          </p:nvCxnSpPr>
          <p:spPr>
            <a:xfrm>
              <a:off x="2777490" y="2374694"/>
              <a:ext cx="240030" cy="0"/>
            </a:xfrm>
            <a:prstGeom prst="line">
              <a:avLst/>
            </a:prstGeom>
            <a:ln w="31750">
              <a:solidFill>
                <a:srgbClr val="F59E0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/>
            <p:cNvSpPr txBox="1"/>
            <p:nvPr/>
          </p:nvSpPr>
          <p:spPr>
            <a:xfrm>
              <a:off x="2760345" y="2100375"/>
              <a:ext cx="34290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100" b="1">
                  <a:solidFill>
                    <a:srgbClr val="F59E0B"/>
                  </a:solidFill>
                  <a:latin typeface="Consolas"/>
                </a:defRPr>
              </a:pPr>
              <a:r>
                <a:rPr sz="825" dirty="0"/>
                <a:t>h</a:t>
              </a:r>
              <a:r>
                <a:rPr lang="en-IN" sz="825" dirty="0"/>
                <a:t>2</a:t>
              </a:r>
              <a:endParaRPr sz="825" dirty="0"/>
            </a:p>
          </p:txBody>
        </p: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3395CFB9-6EB6-1D16-1E6F-871ECDA42D6A}"/>
                </a:ext>
              </a:extLst>
            </p:cNvPr>
            <p:cNvGrpSpPr/>
            <p:nvPr/>
          </p:nvGrpSpPr>
          <p:grpSpPr>
            <a:xfrm>
              <a:off x="2016252" y="1191689"/>
              <a:ext cx="761238" cy="2518895"/>
              <a:chOff x="2016252" y="1191689"/>
              <a:chExt cx="761238" cy="2518895"/>
            </a:xfrm>
          </p:grpSpPr>
          <p:sp>
            <p:nvSpPr>
              <p:cNvPr id="21" name="Isosceles Triangle 20"/>
              <p:cNvSpPr/>
              <p:nvPr/>
            </p:nvSpPr>
            <p:spPr>
              <a:xfrm rot="5400000">
                <a:off x="2016252" y="2306114"/>
                <a:ext cx="137160" cy="137160"/>
              </a:xfrm>
              <a:prstGeom prst="triangle">
                <a:avLst/>
              </a:prstGeom>
              <a:solidFill>
                <a:srgbClr val="F59E0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24" name="Rounded Rectangle 23"/>
              <p:cNvSpPr/>
              <p:nvPr/>
            </p:nvSpPr>
            <p:spPr>
              <a:xfrm>
                <a:off x="2125980" y="3077639"/>
                <a:ext cx="651510" cy="377190"/>
              </a:xfrm>
              <a:prstGeom prst="roundRect">
                <a:avLst>
                  <a:gd name="adj" fmla="val 8000"/>
                </a:avLst>
              </a:prstGeom>
              <a:solidFill>
                <a:srgbClr val="172A45"/>
              </a:solidFill>
              <a:ln w="19050">
                <a:solidFill>
                  <a:srgbClr val="3B82F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 sz="1200" b="1">
                    <a:solidFill>
                      <a:srgbClr val="3B82F6"/>
                    </a:solidFill>
                    <a:latin typeface="Consolas"/>
                  </a:defRPr>
                </a:pPr>
                <a:r>
                  <a:rPr sz="900"/>
                  <a:t>x2 = "cat"</a:t>
                </a:r>
              </a:p>
            </p:txBody>
          </p:sp>
          <p:cxnSp>
            <p:nvCxnSpPr>
              <p:cNvPr id="25" name="Connector 24"/>
              <p:cNvCxnSpPr/>
              <p:nvPr/>
            </p:nvCxnSpPr>
            <p:spPr>
              <a:xfrm flipV="1">
                <a:off x="2451735" y="2700449"/>
                <a:ext cx="0" cy="377190"/>
              </a:xfrm>
              <a:prstGeom prst="line">
                <a:avLst/>
              </a:prstGeom>
              <a:ln w="19050">
                <a:solidFill>
                  <a:srgbClr val="3B82F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Isosceles Triangle 25"/>
              <p:cNvSpPr/>
              <p:nvPr/>
            </p:nvSpPr>
            <p:spPr>
              <a:xfrm>
                <a:off x="2383155" y="2686733"/>
                <a:ext cx="137160" cy="123444"/>
              </a:xfrm>
              <a:prstGeom prst="triangle">
                <a:avLst/>
              </a:prstGeom>
              <a:solidFill>
                <a:srgbClr val="3B82F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27" name="Rounded Rectangle 26"/>
              <p:cNvSpPr/>
              <p:nvPr/>
            </p:nvSpPr>
            <p:spPr>
              <a:xfrm>
                <a:off x="2125980" y="2048939"/>
                <a:ext cx="651510" cy="651510"/>
              </a:xfrm>
              <a:prstGeom prst="roundRect">
                <a:avLst>
                  <a:gd name="adj" fmla="val 10000"/>
                </a:avLst>
              </a:prstGeom>
              <a:solidFill>
                <a:srgbClr val="1E293B"/>
              </a:solidFill>
              <a:ln w="19050">
                <a:solidFill>
                  <a:srgbClr val="A78BF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>
                  <a:defRPr sz="1400" b="1">
                    <a:solidFill>
                      <a:srgbClr val="A78BFA"/>
                    </a:solidFill>
                    <a:latin typeface="Segoe UI"/>
                  </a:defRPr>
                </a:pPr>
                <a:r>
                  <a:rPr sz="1050"/>
                  <a:t>RNN</a:t>
                </a:r>
              </a:p>
              <a:p>
                <a:pPr algn="ctr">
                  <a:defRPr sz="1000">
                    <a:solidFill>
                      <a:srgbClr val="94A3B8"/>
                    </a:solidFill>
                    <a:latin typeface="Consolas"/>
                  </a:defRPr>
                </a:pPr>
                <a:r>
                  <a:rPr sz="750"/>
                  <a:t>t = 2</a:t>
                </a:r>
              </a:p>
            </p:txBody>
          </p:sp>
          <p:cxnSp>
            <p:nvCxnSpPr>
              <p:cNvPr id="28" name="Connector 27"/>
              <p:cNvCxnSpPr/>
              <p:nvPr/>
            </p:nvCxnSpPr>
            <p:spPr>
              <a:xfrm flipV="1">
                <a:off x="2451735" y="1568879"/>
                <a:ext cx="0" cy="480060"/>
              </a:xfrm>
              <a:prstGeom prst="line">
                <a:avLst/>
              </a:prstGeom>
              <a:ln w="19050">
                <a:solidFill>
                  <a:srgbClr val="22C55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Isosceles Triangle 28"/>
              <p:cNvSpPr/>
              <p:nvPr/>
            </p:nvSpPr>
            <p:spPr>
              <a:xfrm>
                <a:off x="2383155" y="1555163"/>
                <a:ext cx="137160" cy="123444"/>
              </a:xfrm>
              <a:prstGeom prst="triangle">
                <a:avLst/>
              </a:prstGeom>
              <a:solidFill>
                <a:srgbClr val="22C55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30" name="Rounded Rectangle 29"/>
              <p:cNvSpPr/>
              <p:nvPr/>
            </p:nvSpPr>
            <p:spPr>
              <a:xfrm>
                <a:off x="2125980" y="1191689"/>
                <a:ext cx="651510" cy="377190"/>
              </a:xfrm>
              <a:prstGeom prst="roundRect">
                <a:avLst>
                  <a:gd name="adj" fmla="val 8000"/>
                </a:avLst>
              </a:prstGeom>
              <a:solidFill>
                <a:srgbClr val="142E20"/>
              </a:solidFill>
              <a:ln w="19050">
                <a:solidFill>
                  <a:srgbClr val="22C55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 sz="1300" b="1">
                    <a:solidFill>
                      <a:srgbClr val="22C55E"/>
                    </a:solidFill>
                    <a:latin typeface="Consolas"/>
                  </a:defRPr>
                </a:pPr>
                <a:r>
                  <a:rPr sz="975"/>
                  <a:t>y₂</a:t>
                </a: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2125980" y="3502835"/>
                <a:ext cx="651510" cy="2077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000" b="0">
                    <a:solidFill>
                      <a:srgbClr val="94A3B8"/>
                    </a:solidFill>
                    <a:latin typeface="Segoe UI"/>
                  </a:defRPr>
                </a:pPr>
                <a:r>
                  <a:rPr sz="750"/>
                  <a:t>Step 2</a:t>
                </a:r>
              </a:p>
            </p:txBody>
          </p:sp>
        </p:grp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3CFE9D2C-F5C9-635D-856D-5D8849EA6EEE}"/>
              </a:ext>
            </a:extLst>
          </p:cNvPr>
          <p:cNvGrpSpPr/>
          <p:nvPr/>
        </p:nvGrpSpPr>
        <p:grpSpPr>
          <a:xfrm>
            <a:off x="2907792" y="1191689"/>
            <a:ext cx="1086993" cy="2518895"/>
            <a:chOff x="2907792" y="1191689"/>
            <a:chExt cx="1086993" cy="2518895"/>
          </a:xfrm>
        </p:grpSpPr>
        <p:sp>
          <p:nvSpPr>
            <p:cNvPr id="44" name="TextBox 43"/>
            <p:cNvSpPr txBox="1"/>
            <p:nvPr/>
          </p:nvSpPr>
          <p:spPr>
            <a:xfrm>
              <a:off x="3651885" y="2100375"/>
              <a:ext cx="34290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100" b="1">
                  <a:solidFill>
                    <a:srgbClr val="F59E0B"/>
                  </a:solidFill>
                  <a:latin typeface="Consolas"/>
                </a:defRPr>
              </a:pPr>
              <a:r>
                <a:rPr sz="825" dirty="0"/>
                <a:t>h</a:t>
              </a:r>
              <a:r>
                <a:rPr lang="en-IN" sz="825" dirty="0"/>
                <a:t>3</a:t>
              </a:r>
              <a:endParaRPr sz="825" dirty="0"/>
            </a:p>
          </p:txBody>
        </p: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AA2E21A9-75BE-0442-0001-406C6200C5F7}"/>
                </a:ext>
              </a:extLst>
            </p:cNvPr>
            <p:cNvGrpSpPr/>
            <p:nvPr/>
          </p:nvGrpSpPr>
          <p:grpSpPr>
            <a:xfrm>
              <a:off x="2907792" y="1191689"/>
              <a:ext cx="761238" cy="2518895"/>
              <a:chOff x="2907792" y="1191689"/>
              <a:chExt cx="761238" cy="2518895"/>
            </a:xfrm>
          </p:grpSpPr>
          <p:sp>
            <p:nvSpPr>
              <p:cNvPr id="32" name="Isosceles Triangle 31"/>
              <p:cNvSpPr/>
              <p:nvPr/>
            </p:nvSpPr>
            <p:spPr>
              <a:xfrm rot="5400000">
                <a:off x="2907792" y="2306114"/>
                <a:ext cx="137160" cy="137160"/>
              </a:xfrm>
              <a:prstGeom prst="triangle">
                <a:avLst/>
              </a:prstGeom>
              <a:solidFill>
                <a:srgbClr val="F59E0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35" name="Rounded Rectangle 34"/>
              <p:cNvSpPr/>
              <p:nvPr/>
            </p:nvSpPr>
            <p:spPr>
              <a:xfrm>
                <a:off x="3017520" y="3077639"/>
                <a:ext cx="651510" cy="377190"/>
              </a:xfrm>
              <a:prstGeom prst="roundRect">
                <a:avLst>
                  <a:gd name="adj" fmla="val 8000"/>
                </a:avLst>
              </a:prstGeom>
              <a:solidFill>
                <a:srgbClr val="172A45"/>
              </a:solidFill>
              <a:ln w="19050">
                <a:solidFill>
                  <a:srgbClr val="3B82F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 sz="1200" b="1">
                    <a:solidFill>
                      <a:srgbClr val="3B82F6"/>
                    </a:solidFill>
                    <a:latin typeface="Consolas"/>
                  </a:defRPr>
                </a:pPr>
                <a:r>
                  <a:rPr sz="900"/>
                  <a:t>x3 = "sat"</a:t>
                </a:r>
              </a:p>
            </p:txBody>
          </p:sp>
          <p:cxnSp>
            <p:nvCxnSpPr>
              <p:cNvPr id="36" name="Connector 35"/>
              <p:cNvCxnSpPr/>
              <p:nvPr/>
            </p:nvCxnSpPr>
            <p:spPr>
              <a:xfrm flipV="1">
                <a:off x="3343275" y="2700449"/>
                <a:ext cx="0" cy="377190"/>
              </a:xfrm>
              <a:prstGeom prst="line">
                <a:avLst/>
              </a:prstGeom>
              <a:ln w="19050">
                <a:solidFill>
                  <a:srgbClr val="3B82F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Isosceles Triangle 36"/>
              <p:cNvSpPr/>
              <p:nvPr/>
            </p:nvSpPr>
            <p:spPr>
              <a:xfrm>
                <a:off x="3274695" y="2686733"/>
                <a:ext cx="137160" cy="123444"/>
              </a:xfrm>
              <a:prstGeom prst="triangle">
                <a:avLst/>
              </a:prstGeom>
              <a:solidFill>
                <a:srgbClr val="3B82F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38" name="Rounded Rectangle 37"/>
              <p:cNvSpPr/>
              <p:nvPr/>
            </p:nvSpPr>
            <p:spPr>
              <a:xfrm>
                <a:off x="3017520" y="2048939"/>
                <a:ext cx="651510" cy="651510"/>
              </a:xfrm>
              <a:prstGeom prst="roundRect">
                <a:avLst>
                  <a:gd name="adj" fmla="val 10000"/>
                </a:avLst>
              </a:prstGeom>
              <a:solidFill>
                <a:srgbClr val="1E293B"/>
              </a:solidFill>
              <a:ln w="19050">
                <a:solidFill>
                  <a:srgbClr val="A78BF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>
                  <a:defRPr sz="1400" b="1">
                    <a:solidFill>
                      <a:srgbClr val="A78BFA"/>
                    </a:solidFill>
                    <a:latin typeface="Segoe UI"/>
                  </a:defRPr>
                </a:pPr>
                <a:r>
                  <a:rPr sz="1050" dirty="0"/>
                  <a:t>RNN</a:t>
                </a:r>
              </a:p>
              <a:p>
                <a:pPr algn="ctr">
                  <a:defRPr sz="1000">
                    <a:solidFill>
                      <a:srgbClr val="94A3B8"/>
                    </a:solidFill>
                    <a:latin typeface="Consolas"/>
                  </a:defRPr>
                </a:pPr>
                <a:r>
                  <a:rPr sz="750" dirty="0"/>
                  <a:t>t = 3</a:t>
                </a:r>
              </a:p>
            </p:txBody>
          </p:sp>
          <p:cxnSp>
            <p:nvCxnSpPr>
              <p:cNvPr id="39" name="Connector 38"/>
              <p:cNvCxnSpPr/>
              <p:nvPr/>
            </p:nvCxnSpPr>
            <p:spPr>
              <a:xfrm flipV="1">
                <a:off x="3343275" y="1568879"/>
                <a:ext cx="0" cy="480060"/>
              </a:xfrm>
              <a:prstGeom prst="line">
                <a:avLst/>
              </a:prstGeom>
              <a:ln w="19050">
                <a:solidFill>
                  <a:srgbClr val="22C55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Isosceles Triangle 39"/>
              <p:cNvSpPr/>
              <p:nvPr/>
            </p:nvSpPr>
            <p:spPr>
              <a:xfrm>
                <a:off x="3274695" y="1555163"/>
                <a:ext cx="137160" cy="123444"/>
              </a:xfrm>
              <a:prstGeom prst="triangle">
                <a:avLst/>
              </a:prstGeom>
              <a:solidFill>
                <a:srgbClr val="22C55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41" name="Rounded Rectangle 40"/>
              <p:cNvSpPr/>
              <p:nvPr/>
            </p:nvSpPr>
            <p:spPr>
              <a:xfrm>
                <a:off x="3017520" y="1191689"/>
                <a:ext cx="651510" cy="377190"/>
              </a:xfrm>
              <a:prstGeom prst="roundRect">
                <a:avLst>
                  <a:gd name="adj" fmla="val 8000"/>
                </a:avLst>
              </a:prstGeom>
              <a:solidFill>
                <a:srgbClr val="142E20"/>
              </a:solidFill>
              <a:ln w="19050">
                <a:solidFill>
                  <a:srgbClr val="22C55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 sz="1300" b="1">
                    <a:solidFill>
                      <a:srgbClr val="22C55E"/>
                    </a:solidFill>
                    <a:latin typeface="Consolas"/>
                  </a:defRPr>
                </a:pPr>
                <a:r>
                  <a:rPr sz="975"/>
                  <a:t>y₃</a:t>
                </a:r>
              </a:p>
            </p:txBody>
          </p:sp>
          <p:sp>
            <p:nvSpPr>
              <p:cNvPr id="45" name="TextBox 44"/>
              <p:cNvSpPr txBox="1"/>
              <p:nvPr/>
            </p:nvSpPr>
            <p:spPr>
              <a:xfrm>
                <a:off x="3017520" y="3502835"/>
                <a:ext cx="651510" cy="2077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000" b="0">
                    <a:solidFill>
                      <a:srgbClr val="94A3B8"/>
                    </a:solidFill>
                    <a:latin typeface="Segoe UI"/>
                  </a:defRPr>
                </a:pPr>
                <a:r>
                  <a:rPr sz="750"/>
                  <a:t>Step 3</a:t>
                </a:r>
              </a:p>
            </p:txBody>
          </p:sp>
        </p:grp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118D55F1-9C81-3907-DC59-6415EB7E2A12}"/>
              </a:ext>
            </a:extLst>
          </p:cNvPr>
          <p:cNvGrpSpPr/>
          <p:nvPr/>
        </p:nvGrpSpPr>
        <p:grpSpPr>
          <a:xfrm>
            <a:off x="3669030" y="1191689"/>
            <a:ext cx="1131570" cy="2518895"/>
            <a:chOff x="3669030" y="1191689"/>
            <a:chExt cx="1131570" cy="2518895"/>
          </a:xfrm>
        </p:grpSpPr>
        <p:cxnSp>
          <p:nvCxnSpPr>
            <p:cNvPr id="53" name="Connector 52"/>
            <p:cNvCxnSpPr/>
            <p:nvPr/>
          </p:nvCxnSpPr>
          <p:spPr>
            <a:xfrm>
              <a:off x="4560570" y="2374694"/>
              <a:ext cx="240030" cy="0"/>
            </a:xfrm>
            <a:prstGeom prst="line">
              <a:avLst/>
            </a:prstGeom>
            <a:ln w="31750">
              <a:solidFill>
                <a:srgbClr val="F59E0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C7F227B8-0493-2260-B306-18C75829D386}"/>
                </a:ext>
              </a:extLst>
            </p:cNvPr>
            <p:cNvGrpSpPr/>
            <p:nvPr/>
          </p:nvGrpSpPr>
          <p:grpSpPr>
            <a:xfrm>
              <a:off x="3669030" y="1191689"/>
              <a:ext cx="891540" cy="2518895"/>
              <a:chOff x="3669030" y="1191689"/>
              <a:chExt cx="891540" cy="2518895"/>
            </a:xfrm>
          </p:grpSpPr>
          <p:cxnSp>
            <p:nvCxnSpPr>
              <p:cNvPr id="42" name="Connector 41"/>
              <p:cNvCxnSpPr/>
              <p:nvPr/>
            </p:nvCxnSpPr>
            <p:spPr>
              <a:xfrm>
                <a:off x="3669030" y="2374694"/>
                <a:ext cx="240030" cy="0"/>
              </a:xfrm>
              <a:prstGeom prst="line">
                <a:avLst/>
              </a:prstGeom>
              <a:ln w="31750">
                <a:solidFill>
                  <a:srgbClr val="F59E0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Isosceles Triangle 42"/>
              <p:cNvSpPr/>
              <p:nvPr/>
            </p:nvSpPr>
            <p:spPr>
              <a:xfrm rot="5400000">
                <a:off x="3799332" y="2306114"/>
                <a:ext cx="137160" cy="137160"/>
              </a:xfrm>
              <a:prstGeom prst="triangle">
                <a:avLst/>
              </a:prstGeom>
              <a:solidFill>
                <a:srgbClr val="F59E0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46" name="Rounded Rectangle 45"/>
              <p:cNvSpPr/>
              <p:nvPr/>
            </p:nvSpPr>
            <p:spPr>
              <a:xfrm>
                <a:off x="3909060" y="3077639"/>
                <a:ext cx="651510" cy="377190"/>
              </a:xfrm>
              <a:prstGeom prst="roundRect">
                <a:avLst>
                  <a:gd name="adj" fmla="val 8000"/>
                </a:avLst>
              </a:prstGeom>
              <a:solidFill>
                <a:srgbClr val="172A45"/>
              </a:solidFill>
              <a:ln w="19050">
                <a:solidFill>
                  <a:srgbClr val="3B82F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 sz="1200" b="1">
                    <a:solidFill>
                      <a:srgbClr val="3B82F6"/>
                    </a:solidFill>
                    <a:latin typeface="Consolas"/>
                  </a:defRPr>
                </a:pPr>
                <a:r>
                  <a:rPr sz="900"/>
                  <a:t>x4 = "on"</a:t>
                </a:r>
              </a:p>
            </p:txBody>
          </p:sp>
          <p:cxnSp>
            <p:nvCxnSpPr>
              <p:cNvPr id="47" name="Connector 46"/>
              <p:cNvCxnSpPr/>
              <p:nvPr/>
            </p:nvCxnSpPr>
            <p:spPr>
              <a:xfrm flipV="1">
                <a:off x="4234815" y="2700449"/>
                <a:ext cx="0" cy="377190"/>
              </a:xfrm>
              <a:prstGeom prst="line">
                <a:avLst/>
              </a:prstGeom>
              <a:ln w="19050">
                <a:solidFill>
                  <a:srgbClr val="3B82F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Isosceles Triangle 47"/>
              <p:cNvSpPr/>
              <p:nvPr/>
            </p:nvSpPr>
            <p:spPr>
              <a:xfrm>
                <a:off x="4166235" y="2686733"/>
                <a:ext cx="137160" cy="123444"/>
              </a:xfrm>
              <a:prstGeom prst="triangle">
                <a:avLst/>
              </a:prstGeom>
              <a:solidFill>
                <a:srgbClr val="3B82F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49" name="Rounded Rectangle 48"/>
              <p:cNvSpPr/>
              <p:nvPr/>
            </p:nvSpPr>
            <p:spPr>
              <a:xfrm>
                <a:off x="3909060" y="2048939"/>
                <a:ext cx="651510" cy="651510"/>
              </a:xfrm>
              <a:prstGeom prst="roundRect">
                <a:avLst>
                  <a:gd name="adj" fmla="val 10000"/>
                </a:avLst>
              </a:prstGeom>
              <a:solidFill>
                <a:srgbClr val="1E293B"/>
              </a:solidFill>
              <a:ln w="19050">
                <a:solidFill>
                  <a:srgbClr val="A78BF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>
                  <a:defRPr sz="1400" b="1">
                    <a:solidFill>
                      <a:srgbClr val="A78BFA"/>
                    </a:solidFill>
                    <a:latin typeface="Segoe UI"/>
                  </a:defRPr>
                </a:pPr>
                <a:r>
                  <a:rPr sz="1050" dirty="0"/>
                  <a:t>RNN</a:t>
                </a:r>
              </a:p>
              <a:p>
                <a:pPr algn="ctr">
                  <a:defRPr sz="1000">
                    <a:solidFill>
                      <a:srgbClr val="94A3B8"/>
                    </a:solidFill>
                    <a:latin typeface="Consolas"/>
                  </a:defRPr>
                </a:pPr>
                <a:r>
                  <a:rPr sz="750" dirty="0"/>
                  <a:t>t = 4</a:t>
                </a:r>
              </a:p>
            </p:txBody>
          </p:sp>
          <p:cxnSp>
            <p:nvCxnSpPr>
              <p:cNvPr id="50" name="Connector 49"/>
              <p:cNvCxnSpPr/>
              <p:nvPr/>
            </p:nvCxnSpPr>
            <p:spPr>
              <a:xfrm flipV="1">
                <a:off x="4234815" y="1568879"/>
                <a:ext cx="0" cy="480060"/>
              </a:xfrm>
              <a:prstGeom prst="line">
                <a:avLst/>
              </a:prstGeom>
              <a:ln w="19050">
                <a:solidFill>
                  <a:srgbClr val="22C55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Isosceles Triangle 50"/>
              <p:cNvSpPr/>
              <p:nvPr/>
            </p:nvSpPr>
            <p:spPr>
              <a:xfrm>
                <a:off x="4166235" y="1555163"/>
                <a:ext cx="137160" cy="123444"/>
              </a:xfrm>
              <a:prstGeom prst="triangle">
                <a:avLst/>
              </a:prstGeom>
              <a:solidFill>
                <a:srgbClr val="22C55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52" name="Rounded Rectangle 51"/>
              <p:cNvSpPr/>
              <p:nvPr/>
            </p:nvSpPr>
            <p:spPr>
              <a:xfrm>
                <a:off x="3909060" y="1191689"/>
                <a:ext cx="651510" cy="377190"/>
              </a:xfrm>
              <a:prstGeom prst="roundRect">
                <a:avLst>
                  <a:gd name="adj" fmla="val 8000"/>
                </a:avLst>
              </a:prstGeom>
              <a:solidFill>
                <a:srgbClr val="142E20"/>
              </a:solidFill>
              <a:ln w="19050">
                <a:solidFill>
                  <a:srgbClr val="22C55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 sz="1300" b="1">
                    <a:solidFill>
                      <a:srgbClr val="22C55E"/>
                    </a:solidFill>
                    <a:latin typeface="Consolas"/>
                  </a:defRPr>
                </a:pPr>
                <a:r>
                  <a:rPr sz="975"/>
                  <a:t>y₄</a:t>
                </a:r>
              </a:p>
            </p:txBody>
          </p:sp>
          <p:sp>
            <p:nvSpPr>
              <p:cNvPr id="56" name="TextBox 55"/>
              <p:cNvSpPr txBox="1"/>
              <p:nvPr/>
            </p:nvSpPr>
            <p:spPr>
              <a:xfrm>
                <a:off x="3909060" y="3502835"/>
                <a:ext cx="651510" cy="2077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000" b="0">
                    <a:solidFill>
                      <a:srgbClr val="94A3B8"/>
                    </a:solidFill>
                    <a:latin typeface="Segoe UI"/>
                  </a:defRPr>
                </a:pPr>
                <a:r>
                  <a:rPr sz="750"/>
                  <a:t>Step 4</a:t>
                </a:r>
              </a:p>
            </p:txBody>
          </p:sp>
        </p:grp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B762536D-4216-F04A-938F-4838F14AD36D}"/>
              </a:ext>
            </a:extLst>
          </p:cNvPr>
          <p:cNvGrpSpPr/>
          <p:nvPr/>
        </p:nvGrpSpPr>
        <p:grpSpPr>
          <a:xfrm>
            <a:off x="85725" y="1191689"/>
            <a:ext cx="2125980" cy="2518895"/>
            <a:chOff x="85725" y="1191689"/>
            <a:chExt cx="2125980" cy="2518895"/>
          </a:xfrm>
        </p:grpSpPr>
        <p:cxnSp>
          <p:nvCxnSpPr>
            <p:cNvPr id="20" name="Connector 19"/>
            <p:cNvCxnSpPr/>
            <p:nvPr/>
          </p:nvCxnSpPr>
          <p:spPr>
            <a:xfrm>
              <a:off x="1885950" y="2374694"/>
              <a:ext cx="240030" cy="0"/>
            </a:xfrm>
            <a:prstGeom prst="line">
              <a:avLst/>
            </a:prstGeom>
            <a:ln w="31750">
              <a:solidFill>
                <a:srgbClr val="F59E0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1868805" y="2100375"/>
              <a:ext cx="34290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100" b="1">
                  <a:solidFill>
                    <a:srgbClr val="F59E0B"/>
                  </a:solidFill>
                  <a:latin typeface="Consolas"/>
                </a:defRPr>
              </a:pPr>
              <a:r>
                <a:rPr sz="825" dirty="0"/>
                <a:t>h</a:t>
              </a:r>
              <a:r>
                <a:rPr lang="en-IN" sz="825" dirty="0"/>
                <a:t>1</a:t>
              </a:r>
              <a:endParaRPr sz="825" dirty="0"/>
            </a:p>
          </p:txBody>
        </p: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1D5150CD-7860-61DD-019F-FA3EE3E77361}"/>
                </a:ext>
              </a:extLst>
            </p:cNvPr>
            <p:cNvGrpSpPr/>
            <p:nvPr/>
          </p:nvGrpSpPr>
          <p:grpSpPr>
            <a:xfrm>
              <a:off x="85725" y="1191689"/>
              <a:ext cx="1800225" cy="2518895"/>
              <a:chOff x="85725" y="1191689"/>
              <a:chExt cx="1800225" cy="2518895"/>
            </a:xfrm>
          </p:grpSpPr>
          <p:sp>
            <p:nvSpPr>
              <p:cNvPr id="7" name="TextBox 6"/>
              <p:cNvSpPr txBox="1"/>
              <p:nvPr/>
            </p:nvSpPr>
            <p:spPr>
              <a:xfrm>
                <a:off x="205740" y="1191690"/>
                <a:ext cx="891540" cy="2192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defRPr sz="1100" b="1">
                    <a:solidFill>
                      <a:srgbClr val="22C55E"/>
                    </a:solidFill>
                    <a:latin typeface="Segoe UI"/>
                  </a:defRPr>
                </a:pPr>
                <a:r>
                  <a:rPr sz="825" dirty="0"/>
                  <a:t>OUTPUT</a:t>
                </a:r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205740" y="1397429"/>
                <a:ext cx="891540" cy="1962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defRPr sz="900" b="0">
                    <a:solidFill>
                      <a:srgbClr val="94A3B8"/>
                    </a:solidFill>
                    <a:latin typeface="Segoe UI"/>
                  </a:defRPr>
                </a:pPr>
                <a:r>
                  <a:rPr sz="675"/>
                  <a:t>(predictions)</a:t>
                </a: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85725" y="2171167"/>
                <a:ext cx="747522" cy="2192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defRPr sz="1100" b="1">
                    <a:solidFill>
                      <a:srgbClr val="A78BFA"/>
                    </a:solidFill>
                    <a:latin typeface="Segoe UI"/>
                  </a:defRPr>
                </a:pPr>
                <a:r>
                  <a:rPr sz="825"/>
                  <a:t>RNN CELL</a:t>
                </a: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85725" y="2376906"/>
                <a:ext cx="747522" cy="1962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defRPr sz="900" b="0">
                    <a:solidFill>
                      <a:srgbClr val="94A3B8"/>
                    </a:solidFill>
                    <a:latin typeface="Segoe UI"/>
                  </a:defRPr>
                </a:pPr>
                <a:r>
                  <a:rPr sz="675"/>
                  <a:t>(hidden state)</a:t>
                </a: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205740" y="3111930"/>
                <a:ext cx="891540" cy="2192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defRPr sz="1100" b="1">
                    <a:solidFill>
                      <a:srgbClr val="3B82F6"/>
                    </a:solidFill>
                    <a:latin typeface="Segoe UI"/>
                  </a:defRPr>
                </a:pPr>
                <a:r>
                  <a:rPr sz="825"/>
                  <a:t>INPUT</a:t>
                </a: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205740" y="3317669"/>
                <a:ext cx="891540" cy="3000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defRPr sz="900" b="0">
                    <a:solidFill>
                      <a:srgbClr val="94A3B8"/>
                    </a:solidFill>
                    <a:latin typeface="Segoe UI"/>
                  </a:defRPr>
                </a:pPr>
                <a:r>
                  <a:rPr sz="675"/>
                  <a:t>(word embeddings)</a:t>
                </a:r>
              </a:p>
            </p:txBody>
          </p:sp>
          <p:sp>
            <p:nvSpPr>
              <p:cNvPr id="13" name="Rounded Rectangle 12"/>
              <p:cNvSpPr/>
              <p:nvPr/>
            </p:nvSpPr>
            <p:spPr>
              <a:xfrm>
                <a:off x="1234440" y="3077639"/>
                <a:ext cx="651510" cy="377190"/>
              </a:xfrm>
              <a:prstGeom prst="roundRect">
                <a:avLst>
                  <a:gd name="adj" fmla="val 8000"/>
                </a:avLst>
              </a:prstGeom>
              <a:solidFill>
                <a:srgbClr val="172A45"/>
              </a:solidFill>
              <a:ln w="19050">
                <a:solidFill>
                  <a:srgbClr val="3B82F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 sz="1200" b="1">
                    <a:solidFill>
                      <a:srgbClr val="3B82F6"/>
                    </a:solidFill>
                    <a:latin typeface="Consolas"/>
                  </a:defRPr>
                </a:pPr>
                <a:r>
                  <a:rPr sz="900"/>
                  <a:t>x1 = "The"</a:t>
                </a:r>
              </a:p>
            </p:txBody>
          </p:sp>
          <p:cxnSp>
            <p:nvCxnSpPr>
              <p:cNvPr id="14" name="Connector 13"/>
              <p:cNvCxnSpPr/>
              <p:nvPr/>
            </p:nvCxnSpPr>
            <p:spPr>
              <a:xfrm flipV="1">
                <a:off x="1560195" y="2700449"/>
                <a:ext cx="0" cy="377190"/>
              </a:xfrm>
              <a:prstGeom prst="line">
                <a:avLst/>
              </a:prstGeom>
              <a:ln w="19050">
                <a:solidFill>
                  <a:srgbClr val="3B82F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Isosceles Triangle 14"/>
              <p:cNvSpPr/>
              <p:nvPr/>
            </p:nvSpPr>
            <p:spPr>
              <a:xfrm>
                <a:off x="1491615" y="2686733"/>
                <a:ext cx="137160" cy="123444"/>
              </a:xfrm>
              <a:prstGeom prst="triangle">
                <a:avLst/>
              </a:prstGeom>
              <a:solidFill>
                <a:srgbClr val="3B82F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6" name="Rounded Rectangle 15"/>
              <p:cNvSpPr/>
              <p:nvPr/>
            </p:nvSpPr>
            <p:spPr>
              <a:xfrm>
                <a:off x="1234440" y="2048939"/>
                <a:ext cx="651510" cy="651510"/>
              </a:xfrm>
              <a:prstGeom prst="roundRect">
                <a:avLst>
                  <a:gd name="adj" fmla="val 10000"/>
                </a:avLst>
              </a:prstGeom>
              <a:solidFill>
                <a:srgbClr val="1E293B"/>
              </a:solidFill>
              <a:ln w="19050">
                <a:solidFill>
                  <a:srgbClr val="A78BF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>
                  <a:defRPr sz="1400" b="1">
                    <a:solidFill>
                      <a:srgbClr val="A78BFA"/>
                    </a:solidFill>
                    <a:latin typeface="Segoe UI"/>
                  </a:defRPr>
                </a:pPr>
                <a:r>
                  <a:rPr sz="1050" dirty="0"/>
                  <a:t>RNN</a:t>
                </a:r>
              </a:p>
              <a:p>
                <a:pPr algn="ctr">
                  <a:defRPr sz="1000">
                    <a:solidFill>
                      <a:srgbClr val="94A3B8"/>
                    </a:solidFill>
                    <a:latin typeface="Consolas"/>
                  </a:defRPr>
                </a:pPr>
                <a:r>
                  <a:rPr sz="750" dirty="0"/>
                  <a:t>t = 1</a:t>
                </a:r>
              </a:p>
            </p:txBody>
          </p:sp>
          <p:cxnSp>
            <p:nvCxnSpPr>
              <p:cNvPr id="17" name="Connector 16"/>
              <p:cNvCxnSpPr/>
              <p:nvPr/>
            </p:nvCxnSpPr>
            <p:spPr>
              <a:xfrm flipV="1">
                <a:off x="1560195" y="1568879"/>
                <a:ext cx="0" cy="480060"/>
              </a:xfrm>
              <a:prstGeom prst="line">
                <a:avLst/>
              </a:prstGeom>
              <a:ln w="19050">
                <a:solidFill>
                  <a:srgbClr val="22C55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Isosceles Triangle 17"/>
              <p:cNvSpPr/>
              <p:nvPr/>
            </p:nvSpPr>
            <p:spPr>
              <a:xfrm>
                <a:off x="1491615" y="1555163"/>
                <a:ext cx="137160" cy="123444"/>
              </a:xfrm>
              <a:prstGeom prst="triangle">
                <a:avLst/>
              </a:prstGeom>
              <a:solidFill>
                <a:srgbClr val="22C55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9" name="Rounded Rectangle 18"/>
              <p:cNvSpPr/>
              <p:nvPr/>
            </p:nvSpPr>
            <p:spPr>
              <a:xfrm>
                <a:off x="1234440" y="1191689"/>
                <a:ext cx="651510" cy="377190"/>
              </a:xfrm>
              <a:prstGeom prst="roundRect">
                <a:avLst>
                  <a:gd name="adj" fmla="val 8000"/>
                </a:avLst>
              </a:prstGeom>
              <a:solidFill>
                <a:srgbClr val="142E20"/>
              </a:solidFill>
              <a:ln w="19050">
                <a:solidFill>
                  <a:srgbClr val="22C55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 sz="1300" b="1">
                    <a:solidFill>
                      <a:srgbClr val="22C55E"/>
                    </a:solidFill>
                    <a:latin typeface="Consolas"/>
                  </a:defRPr>
                </a:pPr>
                <a:r>
                  <a:rPr sz="975"/>
                  <a:t>y₁</a:t>
                </a: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1234440" y="3502835"/>
                <a:ext cx="651510" cy="2077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000" b="0">
                    <a:solidFill>
                      <a:srgbClr val="94A3B8"/>
                    </a:solidFill>
                    <a:latin typeface="Segoe UI"/>
                  </a:defRPr>
                </a:pPr>
                <a:r>
                  <a:rPr sz="750"/>
                  <a:t>Step 1</a:t>
                </a:r>
              </a:p>
            </p:txBody>
          </p:sp>
          <p:cxnSp>
            <p:nvCxnSpPr>
              <p:cNvPr id="65" name="Connector 64"/>
              <p:cNvCxnSpPr/>
              <p:nvPr/>
            </p:nvCxnSpPr>
            <p:spPr>
              <a:xfrm>
                <a:off x="822960" y="2374694"/>
                <a:ext cx="377190" cy="0"/>
              </a:xfrm>
              <a:prstGeom prst="line">
                <a:avLst/>
              </a:prstGeom>
              <a:ln w="25400">
                <a:solidFill>
                  <a:srgbClr val="F59E0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" name="Oval 65"/>
              <p:cNvSpPr/>
              <p:nvPr/>
            </p:nvSpPr>
            <p:spPr>
              <a:xfrm>
                <a:off x="828856" y="2228118"/>
                <a:ext cx="274320" cy="274320"/>
              </a:xfrm>
              <a:prstGeom prst="ellipse">
                <a:avLst/>
              </a:prstGeom>
              <a:solidFill>
                <a:srgbClr val="2A1F0F"/>
              </a:solidFill>
              <a:ln w="19050">
                <a:solidFill>
                  <a:srgbClr val="F59E0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 sz="1000" b="1">
                    <a:solidFill>
                      <a:srgbClr val="F59E0B"/>
                    </a:solidFill>
                    <a:latin typeface="Consolas"/>
                  </a:defRPr>
                </a:pPr>
                <a:r>
                  <a:rPr sz="750" dirty="0"/>
                  <a:t>h₀</a:t>
                </a:r>
              </a:p>
            </p:txBody>
          </p:sp>
        </p:grp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EA798164-6AA7-1B24-B2F2-7AC71AAEC72F}"/>
              </a:ext>
            </a:extLst>
          </p:cNvPr>
          <p:cNvGrpSpPr/>
          <p:nvPr/>
        </p:nvGrpSpPr>
        <p:grpSpPr>
          <a:xfrm>
            <a:off x="4543425" y="1191689"/>
            <a:ext cx="1594485" cy="2518895"/>
            <a:chOff x="4543425" y="1191689"/>
            <a:chExt cx="1594485" cy="2518895"/>
          </a:xfrm>
        </p:grpSpPr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1836CB22-3EAD-6E0F-0328-70737893E4C6}"/>
                </a:ext>
              </a:extLst>
            </p:cNvPr>
            <p:cNvGrpSpPr/>
            <p:nvPr/>
          </p:nvGrpSpPr>
          <p:grpSpPr>
            <a:xfrm>
              <a:off x="4543425" y="1191689"/>
              <a:ext cx="1285875" cy="2518895"/>
              <a:chOff x="4543425" y="1191689"/>
              <a:chExt cx="1285875" cy="2518895"/>
            </a:xfrm>
          </p:grpSpPr>
          <p:sp>
            <p:nvSpPr>
              <p:cNvPr id="55" name="TextBox 54"/>
              <p:cNvSpPr txBox="1"/>
              <p:nvPr/>
            </p:nvSpPr>
            <p:spPr>
              <a:xfrm>
                <a:off x="4543425" y="2100375"/>
                <a:ext cx="342900" cy="2192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100" b="1">
                    <a:solidFill>
                      <a:srgbClr val="F59E0B"/>
                    </a:solidFill>
                    <a:latin typeface="Consolas"/>
                  </a:defRPr>
                </a:pPr>
                <a:r>
                  <a:rPr sz="825" dirty="0"/>
                  <a:t>h</a:t>
                </a:r>
                <a:r>
                  <a:rPr lang="en-IN" sz="825" dirty="0"/>
                  <a:t>4</a:t>
                </a:r>
                <a:endParaRPr sz="825" dirty="0"/>
              </a:p>
            </p:txBody>
          </p:sp>
          <p:grpSp>
            <p:nvGrpSpPr>
              <p:cNvPr id="84" name="Group 83">
                <a:extLst>
                  <a:ext uri="{FF2B5EF4-FFF2-40B4-BE49-F238E27FC236}">
                    <a16:creationId xmlns:a16="http://schemas.microsoft.com/office/drawing/2014/main" id="{4372D3D9-51CE-14DF-6932-1D07D2951B14}"/>
                  </a:ext>
                </a:extLst>
              </p:cNvPr>
              <p:cNvGrpSpPr/>
              <p:nvPr/>
            </p:nvGrpSpPr>
            <p:grpSpPr>
              <a:xfrm>
                <a:off x="4690872" y="1191689"/>
                <a:ext cx="1138428" cy="2518895"/>
                <a:chOff x="4690872" y="1191689"/>
                <a:chExt cx="1138428" cy="2518895"/>
              </a:xfrm>
            </p:grpSpPr>
            <p:sp>
              <p:nvSpPr>
                <p:cNvPr id="54" name="Isosceles Triangle 53"/>
                <p:cNvSpPr/>
                <p:nvPr/>
              </p:nvSpPr>
              <p:spPr>
                <a:xfrm rot="5400000">
                  <a:off x="4690872" y="2306114"/>
                  <a:ext cx="137160" cy="137160"/>
                </a:xfrm>
                <a:prstGeom prst="triangle">
                  <a:avLst/>
                </a:prstGeom>
                <a:solidFill>
                  <a:srgbClr val="F59E0B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1050"/>
                </a:p>
              </p:txBody>
            </p:sp>
            <p:sp>
              <p:nvSpPr>
                <p:cNvPr id="57" name="Rounded Rectangle 56"/>
                <p:cNvSpPr/>
                <p:nvPr/>
              </p:nvSpPr>
              <p:spPr>
                <a:xfrm>
                  <a:off x="4800600" y="3077639"/>
                  <a:ext cx="651510" cy="377190"/>
                </a:xfrm>
                <a:prstGeom prst="roundRect">
                  <a:avLst>
                    <a:gd name="adj" fmla="val 8000"/>
                  </a:avLst>
                </a:prstGeom>
                <a:solidFill>
                  <a:srgbClr val="172A45"/>
                </a:solidFill>
                <a:ln w="19050">
                  <a:solidFill>
                    <a:srgbClr val="3B82F6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 sz="1200" b="1">
                      <a:solidFill>
                        <a:srgbClr val="3B82F6"/>
                      </a:solidFill>
                      <a:latin typeface="Consolas"/>
                    </a:defRPr>
                  </a:pPr>
                  <a:r>
                    <a:rPr sz="900"/>
                    <a:t>x5 = "mat"</a:t>
                  </a:r>
                </a:p>
              </p:txBody>
            </p:sp>
            <p:cxnSp>
              <p:nvCxnSpPr>
                <p:cNvPr id="58" name="Connector 57"/>
                <p:cNvCxnSpPr/>
                <p:nvPr/>
              </p:nvCxnSpPr>
              <p:spPr>
                <a:xfrm flipV="1">
                  <a:off x="5126355" y="2700449"/>
                  <a:ext cx="0" cy="377190"/>
                </a:xfrm>
                <a:prstGeom prst="line">
                  <a:avLst/>
                </a:prstGeom>
                <a:ln w="19050">
                  <a:solidFill>
                    <a:srgbClr val="3B82F6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9" name="Isosceles Triangle 58"/>
                <p:cNvSpPr/>
                <p:nvPr/>
              </p:nvSpPr>
              <p:spPr>
                <a:xfrm>
                  <a:off x="5057775" y="2686733"/>
                  <a:ext cx="137160" cy="123444"/>
                </a:xfrm>
                <a:prstGeom prst="triangle">
                  <a:avLst/>
                </a:prstGeom>
                <a:solidFill>
                  <a:srgbClr val="3B82F6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1050"/>
                </a:p>
              </p:txBody>
            </p:sp>
            <p:sp>
              <p:nvSpPr>
                <p:cNvPr id="60" name="Rounded Rectangle 59"/>
                <p:cNvSpPr/>
                <p:nvPr/>
              </p:nvSpPr>
              <p:spPr>
                <a:xfrm>
                  <a:off x="4800600" y="2048939"/>
                  <a:ext cx="651510" cy="651510"/>
                </a:xfrm>
                <a:prstGeom prst="roundRect">
                  <a:avLst>
                    <a:gd name="adj" fmla="val 10000"/>
                  </a:avLst>
                </a:prstGeom>
                <a:solidFill>
                  <a:srgbClr val="1E293B"/>
                </a:solidFill>
                <a:ln w="19050">
                  <a:solidFill>
                    <a:srgbClr val="A78BFA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>
                    <a:defRPr sz="1400" b="1">
                      <a:solidFill>
                        <a:srgbClr val="A78BFA"/>
                      </a:solidFill>
                      <a:latin typeface="Segoe UI"/>
                    </a:defRPr>
                  </a:pPr>
                  <a:r>
                    <a:rPr sz="1050" dirty="0"/>
                    <a:t>RNN</a:t>
                  </a:r>
                </a:p>
                <a:p>
                  <a:pPr algn="ctr">
                    <a:defRPr sz="1000">
                      <a:solidFill>
                        <a:srgbClr val="94A3B8"/>
                      </a:solidFill>
                      <a:latin typeface="Consolas"/>
                    </a:defRPr>
                  </a:pPr>
                  <a:r>
                    <a:rPr sz="750" dirty="0"/>
                    <a:t>t = 5</a:t>
                  </a:r>
                </a:p>
              </p:txBody>
            </p:sp>
            <p:cxnSp>
              <p:nvCxnSpPr>
                <p:cNvPr id="61" name="Connector 60"/>
                <p:cNvCxnSpPr/>
                <p:nvPr/>
              </p:nvCxnSpPr>
              <p:spPr>
                <a:xfrm flipV="1">
                  <a:off x="5126355" y="1568879"/>
                  <a:ext cx="0" cy="480060"/>
                </a:xfrm>
                <a:prstGeom prst="line">
                  <a:avLst/>
                </a:prstGeom>
                <a:ln w="19050">
                  <a:solidFill>
                    <a:srgbClr val="22C55E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2" name="Isosceles Triangle 61"/>
                <p:cNvSpPr/>
                <p:nvPr/>
              </p:nvSpPr>
              <p:spPr>
                <a:xfrm>
                  <a:off x="5057775" y="1555163"/>
                  <a:ext cx="137160" cy="123444"/>
                </a:xfrm>
                <a:prstGeom prst="triangle">
                  <a:avLst/>
                </a:prstGeom>
                <a:solidFill>
                  <a:srgbClr val="22C55E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1050"/>
                </a:p>
              </p:txBody>
            </p:sp>
            <p:sp>
              <p:nvSpPr>
                <p:cNvPr id="63" name="Rounded Rectangle 62"/>
                <p:cNvSpPr/>
                <p:nvPr/>
              </p:nvSpPr>
              <p:spPr>
                <a:xfrm>
                  <a:off x="4800600" y="1191689"/>
                  <a:ext cx="651510" cy="377190"/>
                </a:xfrm>
                <a:prstGeom prst="roundRect">
                  <a:avLst>
                    <a:gd name="adj" fmla="val 8000"/>
                  </a:avLst>
                </a:prstGeom>
                <a:solidFill>
                  <a:srgbClr val="142E20"/>
                </a:solidFill>
                <a:ln w="19050">
                  <a:solidFill>
                    <a:srgbClr val="22C55E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 sz="1300" b="1">
                      <a:solidFill>
                        <a:srgbClr val="22C55E"/>
                      </a:solidFill>
                      <a:latin typeface="Consolas"/>
                    </a:defRPr>
                  </a:pPr>
                  <a:r>
                    <a:rPr sz="975"/>
                    <a:t>y₅</a:t>
                  </a:r>
                </a:p>
              </p:txBody>
            </p:sp>
            <p:sp>
              <p:nvSpPr>
                <p:cNvPr id="64" name="TextBox 63"/>
                <p:cNvSpPr txBox="1"/>
                <p:nvPr/>
              </p:nvSpPr>
              <p:spPr>
                <a:xfrm>
                  <a:off x="4800600" y="3502835"/>
                  <a:ext cx="651510" cy="20774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defRPr sz="1000" b="0">
                      <a:solidFill>
                        <a:srgbClr val="94A3B8"/>
                      </a:solidFill>
                      <a:latin typeface="Segoe UI"/>
                    </a:defRPr>
                  </a:pPr>
                  <a:r>
                    <a:rPr sz="750"/>
                    <a:t>Step 5</a:t>
                  </a:r>
                </a:p>
              </p:txBody>
            </p:sp>
            <p:cxnSp>
              <p:nvCxnSpPr>
                <p:cNvPr id="67" name="Connector 66"/>
                <p:cNvCxnSpPr/>
                <p:nvPr/>
              </p:nvCxnSpPr>
              <p:spPr>
                <a:xfrm>
                  <a:off x="5452110" y="2374694"/>
                  <a:ext cx="377190" cy="0"/>
                </a:xfrm>
                <a:prstGeom prst="line">
                  <a:avLst/>
                </a:prstGeom>
                <a:ln w="25400">
                  <a:solidFill>
                    <a:srgbClr val="F59E0B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68" name="TextBox 67"/>
            <p:cNvSpPr txBox="1"/>
            <p:nvPr/>
          </p:nvSpPr>
          <p:spPr>
            <a:xfrm>
              <a:off x="5795010" y="2271825"/>
              <a:ext cx="34290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F59E0B"/>
                  </a:solidFill>
                  <a:latin typeface="Consolas"/>
                </a:defRPr>
              </a:pPr>
              <a:r>
                <a:rPr sz="825" dirty="0"/>
                <a:t>h₅</a:t>
              </a:r>
            </a:p>
          </p:txBody>
        </p:sp>
      </p:grpSp>
      <p:sp>
        <p:nvSpPr>
          <p:cNvPr id="69" name="Rounded Rectangle 68"/>
          <p:cNvSpPr/>
          <p:nvPr/>
        </p:nvSpPr>
        <p:spPr>
          <a:xfrm>
            <a:off x="548640" y="4220106"/>
            <a:ext cx="2468880" cy="514350"/>
          </a:xfrm>
          <a:prstGeom prst="roundRect">
            <a:avLst>
              <a:gd name="adj" fmla="val 6000"/>
            </a:avLst>
          </a:prstGeom>
          <a:solidFill>
            <a:srgbClr val="162033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59E0B"/>
                </a:solidFill>
                <a:latin typeface="Segoe UI"/>
              </a:defRPr>
            </a:pPr>
            <a:r>
              <a:rPr sz="900" dirty="0"/>
              <a:t>⏱️  Sequential</a:t>
            </a:r>
          </a:p>
          <a:p>
            <a:pPr>
              <a:spcBef>
                <a:spcPts val="225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rPr sz="675" dirty="0"/>
              <a:t>Token t must wait for t−1 to finish.</a:t>
            </a:r>
            <a:br>
              <a:rPr sz="675" dirty="0"/>
            </a:br>
            <a:r>
              <a:rPr sz="675" dirty="0"/>
              <a:t>No GPU parallelism.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223260" y="4220106"/>
            <a:ext cx="2468880" cy="514350"/>
          </a:xfrm>
          <a:prstGeom prst="roundRect">
            <a:avLst>
              <a:gd name="adj" fmla="val 6000"/>
            </a:avLst>
          </a:prstGeom>
          <a:solidFill>
            <a:srgbClr val="162033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A78BFA"/>
                </a:solidFill>
                <a:latin typeface="Segoe UI"/>
              </a:defRPr>
            </a:pPr>
            <a:r>
              <a:rPr sz="900"/>
              <a:t>🧠  Hidden State = Memory</a:t>
            </a:r>
          </a:p>
          <a:p>
            <a:pPr>
              <a:spcBef>
                <a:spcPts val="225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rPr sz="675"/>
              <a:t>Fixed-size vector h carries ALL context</a:t>
            </a:r>
            <a:br>
              <a:rPr sz="675"/>
            </a:br>
            <a:r>
              <a:rPr sz="675"/>
              <a:t>forward — information bottleneck.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897880" y="4220106"/>
            <a:ext cx="2468880" cy="514350"/>
          </a:xfrm>
          <a:prstGeom prst="roundRect">
            <a:avLst>
              <a:gd name="adj" fmla="val 6000"/>
            </a:avLst>
          </a:prstGeom>
          <a:solidFill>
            <a:srgbClr val="162033"/>
          </a:solidFill>
          <a:ln w="1905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EC4899"/>
                </a:solidFill>
                <a:latin typeface="Segoe UI"/>
              </a:defRPr>
            </a:pPr>
            <a:r>
              <a:rPr sz="900" dirty="0"/>
              <a:t>📉  Vanishing Gradients</a:t>
            </a:r>
          </a:p>
          <a:p>
            <a:pPr>
              <a:spcBef>
                <a:spcPts val="225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rPr sz="675" dirty="0"/>
              <a:t>Gradients shrink over many steps.</a:t>
            </a:r>
            <a:br>
              <a:rPr sz="675" dirty="0"/>
            </a:br>
            <a:r>
              <a:rPr sz="675" dirty="0"/>
              <a:t>Long-range dependencies are lost.</a:t>
            </a: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C47333AE-2ADB-079F-FDDE-648D19346FA8}"/>
              </a:ext>
            </a:extLst>
          </p:cNvPr>
          <p:cNvGrpSpPr/>
          <p:nvPr/>
        </p:nvGrpSpPr>
        <p:grpSpPr>
          <a:xfrm>
            <a:off x="6035040" y="1877489"/>
            <a:ext cx="2880360" cy="1680210"/>
            <a:chOff x="6035040" y="1877489"/>
            <a:chExt cx="2880360" cy="1680210"/>
          </a:xfrm>
        </p:grpSpPr>
        <p:sp>
          <p:nvSpPr>
            <p:cNvPr id="72" name="Rounded Rectangle 71"/>
            <p:cNvSpPr/>
            <p:nvPr/>
          </p:nvSpPr>
          <p:spPr>
            <a:xfrm>
              <a:off x="6035040" y="1877489"/>
              <a:ext cx="2880360" cy="1680210"/>
            </a:xfrm>
            <a:prstGeom prst="roundRect">
              <a:avLst>
                <a:gd name="adj" fmla="val 4000"/>
              </a:avLst>
            </a:prstGeom>
            <a:solidFill>
              <a:srgbClr val="162033"/>
            </a:solidFill>
            <a:ln w="19050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 dirty="0"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6172200" y="1946070"/>
              <a:ext cx="260604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3B82F6"/>
                  </a:solidFill>
                  <a:latin typeface="Segoe UI"/>
                </a:defRPr>
              </a:pPr>
              <a:r>
                <a:rPr sz="825"/>
                <a:t>🔑  RNN CORE EQUATIONS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6172200" y="2220389"/>
              <a:ext cx="8229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94A3B8"/>
                  </a:solidFill>
                  <a:latin typeface="Segoe UI"/>
                </a:defRPr>
              </a:pPr>
              <a:r>
                <a:rPr sz="750"/>
                <a:t>Hidden State: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6172200" y="2371265"/>
              <a:ext cx="260604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0">
                  <a:solidFill>
                    <a:srgbClr val="F59E0B"/>
                  </a:solidFill>
                  <a:latin typeface="Consolas"/>
                </a:defRPr>
              </a:pPr>
              <a:r>
                <a:rPr sz="900"/>
                <a:t>hₜ = f(Wₕ · hₜ₋₁  +  Wₓ · xₜ  +  b)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6172200" y="2631869"/>
              <a:ext cx="8229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94A3B8"/>
                  </a:solidFill>
                  <a:latin typeface="Segoe UI"/>
                </a:defRPr>
              </a:pPr>
              <a:r>
                <a:rPr sz="750"/>
                <a:t>Output: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6172200" y="2782745"/>
              <a:ext cx="260604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0">
                  <a:solidFill>
                    <a:srgbClr val="22C55E"/>
                  </a:solidFill>
                  <a:latin typeface="Consolas"/>
                </a:defRPr>
              </a:pPr>
              <a:r>
                <a:rPr sz="900"/>
                <a:t>yₜ = g(Wᵧ · hₜ)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172200" y="3043349"/>
              <a:ext cx="8229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94A3B8"/>
                  </a:solidFill>
                  <a:latin typeface="Segoe UI"/>
                </a:defRPr>
              </a:pPr>
              <a:r>
                <a:rPr sz="750"/>
                <a:t>Where:</a:t>
              </a: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6172200" y="3194225"/>
              <a:ext cx="260604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0">
                  <a:solidFill>
                    <a:srgbClr val="94A3B8"/>
                  </a:solidFill>
                  <a:latin typeface="Consolas"/>
                </a:defRPr>
              </a:pPr>
              <a:r>
                <a:rPr sz="900"/>
                <a:t>f = tanh / ReLU,  g = softmax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  <p:bldP spid="70" grpId="0" animBg="1"/>
      <p:bldP spid="7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4" name="TextBox 3"/>
          <p:cNvSpPr txBox="1"/>
          <p:nvPr/>
        </p:nvSpPr>
        <p:spPr>
          <a:xfrm>
            <a:off x="342900" y="94706"/>
            <a:ext cx="6858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sz="2400"/>
              <a:t>The 4 Critical Limitations of RNNs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" y="540476"/>
            <a:ext cx="7543800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rPr sz="1125"/>
              <a:t>Each of these problems motivated the design of the Transformer architecture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B9A3CD1-10B9-C2AE-3712-8135D382CAC4}"/>
              </a:ext>
            </a:extLst>
          </p:cNvPr>
          <p:cNvGrpSpPr/>
          <p:nvPr/>
        </p:nvGrpSpPr>
        <p:grpSpPr>
          <a:xfrm>
            <a:off x="405650" y="986246"/>
            <a:ext cx="4046220" cy="1611630"/>
            <a:chOff x="405650" y="986246"/>
            <a:chExt cx="4046220" cy="1611630"/>
          </a:xfrm>
        </p:grpSpPr>
        <p:sp>
          <p:nvSpPr>
            <p:cNvPr id="7" name="Rounded Rectangle 6"/>
            <p:cNvSpPr/>
            <p:nvPr/>
          </p:nvSpPr>
          <p:spPr>
            <a:xfrm>
              <a:off x="405650" y="986246"/>
              <a:ext cx="4046220" cy="1611630"/>
            </a:xfrm>
            <a:prstGeom prst="roundRect">
              <a:avLst>
                <a:gd name="adj" fmla="val 4000"/>
              </a:avLst>
            </a:prstGeom>
            <a:solidFill>
              <a:srgbClr val="1E293B"/>
            </a:solidFill>
            <a:ln w="19050">
              <a:solidFill>
                <a:srgbClr val="F59E0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08520" y="1089116"/>
              <a:ext cx="288036" cy="288036"/>
            </a:xfrm>
            <a:prstGeom prst="roundRect">
              <a:avLst>
                <a:gd name="adj" fmla="val 15000"/>
              </a:avLst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300" b="1">
                  <a:solidFill>
                    <a:srgbClr val="0F172A"/>
                  </a:solidFill>
                  <a:latin typeface="Segoe UI"/>
                </a:defRPr>
              </a:pPr>
              <a:r>
                <a:rPr lang="en-IN" sz="975" dirty="0"/>
                <a:t>1</a:t>
              </a:r>
              <a:endParaRPr sz="975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71994" y="1041111"/>
              <a:ext cx="346329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600" b="1">
                  <a:solidFill>
                    <a:srgbClr val="FFFFFF"/>
                  </a:solidFill>
                  <a:latin typeface="Segoe UI"/>
                </a:defRPr>
              </a:pPr>
              <a:r>
                <a:rPr sz="1200"/>
                <a:t>⏱️  Sequential Bottleneck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71994" y="1246851"/>
              <a:ext cx="346329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F59E0B"/>
                  </a:solidFill>
                  <a:latin typeface="Segoe UI"/>
                </a:defRPr>
              </a:pPr>
              <a:r>
                <a:rPr sz="825"/>
                <a:t>No Parallelization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08520" y="1466306"/>
              <a:ext cx="3840480" cy="9525"/>
            </a:xfrm>
            <a:prstGeom prst="rect">
              <a:avLst/>
            </a:prstGeom>
            <a:solidFill>
              <a:srgbClr val="33445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08520" y="1521170"/>
              <a:ext cx="3840480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 dirty="0"/>
                <a:t>RNNs process tokens one at a time — token 5</a:t>
              </a:r>
              <a:br>
                <a:rPr lang="en-IN" sz="825" dirty="0"/>
              </a:br>
              <a:r>
                <a:rPr sz="825" dirty="0"/>
                <a:t>must wait for token 4, which waits for token 3.</a:t>
              </a:r>
              <a:br>
                <a:rPr lang="en-IN" sz="825" dirty="0"/>
              </a:br>
              <a:r>
                <a:rPr sz="825" dirty="0"/>
                <a:t>GPUs have thousands of cores, but only ONE</a:t>
              </a:r>
              <a:br>
                <a:rPr sz="825" dirty="0"/>
              </a:br>
              <a:r>
                <a:rPr sz="825" dirty="0"/>
                <a:t>is doing useful work at each step.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08520" y="2165822"/>
              <a:ext cx="3840480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94A3B8"/>
                  </a:solidFill>
                  <a:latin typeface="Segoe UI"/>
                </a:defRPr>
              </a:pPr>
              <a:r>
                <a:rPr sz="750"/>
                <a:t>💡  "Like a factory assembly line with 1000 workers</a:t>
              </a:r>
              <a:br>
                <a:rPr sz="750"/>
              </a:br>
              <a:r>
                <a:rPr sz="750"/>
                <a:t>     but only 1 can work at a time"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EAF0E0A-148B-C9B1-40FE-4172E5F24AA7}"/>
              </a:ext>
            </a:extLst>
          </p:cNvPr>
          <p:cNvGrpSpPr/>
          <p:nvPr/>
        </p:nvGrpSpPr>
        <p:grpSpPr>
          <a:xfrm>
            <a:off x="4691900" y="986246"/>
            <a:ext cx="4046220" cy="1611630"/>
            <a:chOff x="4691900" y="986246"/>
            <a:chExt cx="4046220" cy="1611630"/>
          </a:xfrm>
        </p:grpSpPr>
        <p:sp>
          <p:nvSpPr>
            <p:cNvPr id="14" name="Rounded Rectangle 13"/>
            <p:cNvSpPr/>
            <p:nvPr/>
          </p:nvSpPr>
          <p:spPr>
            <a:xfrm>
              <a:off x="4691900" y="986246"/>
              <a:ext cx="4046220" cy="1611630"/>
            </a:xfrm>
            <a:prstGeom prst="roundRect">
              <a:avLst>
                <a:gd name="adj" fmla="val 4000"/>
              </a:avLst>
            </a:prstGeom>
            <a:solidFill>
              <a:srgbClr val="1E293B"/>
            </a:solidFill>
            <a:ln w="19050">
              <a:solidFill>
                <a:srgbClr val="EC489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4794770" y="1089116"/>
              <a:ext cx="288036" cy="288036"/>
            </a:xfrm>
            <a:prstGeom prst="roundRect">
              <a:avLst>
                <a:gd name="adj" fmla="val 15000"/>
              </a:avLst>
            </a:prstGeom>
            <a:solidFill>
              <a:srgbClr val="EC48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300" b="1">
                  <a:solidFill>
                    <a:srgbClr val="0F172A"/>
                  </a:solidFill>
                  <a:latin typeface="Segoe UI"/>
                </a:defRPr>
              </a:pPr>
              <a:r>
                <a:rPr lang="en-IN" sz="975" dirty="0"/>
                <a:t>2</a:t>
              </a:r>
              <a:endParaRPr sz="975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158244" y="1041111"/>
              <a:ext cx="346329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600" b="1">
                  <a:solidFill>
                    <a:srgbClr val="FFFFFF"/>
                  </a:solidFill>
                  <a:latin typeface="Segoe UI"/>
                </a:defRPr>
              </a:pPr>
              <a:r>
                <a:rPr sz="1200"/>
                <a:t>📉  Vanishing Gradients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158244" y="1246851"/>
              <a:ext cx="346329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EC4899"/>
                  </a:solidFill>
                  <a:latin typeface="Segoe UI"/>
                </a:defRPr>
              </a:pPr>
              <a:r>
                <a:rPr sz="825"/>
                <a:t>Dying Learning Signals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794770" y="1466306"/>
              <a:ext cx="3840480" cy="9525"/>
            </a:xfrm>
            <a:prstGeom prst="rect">
              <a:avLst/>
            </a:prstGeom>
            <a:solidFill>
              <a:srgbClr val="33445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794770" y="1521170"/>
              <a:ext cx="3840480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/>
                <a:t>During backpropagation, gradients pass through</a:t>
              </a:r>
              <a:br>
                <a:rPr sz="825"/>
              </a:br>
              <a:r>
                <a:rPr sz="825"/>
                <a:t>the same weight matrix at every step. Over 100+</a:t>
              </a:r>
              <a:br>
                <a:rPr sz="825"/>
              </a:br>
              <a:r>
                <a:rPr sz="825"/>
                <a:t>steps they shrink exponentially toward zero.</a:t>
              </a:r>
              <a:br>
                <a:rPr sz="825"/>
              </a:br>
              <a:r>
                <a:rPr sz="825"/>
                <a:t>The model stops learning from early tokens.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794770" y="2165822"/>
              <a:ext cx="3840480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94A3B8"/>
                  </a:solidFill>
                  <a:latin typeface="Segoe UI"/>
                </a:defRPr>
              </a:pPr>
              <a:r>
                <a:rPr sz="750"/>
                <a:t>💡  "Like whispering a message through 100 people</a:t>
              </a:r>
              <a:br>
                <a:rPr sz="750"/>
              </a:br>
              <a:r>
                <a:rPr sz="750"/>
                <a:t>     — by the end, nothing is left"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A47F249-BD07-27A1-5166-4DFE321978E3}"/>
              </a:ext>
            </a:extLst>
          </p:cNvPr>
          <p:cNvGrpSpPr/>
          <p:nvPr/>
        </p:nvGrpSpPr>
        <p:grpSpPr>
          <a:xfrm>
            <a:off x="405650" y="2803616"/>
            <a:ext cx="4046220" cy="1611630"/>
            <a:chOff x="405650" y="2803616"/>
            <a:chExt cx="4046220" cy="1611630"/>
          </a:xfrm>
        </p:grpSpPr>
        <p:sp>
          <p:nvSpPr>
            <p:cNvPr id="21" name="Rounded Rectangle 20"/>
            <p:cNvSpPr/>
            <p:nvPr/>
          </p:nvSpPr>
          <p:spPr>
            <a:xfrm>
              <a:off x="405650" y="2803616"/>
              <a:ext cx="4046220" cy="1611630"/>
            </a:xfrm>
            <a:prstGeom prst="roundRect">
              <a:avLst>
                <a:gd name="adj" fmla="val 4000"/>
              </a:avLst>
            </a:prstGeom>
            <a:solidFill>
              <a:srgbClr val="1E293B"/>
            </a:solidFill>
            <a:ln w="19050">
              <a:solidFill>
                <a:srgbClr val="A78BF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508520" y="2906486"/>
              <a:ext cx="288036" cy="288036"/>
            </a:xfrm>
            <a:prstGeom prst="roundRect">
              <a:avLst>
                <a:gd name="adj" fmla="val 15000"/>
              </a:avLst>
            </a:prstGeom>
            <a:solidFill>
              <a:srgbClr val="A78B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300" b="1">
                  <a:solidFill>
                    <a:srgbClr val="0F172A"/>
                  </a:solidFill>
                  <a:latin typeface="Segoe UI"/>
                </a:defRPr>
              </a:pPr>
              <a:r>
                <a:rPr lang="en-IN" sz="975" dirty="0"/>
                <a:t>3</a:t>
              </a:r>
              <a:endParaRPr sz="975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71994" y="2858481"/>
              <a:ext cx="346329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600" b="1">
                  <a:solidFill>
                    <a:srgbClr val="FFFFFF"/>
                  </a:solidFill>
                  <a:latin typeface="Segoe UI"/>
                </a:defRPr>
              </a:pPr>
              <a:r>
                <a:rPr sz="1200"/>
                <a:t>🔗  Long-Range Dependency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871994" y="3064221"/>
              <a:ext cx="346329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A78BFA"/>
                  </a:solidFill>
                  <a:latin typeface="Segoe UI"/>
                </a:defRPr>
              </a:pPr>
              <a:r>
                <a:rPr sz="825"/>
                <a:t>Forgetting Distant Context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508520" y="3283676"/>
              <a:ext cx="3840480" cy="9525"/>
            </a:xfrm>
            <a:prstGeom prst="rect">
              <a:avLst/>
            </a:prstGeom>
            <a:solidFill>
              <a:srgbClr val="33445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08520" y="3338540"/>
              <a:ext cx="3840480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/>
                <a:t>The fixed-size hidden state must carry ALL past</a:t>
              </a:r>
              <a:br>
                <a:rPr sz="825"/>
              </a:br>
              <a:r>
                <a:rPr sz="825"/>
                <a:t>context. Early tokens get diluted as more tokens</a:t>
              </a:r>
              <a:br>
                <a:rPr sz="825"/>
              </a:br>
              <a:r>
                <a:rPr sz="825"/>
                <a:t>are processed. The model can't reliably connect</a:t>
              </a:r>
              <a:br>
                <a:rPr sz="825"/>
              </a:br>
              <a:r>
                <a:rPr sz="825"/>
                <a:t>a word at position 5 to a word at position 95.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08520" y="3983192"/>
              <a:ext cx="3840480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94A3B8"/>
                  </a:solidFill>
                  <a:latin typeface="Segoe UI"/>
                </a:defRPr>
              </a:pPr>
              <a:r>
                <a:rPr sz="750"/>
                <a:t>💡  "Like reading a novel but only allowed to</a:t>
              </a:r>
              <a:br>
                <a:rPr sz="750"/>
              </a:br>
              <a:r>
                <a:rPr sz="750"/>
                <a:t>     remember the last paragraph"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2D8D859-5726-50CF-5E55-C0EB3364CC5F}"/>
              </a:ext>
            </a:extLst>
          </p:cNvPr>
          <p:cNvGrpSpPr/>
          <p:nvPr/>
        </p:nvGrpSpPr>
        <p:grpSpPr>
          <a:xfrm>
            <a:off x="4691900" y="2803616"/>
            <a:ext cx="4046220" cy="1611630"/>
            <a:chOff x="4691900" y="2803616"/>
            <a:chExt cx="4046220" cy="1611630"/>
          </a:xfrm>
        </p:grpSpPr>
        <p:sp>
          <p:nvSpPr>
            <p:cNvPr id="28" name="Rounded Rectangle 27"/>
            <p:cNvSpPr/>
            <p:nvPr/>
          </p:nvSpPr>
          <p:spPr>
            <a:xfrm>
              <a:off x="4691900" y="2803616"/>
              <a:ext cx="4046220" cy="1611630"/>
            </a:xfrm>
            <a:prstGeom prst="roundRect">
              <a:avLst>
                <a:gd name="adj" fmla="val 4000"/>
              </a:avLst>
            </a:prstGeom>
            <a:solidFill>
              <a:srgbClr val="1E293B"/>
            </a:solidFill>
            <a:ln w="19050">
              <a:solidFill>
                <a:srgbClr val="EF444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4794770" y="2906486"/>
              <a:ext cx="288036" cy="288036"/>
            </a:xfrm>
            <a:prstGeom prst="roundRect">
              <a:avLst>
                <a:gd name="adj" fmla="val 15000"/>
              </a:avLst>
            </a:prstGeom>
            <a:solidFill>
              <a:srgbClr val="EF444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300" b="1">
                  <a:solidFill>
                    <a:srgbClr val="0F172A"/>
                  </a:solidFill>
                  <a:latin typeface="Segoe UI"/>
                </a:defRPr>
              </a:pPr>
              <a:r>
                <a:rPr lang="en-IN" sz="975" dirty="0"/>
                <a:t>4</a:t>
              </a:r>
              <a:endParaRPr sz="975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158244" y="2858481"/>
              <a:ext cx="346329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600" b="1">
                  <a:solidFill>
                    <a:srgbClr val="FFFFFF"/>
                  </a:solidFill>
                  <a:latin typeface="Segoe UI"/>
                </a:defRPr>
              </a:pPr>
              <a:r>
                <a:rPr sz="1200"/>
                <a:t>🗜️  Context Vector Compression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158244" y="3064221"/>
              <a:ext cx="346329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EF4444"/>
                  </a:solidFill>
                  <a:latin typeface="Segoe UI"/>
                </a:defRPr>
              </a:pPr>
              <a:r>
                <a:rPr sz="825"/>
                <a:t>Information Bottleneck in Seq2Seq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4794770" y="3283676"/>
              <a:ext cx="3840480" cy="9525"/>
            </a:xfrm>
            <a:prstGeom prst="rect">
              <a:avLst/>
            </a:prstGeom>
            <a:solidFill>
              <a:srgbClr val="33445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794770" y="3338540"/>
              <a:ext cx="3840480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/>
                <a:t>In Seq2Seq models, the entire input sequence is</a:t>
              </a:r>
              <a:br>
                <a:rPr sz="825"/>
              </a:br>
              <a:r>
                <a:rPr sz="825"/>
                <a:t>crushed into a single fixed-length vector before</a:t>
              </a:r>
              <a:br>
                <a:rPr sz="825"/>
              </a:br>
              <a:r>
                <a:rPr sz="825"/>
                <a:t>the decoder sees it. A 500-word article → one</a:t>
              </a:r>
              <a:br>
                <a:rPr sz="825"/>
              </a:br>
              <a:r>
                <a:rPr sz="825"/>
                <a:t>vector of 256 numbers. Massive information loss.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794770" y="3983192"/>
              <a:ext cx="3840480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94A3B8"/>
                  </a:solidFill>
                  <a:latin typeface="Segoe UI"/>
                </a:defRPr>
              </a:pPr>
              <a:r>
                <a:rPr sz="750"/>
                <a:t>💡  "Like reading an entire book, then writing a</a:t>
              </a:r>
              <a:br>
                <a:rPr sz="750"/>
              </a:br>
              <a:r>
                <a:rPr sz="750"/>
                <a:t>     summary from a single Post-it note of your notes"</a:t>
              </a:r>
            </a:p>
          </p:txBody>
        </p:sp>
      </p:grpSp>
      <p:sp>
        <p:nvSpPr>
          <p:cNvPr id="35" name="Rounded Rectangle 34"/>
          <p:cNvSpPr/>
          <p:nvPr/>
        </p:nvSpPr>
        <p:spPr>
          <a:xfrm>
            <a:off x="342900" y="4603024"/>
            <a:ext cx="8455914" cy="288036"/>
          </a:xfrm>
          <a:prstGeom prst="roundRect">
            <a:avLst>
              <a:gd name="adj" fmla="val 5000"/>
            </a:avLst>
          </a:prstGeom>
          <a:solidFill>
            <a:srgbClr val="1C2735"/>
          </a:solidFill>
          <a:ln w="19050">
            <a:solidFill>
              <a:srgbClr val="334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59E0B"/>
                </a:solidFill>
                <a:latin typeface="Segoe UI"/>
              </a:rPr>
              <a:t>🎯 The Big Question:  </a:t>
            </a:r>
            <a:r>
              <a:rPr sz="900">
                <a:solidFill>
                  <a:srgbClr val="B0B8C8"/>
                </a:solidFill>
                <a:latin typeface="Segoe UI"/>
              </a:rPr>
              <a:t>What if we could process ALL tokens at once, let EVERY token see EVERY other token, and remove the hidden state bottleneck entirely?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4" name="TextBox 3"/>
          <p:cNvSpPr txBox="1"/>
          <p:nvPr/>
        </p:nvSpPr>
        <p:spPr>
          <a:xfrm>
            <a:off x="274320" y="96012"/>
            <a:ext cx="74211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sz="2400" dirty="0" err="1"/>
              <a:t>Bahdanau</a:t>
            </a:r>
            <a:r>
              <a:rPr sz="2400" dirty="0"/>
              <a:t> Attention – Let the Decoder Look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6176" y="518274"/>
            <a:ext cx="7980584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rPr sz="1125" dirty="0"/>
              <a:t>The 2014 breakthrough: instead of one compressed vector, let the decoder attend to ALL encoder states at every step</a:t>
            </a:r>
          </a:p>
        </p:txBody>
      </p: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6E10B317-7CE7-A757-C1B6-B9BF39B50335}"/>
              </a:ext>
            </a:extLst>
          </p:cNvPr>
          <p:cNvGrpSpPr/>
          <p:nvPr/>
        </p:nvGrpSpPr>
        <p:grpSpPr>
          <a:xfrm>
            <a:off x="274320" y="857124"/>
            <a:ext cx="3771900" cy="1440180"/>
            <a:chOff x="274320" y="1047036"/>
            <a:chExt cx="3771900" cy="1440180"/>
          </a:xfrm>
        </p:grpSpPr>
        <p:sp>
          <p:nvSpPr>
            <p:cNvPr id="7" name="TextBox 6"/>
            <p:cNvSpPr txBox="1"/>
            <p:nvPr/>
          </p:nvSpPr>
          <p:spPr>
            <a:xfrm>
              <a:off x="274320" y="1047036"/>
              <a:ext cx="377190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3B82F6"/>
                  </a:solidFill>
                  <a:latin typeface="Segoe UI"/>
                </a:defRPr>
              </a:pPr>
              <a:r>
                <a:rPr sz="900" dirty="0"/>
                <a:t>BEFORE  vs  AFTER  ATTENTION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274320" y="1355646"/>
              <a:ext cx="3703320" cy="1131570"/>
            </a:xfrm>
            <a:prstGeom prst="roundRect">
              <a:avLst>
                <a:gd name="adj" fmla="val 4000"/>
              </a:avLst>
            </a:prstGeom>
            <a:solidFill>
              <a:srgbClr val="162033"/>
            </a:solidFill>
            <a:ln w="19050">
              <a:solidFill>
                <a:srgbClr val="EF444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77190" y="1410510"/>
              <a:ext cx="2400300" cy="2423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300" b="1">
                  <a:solidFill>
                    <a:srgbClr val="EF4444"/>
                  </a:solidFill>
                  <a:latin typeface="Segoe UI"/>
                </a:defRPr>
              </a:pPr>
              <a:r>
                <a:rPr sz="975"/>
                <a:t>❌  BEFORE: Vanilla Seq2Seq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411480" y="1732836"/>
              <a:ext cx="822960" cy="329184"/>
            </a:xfrm>
            <a:prstGeom prst="roundRect">
              <a:avLst>
                <a:gd name="adj" fmla="val 10000"/>
              </a:avLst>
            </a:prstGeom>
            <a:solidFill>
              <a:srgbClr val="1E293B"/>
            </a:solidFill>
            <a:ln w="19050">
              <a:solidFill>
                <a:srgbClr val="A78BF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100" b="1">
                  <a:solidFill>
                    <a:srgbClr val="A78BFA"/>
                  </a:solidFill>
                  <a:latin typeface="Segoe UI"/>
                </a:defRPr>
              </a:pPr>
              <a:r>
                <a:rPr sz="825"/>
                <a:t>Encoder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1234440" y="1897428"/>
              <a:ext cx="274320" cy="0"/>
            </a:xfrm>
            <a:prstGeom prst="line">
              <a:avLst/>
            </a:prstGeom>
            <a:ln w="19050">
              <a:solidFill>
                <a:srgbClr val="94A3B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Isosceles Triangle 11"/>
            <p:cNvSpPr/>
            <p:nvPr/>
          </p:nvSpPr>
          <p:spPr>
            <a:xfrm rot="5400000">
              <a:off x="1453896" y="1849422"/>
              <a:ext cx="96012" cy="96012"/>
            </a:xfrm>
            <a:prstGeom prst="triangle">
              <a:avLst/>
            </a:prstGeom>
            <a:solidFill>
              <a:srgbClr val="94A3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543050" y="1698546"/>
              <a:ext cx="754380" cy="397764"/>
            </a:xfrm>
            <a:prstGeom prst="roundRect">
              <a:avLst>
                <a:gd name="adj" fmla="val 10000"/>
              </a:avLst>
            </a:prstGeom>
            <a:solidFill>
              <a:srgbClr val="3D1515"/>
            </a:solidFill>
            <a:ln w="19050">
              <a:solidFill>
                <a:srgbClr val="EF444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000" b="1">
                  <a:solidFill>
                    <a:srgbClr val="EF4444"/>
                  </a:solidFill>
                  <a:latin typeface="Segoe UI"/>
                </a:defRPr>
              </a:pPr>
              <a:r>
                <a:rPr sz="750"/>
                <a:t>Single</a:t>
              </a:r>
            </a:p>
            <a:p>
              <a:pPr algn="ctr">
                <a:defRPr sz="1000" b="1">
                  <a:solidFill>
                    <a:srgbClr val="EF4444"/>
                  </a:solidFill>
                  <a:latin typeface="Segoe UI"/>
                </a:defRPr>
              </a:pPr>
              <a:r>
                <a:rPr sz="750"/>
                <a:t>Vector</a:t>
              </a:r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2297430" y="1897428"/>
              <a:ext cx="274320" cy="0"/>
            </a:xfrm>
            <a:prstGeom prst="line">
              <a:avLst/>
            </a:prstGeom>
            <a:ln w="19050">
              <a:solidFill>
                <a:srgbClr val="94A3B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Isosceles Triangle 14"/>
            <p:cNvSpPr/>
            <p:nvPr/>
          </p:nvSpPr>
          <p:spPr>
            <a:xfrm rot="5400000">
              <a:off x="2516886" y="1849422"/>
              <a:ext cx="96012" cy="96012"/>
            </a:xfrm>
            <a:prstGeom prst="triangle">
              <a:avLst/>
            </a:prstGeom>
            <a:solidFill>
              <a:srgbClr val="94A3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2606040" y="1732836"/>
              <a:ext cx="822960" cy="329184"/>
            </a:xfrm>
            <a:prstGeom prst="roundRect">
              <a:avLst>
                <a:gd name="adj" fmla="val 10000"/>
              </a:avLst>
            </a:prstGeom>
            <a:solidFill>
              <a:srgbClr val="1E293B"/>
            </a:solidFill>
            <a:ln w="19050">
              <a:solidFill>
                <a:srgbClr val="14B8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100" b="1">
                  <a:solidFill>
                    <a:srgbClr val="14B8A6"/>
                  </a:solidFill>
                  <a:latin typeface="Segoe UI"/>
                </a:defRPr>
              </a:pPr>
              <a:r>
                <a:rPr sz="825"/>
                <a:t>Decoder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77190" y="2144316"/>
              <a:ext cx="349758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94A3B8"/>
                  </a:solidFill>
                  <a:latin typeface="Segoe UI"/>
                </a:defRPr>
              </a:pPr>
              <a:r>
                <a:rPr sz="750"/>
                <a:t>500 words → 1 vector of 256 numbers → decoder guesses from lossy summary</a:t>
              </a:r>
            </a:p>
          </p:txBody>
        </p: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5B21F283-F983-557F-9C61-1CA54EA09BDE}"/>
              </a:ext>
            </a:extLst>
          </p:cNvPr>
          <p:cNvGrpSpPr/>
          <p:nvPr/>
        </p:nvGrpSpPr>
        <p:grpSpPr>
          <a:xfrm>
            <a:off x="274320" y="2434464"/>
            <a:ext cx="3953648" cy="1472088"/>
            <a:chOff x="274320" y="2624376"/>
            <a:chExt cx="3953648" cy="1472088"/>
          </a:xfrm>
        </p:grpSpPr>
        <p:sp>
          <p:nvSpPr>
            <p:cNvPr id="18" name="Rounded Rectangle 17"/>
            <p:cNvSpPr/>
            <p:nvPr/>
          </p:nvSpPr>
          <p:spPr>
            <a:xfrm>
              <a:off x="274320" y="2624376"/>
              <a:ext cx="3953648" cy="1472088"/>
            </a:xfrm>
            <a:prstGeom prst="roundRect">
              <a:avLst>
                <a:gd name="adj" fmla="val 4000"/>
              </a:avLst>
            </a:prstGeom>
            <a:solidFill>
              <a:srgbClr val="162033"/>
            </a:solidFill>
            <a:ln w="19050">
              <a:solidFill>
                <a:srgbClr val="22C55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77190" y="2679240"/>
              <a:ext cx="2777490" cy="2423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300" b="1">
                  <a:solidFill>
                    <a:srgbClr val="22C55E"/>
                  </a:solidFill>
                  <a:latin typeface="Segoe UI"/>
                </a:defRPr>
              </a:pPr>
              <a:r>
                <a:rPr sz="975" dirty="0"/>
                <a:t>✅  AFTER: </a:t>
              </a:r>
              <a:r>
                <a:rPr sz="975" dirty="0" err="1"/>
                <a:t>Bahdanau</a:t>
              </a:r>
              <a:r>
                <a:rPr sz="975" dirty="0"/>
                <a:t> Attention (2014)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411480" y="3001566"/>
              <a:ext cx="617220" cy="137160"/>
            </a:xfrm>
            <a:prstGeom prst="roundRect">
              <a:avLst>
                <a:gd name="adj" fmla="val 15000"/>
              </a:avLst>
            </a:prstGeom>
            <a:solidFill>
              <a:srgbClr val="1E293B"/>
            </a:solidFill>
            <a:ln w="19050">
              <a:solidFill>
                <a:srgbClr val="A78BF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800" b="1">
                  <a:solidFill>
                    <a:srgbClr val="A78BFA"/>
                  </a:solidFill>
                  <a:latin typeface="Consolas"/>
                </a:defRPr>
              </a:pPr>
              <a:r>
                <a:rPr sz="600"/>
                <a:t>h1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411480" y="3166158"/>
              <a:ext cx="617220" cy="137160"/>
            </a:xfrm>
            <a:prstGeom prst="roundRect">
              <a:avLst>
                <a:gd name="adj" fmla="val 15000"/>
              </a:avLst>
            </a:prstGeom>
            <a:solidFill>
              <a:srgbClr val="1E293B"/>
            </a:solidFill>
            <a:ln w="19050">
              <a:solidFill>
                <a:srgbClr val="A78BF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800" b="1">
                  <a:solidFill>
                    <a:srgbClr val="A78BFA"/>
                  </a:solidFill>
                  <a:latin typeface="Consolas"/>
                </a:defRPr>
              </a:pPr>
              <a:r>
                <a:rPr sz="600"/>
                <a:t>h2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411480" y="3330750"/>
              <a:ext cx="617220" cy="137160"/>
            </a:xfrm>
            <a:prstGeom prst="roundRect">
              <a:avLst>
                <a:gd name="adj" fmla="val 15000"/>
              </a:avLst>
            </a:prstGeom>
            <a:solidFill>
              <a:srgbClr val="1E293B"/>
            </a:solidFill>
            <a:ln w="19050">
              <a:solidFill>
                <a:srgbClr val="A78BF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800" b="1">
                  <a:solidFill>
                    <a:srgbClr val="A78BFA"/>
                  </a:solidFill>
                  <a:latin typeface="Consolas"/>
                </a:defRPr>
              </a:pPr>
              <a:r>
                <a:rPr sz="600"/>
                <a:t>h3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411480" y="3495342"/>
              <a:ext cx="617220" cy="137160"/>
            </a:xfrm>
            <a:prstGeom prst="roundRect">
              <a:avLst>
                <a:gd name="adj" fmla="val 15000"/>
              </a:avLst>
            </a:prstGeom>
            <a:solidFill>
              <a:srgbClr val="1E293B"/>
            </a:solidFill>
            <a:ln w="19050">
              <a:solidFill>
                <a:srgbClr val="A78BF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800" b="1">
                  <a:solidFill>
                    <a:srgbClr val="A78BFA"/>
                  </a:solidFill>
                  <a:latin typeface="Consolas"/>
                </a:defRPr>
              </a:pPr>
              <a:r>
                <a:rPr sz="600"/>
                <a:t>h4</a:t>
              </a:r>
            </a:p>
          </p:txBody>
        </p:sp>
        <p:cxnSp>
          <p:nvCxnSpPr>
            <p:cNvPr id="25" name="Connector 24"/>
            <p:cNvCxnSpPr/>
            <p:nvPr/>
          </p:nvCxnSpPr>
          <p:spPr>
            <a:xfrm>
              <a:off x="1028700" y="3070146"/>
              <a:ext cx="411480" cy="219456"/>
            </a:xfrm>
            <a:prstGeom prst="line">
              <a:avLst/>
            </a:prstGeom>
            <a:ln w="12700">
              <a:solidFill>
                <a:srgbClr val="F59E0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 25"/>
            <p:cNvCxnSpPr/>
            <p:nvPr/>
          </p:nvCxnSpPr>
          <p:spPr>
            <a:xfrm>
              <a:off x="1028700" y="3234738"/>
              <a:ext cx="411480" cy="54864"/>
            </a:xfrm>
            <a:prstGeom prst="line">
              <a:avLst/>
            </a:prstGeom>
            <a:ln w="12700">
              <a:solidFill>
                <a:srgbClr val="F59E0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or 26"/>
            <p:cNvCxnSpPr/>
            <p:nvPr/>
          </p:nvCxnSpPr>
          <p:spPr>
            <a:xfrm flipV="1">
              <a:off x="1028700" y="3289602"/>
              <a:ext cx="411480" cy="109728"/>
            </a:xfrm>
            <a:prstGeom prst="line">
              <a:avLst/>
            </a:prstGeom>
            <a:ln w="12700">
              <a:solidFill>
                <a:srgbClr val="F59E0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 27"/>
            <p:cNvCxnSpPr/>
            <p:nvPr/>
          </p:nvCxnSpPr>
          <p:spPr>
            <a:xfrm flipV="1">
              <a:off x="1028700" y="3289602"/>
              <a:ext cx="411480" cy="274320"/>
            </a:xfrm>
            <a:prstGeom prst="line">
              <a:avLst/>
            </a:prstGeom>
            <a:ln w="12700">
              <a:solidFill>
                <a:srgbClr val="F59E0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ounded Rectangle 28"/>
            <p:cNvSpPr/>
            <p:nvPr/>
          </p:nvSpPr>
          <p:spPr>
            <a:xfrm>
              <a:off x="1440180" y="3035856"/>
              <a:ext cx="822960" cy="534924"/>
            </a:xfrm>
            <a:prstGeom prst="roundRect">
              <a:avLst>
                <a:gd name="adj" fmla="val 8000"/>
              </a:avLst>
            </a:prstGeom>
            <a:solidFill>
              <a:srgbClr val="2A1F0F"/>
            </a:solidFill>
            <a:ln w="19050">
              <a:solidFill>
                <a:srgbClr val="F59E0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100" b="1">
                  <a:solidFill>
                    <a:srgbClr val="F59E0B"/>
                  </a:solidFill>
                  <a:latin typeface="Segoe UI"/>
                </a:defRPr>
              </a:pPr>
              <a:r>
                <a:rPr sz="825"/>
                <a:t>Attention</a:t>
              </a:r>
            </a:p>
            <a:p>
              <a:pPr algn="ctr">
                <a:defRPr sz="1000" b="0">
                  <a:solidFill>
                    <a:srgbClr val="F59E0B"/>
                  </a:solidFill>
                  <a:latin typeface="Segoe UI"/>
                </a:defRPr>
              </a:pPr>
              <a:r>
                <a:rPr sz="750"/>
                <a:t>Weights</a:t>
              </a:r>
            </a:p>
          </p:txBody>
        </p:sp>
        <p:cxnSp>
          <p:nvCxnSpPr>
            <p:cNvPr id="30" name="Connector 29"/>
            <p:cNvCxnSpPr/>
            <p:nvPr/>
          </p:nvCxnSpPr>
          <p:spPr>
            <a:xfrm>
              <a:off x="2263140" y="3289602"/>
              <a:ext cx="205740" cy="0"/>
            </a:xfrm>
            <a:prstGeom prst="line">
              <a:avLst/>
            </a:prstGeom>
            <a:ln w="19050">
              <a:solidFill>
                <a:srgbClr val="F59E0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Isosceles Triangle 30"/>
            <p:cNvSpPr/>
            <p:nvPr/>
          </p:nvSpPr>
          <p:spPr>
            <a:xfrm rot="5400000">
              <a:off x="2414016" y="3241596"/>
              <a:ext cx="96012" cy="96012"/>
            </a:xfrm>
            <a:prstGeom prst="triangle">
              <a:avLst/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2468880" y="3056430"/>
              <a:ext cx="685800" cy="480060"/>
            </a:xfrm>
            <a:prstGeom prst="roundRect">
              <a:avLst>
                <a:gd name="adj" fmla="val 10000"/>
              </a:avLst>
            </a:prstGeom>
            <a:solidFill>
              <a:srgbClr val="0F2D1F"/>
            </a:solidFill>
            <a:ln w="19050">
              <a:solidFill>
                <a:srgbClr val="22C55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000" b="1">
                  <a:solidFill>
                    <a:srgbClr val="22C55E"/>
                  </a:solidFill>
                  <a:latin typeface="Segoe UI"/>
                </a:defRPr>
              </a:pPr>
              <a:r>
                <a:rPr sz="750"/>
                <a:t>Dynamic</a:t>
              </a:r>
            </a:p>
            <a:p>
              <a:pPr algn="ctr">
                <a:defRPr sz="1000" b="1">
                  <a:solidFill>
                    <a:srgbClr val="22C55E"/>
                  </a:solidFill>
                  <a:latin typeface="Segoe UI"/>
                </a:defRPr>
              </a:pPr>
              <a:r>
                <a:rPr sz="750"/>
                <a:t>Context</a:t>
              </a:r>
            </a:p>
          </p:txBody>
        </p:sp>
        <p:cxnSp>
          <p:nvCxnSpPr>
            <p:cNvPr id="33" name="Connector 32"/>
            <p:cNvCxnSpPr/>
            <p:nvPr/>
          </p:nvCxnSpPr>
          <p:spPr>
            <a:xfrm>
              <a:off x="3154680" y="3289602"/>
              <a:ext cx="240030" cy="0"/>
            </a:xfrm>
            <a:prstGeom prst="line">
              <a:avLst/>
            </a:prstGeom>
            <a:ln w="19050">
              <a:solidFill>
                <a:srgbClr val="22C5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Isosceles Triangle 33"/>
            <p:cNvSpPr/>
            <p:nvPr/>
          </p:nvSpPr>
          <p:spPr>
            <a:xfrm rot="5400000">
              <a:off x="3339846" y="3241596"/>
              <a:ext cx="96012" cy="96012"/>
            </a:xfrm>
            <a:prstGeom prst="triangle">
              <a:avLst/>
            </a:prstGeom>
            <a:solidFill>
              <a:srgbClr val="22C55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3429000" y="3083862"/>
              <a:ext cx="685800" cy="445770"/>
            </a:xfrm>
            <a:prstGeom prst="roundRect">
              <a:avLst>
                <a:gd name="adj" fmla="val 10000"/>
              </a:avLst>
            </a:prstGeom>
            <a:solidFill>
              <a:srgbClr val="1E293B"/>
            </a:solidFill>
            <a:ln w="19050">
              <a:solidFill>
                <a:srgbClr val="14B8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100" b="1">
                  <a:solidFill>
                    <a:srgbClr val="14B8A6"/>
                  </a:solidFill>
                  <a:latin typeface="Segoe UI"/>
                </a:defRPr>
              </a:pPr>
              <a:r>
                <a:rPr sz="825"/>
                <a:t>Decoder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77190" y="3701082"/>
              <a:ext cx="3497580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22C55E"/>
                  </a:solidFill>
                  <a:latin typeface="Segoe UI"/>
                </a:defRPr>
              </a:pPr>
              <a:r>
                <a:rPr sz="750" dirty="0"/>
                <a:t>Decoder looks back at ALL encoder states every step → different focus each time → no info loss!</a:t>
              </a:r>
            </a:p>
          </p:txBody>
        </p:sp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53E42545-7AC3-6C46-A7DB-8C0A22BF4593}"/>
              </a:ext>
            </a:extLst>
          </p:cNvPr>
          <p:cNvGrpSpPr/>
          <p:nvPr/>
        </p:nvGrpSpPr>
        <p:grpSpPr>
          <a:xfrm>
            <a:off x="4404067" y="932524"/>
            <a:ext cx="4832288" cy="2996329"/>
            <a:chOff x="4404067" y="932524"/>
            <a:chExt cx="4832288" cy="2996329"/>
          </a:xfrm>
        </p:grpSpPr>
        <p:sp>
          <p:nvSpPr>
            <p:cNvPr id="125" name="TextBox 124"/>
            <p:cNvSpPr txBox="1"/>
            <p:nvPr/>
          </p:nvSpPr>
          <p:spPr>
            <a:xfrm>
              <a:off x="5324776" y="3694662"/>
              <a:ext cx="858243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94A3B8"/>
                  </a:solidFill>
                  <a:latin typeface="Segoe UI"/>
                </a:defRPr>
              </a:pPr>
              <a:r>
                <a:rPr sz="675" dirty="0"/>
                <a:t>Low attention</a:t>
              </a:r>
            </a:p>
          </p:txBody>
        </p:sp>
        <p:grpSp>
          <p:nvGrpSpPr>
            <p:cNvPr id="164" name="Group 163">
              <a:extLst>
                <a:ext uri="{FF2B5EF4-FFF2-40B4-BE49-F238E27FC236}">
                  <a16:creationId xmlns:a16="http://schemas.microsoft.com/office/drawing/2014/main" id="{3F625242-20F1-3E7C-E8CB-4449199E061A}"/>
                </a:ext>
              </a:extLst>
            </p:cNvPr>
            <p:cNvGrpSpPr/>
            <p:nvPr/>
          </p:nvGrpSpPr>
          <p:grpSpPr>
            <a:xfrm>
              <a:off x="4404067" y="932524"/>
              <a:ext cx="4832288" cy="2996329"/>
              <a:chOff x="4404067" y="932524"/>
              <a:chExt cx="4832288" cy="2996329"/>
            </a:xfrm>
          </p:grpSpPr>
          <p:grpSp>
            <p:nvGrpSpPr>
              <p:cNvPr id="162" name="Group 161">
                <a:extLst>
                  <a:ext uri="{FF2B5EF4-FFF2-40B4-BE49-F238E27FC236}">
                    <a16:creationId xmlns:a16="http://schemas.microsoft.com/office/drawing/2014/main" id="{109C9277-CA61-4152-4E8A-FBED54BE45BB}"/>
                  </a:ext>
                </a:extLst>
              </p:cNvPr>
              <p:cNvGrpSpPr/>
              <p:nvPr/>
            </p:nvGrpSpPr>
            <p:grpSpPr>
              <a:xfrm>
                <a:off x="4404067" y="932524"/>
                <a:ext cx="4832288" cy="2694074"/>
                <a:chOff x="4326309" y="1345558"/>
                <a:chExt cx="4832288" cy="2694074"/>
              </a:xfrm>
            </p:grpSpPr>
            <p:sp>
              <p:nvSpPr>
                <p:cNvPr id="37" name="TextBox 36"/>
                <p:cNvSpPr txBox="1"/>
                <p:nvPr/>
              </p:nvSpPr>
              <p:spPr>
                <a:xfrm>
                  <a:off x="4700897" y="1345558"/>
                  <a:ext cx="4457700" cy="2308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>
                    <a:defRPr sz="1200" b="1">
                      <a:solidFill>
                        <a:srgbClr val="F59E0B"/>
                      </a:solidFill>
                      <a:latin typeface="Segoe UI"/>
                    </a:defRPr>
                  </a:pPr>
                  <a:r>
                    <a:rPr sz="900" dirty="0"/>
                    <a:t>ATTENTION ALIGNMENT HEATMAP  (English → French Translation)</a:t>
                  </a:r>
                </a:p>
              </p:txBody>
            </p:sp>
            <p:sp>
              <p:nvSpPr>
                <p:cNvPr id="38" name="TextBox 37"/>
                <p:cNvSpPr txBox="1"/>
                <p:nvPr/>
              </p:nvSpPr>
              <p:spPr>
                <a:xfrm>
                  <a:off x="5457879" y="1803925"/>
                  <a:ext cx="514350" cy="21929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defRPr sz="1100" b="1">
                      <a:solidFill>
                        <a:srgbClr val="3B82F6"/>
                      </a:solidFill>
                      <a:latin typeface="Consolas"/>
                    </a:defRPr>
                  </a:pPr>
                  <a:r>
                    <a:rPr sz="825"/>
                    <a:t>The</a:t>
                  </a:r>
                </a:p>
              </p:txBody>
            </p:sp>
            <p:sp>
              <p:nvSpPr>
                <p:cNvPr id="39" name="TextBox 38"/>
                <p:cNvSpPr txBox="1"/>
                <p:nvPr/>
              </p:nvSpPr>
              <p:spPr>
                <a:xfrm>
                  <a:off x="5972229" y="1803925"/>
                  <a:ext cx="514350" cy="21929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defRPr sz="1100" b="1">
                      <a:solidFill>
                        <a:srgbClr val="3B82F6"/>
                      </a:solidFill>
                      <a:latin typeface="Consolas"/>
                    </a:defRPr>
                  </a:pPr>
                  <a:r>
                    <a:rPr sz="825"/>
                    <a:t>cat</a:t>
                  </a:r>
                </a:p>
              </p:txBody>
            </p:sp>
            <p:sp>
              <p:nvSpPr>
                <p:cNvPr id="40" name="TextBox 39"/>
                <p:cNvSpPr txBox="1"/>
                <p:nvPr/>
              </p:nvSpPr>
              <p:spPr>
                <a:xfrm>
                  <a:off x="6486579" y="1803925"/>
                  <a:ext cx="514350" cy="21929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defRPr sz="1100" b="1">
                      <a:solidFill>
                        <a:srgbClr val="3B82F6"/>
                      </a:solidFill>
                      <a:latin typeface="Consolas"/>
                    </a:defRPr>
                  </a:pPr>
                  <a:r>
                    <a:rPr sz="825"/>
                    <a:t>sat</a:t>
                  </a:r>
                </a:p>
              </p:txBody>
            </p:sp>
            <p:sp>
              <p:nvSpPr>
                <p:cNvPr id="41" name="TextBox 40"/>
                <p:cNvSpPr txBox="1"/>
                <p:nvPr/>
              </p:nvSpPr>
              <p:spPr>
                <a:xfrm>
                  <a:off x="7000929" y="1803925"/>
                  <a:ext cx="514350" cy="21929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defRPr sz="1100" b="1">
                      <a:solidFill>
                        <a:srgbClr val="3B82F6"/>
                      </a:solidFill>
                      <a:latin typeface="Consolas"/>
                    </a:defRPr>
                  </a:pPr>
                  <a:r>
                    <a:rPr sz="825"/>
                    <a:t>on</a:t>
                  </a:r>
                </a:p>
              </p:txBody>
            </p:sp>
            <p:sp>
              <p:nvSpPr>
                <p:cNvPr id="42" name="TextBox 41"/>
                <p:cNvSpPr txBox="1"/>
                <p:nvPr/>
              </p:nvSpPr>
              <p:spPr>
                <a:xfrm>
                  <a:off x="7515279" y="1803925"/>
                  <a:ext cx="514350" cy="21929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defRPr sz="1100" b="1">
                      <a:solidFill>
                        <a:srgbClr val="3B82F6"/>
                      </a:solidFill>
                      <a:latin typeface="Consolas"/>
                    </a:defRPr>
                  </a:pPr>
                  <a:r>
                    <a:rPr sz="825"/>
                    <a:t>the</a:t>
                  </a:r>
                </a:p>
              </p:txBody>
            </p:sp>
            <p:sp>
              <p:nvSpPr>
                <p:cNvPr id="43" name="TextBox 42"/>
                <p:cNvSpPr txBox="1"/>
                <p:nvPr/>
              </p:nvSpPr>
              <p:spPr>
                <a:xfrm>
                  <a:off x="8029629" y="1803925"/>
                  <a:ext cx="514350" cy="21929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defRPr sz="1100" b="1">
                      <a:solidFill>
                        <a:srgbClr val="3B82F6"/>
                      </a:solidFill>
                      <a:latin typeface="Consolas"/>
                    </a:defRPr>
                  </a:pPr>
                  <a:r>
                    <a:rPr sz="825"/>
                    <a:t>mat</a:t>
                  </a:r>
                </a:p>
              </p:txBody>
            </p:sp>
            <p:sp>
              <p:nvSpPr>
                <p:cNvPr id="44" name="TextBox 43"/>
                <p:cNvSpPr txBox="1"/>
                <p:nvPr/>
              </p:nvSpPr>
              <p:spPr>
                <a:xfrm>
                  <a:off x="6426600" y="1552921"/>
                  <a:ext cx="1006295" cy="20774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>
                    <a:defRPr sz="1000" b="0">
                      <a:solidFill>
                        <a:srgbClr val="3B82F6"/>
                      </a:solidFill>
                      <a:latin typeface="Segoe UI"/>
                    </a:defRPr>
                  </a:pPr>
                  <a:r>
                    <a:rPr sz="750" dirty="0"/>
                    <a:t>Source  (English) →</a:t>
                  </a:r>
                </a:p>
              </p:txBody>
            </p:sp>
            <p:sp>
              <p:nvSpPr>
                <p:cNvPr id="45" name="TextBox 44"/>
                <p:cNvSpPr txBox="1"/>
                <p:nvPr/>
              </p:nvSpPr>
              <p:spPr>
                <a:xfrm>
                  <a:off x="4326309" y="2111158"/>
                  <a:ext cx="490135" cy="20774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>
                    <a:defRPr sz="1000" b="0">
                      <a:solidFill>
                        <a:srgbClr val="14B8A6"/>
                      </a:solidFill>
                      <a:latin typeface="Segoe UI"/>
                    </a:defRPr>
                  </a:pPr>
                  <a:r>
                    <a:rPr sz="750" dirty="0"/>
                    <a:t>Target</a:t>
                  </a:r>
                </a:p>
              </p:txBody>
            </p:sp>
            <p:sp>
              <p:nvSpPr>
                <p:cNvPr id="46" name="TextBox 45"/>
                <p:cNvSpPr txBox="1"/>
                <p:nvPr/>
              </p:nvSpPr>
              <p:spPr>
                <a:xfrm>
                  <a:off x="4326309" y="2282608"/>
                  <a:ext cx="644043" cy="20774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>
                    <a:defRPr sz="1000" b="0">
                      <a:solidFill>
                        <a:srgbClr val="14B8A6"/>
                      </a:solidFill>
                      <a:latin typeface="Segoe UI"/>
                    </a:defRPr>
                  </a:pPr>
                  <a:r>
                    <a:rPr sz="750" dirty="0"/>
                    <a:t>(French) ↓</a:t>
                  </a:r>
                </a:p>
              </p:txBody>
            </p:sp>
            <p:sp>
              <p:nvSpPr>
                <p:cNvPr id="47" name="TextBox 46"/>
                <p:cNvSpPr txBox="1"/>
                <p:nvPr/>
              </p:nvSpPr>
              <p:spPr>
                <a:xfrm>
                  <a:off x="4463469" y="2064529"/>
                  <a:ext cx="960120" cy="21929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>
                    <a:defRPr sz="1100" b="1">
                      <a:solidFill>
                        <a:srgbClr val="14B8A6"/>
                      </a:solidFill>
                      <a:latin typeface="Consolas"/>
                    </a:defRPr>
                  </a:pPr>
                  <a:r>
                    <a:rPr sz="825"/>
                    <a:t>Le</a:t>
                  </a:r>
                </a:p>
              </p:txBody>
            </p:sp>
            <p:sp>
              <p:nvSpPr>
                <p:cNvPr id="48" name="Rectangle 47"/>
                <p:cNvSpPr/>
                <p:nvPr/>
              </p:nvSpPr>
              <p:spPr>
                <a:xfrm>
                  <a:off x="5457879" y="2064528"/>
                  <a:ext cx="514350" cy="329184"/>
                </a:xfrm>
                <a:prstGeom prst="rect">
                  <a:avLst/>
                </a:prstGeom>
                <a:solidFill>
                  <a:srgbClr val="D38B11"/>
                </a:solidFill>
                <a:ln w="9525">
                  <a:solidFill>
                    <a:srgbClr val="33445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1050"/>
                </a:p>
              </p:txBody>
            </p:sp>
            <p:sp>
              <p:nvSpPr>
                <p:cNvPr id="49" name="TextBox 48"/>
                <p:cNvSpPr txBox="1"/>
                <p:nvPr/>
              </p:nvSpPr>
              <p:spPr>
                <a:xfrm>
                  <a:off x="5457879" y="2098818"/>
                  <a:ext cx="514350" cy="20774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defRPr sz="1000" b="1">
                      <a:solidFill>
                        <a:srgbClr val="0F172A"/>
                      </a:solidFill>
                      <a:latin typeface="Consolas"/>
                    </a:defRPr>
                  </a:pPr>
                  <a:r>
                    <a:rPr sz="750"/>
                    <a:t>0.85</a:t>
                  </a:r>
                </a:p>
              </p:txBody>
            </p:sp>
            <p:sp>
              <p:nvSpPr>
                <p:cNvPr id="50" name="Rectangle 49"/>
                <p:cNvSpPr/>
                <p:nvPr/>
              </p:nvSpPr>
              <p:spPr>
                <a:xfrm>
                  <a:off x="5972229" y="2064528"/>
                  <a:ext cx="514350" cy="329184"/>
                </a:xfrm>
                <a:prstGeom prst="rect">
                  <a:avLst/>
                </a:prstGeom>
                <a:solidFill>
                  <a:srgbClr val="212631"/>
                </a:solidFill>
                <a:ln w="9525">
                  <a:solidFill>
                    <a:srgbClr val="33445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1050"/>
                </a:p>
              </p:txBody>
            </p:sp>
            <p:sp>
              <p:nvSpPr>
                <p:cNvPr id="51" name="TextBox 50"/>
                <p:cNvSpPr txBox="1"/>
                <p:nvPr/>
              </p:nvSpPr>
              <p:spPr>
                <a:xfrm>
                  <a:off x="5972229" y="2098818"/>
                  <a:ext cx="514350" cy="20774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defRPr sz="1000" b="0">
                      <a:solidFill>
                        <a:srgbClr val="94A3B8"/>
                      </a:solidFill>
                      <a:latin typeface="Consolas"/>
                    </a:defRPr>
                  </a:pPr>
                  <a:r>
                    <a:rPr sz="750"/>
                    <a:t>0.05</a:t>
                  </a:r>
                </a:p>
              </p:txBody>
            </p:sp>
            <p:sp>
              <p:nvSpPr>
                <p:cNvPr id="52" name="Rectangle 51"/>
                <p:cNvSpPr/>
                <p:nvPr/>
              </p:nvSpPr>
              <p:spPr>
                <a:xfrm>
                  <a:off x="6486579" y="2064528"/>
                  <a:ext cx="514350" cy="329184"/>
                </a:xfrm>
                <a:prstGeom prst="rect">
                  <a:avLst/>
                </a:prstGeom>
                <a:solidFill>
                  <a:srgbClr val="1A2232"/>
                </a:solidFill>
                <a:ln w="9525">
                  <a:solidFill>
                    <a:srgbClr val="33445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1050"/>
                </a:p>
              </p:txBody>
            </p:sp>
            <p:sp>
              <p:nvSpPr>
                <p:cNvPr id="53" name="TextBox 52"/>
                <p:cNvSpPr txBox="1"/>
                <p:nvPr/>
              </p:nvSpPr>
              <p:spPr>
                <a:xfrm>
                  <a:off x="6486579" y="2098818"/>
                  <a:ext cx="514350" cy="20774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defRPr sz="1000" b="0">
                      <a:solidFill>
                        <a:srgbClr val="94A3B8"/>
                      </a:solidFill>
                      <a:latin typeface="Consolas"/>
                    </a:defRPr>
                  </a:pPr>
                  <a:r>
                    <a:rPr sz="750"/>
                    <a:t>0.02</a:t>
                  </a:r>
                </a:p>
              </p:txBody>
            </p:sp>
            <p:sp>
              <p:nvSpPr>
                <p:cNvPr id="54" name="Rectangle 53"/>
                <p:cNvSpPr/>
                <p:nvPr/>
              </p:nvSpPr>
              <p:spPr>
                <a:xfrm>
                  <a:off x="7000929" y="2064528"/>
                  <a:ext cx="514350" cy="329184"/>
                </a:xfrm>
                <a:prstGeom prst="rect">
                  <a:avLst/>
                </a:prstGeom>
                <a:solidFill>
                  <a:srgbClr val="1C2331"/>
                </a:solidFill>
                <a:ln w="9525">
                  <a:solidFill>
                    <a:srgbClr val="33445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1050"/>
                </a:p>
              </p:txBody>
            </p:sp>
            <p:sp>
              <p:nvSpPr>
                <p:cNvPr id="55" name="TextBox 54"/>
                <p:cNvSpPr txBox="1"/>
                <p:nvPr/>
              </p:nvSpPr>
              <p:spPr>
                <a:xfrm>
                  <a:off x="7000929" y="2098818"/>
                  <a:ext cx="514350" cy="20774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defRPr sz="1000" b="0">
                      <a:solidFill>
                        <a:srgbClr val="94A3B8"/>
                      </a:solidFill>
                      <a:latin typeface="Consolas"/>
                    </a:defRPr>
                  </a:pPr>
                  <a:r>
                    <a:rPr sz="750"/>
                    <a:t>0.03</a:t>
                  </a:r>
                </a:p>
              </p:txBody>
            </p:sp>
            <p:sp>
              <p:nvSpPr>
                <p:cNvPr id="56" name="Rectangle 55"/>
                <p:cNvSpPr/>
                <p:nvPr/>
              </p:nvSpPr>
              <p:spPr>
                <a:xfrm>
                  <a:off x="7515279" y="2064528"/>
                  <a:ext cx="514350" cy="329184"/>
                </a:xfrm>
                <a:prstGeom prst="rect">
                  <a:avLst/>
                </a:prstGeom>
                <a:solidFill>
                  <a:srgbClr val="1C2331"/>
                </a:solidFill>
                <a:ln w="9525">
                  <a:solidFill>
                    <a:srgbClr val="33445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1050"/>
                </a:p>
              </p:txBody>
            </p:sp>
            <p:sp>
              <p:nvSpPr>
                <p:cNvPr id="57" name="TextBox 56"/>
                <p:cNvSpPr txBox="1"/>
                <p:nvPr/>
              </p:nvSpPr>
              <p:spPr>
                <a:xfrm>
                  <a:off x="7515279" y="2098818"/>
                  <a:ext cx="514350" cy="20774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defRPr sz="1000" b="0">
                      <a:solidFill>
                        <a:srgbClr val="94A3B8"/>
                      </a:solidFill>
                      <a:latin typeface="Consolas"/>
                    </a:defRPr>
                  </a:pPr>
                  <a:r>
                    <a:rPr sz="750"/>
                    <a:t>0.03</a:t>
                  </a:r>
                </a:p>
              </p:txBody>
            </p:sp>
            <p:sp>
              <p:nvSpPr>
                <p:cNvPr id="58" name="Rectangle 57"/>
                <p:cNvSpPr/>
                <p:nvPr/>
              </p:nvSpPr>
              <p:spPr>
                <a:xfrm>
                  <a:off x="8029629" y="2064528"/>
                  <a:ext cx="514350" cy="329184"/>
                </a:xfrm>
                <a:prstGeom prst="rect">
                  <a:avLst/>
                </a:prstGeom>
                <a:solidFill>
                  <a:srgbClr val="1A2232"/>
                </a:solidFill>
                <a:ln w="9525">
                  <a:solidFill>
                    <a:srgbClr val="33445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1050"/>
                </a:p>
              </p:txBody>
            </p:sp>
            <p:sp>
              <p:nvSpPr>
                <p:cNvPr id="59" name="TextBox 58"/>
                <p:cNvSpPr txBox="1"/>
                <p:nvPr/>
              </p:nvSpPr>
              <p:spPr>
                <a:xfrm>
                  <a:off x="8029629" y="2098818"/>
                  <a:ext cx="514350" cy="20774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defRPr sz="1000" b="0">
                      <a:solidFill>
                        <a:srgbClr val="94A3B8"/>
                      </a:solidFill>
                      <a:latin typeface="Consolas"/>
                    </a:defRPr>
                  </a:pPr>
                  <a:r>
                    <a:rPr sz="750"/>
                    <a:t>0.02</a:t>
                  </a:r>
                </a:p>
              </p:txBody>
            </p:sp>
            <p:sp>
              <p:nvSpPr>
                <p:cNvPr id="60" name="TextBox 59"/>
                <p:cNvSpPr txBox="1"/>
                <p:nvPr/>
              </p:nvSpPr>
              <p:spPr>
                <a:xfrm>
                  <a:off x="4979406" y="2393713"/>
                  <a:ext cx="444183" cy="21929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>
                    <a:defRPr sz="1100" b="1">
                      <a:solidFill>
                        <a:srgbClr val="14B8A6"/>
                      </a:solidFill>
                      <a:latin typeface="Consolas"/>
                    </a:defRPr>
                  </a:pPr>
                  <a:r>
                    <a:rPr sz="825" dirty="0"/>
                    <a:t>chat</a:t>
                  </a:r>
                </a:p>
              </p:txBody>
            </p:sp>
            <p:sp>
              <p:nvSpPr>
                <p:cNvPr id="61" name="Rectangle 60"/>
                <p:cNvSpPr/>
                <p:nvPr/>
              </p:nvSpPr>
              <p:spPr>
                <a:xfrm>
                  <a:off x="5457879" y="2393712"/>
                  <a:ext cx="514350" cy="329184"/>
                </a:xfrm>
                <a:prstGeom prst="rect">
                  <a:avLst/>
                </a:prstGeom>
                <a:solidFill>
                  <a:srgbClr val="1C2331"/>
                </a:solidFill>
                <a:ln w="9525">
                  <a:solidFill>
                    <a:srgbClr val="33445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1050"/>
                </a:p>
              </p:txBody>
            </p:sp>
            <p:sp>
              <p:nvSpPr>
                <p:cNvPr id="62" name="TextBox 61"/>
                <p:cNvSpPr txBox="1"/>
                <p:nvPr/>
              </p:nvSpPr>
              <p:spPr>
                <a:xfrm>
                  <a:off x="5457879" y="2428002"/>
                  <a:ext cx="514350" cy="20774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defRPr sz="1000" b="0">
                      <a:solidFill>
                        <a:srgbClr val="94A3B8"/>
                      </a:solidFill>
                      <a:latin typeface="Consolas"/>
                    </a:defRPr>
                  </a:pPr>
                  <a:r>
                    <a:rPr sz="750"/>
                    <a:t>0.03</a:t>
                  </a:r>
                </a:p>
              </p:txBody>
            </p:sp>
            <p:sp>
              <p:nvSpPr>
                <p:cNvPr id="63" name="Rectangle 62"/>
                <p:cNvSpPr/>
                <p:nvPr/>
              </p:nvSpPr>
              <p:spPr>
                <a:xfrm>
                  <a:off x="5972229" y="2393712"/>
                  <a:ext cx="514350" cy="329184"/>
                </a:xfrm>
                <a:prstGeom prst="rect">
                  <a:avLst/>
                </a:prstGeom>
                <a:solidFill>
                  <a:srgbClr val="DA8E0F"/>
                </a:solidFill>
                <a:ln w="9525">
                  <a:solidFill>
                    <a:srgbClr val="33445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1050"/>
                </a:p>
              </p:txBody>
            </p:sp>
            <p:sp>
              <p:nvSpPr>
                <p:cNvPr id="64" name="TextBox 63"/>
                <p:cNvSpPr txBox="1"/>
                <p:nvPr/>
              </p:nvSpPr>
              <p:spPr>
                <a:xfrm>
                  <a:off x="5972229" y="2428002"/>
                  <a:ext cx="514350" cy="20774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defRPr sz="1000" b="1">
                      <a:solidFill>
                        <a:srgbClr val="0F172A"/>
                      </a:solidFill>
                      <a:latin typeface="Consolas"/>
                    </a:defRPr>
                  </a:pPr>
                  <a:r>
                    <a:rPr sz="750"/>
                    <a:t>0.88</a:t>
                  </a:r>
                </a:p>
              </p:txBody>
            </p:sp>
            <p:sp>
              <p:nvSpPr>
                <p:cNvPr id="65" name="Rectangle 64"/>
                <p:cNvSpPr/>
                <p:nvPr/>
              </p:nvSpPr>
              <p:spPr>
                <a:xfrm>
                  <a:off x="6486579" y="2393712"/>
                  <a:ext cx="514350" cy="329184"/>
                </a:xfrm>
                <a:prstGeom prst="rect">
                  <a:avLst/>
                </a:prstGeom>
                <a:solidFill>
                  <a:srgbClr val="1C2331"/>
                </a:solidFill>
                <a:ln w="9525">
                  <a:solidFill>
                    <a:srgbClr val="33445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1050"/>
                </a:p>
              </p:txBody>
            </p:sp>
            <p:sp>
              <p:nvSpPr>
                <p:cNvPr id="66" name="TextBox 65"/>
                <p:cNvSpPr txBox="1"/>
                <p:nvPr/>
              </p:nvSpPr>
              <p:spPr>
                <a:xfrm>
                  <a:off x="6486579" y="2428002"/>
                  <a:ext cx="514350" cy="20774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defRPr sz="1000" b="0">
                      <a:solidFill>
                        <a:srgbClr val="94A3B8"/>
                      </a:solidFill>
                      <a:latin typeface="Consolas"/>
                    </a:defRPr>
                  </a:pPr>
                  <a:r>
                    <a:rPr sz="750"/>
                    <a:t>0.03</a:t>
                  </a:r>
                </a:p>
              </p:txBody>
            </p:sp>
            <p:sp>
              <p:nvSpPr>
                <p:cNvPr id="67" name="Rectangle 66"/>
                <p:cNvSpPr/>
                <p:nvPr/>
              </p:nvSpPr>
              <p:spPr>
                <a:xfrm>
                  <a:off x="7000929" y="2393712"/>
                  <a:ext cx="514350" cy="329184"/>
                </a:xfrm>
                <a:prstGeom prst="rect">
                  <a:avLst/>
                </a:prstGeom>
                <a:solidFill>
                  <a:srgbClr val="1A2232"/>
                </a:solidFill>
                <a:ln w="9525">
                  <a:solidFill>
                    <a:srgbClr val="33445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1050"/>
                </a:p>
              </p:txBody>
            </p:sp>
            <p:sp>
              <p:nvSpPr>
                <p:cNvPr id="68" name="TextBox 67"/>
                <p:cNvSpPr txBox="1"/>
                <p:nvPr/>
              </p:nvSpPr>
              <p:spPr>
                <a:xfrm>
                  <a:off x="7000929" y="2428002"/>
                  <a:ext cx="514350" cy="20774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defRPr sz="1000" b="0">
                      <a:solidFill>
                        <a:srgbClr val="94A3B8"/>
                      </a:solidFill>
                      <a:latin typeface="Consolas"/>
                    </a:defRPr>
                  </a:pPr>
                  <a:r>
                    <a:rPr sz="750"/>
                    <a:t>0.02</a:t>
                  </a:r>
                </a:p>
              </p:txBody>
            </p:sp>
            <p:sp>
              <p:nvSpPr>
                <p:cNvPr id="69" name="Rectangle 68"/>
                <p:cNvSpPr/>
                <p:nvPr/>
              </p:nvSpPr>
              <p:spPr>
                <a:xfrm>
                  <a:off x="7515279" y="2393712"/>
                  <a:ext cx="514350" cy="329184"/>
                </a:xfrm>
                <a:prstGeom prst="rect">
                  <a:avLst/>
                </a:prstGeom>
                <a:solidFill>
                  <a:srgbClr val="1A2232"/>
                </a:solidFill>
                <a:ln w="9525">
                  <a:solidFill>
                    <a:srgbClr val="33445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1050"/>
                </a:p>
              </p:txBody>
            </p:sp>
            <p:sp>
              <p:nvSpPr>
                <p:cNvPr id="70" name="TextBox 69"/>
                <p:cNvSpPr txBox="1"/>
                <p:nvPr/>
              </p:nvSpPr>
              <p:spPr>
                <a:xfrm>
                  <a:off x="7515279" y="2428002"/>
                  <a:ext cx="514350" cy="20774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defRPr sz="1000" b="0">
                      <a:solidFill>
                        <a:srgbClr val="94A3B8"/>
                      </a:solidFill>
                      <a:latin typeface="Consolas"/>
                    </a:defRPr>
                  </a:pPr>
                  <a:r>
                    <a:rPr sz="750"/>
                    <a:t>0.02</a:t>
                  </a:r>
                </a:p>
              </p:txBody>
            </p:sp>
            <p:sp>
              <p:nvSpPr>
                <p:cNvPr id="71" name="Rectangle 70"/>
                <p:cNvSpPr/>
                <p:nvPr/>
              </p:nvSpPr>
              <p:spPr>
                <a:xfrm>
                  <a:off x="8029629" y="2393712"/>
                  <a:ext cx="514350" cy="329184"/>
                </a:xfrm>
                <a:prstGeom prst="rect">
                  <a:avLst/>
                </a:prstGeom>
                <a:solidFill>
                  <a:srgbClr val="1A2232"/>
                </a:solidFill>
                <a:ln w="9525">
                  <a:solidFill>
                    <a:srgbClr val="33445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1050"/>
                </a:p>
              </p:txBody>
            </p:sp>
            <p:sp>
              <p:nvSpPr>
                <p:cNvPr id="72" name="TextBox 71"/>
                <p:cNvSpPr txBox="1"/>
                <p:nvPr/>
              </p:nvSpPr>
              <p:spPr>
                <a:xfrm>
                  <a:off x="8029629" y="2428002"/>
                  <a:ext cx="514350" cy="20774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defRPr sz="1000" b="0">
                      <a:solidFill>
                        <a:srgbClr val="94A3B8"/>
                      </a:solidFill>
                      <a:latin typeface="Consolas"/>
                    </a:defRPr>
                  </a:pPr>
                  <a:r>
                    <a:rPr sz="750"/>
                    <a:t>0.02</a:t>
                  </a:r>
                </a:p>
              </p:txBody>
            </p:sp>
            <p:sp>
              <p:nvSpPr>
                <p:cNvPr id="73" name="TextBox 72"/>
                <p:cNvSpPr txBox="1"/>
                <p:nvPr/>
              </p:nvSpPr>
              <p:spPr>
                <a:xfrm>
                  <a:off x="4463469" y="2722897"/>
                  <a:ext cx="960120" cy="21929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>
                    <a:defRPr sz="1100" b="1">
                      <a:solidFill>
                        <a:srgbClr val="14B8A6"/>
                      </a:solidFill>
                      <a:latin typeface="Consolas"/>
                    </a:defRPr>
                  </a:pPr>
                  <a:r>
                    <a:rPr sz="825"/>
                    <a:t>était assis</a:t>
                  </a:r>
                </a:p>
              </p:txBody>
            </p:sp>
            <p:sp>
              <p:nvSpPr>
                <p:cNvPr id="74" name="Rectangle 73"/>
                <p:cNvSpPr/>
                <p:nvPr/>
              </p:nvSpPr>
              <p:spPr>
                <a:xfrm>
                  <a:off x="5457879" y="2722896"/>
                  <a:ext cx="514350" cy="329184"/>
                </a:xfrm>
                <a:prstGeom prst="rect">
                  <a:avLst/>
                </a:prstGeom>
                <a:solidFill>
                  <a:srgbClr val="1A2232"/>
                </a:solidFill>
                <a:ln w="9525">
                  <a:solidFill>
                    <a:srgbClr val="33445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1050"/>
                </a:p>
              </p:txBody>
            </p:sp>
            <p:sp>
              <p:nvSpPr>
                <p:cNvPr id="75" name="TextBox 74"/>
                <p:cNvSpPr txBox="1"/>
                <p:nvPr/>
              </p:nvSpPr>
              <p:spPr>
                <a:xfrm>
                  <a:off x="5457879" y="2757186"/>
                  <a:ext cx="514350" cy="20774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defRPr sz="1000" b="0">
                      <a:solidFill>
                        <a:srgbClr val="94A3B8"/>
                      </a:solidFill>
                      <a:latin typeface="Consolas"/>
                    </a:defRPr>
                  </a:pPr>
                  <a:r>
                    <a:rPr sz="750"/>
                    <a:t>0.02</a:t>
                  </a:r>
                </a:p>
              </p:txBody>
            </p:sp>
            <p:sp>
              <p:nvSpPr>
                <p:cNvPr id="76" name="Rectangle 75"/>
                <p:cNvSpPr/>
                <p:nvPr/>
              </p:nvSpPr>
              <p:spPr>
                <a:xfrm>
                  <a:off x="5972229" y="2722896"/>
                  <a:ext cx="514350" cy="329184"/>
                </a:xfrm>
                <a:prstGeom prst="rect">
                  <a:avLst/>
                </a:prstGeom>
                <a:solidFill>
                  <a:srgbClr val="212631"/>
                </a:solidFill>
                <a:ln w="9525">
                  <a:solidFill>
                    <a:srgbClr val="33445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1050"/>
                </a:p>
              </p:txBody>
            </p:sp>
            <p:sp>
              <p:nvSpPr>
                <p:cNvPr id="77" name="TextBox 76"/>
                <p:cNvSpPr txBox="1"/>
                <p:nvPr/>
              </p:nvSpPr>
              <p:spPr>
                <a:xfrm>
                  <a:off x="5972229" y="2757186"/>
                  <a:ext cx="514350" cy="20774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defRPr sz="1000" b="0">
                      <a:solidFill>
                        <a:srgbClr val="94A3B8"/>
                      </a:solidFill>
                      <a:latin typeface="Consolas"/>
                    </a:defRPr>
                  </a:pPr>
                  <a:r>
                    <a:rPr sz="750"/>
                    <a:t>0.05</a:t>
                  </a:r>
                </a:p>
              </p:txBody>
            </p:sp>
            <p:sp>
              <p:nvSpPr>
                <p:cNvPr id="78" name="Rectangle 77"/>
                <p:cNvSpPr/>
                <p:nvPr/>
              </p:nvSpPr>
              <p:spPr>
                <a:xfrm>
                  <a:off x="6486579" y="2722896"/>
                  <a:ext cx="514350" cy="329184"/>
                </a:xfrm>
                <a:prstGeom prst="rect">
                  <a:avLst/>
                </a:prstGeom>
                <a:solidFill>
                  <a:srgbClr val="CC8712"/>
                </a:solidFill>
                <a:ln w="9525">
                  <a:solidFill>
                    <a:srgbClr val="33445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1050"/>
                </a:p>
              </p:txBody>
            </p:sp>
            <p:sp>
              <p:nvSpPr>
                <p:cNvPr id="79" name="TextBox 78"/>
                <p:cNvSpPr txBox="1"/>
                <p:nvPr/>
              </p:nvSpPr>
              <p:spPr>
                <a:xfrm>
                  <a:off x="6486579" y="2757186"/>
                  <a:ext cx="514350" cy="20774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defRPr sz="1000" b="1">
                      <a:solidFill>
                        <a:srgbClr val="0F172A"/>
                      </a:solidFill>
                      <a:latin typeface="Consolas"/>
                    </a:defRPr>
                  </a:pPr>
                  <a:r>
                    <a:rPr sz="750"/>
                    <a:t>0.82</a:t>
                  </a:r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7000929" y="2722896"/>
                  <a:ext cx="514350" cy="329184"/>
                </a:xfrm>
                <a:prstGeom prst="rect">
                  <a:avLst/>
                </a:prstGeom>
                <a:solidFill>
                  <a:srgbClr val="212631"/>
                </a:solidFill>
                <a:ln w="9525">
                  <a:solidFill>
                    <a:srgbClr val="33445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1050"/>
                </a:p>
              </p:txBody>
            </p:sp>
            <p:sp>
              <p:nvSpPr>
                <p:cNvPr id="81" name="TextBox 80"/>
                <p:cNvSpPr txBox="1"/>
                <p:nvPr/>
              </p:nvSpPr>
              <p:spPr>
                <a:xfrm>
                  <a:off x="7000929" y="2757186"/>
                  <a:ext cx="514350" cy="20774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defRPr sz="1000" b="0">
                      <a:solidFill>
                        <a:srgbClr val="94A3B8"/>
                      </a:solidFill>
                      <a:latin typeface="Consolas"/>
                    </a:defRPr>
                  </a:pPr>
                  <a:r>
                    <a:rPr sz="750"/>
                    <a:t>0.05</a:t>
                  </a:r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7515279" y="2722896"/>
                  <a:ext cx="514350" cy="329184"/>
                </a:xfrm>
                <a:prstGeom prst="rect">
                  <a:avLst/>
                </a:prstGeom>
                <a:solidFill>
                  <a:srgbClr val="1C2331"/>
                </a:solidFill>
                <a:ln w="9525">
                  <a:solidFill>
                    <a:srgbClr val="33445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1050"/>
                </a:p>
              </p:txBody>
            </p:sp>
            <p:sp>
              <p:nvSpPr>
                <p:cNvPr id="83" name="TextBox 82"/>
                <p:cNvSpPr txBox="1"/>
                <p:nvPr/>
              </p:nvSpPr>
              <p:spPr>
                <a:xfrm>
                  <a:off x="7515279" y="2757186"/>
                  <a:ext cx="514350" cy="20774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defRPr sz="1000" b="0">
                      <a:solidFill>
                        <a:srgbClr val="94A3B8"/>
                      </a:solidFill>
                      <a:latin typeface="Consolas"/>
                    </a:defRPr>
                  </a:pPr>
                  <a:r>
                    <a:rPr sz="750"/>
                    <a:t>0.03</a:t>
                  </a:r>
                </a:p>
              </p:txBody>
            </p:sp>
            <p:sp>
              <p:nvSpPr>
                <p:cNvPr id="84" name="Rectangle 83"/>
                <p:cNvSpPr/>
                <p:nvPr/>
              </p:nvSpPr>
              <p:spPr>
                <a:xfrm>
                  <a:off x="8029629" y="2722896"/>
                  <a:ext cx="514350" cy="329184"/>
                </a:xfrm>
                <a:prstGeom prst="rect">
                  <a:avLst/>
                </a:prstGeom>
                <a:solidFill>
                  <a:srgbClr val="1C2331"/>
                </a:solidFill>
                <a:ln w="9525">
                  <a:solidFill>
                    <a:srgbClr val="33445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1050"/>
                </a:p>
              </p:txBody>
            </p:sp>
            <p:sp>
              <p:nvSpPr>
                <p:cNvPr id="85" name="TextBox 84"/>
                <p:cNvSpPr txBox="1"/>
                <p:nvPr/>
              </p:nvSpPr>
              <p:spPr>
                <a:xfrm>
                  <a:off x="8029629" y="2757186"/>
                  <a:ext cx="514350" cy="20774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defRPr sz="1000" b="0">
                      <a:solidFill>
                        <a:srgbClr val="94A3B8"/>
                      </a:solidFill>
                      <a:latin typeface="Consolas"/>
                    </a:defRPr>
                  </a:pPr>
                  <a:r>
                    <a:rPr sz="750"/>
                    <a:t>0.03</a:t>
                  </a:r>
                </a:p>
              </p:txBody>
            </p:sp>
            <p:sp>
              <p:nvSpPr>
                <p:cNvPr id="86" name="TextBox 85"/>
                <p:cNvSpPr txBox="1"/>
                <p:nvPr/>
              </p:nvSpPr>
              <p:spPr>
                <a:xfrm>
                  <a:off x="4463469" y="3052081"/>
                  <a:ext cx="960120" cy="21929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>
                    <a:defRPr sz="1100" b="1">
                      <a:solidFill>
                        <a:srgbClr val="14B8A6"/>
                      </a:solidFill>
                      <a:latin typeface="Consolas"/>
                    </a:defRPr>
                  </a:pPr>
                  <a:r>
                    <a:rPr sz="825"/>
                    <a:t>sur</a:t>
                  </a:r>
                </a:p>
              </p:txBody>
            </p:sp>
            <p:sp>
              <p:nvSpPr>
                <p:cNvPr id="87" name="Rectangle 86"/>
                <p:cNvSpPr/>
                <p:nvPr/>
              </p:nvSpPr>
              <p:spPr>
                <a:xfrm>
                  <a:off x="5457879" y="3052080"/>
                  <a:ext cx="514350" cy="329184"/>
                </a:xfrm>
                <a:prstGeom prst="rect">
                  <a:avLst/>
                </a:prstGeom>
                <a:solidFill>
                  <a:srgbClr val="1A2232"/>
                </a:solidFill>
                <a:ln w="9525">
                  <a:solidFill>
                    <a:srgbClr val="33445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1050"/>
                </a:p>
              </p:txBody>
            </p:sp>
            <p:sp>
              <p:nvSpPr>
                <p:cNvPr id="88" name="TextBox 87"/>
                <p:cNvSpPr txBox="1"/>
                <p:nvPr/>
              </p:nvSpPr>
              <p:spPr>
                <a:xfrm>
                  <a:off x="5457879" y="3086370"/>
                  <a:ext cx="514350" cy="20774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defRPr sz="1000" b="0">
                      <a:solidFill>
                        <a:srgbClr val="94A3B8"/>
                      </a:solidFill>
                      <a:latin typeface="Consolas"/>
                    </a:defRPr>
                  </a:pPr>
                  <a:r>
                    <a:rPr sz="750"/>
                    <a:t>0.02</a:t>
                  </a:r>
                </a:p>
              </p:txBody>
            </p:sp>
            <p:sp>
              <p:nvSpPr>
                <p:cNvPr id="89" name="Rectangle 88"/>
                <p:cNvSpPr/>
                <p:nvPr/>
              </p:nvSpPr>
              <p:spPr>
                <a:xfrm>
                  <a:off x="5972229" y="3052080"/>
                  <a:ext cx="514350" cy="329184"/>
                </a:xfrm>
                <a:prstGeom prst="rect">
                  <a:avLst/>
                </a:prstGeom>
                <a:solidFill>
                  <a:srgbClr val="1A2232"/>
                </a:solidFill>
                <a:ln w="9525">
                  <a:solidFill>
                    <a:srgbClr val="33445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1050"/>
                </a:p>
              </p:txBody>
            </p:sp>
            <p:sp>
              <p:nvSpPr>
                <p:cNvPr id="90" name="TextBox 89"/>
                <p:cNvSpPr txBox="1"/>
                <p:nvPr/>
              </p:nvSpPr>
              <p:spPr>
                <a:xfrm>
                  <a:off x="5972229" y="3086370"/>
                  <a:ext cx="514350" cy="20774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defRPr sz="1000" b="0">
                      <a:solidFill>
                        <a:srgbClr val="94A3B8"/>
                      </a:solidFill>
                      <a:latin typeface="Consolas"/>
                    </a:defRPr>
                  </a:pPr>
                  <a:r>
                    <a:rPr sz="750"/>
                    <a:t>0.02</a:t>
                  </a:r>
                </a:p>
              </p:txBody>
            </p:sp>
            <p:sp>
              <p:nvSpPr>
                <p:cNvPr id="91" name="Rectangle 90"/>
                <p:cNvSpPr/>
                <p:nvPr/>
              </p:nvSpPr>
              <p:spPr>
                <a:xfrm>
                  <a:off x="6486579" y="3052080"/>
                  <a:ext cx="514350" cy="329184"/>
                </a:xfrm>
                <a:prstGeom prst="rect">
                  <a:avLst/>
                </a:prstGeom>
                <a:solidFill>
                  <a:srgbClr val="1E2531"/>
                </a:solidFill>
                <a:ln w="9525">
                  <a:solidFill>
                    <a:srgbClr val="33445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1050"/>
                </a:p>
              </p:txBody>
            </p:sp>
            <p:sp>
              <p:nvSpPr>
                <p:cNvPr id="92" name="TextBox 91"/>
                <p:cNvSpPr txBox="1"/>
                <p:nvPr/>
              </p:nvSpPr>
              <p:spPr>
                <a:xfrm>
                  <a:off x="6486579" y="3086370"/>
                  <a:ext cx="514350" cy="20774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defRPr sz="1000" b="0">
                      <a:solidFill>
                        <a:srgbClr val="94A3B8"/>
                      </a:solidFill>
                      <a:latin typeface="Consolas"/>
                    </a:defRPr>
                  </a:pPr>
                  <a:r>
                    <a:rPr sz="750"/>
                    <a:t>0.04</a:t>
                  </a:r>
                </a:p>
              </p:txBody>
            </p:sp>
            <p:sp>
              <p:nvSpPr>
                <p:cNvPr id="93" name="Rectangle 92"/>
                <p:cNvSpPr/>
                <p:nvPr/>
              </p:nvSpPr>
              <p:spPr>
                <a:xfrm>
                  <a:off x="7000929" y="3052080"/>
                  <a:ext cx="514350" cy="329184"/>
                </a:xfrm>
                <a:prstGeom prst="rect">
                  <a:avLst/>
                </a:prstGeom>
                <a:solidFill>
                  <a:srgbClr val="D38B11"/>
                </a:solidFill>
                <a:ln w="9525">
                  <a:solidFill>
                    <a:srgbClr val="33445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1050"/>
                </a:p>
              </p:txBody>
            </p:sp>
            <p:sp>
              <p:nvSpPr>
                <p:cNvPr id="94" name="TextBox 93"/>
                <p:cNvSpPr txBox="1"/>
                <p:nvPr/>
              </p:nvSpPr>
              <p:spPr>
                <a:xfrm>
                  <a:off x="7000929" y="3086370"/>
                  <a:ext cx="514350" cy="20774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defRPr sz="1000" b="1">
                      <a:solidFill>
                        <a:srgbClr val="0F172A"/>
                      </a:solidFill>
                      <a:latin typeface="Consolas"/>
                    </a:defRPr>
                  </a:pPr>
                  <a:r>
                    <a:rPr sz="750"/>
                    <a:t>0.85</a:t>
                  </a:r>
                </a:p>
              </p:txBody>
            </p:sp>
            <p:sp>
              <p:nvSpPr>
                <p:cNvPr id="95" name="Rectangle 94"/>
                <p:cNvSpPr/>
                <p:nvPr/>
              </p:nvSpPr>
              <p:spPr>
                <a:xfrm>
                  <a:off x="7515279" y="3052080"/>
                  <a:ext cx="514350" cy="329184"/>
                </a:xfrm>
                <a:prstGeom prst="rect">
                  <a:avLst/>
                </a:prstGeom>
                <a:solidFill>
                  <a:srgbClr val="1E2531"/>
                </a:solidFill>
                <a:ln w="9525">
                  <a:solidFill>
                    <a:srgbClr val="33445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1050"/>
                </a:p>
              </p:txBody>
            </p:sp>
            <p:sp>
              <p:nvSpPr>
                <p:cNvPr id="96" name="TextBox 95"/>
                <p:cNvSpPr txBox="1"/>
                <p:nvPr/>
              </p:nvSpPr>
              <p:spPr>
                <a:xfrm>
                  <a:off x="7515279" y="3086370"/>
                  <a:ext cx="514350" cy="20774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defRPr sz="1000" b="0">
                      <a:solidFill>
                        <a:srgbClr val="94A3B8"/>
                      </a:solidFill>
                      <a:latin typeface="Consolas"/>
                    </a:defRPr>
                  </a:pPr>
                  <a:r>
                    <a:rPr sz="750"/>
                    <a:t>0.04</a:t>
                  </a:r>
                </a:p>
              </p:txBody>
            </p:sp>
            <p:sp>
              <p:nvSpPr>
                <p:cNvPr id="97" name="Rectangle 96"/>
                <p:cNvSpPr/>
                <p:nvPr/>
              </p:nvSpPr>
              <p:spPr>
                <a:xfrm>
                  <a:off x="8029629" y="3052080"/>
                  <a:ext cx="514350" cy="329184"/>
                </a:xfrm>
                <a:prstGeom prst="rect">
                  <a:avLst/>
                </a:prstGeom>
                <a:solidFill>
                  <a:srgbClr val="1C2331"/>
                </a:solidFill>
                <a:ln w="9525">
                  <a:solidFill>
                    <a:srgbClr val="33445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1050"/>
                </a:p>
              </p:txBody>
            </p:sp>
            <p:sp>
              <p:nvSpPr>
                <p:cNvPr id="98" name="TextBox 97"/>
                <p:cNvSpPr txBox="1"/>
                <p:nvPr/>
              </p:nvSpPr>
              <p:spPr>
                <a:xfrm>
                  <a:off x="8029629" y="3086370"/>
                  <a:ext cx="514350" cy="20774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defRPr sz="1000" b="0">
                      <a:solidFill>
                        <a:srgbClr val="94A3B8"/>
                      </a:solidFill>
                      <a:latin typeface="Consolas"/>
                    </a:defRPr>
                  </a:pPr>
                  <a:r>
                    <a:rPr sz="750"/>
                    <a:t>0.03</a:t>
                  </a:r>
                </a:p>
              </p:txBody>
            </p:sp>
            <p:sp>
              <p:nvSpPr>
                <p:cNvPr id="99" name="TextBox 98"/>
                <p:cNvSpPr txBox="1"/>
                <p:nvPr/>
              </p:nvSpPr>
              <p:spPr>
                <a:xfrm>
                  <a:off x="4463469" y="3381265"/>
                  <a:ext cx="960120" cy="21929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>
                    <a:defRPr sz="1100" b="1">
                      <a:solidFill>
                        <a:srgbClr val="14B8A6"/>
                      </a:solidFill>
                      <a:latin typeface="Consolas"/>
                    </a:defRPr>
                  </a:pPr>
                  <a:r>
                    <a:rPr sz="825"/>
                    <a:t>le</a:t>
                  </a:r>
                </a:p>
              </p:txBody>
            </p:sp>
            <p:sp>
              <p:nvSpPr>
                <p:cNvPr id="100" name="Rectangle 99"/>
                <p:cNvSpPr/>
                <p:nvPr/>
              </p:nvSpPr>
              <p:spPr>
                <a:xfrm>
                  <a:off x="5457879" y="3381264"/>
                  <a:ext cx="514350" cy="329184"/>
                </a:xfrm>
                <a:prstGeom prst="rect">
                  <a:avLst/>
                </a:prstGeom>
                <a:solidFill>
                  <a:srgbClr val="1E2531"/>
                </a:solidFill>
                <a:ln w="9525">
                  <a:solidFill>
                    <a:srgbClr val="33445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1050"/>
                </a:p>
              </p:txBody>
            </p:sp>
            <p:sp>
              <p:nvSpPr>
                <p:cNvPr id="101" name="TextBox 100"/>
                <p:cNvSpPr txBox="1"/>
                <p:nvPr/>
              </p:nvSpPr>
              <p:spPr>
                <a:xfrm>
                  <a:off x="5457879" y="3415554"/>
                  <a:ext cx="514350" cy="20774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defRPr sz="1000" b="0">
                      <a:solidFill>
                        <a:srgbClr val="94A3B8"/>
                      </a:solidFill>
                      <a:latin typeface="Consolas"/>
                    </a:defRPr>
                  </a:pPr>
                  <a:r>
                    <a:rPr sz="750"/>
                    <a:t>0.04</a:t>
                  </a:r>
                </a:p>
              </p:txBody>
            </p:sp>
            <p:sp>
              <p:nvSpPr>
                <p:cNvPr id="102" name="Rectangle 101"/>
                <p:cNvSpPr/>
                <p:nvPr/>
              </p:nvSpPr>
              <p:spPr>
                <a:xfrm>
                  <a:off x="5972229" y="3381264"/>
                  <a:ext cx="514350" cy="329184"/>
                </a:xfrm>
                <a:prstGeom prst="rect">
                  <a:avLst/>
                </a:prstGeom>
                <a:solidFill>
                  <a:srgbClr val="1C2331"/>
                </a:solidFill>
                <a:ln w="9525">
                  <a:solidFill>
                    <a:srgbClr val="33445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1050"/>
                </a:p>
              </p:txBody>
            </p:sp>
            <p:sp>
              <p:nvSpPr>
                <p:cNvPr id="103" name="TextBox 102"/>
                <p:cNvSpPr txBox="1"/>
                <p:nvPr/>
              </p:nvSpPr>
              <p:spPr>
                <a:xfrm>
                  <a:off x="5972229" y="3415554"/>
                  <a:ext cx="514350" cy="20774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defRPr sz="1000" b="0">
                      <a:solidFill>
                        <a:srgbClr val="94A3B8"/>
                      </a:solidFill>
                      <a:latin typeface="Consolas"/>
                    </a:defRPr>
                  </a:pPr>
                  <a:r>
                    <a:rPr sz="750"/>
                    <a:t>0.03</a:t>
                  </a:r>
                </a:p>
              </p:txBody>
            </p:sp>
            <p:sp>
              <p:nvSpPr>
                <p:cNvPr id="104" name="Rectangle 103"/>
                <p:cNvSpPr/>
                <p:nvPr/>
              </p:nvSpPr>
              <p:spPr>
                <a:xfrm>
                  <a:off x="6486579" y="3381264"/>
                  <a:ext cx="514350" cy="329184"/>
                </a:xfrm>
                <a:prstGeom prst="rect">
                  <a:avLst/>
                </a:prstGeom>
                <a:solidFill>
                  <a:srgbClr val="1A2232"/>
                </a:solidFill>
                <a:ln w="9525">
                  <a:solidFill>
                    <a:srgbClr val="33445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1050"/>
                </a:p>
              </p:txBody>
            </p:sp>
            <p:sp>
              <p:nvSpPr>
                <p:cNvPr id="105" name="TextBox 104"/>
                <p:cNvSpPr txBox="1"/>
                <p:nvPr/>
              </p:nvSpPr>
              <p:spPr>
                <a:xfrm>
                  <a:off x="6486579" y="3415554"/>
                  <a:ext cx="514350" cy="20774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defRPr sz="1000" b="0">
                      <a:solidFill>
                        <a:srgbClr val="94A3B8"/>
                      </a:solidFill>
                      <a:latin typeface="Consolas"/>
                    </a:defRPr>
                  </a:pPr>
                  <a:r>
                    <a:rPr sz="750"/>
                    <a:t>0.02</a:t>
                  </a:r>
                </a:p>
              </p:txBody>
            </p:sp>
            <p:sp>
              <p:nvSpPr>
                <p:cNvPr id="106" name="Rectangle 105"/>
                <p:cNvSpPr/>
                <p:nvPr/>
              </p:nvSpPr>
              <p:spPr>
                <a:xfrm>
                  <a:off x="7000929" y="3381264"/>
                  <a:ext cx="514350" cy="329184"/>
                </a:xfrm>
                <a:prstGeom prst="rect">
                  <a:avLst/>
                </a:prstGeom>
                <a:solidFill>
                  <a:srgbClr val="1C2331"/>
                </a:solidFill>
                <a:ln w="9525">
                  <a:solidFill>
                    <a:srgbClr val="33445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1050"/>
                </a:p>
              </p:txBody>
            </p:sp>
            <p:sp>
              <p:nvSpPr>
                <p:cNvPr id="107" name="TextBox 106"/>
                <p:cNvSpPr txBox="1"/>
                <p:nvPr/>
              </p:nvSpPr>
              <p:spPr>
                <a:xfrm>
                  <a:off x="7000929" y="3415554"/>
                  <a:ext cx="514350" cy="20774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defRPr sz="1000" b="0">
                      <a:solidFill>
                        <a:srgbClr val="94A3B8"/>
                      </a:solidFill>
                      <a:latin typeface="Consolas"/>
                    </a:defRPr>
                  </a:pPr>
                  <a:r>
                    <a:rPr sz="750"/>
                    <a:t>0.03</a:t>
                  </a:r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7515279" y="3381264"/>
                  <a:ext cx="514350" cy="329184"/>
                </a:xfrm>
                <a:prstGeom prst="rect">
                  <a:avLst/>
                </a:prstGeom>
                <a:solidFill>
                  <a:srgbClr val="D18911"/>
                </a:solidFill>
                <a:ln w="9525">
                  <a:solidFill>
                    <a:srgbClr val="33445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1050"/>
                </a:p>
              </p:txBody>
            </p:sp>
            <p:sp>
              <p:nvSpPr>
                <p:cNvPr id="109" name="TextBox 108"/>
                <p:cNvSpPr txBox="1"/>
                <p:nvPr/>
              </p:nvSpPr>
              <p:spPr>
                <a:xfrm>
                  <a:off x="7515279" y="3415554"/>
                  <a:ext cx="514350" cy="20774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defRPr sz="1000" b="1">
                      <a:solidFill>
                        <a:srgbClr val="0F172A"/>
                      </a:solidFill>
                      <a:latin typeface="Consolas"/>
                    </a:defRPr>
                  </a:pPr>
                  <a:r>
                    <a:rPr sz="750"/>
                    <a:t>0.84</a:t>
                  </a:r>
                </a:p>
              </p:txBody>
            </p:sp>
            <p:sp>
              <p:nvSpPr>
                <p:cNvPr id="110" name="Rectangle 109"/>
                <p:cNvSpPr/>
                <p:nvPr/>
              </p:nvSpPr>
              <p:spPr>
                <a:xfrm>
                  <a:off x="8029629" y="3381264"/>
                  <a:ext cx="514350" cy="329184"/>
                </a:xfrm>
                <a:prstGeom prst="rect">
                  <a:avLst/>
                </a:prstGeom>
                <a:solidFill>
                  <a:srgbClr val="1E2531"/>
                </a:solidFill>
                <a:ln w="9525">
                  <a:solidFill>
                    <a:srgbClr val="33445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1050"/>
                </a:p>
              </p:txBody>
            </p:sp>
            <p:sp>
              <p:nvSpPr>
                <p:cNvPr id="111" name="TextBox 110"/>
                <p:cNvSpPr txBox="1"/>
                <p:nvPr/>
              </p:nvSpPr>
              <p:spPr>
                <a:xfrm>
                  <a:off x="8029629" y="3415554"/>
                  <a:ext cx="514350" cy="20774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defRPr sz="1000" b="0">
                      <a:solidFill>
                        <a:srgbClr val="94A3B8"/>
                      </a:solidFill>
                      <a:latin typeface="Consolas"/>
                    </a:defRPr>
                  </a:pPr>
                  <a:r>
                    <a:rPr sz="750"/>
                    <a:t>0.04</a:t>
                  </a:r>
                </a:p>
              </p:txBody>
            </p:sp>
            <p:sp>
              <p:nvSpPr>
                <p:cNvPr id="112" name="TextBox 111"/>
                <p:cNvSpPr txBox="1"/>
                <p:nvPr/>
              </p:nvSpPr>
              <p:spPr>
                <a:xfrm>
                  <a:off x="4463469" y="3710449"/>
                  <a:ext cx="960120" cy="21929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>
                    <a:defRPr sz="1100" b="1">
                      <a:solidFill>
                        <a:srgbClr val="14B8A6"/>
                      </a:solidFill>
                      <a:latin typeface="Consolas"/>
                    </a:defRPr>
                  </a:pPr>
                  <a:r>
                    <a:rPr sz="825"/>
                    <a:t>tapis</a:t>
                  </a:r>
                </a:p>
              </p:txBody>
            </p:sp>
            <p:sp>
              <p:nvSpPr>
                <p:cNvPr id="113" name="Rectangle 112"/>
                <p:cNvSpPr/>
                <p:nvPr/>
              </p:nvSpPr>
              <p:spPr>
                <a:xfrm>
                  <a:off x="5457879" y="3710448"/>
                  <a:ext cx="514350" cy="329184"/>
                </a:xfrm>
                <a:prstGeom prst="rect">
                  <a:avLst/>
                </a:prstGeom>
                <a:solidFill>
                  <a:srgbClr val="1A2232"/>
                </a:solidFill>
                <a:ln w="9525">
                  <a:solidFill>
                    <a:srgbClr val="33445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1050"/>
                </a:p>
              </p:txBody>
            </p:sp>
            <p:sp>
              <p:nvSpPr>
                <p:cNvPr id="114" name="TextBox 113"/>
                <p:cNvSpPr txBox="1"/>
                <p:nvPr/>
              </p:nvSpPr>
              <p:spPr>
                <a:xfrm>
                  <a:off x="5457879" y="3744738"/>
                  <a:ext cx="514350" cy="20774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defRPr sz="1000" b="0">
                      <a:solidFill>
                        <a:srgbClr val="94A3B8"/>
                      </a:solidFill>
                      <a:latin typeface="Consolas"/>
                    </a:defRPr>
                  </a:pPr>
                  <a:r>
                    <a:rPr sz="750"/>
                    <a:t>0.02</a:t>
                  </a:r>
                </a:p>
              </p:txBody>
            </p:sp>
            <p:sp>
              <p:nvSpPr>
                <p:cNvPr id="115" name="Rectangle 114"/>
                <p:cNvSpPr/>
                <p:nvPr/>
              </p:nvSpPr>
              <p:spPr>
                <a:xfrm>
                  <a:off x="5972229" y="3710448"/>
                  <a:ext cx="514350" cy="329184"/>
                </a:xfrm>
                <a:prstGeom prst="rect">
                  <a:avLst/>
                </a:prstGeom>
                <a:solidFill>
                  <a:srgbClr val="1A2232"/>
                </a:solidFill>
                <a:ln w="9525">
                  <a:solidFill>
                    <a:srgbClr val="33445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1050"/>
                </a:p>
              </p:txBody>
            </p:sp>
            <p:sp>
              <p:nvSpPr>
                <p:cNvPr id="116" name="TextBox 115"/>
                <p:cNvSpPr txBox="1"/>
                <p:nvPr/>
              </p:nvSpPr>
              <p:spPr>
                <a:xfrm>
                  <a:off x="5972229" y="3744738"/>
                  <a:ext cx="514350" cy="20774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defRPr sz="1000" b="0">
                      <a:solidFill>
                        <a:srgbClr val="94A3B8"/>
                      </a:solidFill>
                      <a:latin typeface="Consolas"/>
                    </a:defRPr>
                  </a:pPr>
                  <a:r>
                    <a:rPr sz="750"/>
                    <a:t>0.02</a:t>
                  </a:r>
                </a:p>
              </p:txBody>
            </p:sp>
            <p:sp>
              <p:nvSpPr>
                <p:cNvPr id="117" name="Rectangle 116"/>
                <p:cNvSpPr/>
                <p:nvPr/>
              </p:nvSpPr>
              <p:spPr>
                <a:xfrm>
                  <a:off x="6486579" y="3710448"/>
                  <a:ext cx="514350" cy="329184"/>
                </a:xfrm>
                <a:prstGeom prst="rect">
                  <a:avLst/>
                </a:prstGeom>
                <a:solidFill>
                  <a:srgbClr val="1C2331"/>
                </a:solidFill>
                <a:ln w="9525">
                  <a:solidFill>
                    <a:srgbClr val="33445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1050"/>
                </a:p>
              </p:txBody>
            </p:sp>
            <p:sp>
              <p:nvSpPr>
                <p:cNvPr id="118" name="TextBox 117"/>
                <p:cNvSpPr txBox="1"/>
                <p:nvPr/>
              </p:nvSpPr>
              <p:spPr>
                <a:xfrm>
                  <a:off x="6486579" y="3744738"/>
                  <a:ext cx="514350" cy="20774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defRPr sz="1000" b="0">
                      <a:solidFill>
                        <a:srgbClr val="94A3B8"/>
                      </a:solidFill>
                      <a:latin typeface="Consolas"/>
                    </a:defRPr>
                  </a:pPr>
                  <a:r>
                    <a:rPr sz="750"/>
                    <a:t>0.03</a:t>
                  </a:r>
                </a:p>
              </p:txBody>
            </p:sp>
            <p:sp>
              <p:nvSpPr>
                <p:cNvPr id="119" name="Rectangle 118"/>
                <p:cNvSpPr/>
                <p:nvPr/>
              </p:nvSpPr>
              <p:spPr>
                <a:xfrm>
                  <a:off x="7000929" y="3710448"/>
                  <a:ext cx="514350" cy="329184"/>
                </a:xfrm>
                <a:prstGeom prst="rect">
                  <a:avLst/>
                </a:prstGeom>
                <a:solidFill>
                  <a:srgbClr val="1A2232"/>
                </a:solidFill>
                <a:ln w="9525">
                  <a:solidFill>
                    <a:srgbClr val="33445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1050"/>
                </a:p>
              </p:txBody>
            </p:sp>
            <p:sp>
              <p:nvSpPr>
                <p:cNvPr id="120" name="TextBox 119"/>
                <p:cNvSpPr txBox="1"/>
                <p:nvPr/>
              </p:nvSpPr>
              <p:spPr>
                <a:xfrm>
                  <a:off x="7000929" y="3744738"/>
                  <a:ext cx="514350" cy="20774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defRPr sz="1000" b="0">
                      <a:solidFill>
                        <a:srgbClr val="94A3B8"/>
                      </a:solidFill>
                      <a:latin typeface="Consolas"/>
                    </a:defRPr>
                  </a:pPr>
                  <a:r>
                    <a:rPr sz="750"/>
                    <a:t>0.02</a:t>
                  </a:r>
                </a:p>
              </p:txBody>
            </p:sp>
            <p:sp>
              <p:nvSpPr>
                <p:cNvPr id="121" name="Rectangle 120"/>
                <p:cNvSpPr/>
                <p:nvPr/>
              </p:nvSpPr>
              <p:spPr>
                <a:xfrm>
                  <a:off x="7515279" y="3710448"/>
                  <a:ext cx="514350" cy="329184"/>
                </a:xfrm>
                <a:prstGeom prst="rect">
                  <a:avLst/>
                </a:prstGeom>
                <a:solidFill>
                  <a:srgbClr val="1C2331"/>
                </a:solidFill>
                <a:ln w="9525">
                  <a:solidFill>
                    <a:srgbClr val="33445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1050"/>
                </a:p>
              </p:txBody>
            </p:sp>
            <p:sp>
              <p:nvSpPr>
                <p:cNvPr id="122" name="TextBox 121"/>
                <p:cNvSpPr txBox="1"/>
                <p:nvPr/>
              </p:nvSpPr>
              <p:spPr>
                <a:xfrm>
                  <a:off x="7515279" y="3744738"/>
                  <a:ext cx="514350" cy="20774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defRPr sz="1000" b="0">
                      <a:solidFill>
                        <a:srgbClr val="94A3B8"/>
                      </a:solidFill>
                      <a:latin typeface="Consolas"/>
                    </a:defRPr>
                  </a:pPr>
                  <a:r>
                    <a:rPr sz="750"/>
                    <a:t>0.03</a:t>
                  </a:r>
                </a:p>
              </p:txBody>
            </p:sp>
            <p:sp>
              <p:nvSpPr>
                <p:cNvPr id="123" name="Rectangle 122"/>
                <p:cNvSpPr/>
                <p:nvPr/>
              </p:nvSpPr>
              <p:spPr>
                <a:xfrm>
                  <a:off x="8029629" y="3710448"/>
                  <a:ext cx="514350" cy="329184"/>
                </a:xfrm>
                <a:prstGeom prst="rect">
                  <a:avLst/>
                </a:prstGeom>
                <a:solidFill>
                  <a:srgbClr val="DA8E0F"/>
                </a:solidFill>
                <a:ln w="9525">
                  <a:solidFill>
                    <a:srgbClr val="33445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1050"/>
                </a:p>
              </p:txBody>
            </p:sp>
            <p:sp>
              <p:nvSpPr>
                <p:cNvPr id="124" name="TextBox 123"/>
                <p:cNvSpPr txBox="1"/>
                <p:nvPr/>
              </p:nvSpPr>
              <p:spPr>
                <a:xfrm>
                  <a:off x="8029629" y="3744738"/>
                  <a:ext cx="514350" cy="20774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defRPr sz="1000" b="1">
                      <a:solidFill>
                        <a:srgbClr val="0F172A"/>
                      </a:solidFill>
                      <a:latin typeface="Consolas"/>
                    </a:defRPr>
                  </a:pPr>
                  <a:r>
                    <a:rPr sz="750"/>
                    <a:t>0.88</a:t>
                  </a:r>
                </a:p>
              </p:txBody>
            </p:sp>
          </p:grpSp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746909E2-61FC-D24C-1388-7CFDEB984BF9}"/>
                  </a:ext>
                </a:extLst>
              </p:cNvPr>
              <p:cNvGrpSpPr/>
              <p:nvPr/>
            </p:nvGrpSpPr>
            <p:grpSpPr>
              <a:xfrm>
                <a:off x="5971564" y="3732645"/>
                <a:ext cx="2331720" cy="196208"/>
                <a:chOff x="6103620" y="4378338"/>
                <a:chExt cx="2331720" cy="196208"/>
              </a:xfrm>
            </p:grpSpPr>
            <p:sp>
              <p:nvSpPr>
                <p:cNvPr id="126" name="Rectangle 125"/>
                <p:cNvSpPr/>
                <p:nvPr/>
              </p:nvSpPr>
              <p:spPr>
                <a:xfrm>
                  <a:off x="6103620" y="4378338"/>
                  <a:ext cx="192024" cy="137160"/>
                </a:xfrm>
                <a:prstGeom prst="rect">
                  <a:avLst/>
                </a:prstGeom>
                <a:solidFill>
                  <a:srgbClr val="162033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1050"/>
                </a:p>
              </p:txBody>
            </p:sp>
            <p:sp>
              <p:nvSpPr>
                <p:cNvPr id="127" name="Rectangle 126"/>
                <p:cNvSpPr/>
                <p:nvPr/>
              </p:nvSpPr>
              <p:spPr>
                <a:xfrm>
                  <a:off x="6295644" y="4378338"/>
                  <a:ext cx="192024" cy="137160"/>
                </a:xfrm>
                <a:prstGeom prst="rect">
                  <a:avLst/>
                </a:prstGeom>
                <a:solidFill>
                  <a:srgbClr val="35322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1050"/>
                </a:p>
              </p:txBody>
            </p:sp>
            <p:sp>
              <p:nvSpPr>
                <p:cNvPr id="128" name="Rectangle 127"/>
                <p:cNvSpPr/>
                <p:nvPr/>
              </p:nvSpPr>
              <p:spPr>
                <a:xfrm>
                  <a:off x="6487668" y="4378338"/>
                  <a:ext cx="192024" cy="137160"/>
                </a:xfrm>
                <a:prstGeom prst="rect">
                  <a:avLst/>
                </a:prstGeom>
                <a:solidFill>
                  <a:srgbClr val="554427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1050"/>
                </a:p>
              </p:txBody>
            </p:sp>
            <p:sp>
              <p:nvSpPr>
                <p:cNvPr id="129" name="Rectangle 128"/>
                <p:cNvSpPr/>
                <p:nvPr/>
              </p:nvSpPr>
              <p:spPr>
                <a:xfrm>
                  <a:off x="6679692" y="4378338"/>
                  <a:ext cx="192024" cy="137160"/>
                </a:xfrm>
                <a:prstGeom prst="rect">
                  <a:avLst/>
                </a:prstGeom>
                <a:solidFill>
                  <a:srgbClr val="755621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1050"/>
                </a:p>
              </p:txBody>
            </p:sp>
            <p:sp>
              <p:nvSpPr>
                <p:cNvPr id="130" name="Rectangle 129"/>
                <p:cNvSpPr/>
                <p:nvPr/>
              </p:nvSpPr>
              <p:spPr>
                <a:xfrm>
                  <a:off x="6871716" y="4378338"/>
                  <a:ext cx="192024" cy="137160"/>
                </a:xfrm>
                <a:prstGeom prst="rect">
                  <a:avLst/>
                </a:prstGeom>
                <a:solidFill>
                  <a:srgbClr val="95681C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1050"/>
                </a:p>
              </p:txBody>
            </p:sp>
            <p:sp>
              <p:nvSpPr>
                <p:cNvPr id="131" name="Rectangle 130"/>
                <p:cNvSpPr/>
                <p:nvPr/>
              </p:nvSpPr>
              <p:spPr>
                <a:xfrm>
                  <a:off x="7063740" y="4378338"/>
                  <a:ext cx="192024" cy="137160"/>
                </a:xfrm>
                <a:prstGeom prst="rect">
                  <a:avLst/>
                </a:prstGeom>
                <a:solidFill>
                  <a:srgbClr val="B57A16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1050"/>
                </a:p>
              </p:txBody>
            </p:sp>
            <p:sp>
              <p:nvSpPr>
                <p:cNvPr id="132" name="Rectangle 131"/>
                <p:cNvSpPr/>
                <p:nvPr/>
              </p:nvSpPr>
              <p:spPr>
                <a:xfrm>
                  <a:off x="7255764" y="4378338"/>
                  <a:ext cx="192024" cy="137160"/>
                </a:xfrm>
                <a:prstGeom prst="rect">
                  <a:avLst/>
                </a:prstGeom>
                <a:solidFill>
                  <a:srgbClr val="D58C1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1050"/>
                </a:p>
              </p:txBody>
            </p:sp>
            <p:sp>
              <p:nvSpPr>
                <p:cNvPr id="133" name="Rectangle 132"/>
                <p:cNvSpPr/>
                <p:nvPr/>
              </p:nvSpPr>
              <p:spPr>
                <a:xfrm>
                  <a:off x="7447788" y="4378338"/>
                  <a:ext cx="192024" cy="137160"/>
                </a:xfrm>
                <a:prstGeom prst="rect">
                  <a:avLst/>
                </a:prstGeom>
                <a:solidFill>
                  <a:srgbClr val="F59E0B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1050"/>
                </a:p>
              </p:txBody>
            </p:sp>
            <p:sp>
              <p:nvSpPr>
                <p:cNvPr id="134" name="TextBox 133"/>
                <p:cNvSpPr txBox="1"/>
                <p:nvPr/>
              </p:nvSpPr>
              <p:spPr>
                <a:xfrm>
                  <a:off x="7680960" y="4378338"/>
                  <a:ext cx="754380" cy="19620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>
                    <a:defRPr sz="900" b="0">
                      <a:solidFill>
                        <a:srgbClr val="F59E0B"/>
                      </a:solidFill>
                      <a:latin typeface="Segoe UI"/>
                    </a:defRPr>
                  </a:pPr>
                  <a:r>
                    <a:rPr sz="675"/>
                    <a:t>High attention</a:t>
                  </a:r>
                </a:p>
              </p:txBody>
            </p:sp>
          </p:grpSp>
        </p:grpSp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CDB7A5FF-D1AB-AE39-1F34-2B1D0237E64A}"/>
              </a:ext>
            </a:extLst>
          </p:cNvPr>
          <p:cNvGrpSpPr/>
          <p:nvPr/>
        </p:nvGrpSpPr>
        <p:grpSpPr>
          <a:xfrm>
            <a:off x="377190" y="4212163"/>
            <a:ext cx="1611630" cy="762821"/>
            <a:chOff x="377190" y="4212163"/>
            <a:chExt cx="1611630" cy="762821"/>
          </a:xfrm>
        </p:grpSpPr>
        <p:sp>
          <p:nvSpPr>
            <p:cNvPr id="24" name="TextBox 23"/>
            <p:cNvSpPr txBox="1"/>
            <p:nvPr/>
          </p:nvSpPr>
          <p:spPr>
            <a:xfrm>
              <a:off x="432582" y="4212163"/>
              <a:ext cx="685800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800" b="0">
                  <a:solidFill>
                    <a:srgbClr val="94A3B8"/>
                  </a:solidFill>
                  <a:latin typeface="Segoe UI"/>
                </a:defRPr>
              </a:pPr>
              <a:r>
                <a:rPr sz="600" dirty="0"/>
                <a:t>Encoder states</a:t>
              </a:r>
            </a:p>
          </p:txBody>
        </p:sp>
        <p:sp>
          <p:nvSpPr>
            <p:cNvPr id="135" name="Rounded Rectangle 134"/>
            <p:cNvSpPr/>
            <p:nvPr/>
          </p:nvSpPr>
          <p:spPr>
            <a:xfrm>
              <a:off x="377190" y="4392054"/>
              <a:ext cx="1611630" cy="582930"/>
            </a:xfrm>
            <a:prstGeom prst="roundRect">
              <a:avLst>
                <a:gd name="adj" fmla="val 6000"/>
              </a:avLst>
            </a:prstGeom>
            <a:solidFill>
              <a:srgbClr val="162033"/>
            </a:solidFill>
            <a:ln w="19050">
              <a:solidFill>
                <a:srgbClr val="A78BF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36" name="Rounded Rectangle 135"/>
            <p:cNvSpPr/>
            <p:nvPr/>
          </p:nvSpPr>
          <p:spPr>
            <a:xfrm>
              <a:off x="432054" y="4446918"/>
              <a:ext cx="219456" cy="219456"/>
            </a:xfrm>
            <a:prstGeom prst="roundRect">
              <a:avLst>
                <a:gd name="adj" fmla="val 50000"/>
              </a:avLst>
            </a:prstGeom>
            <a:solidFill>
              <a:srgbClr val="A78B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200" b="1">
                  <a:solidFill>
                    <a:srgbClr val="0F172A"/>
                  </a:solidFill>
                  <a:latin typeface="Segoe UI"/>
                </a:defRPr>
              </a:pPr>
              <a:r>
                <a:rPr sz="900"/>
                <a:t>1</a:t>
              </a:r>
            </a:p>
          </p:txBody>
        </p:sp>
        <p:sp>
          <p:nvSpPr>
            <p:cNvPr id="137" name="TextBox 136"/>
            <p:cNvSpPr txBox="1"/>
            <p:nvPr/>
          </p:nvSpPr>
          <p:spPr>
            <a:xfrm>
              <a:off x="706374" y="4433202"/>
              <a:ext cx="123444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FFFFFF"/>
                  </a:solidFill>
                  <a:latin typeface="Segoe UI"/>
                </a:defRPr>
              </a:pPr>
              <a:r>
                <a:rPr sz="900"/>
                <a:t>Compare</a:t>
              </a:r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706374" y="4611510"/>
              <a:ext cx="1234440" cy="3000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94A3B8"/>
                  </a:solidFill>
                  <a:latin typeface="Segoe UI"/>
                </a:defRPr>
              </a:pPr>
              <a:r>
                <a:rPr sz="675"/>
                <a:t>Decoder state vs.</a:t>
              </a:r>
              <a:br>
                <a:rPr sz="675"/>
              </a:br>
              <a:r>
                <a:rPr sz="675"/>
                <a:t>ALL encoder states</a:t>
              </a:r>
            </a:p>
          </p:txBody>
        </p:sp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609ECF56-E526-62AA-FBF2-2E2C4A971762}"/>
              </a:ext>
            </a:extLst>
          </p:cNvPr>
          <p:cNvGrpSpPr/>
          <p:nvPr/>
        </p:nvGrpSpPr>
        <p:grpSpPr>
          <a:xfrm>
            <a:off x="1988820" y="4392054"/>
            <a:ext cx="1831086" cy="582930"/>
            <a:chOff x="1988820" y="4392054"/>
            <a:chExt cx="1831086" cy="582930"/>
          </a:xfrm>
        </p:grpSpPr>
        <p:cxnSp>
          <p:nvCxnSpPr>
            <p:cNvPr id="139" name="Connector 138"/>
            <p:cNvCxnSpPr/>
            <p:nvPr/>
          </p:nvCxnSpPr>
          <p:spPr>
            <a:xfrm>
              <a:off x="1988820" y="4683519"/>
              <a:ext cx="102870" cy="0"/>
            </a:xfrm>
            <a:prstGeom prst="line">
              <a:avLst/>
            </a:prstGeom>
            <a:ln w="19050">
              <a:solidFill>
                <a:srgbClr val="33445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Isosceles Triangle 139"/>
            <p:cNvSpPr/>
            <p:nvPr/>
          </p:nvSpPr>
          <p:spPr>
            <a:xfrm rot="5400000">
              <a:off x="2023110" y="4642371"/>
              <a:ext cx="82296" cy="82296"/>
            </a:xfrm>
            <a:prstGeom prst="triangle">
              <a:avLst/>
            </a:prstGeom>
            <a:solidFill>
              <a:srgbClr val="33445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41" name="Rounded Rectangle 140"/>
            <p:cNvSpPr/>
            <p:nvPr/>
          </p:nvSpPr>
          <p:spPr>
            <a:xfrm>
              <a:off x="2091690" y="4392054"/>
              <a:ext cx="1611630" cy="582930"/>
            </a:xfrm>
            <a:prstGeom prst="roundRect">
              <a:avLst>
                <a:gd name="adj" fmla="val 6000"/>
              </a:avLst>
            </a:prstGeom>
            <a:solidFill>
              <a:srgbClr val="162033"/>
            </a:solidFill>
            <a:ln w="19050">
              <a:solidFill>
                <a:srgbClr val="F59E0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42" name="Rounded Rectangle 141"/>
            <p:cNvSpPr/>
            <p:nvPr/>
          </p:nvSpPr>
          <p:spPr>
            <a:xfrm>
              <a:off x="2146554" y="4446918"/>
              <a:ext cx="219456" cy="219456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200" b="1">
                  <a:solidFill>
                    <a:srgbClr val="0F172A"/>
                  </a:solidFill>
                  <a:latin typeface="Segoe UI"/>
                </a:defRPr>
              </a:pPr>
              <a:r>
                <a:rPr sz="900"/>
                <a:t>2</a:t>
              </a:r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2420874" y="4433202"/>
              <a:ext cx="123444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FFFFFF"/>
                  </a:solidFill>
                  <a:latin typeface="Segoe UI"/>
                </a:defRPr>
              </a:pPr>
              <a:r>
                <a:rPr sz="900"/>
                <a:t>Score</a:t>
              </a: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2420874" y="4611510"/>
              <a:ext cx="1234440" cy="3000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94A3B8"/>
                  </a:solidFill>
                  <a:latin typeface="Segoe UI"/>
                </a:defRPr>
              </a:pPr>
              <a:r>
                <a:rPr sz="675"/>
                <a:t>Calculate relevance</a:t>
              </a:r>
              <a:br>
                <a:rPr sz="675"/>
              </a:br>
              <a:r>
                <a:rPr sz="675"/>
                <a:t>(attention scores)</a:t>
              </a:r>
            </a:p>
          </p:txBody>
        </p:sp>
        <p:cxnSp>
          <p:nvCxnSpPr>
            <p:cNvPr id="145" name="Connector 144"/>
            <p:cNvCxnSpPr/>
            <p:nvPr/>
          </p:nvCxnSpPr>
          <p:spPr>
            <a:xfrm>
              <a:off x="3703320" y="4683519"/>
              <a:ext cx="102870" cy="0"/>
            </a:xfrm>
            <a:prstGeom prst="line">
              <a:avLst/>
            </a:prstGeom>
            <a:ln w="19050">
              <a:solidFill>
                <a:srgbClr val="33445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Isosceles Triangle 145"/>
            <p:cNvSpPr/>
            <p:nvPr/>
          </p:nvSpPr>
          <p:spPr>
            <a:xfrm rot="5400000">
              <a:off x="3737610" y="4642371"/>
              <a:ext cx="82296" cy="82296"/>
            </a:xfrm>
            <a:prstGeom prst="triangle">
              <a:avLst/>
            </a:prstGeom>
            <a:solidFill>
              <a:srgbClr val="33445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5F9159C0-70A9-DA93-CC81-5A5BC7E0AAB9}"/>
              </a:ext>
            </a:extLst>
          </p:cNvPr>
          <p:cNvGrpSpPr/>
          <p:nvPr/>
        </p:nvGrpSpPr>
        <p:grpSpPr>
          <a:xfrm>
            <a:off x="3806190" y="4392054"/>
            <a:ext cx="1728216" cy="582930"/>
            <a:chOff x="3806190" y="4392054"/>
            <a:chExt cx="1728216" cy="582930"/>
          </a:xfrm>
        </p:grpSpPr>
        <p:sp>
          <p:nvSpPr>
            <p:cNvPr id="147" name="Rounded Rectangle 146"/>
            <p:cNvSpPr/>
            <p:nvPr/>
          </p:nvSpPr>
          <p:spPr>
            <a:xfrm>
              <a:off x="3806190" y="4392054"/>
              <a:ext cx="1611630" cy="582930"/>
            </a:xfrm>
            <a:prstGeom prst="roundRect">
              <a:avLst>
                <a:gd name="adj" fmla="val 6000"/>
              </a:avLst>
            </a:prstGeom>
            <a:solidFill>
              <a:srgbClr val="162033"/>
            </a:solidFill>
            <a:ln w="19050">
              <a:solidFill>
                <a:srgbClr val="3B82F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48" name="Rounded Rectangle 147"/>
            <p:cNvSpPr/>
            <p:nvPr/>
          </p:nvSpPr>
          <p:spPr>
            <a:xfrm>
              <a:off x="3861054" y="4446918"/>
              <a:ext cx="219456" cy="219456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200" b="1">
                  <a:solidFill>
                    <a:srgbClr val="0F172A"/>
                  </a:solidFill>
                  <a:latin typeface="Segoe UI"/>
                </a:defRPr>
              </a:pPr>
              <a:r>
                <a:rPr sz="900"/>
                <a:t>3</a:t>
              </a: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4135374" y="4433202"/>
              <a:ext cx="123444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FFFFFF"/>
                  </a:solidFill>
                  <a:latin typeface="Segoe UI"/>
                </a:defRPr>
              </a:pPr>
              <a:r>
                <a:rPr sz="900"/>
                <a:t>Softmax</a:t>
              </a: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4135374" y="4611510"/>
              <a:ext cx="1234440" cy="3000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94A3B8"/>
                  </a:solidFill>
                  <a:latin typeface="Segoe UI"/>
                </a:defRPr>
              </a:pPr>
              <a:r>
                <a:rPr sz="675"/>
                <a:t>Convert scores to</a:t>
              </a:r>
              <a:br>
                <a:rPr sz="675"/>
              </a:br>
              <a:r>
                <a:rPr sz="675"/>
                <a:t>probabilities (0–1)</a:t>
              </a:r>
            </a:p>
          </p:txBody>
        </p:sp>
        <p:cxnSp>
          <p:nvCxnSpPr>
            <p:cNvPr id="151" name="Connector 150"/>
            <p:cNvCxnSpPr/>
            <p:nvPr/>
          </p:nvCxnSpPr>
          <p:spPr>
            <a:xfrm>
              <a:off x="5417820" y="4683519"/>
              <a:ext cx="102870" cy="0"/>
            </a:xfrm>
            <a:prstGeom prst="line">
              <a:avLst/>
            </a:prstGeom>
            <a:ln w="19050">
              <a:solidFill>
                <a:srgbClr val="33445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Isosceles Triangle 151"/>
            <p:cNvSpPr/>
            <p:nvPr/>
          </p:nvSpPr>
          <p:spPr>
            <a:xfrm rot="5400000">
              <a:off x="5452110" y="4642371"/>
              <a:ext cx="82296" cy="82296"/>
            </a:xfrm>
            <a:prstGeom prst="triangle">
              <a:avLst/>
            </a:prstGeom>
            <a:solidFill>
              <a:srgbClr val="33445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6DCD8577-5F27-C018-2D5E-76C04732BF34}"/>
              </a:ext>
            </a:extLst>
          </p:cNvPr>
          <p:cNvGrpSpPr/>
          <p:nvPr/>
        </p:nvGrpSpPr>
        <p:grpSpPr>
          <a:xfrm>
            <a:off x="5533966" y="4392054"/>
            <a:ext cx="1611630" cy="582930"/>
            <a:chOff x="2468880" y="3748666"/>
            <a:chExt cx="1611630" cy="582930"/>
          </a:xfrm>
        </p:grpSpPr>
        <p:sp>
          <p:nvSpPr>
            <p:cNvPr id="153" name="Rounded Rectangle 152"/>
            <p:cNvSpPr/>
            <p:nvPr/>
          </p:nvSpPr>
          <p:spPr>
            <a:xfrm>
              <a:off x="2468880" y="3748666"/>
              <a:ext cx="1611630" cy="582930"/>
            </a:xfrm>
            <a:prstGeom prst="roundRect">
              <a:avLst>
                <a:gd name="adj" fmla="val 6000"/>
              </a:avLst>
            </a:prstGeom>
            <a:solidFill>
              <a:srgbClr val="162033"/>
            </a:solidFill>
            <a:ln w="19050">
              <a:solidFill>
                <a:srgbClr val="22C55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54" name="Rounded Rectangle 153"/>
            <p:cNvSpPr/>
            <p:nvPr/>
          </p:nvSpPr>
          <p:spPr>
            <a:xfrm>
              <a:off x="2571750" y="3813344"/>
              <a:ext cx="219456" cy="219456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200" b="1">
                  <a:solidFill>
                    <a:srgbClr val="0F172A"/>
                  </a:solidFill>
                  <a:latin typeface="Segoe UI"/>
                </a:defRPr>
              </a:pPr>
              <a:r>
                <a:rPr sz="900"/>
                <a:t>4</a:t>
              </a: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2846070" y="3799628"/>
              <a:ext cx="123444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FFFFFF"/>
                  </a:solidFill>
                  <a:latin typeface="Segoe UI"/>
                </a:defRPr>
              </a:pPr>
              <a:r>
                <a:rPr sz="900" dirty="0"/>
                <a:t>Weighted Sum</a:t>
              </a:r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2846070" y="3977936"/>
              <a:ext cx="1234440" cy="3000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94A3B8"/>
                  </a:solidFill>
                  <a:latin typeface="Segoe UI"/>
                </a:defRPr>
              </a:pPr>
              <a:r>
                <a:rPr sz="675" dirty="0"/>
                <a:t>Build dynamic context</a:t>
              </a:r>
              <a:br>
                <a:rPr sz="675" dirty="0"/>
              </a:br>
              <a:r>
                <a:rPr sz="675" dirty="0"/>
                <a:t>vector for THIS step</a:t>
              </a:r>
            </a:p>
          </p:txBody>
        </p:sp>
      </p:grpSp>
      <p:sp>
        <p:nvSpPr>
          <p:cNvPr id="157" name="Rounded Rectangle 156"/>
          <p:cNvSpPr/>
          <p:nvPr/>
        </p:nvSpPr>
        <p:spPr>
          <a:xfrm>
            <a:off x="7423785" y="4364149"/>
            <a:ext cx="1560195" cy="514350"/>
          </a:xfrm>
          <a:prstGeom prst="roundRect">
            <a:avLst>
              <a:gd name="adj" fmla="val 6000"/>
            </a:avLst>
          </a:prstGeom>
          <a:solidFill>
            <a:srgbClr val="2A1A0A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59E0B"/>
                </a:solidFill>
                <a:latin typeface="Segoe UI"/>
              </a:defRPr>
            </a:pPr>
            <a:r>
              <a:rPr sz="900" dirty="0"/>
              <a:t>⚠️  Still Sequential!</a:t>
            </a:r>
          </a:p>
          <a:p>
            <a:pPr>
              <a:spcBef>
                <a:spcPts val="15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rPr sz="675" dirty="0"/>
              <a:t>Encoder &amp; Decoder are still RNNs.</a:t>
            </a:r>
            <a:br>
              <a:rPr sz="675" dirty="0"/>
            </a:br>
            <a:r>
              <a:rPr sz="675" dirty="0"/>
              <a:t>This led to the next question...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121"/>
            <a:ext cx="9143771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4" name="TextBox 3"/>
          <p:cNvSpPr txBox="1"/>
          <p:nvPr/>
        </p:nvSpPr>
        <p:spPr>
          <a:xfrm>
            <a:off x="342900" y="5270"/>
            <a:ext cx="6858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sz="2400"/>
              <a:t>The Transformer – Removing the RNN Entirely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" y="451040"/>
            <a:ext cx="75438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rPr sz="1050"/>
              <a:t>"If attention is doing the heavy lifting… why do we even need the RNN?"  — Vaswani et al., Google Brain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" y="924942"/>
            <a:ext cx="3977640" cy="2905118"/>
          </a:xfrm>
          <a:prstGeom prst="roundRect">
            <a:avLst>
              <a:gd name="adj" fmla="val 3000"/>
            </a:avLst>
          </a:prstGeom>
          <a:solidFill>
            <a:srgbClr val="162033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C014B407-A63F-6639-B833-5B93272598EE}"/>
              </a:ext>
            </a:extLst>
          </p:cNvPr>
          <p:cNvGrpSpPr/>
          <p:nvPr/>
        </p:nvGrpSpPr>
        <p:grpSpPr>
          <a:xfrm>
            <a:off x="445770" y="993522"/>
            <a:ext cx="3703320" cy="413489"/>
            <a:chOff x="445770" y="993522"/>
            <a:chExt cx="3703320" cy="413489"/>
          </a:xfrm>
        </p:grpSpPr>
        <p:sp>
          <p:nvSpPr>
            <p:cNvPr id="8" name="TextBox 7"/>
            <p:cNvSpPr txBox="1"/>
            <p:nvPr/>
          </p:nvSpPr>
          <p:spPr>
            <a:xfrm>
              <a:off x="445770" y="993522"/>
              <a:ext cx="274320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400" b="1">
                  <a:solidFill>
                    <a:srgbClr val="EF4444"/>
                  </a:solidFill>
                  <a:latin typeface="Segoe UI"/>
                </a:defRPr>
              </a:pPr>
              <a:r>
                <a:rPr sz="1050" dirty="0"/>
                <a:t>❌  RNN Seq2Seq + Attention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45770" y="1199262"/>
              <a:ext cx="370332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94A3B8"/>
                  </a:solidFill>
                  <a:latin typeface="Segoe UI"/>
                </a:defRPr>
              </a:pPr>
              <a:r>
                <a:rPr sz="750" dirty="0"/>
                <a:t>Sequential  •  Slow  •  Still has vanishing gradients</a:t>
              </a: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CC987827-9D9F-2986-9220-16E23B79ADCF}"/>
              </a:ext>
            </a:extLst>
          </p:cNvPr>
          <p:cNvGrpSpPr/>
          <p:nvPr/>
        </p:nvGrpSpPr>
        <p:grpSpPr>
          <a:xfrm>
            <a:off x="651510" y="1465836"/>
            <a:ext cx="1200150" cy="1351026"/>
            <a:chOff x="582930" y="1439292"/>
            <a:chExt cx="1200150" cy="1351026"/>
          </a:xfrm>
        </p:grpSpPr>
        <p:sp>
          <p:nvSpPr>
            <p:cNvPr id="10" name="TextBox 9"/>
            <p:cNvSpPr txBox="1"/>
            <p:nvPr/>
          </p:nvSpPr>
          <p:spPr>
            <a:xfrm>
              <a:off x="582930" y="1439292"/>
              <a:ext cx="120015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1">
                  <a:solidFill>
                    <a:srgbClr val="A78BFA"/>
                  </a:solidFill>
                  <a:latin typeface="Segoe UI"/>
                </a:defRPr>
              </a:pPr>
              <a:r>
                <a:rPr sz="750"/>
                <a:t>ENCODER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582930" y="1679322"/>
              <a:ext cx="1200150" cy="288036"/>
            </a:xfrm>
            <a:prstGeom prst="roundRect">
              <a:avLst>
                <a:gd name="adj" fmla="val 10000"/>
              </a:avLst>
            </a:prstGeom>
            <a:solidFill>
              <a:srgbClr val="1A2540"/>
            </a:solidFill>
            <a:ln w="19050">
              <a:solidFill>
                <a:srgbClr val="3B82F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000" b="1">
                  <a:solidFill>
                    <a:srgbClr val="3B82F6"/>
                  </a:solidFill>
                  <a:latin typeface="Segoe UI"/>
                </a:defRPr>
              </a:pPr>
              <a:r>
                <a:rPr sz="750" dirty="0"/>
                <a:t>Word Embeddings</a:t>
              </a:r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1183005" y="1967358"/>
              <a:ext cx="0" cy="27432"/>
            </a:xfrm>
            <a:prstGeom prst="line">
              <a:avLst/>
            </a:prstGeom>
            <a:ln w="19050">
              <a:solidFill>
                <a:srgbClr val="94A3B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1183005" y="1967358"/>
              <a:ext cx="0" cy="123444"/>
            </a:xfrm>
            <a:prstGeom prst="line">
              <a:avLst/>
            </a:prstGeom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5" name="Rounded Rectangle 14"/>
            <p:cNvSpPr/>
            <p:nvPr/>
          </p:nvSpPr>
          <p:spPr>
            <a:xfrm>
              <a:off x="582930" y="2090802"/>
              <a:ext cx="1200150" cy="288036"/>
            </a:xfrm>
            <a:prstGeom prst="roundRect">
              <a:avLst>
                <a:gd name="adj" fmla="val 10000"/>
              </a:avLst>
            </a:prstGeom>
            <a:solidFill>
              <a:srgbClr val="1A2540"/>
            </a:solidFill>
            <a:ln w="19050">
              <a:solidFill>
                <a:srgbClr val="A78BF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000" b="1">
                  <a:solidFill>
                    <a:srgbClr val="A78BFA"/>
                  </a:solidFill>
                  <a:latin typeface="Segoe UI"/>
                </a:defRPr>
              </a:pPr>
              <a:r>
                <a:rPr sz="750" dirty="0"/>
                <a:t>RNN / LSTM ×N</a:t>
              </a:r>
            </a:p>
          </p:txBody>
        </p:sp>
        <p:cxnSp>
          <p:nvCxnSpPr>
            <p:cNvPr id="16" name="Connector 15"/>
            <p:cNvCxnSpPr/>
            <p:nvPr/>
          </p:nvCxnSpPr>
          <p:spPr>
            <a:xfrm>
              <a:off x="1183005" y="2378838"/>
              <a:ext cx="0" cy="27432"/>
            </a:xfrm>
            <a:prstGeom prst="line">
              <a:avLst/>
            </a:prstGeom>
            <a:ln w="19050">
              <a:solidFill>
                <a:srgbClr val="94A3B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1183005" y="2378838"/>
              <a:ext cx="0" cy="123444"/>
            </a:xfrm>
            <a:prstGeom prst="line">
              <a:avLst/>
            </a:prstGeom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9" name="Rounded Rectangle 18"/>
            <p:cNvSpPr/>
            <p:nvPr/>
          </p:nvSpPr>
          <p:spPr>
            <a:xfrm>
              <a:off x="582930" y="2502282"/>
              <a:ext cx="1200150" cy="288036"/>
            </a:xfrm>
            <a:prstGeom prst="roundRect">
              <a:avLst>
                <a:gd name="adj" fmla="val 10000"/>
              </a:avLst>
            </a:prstGeom>
            <a:solidFill>
              <a:srgbClr val="1A2540"/>
            </a:solidFill>
            <a:ln w="19050">
              <a:solidFill>
                <a:srgbClr val="A78BF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000" b="1">
                  <a:solidFill>
                    <a:srgbClr val="A78BFA"/>
                  </a:solidFill>
                  <a:latin typeface="Segoe UI"/>
                </a:defRPr>
              </a:pPr>
              <a:r>
                <a:rPr sz="750"/>
                <a:t>Hidden States</a:t>
              </a:r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F55ADB11-68E4-D3D1-6A91-480FF8436F88}"/>
              </a:ext>
            </a:extLst>
          </p:cNvPr>
          <p:cNvGrpSpPr/>
          <p:nvPr/>
        </p:nvGrpSpPr>
        <p:grpSpPr>
          <a:xfrm>
            <a:off x="1844802" y="1454091"/>
            <a:ext cx="2091690" cy="1762506"/>
            <a:chOff x="1783080" y="1439292"/>
            <a:chExt cx="2091690" cy="1762506"/>
          </a:xfrm>
        </p:grpSpPr>
        <p:sp>
          <p:nvSpPr>
            <p:cNvPr id="20" name="TextBox 19"/>
            <p:cNvSpPr txBox="1"/>
            <p:nvPr/>
          </p:nvSpPr>
          <p:spPr>
            <a:xfrm>
              <a:off x="2674620" y="1439292"/>
              <a:ext cx="120015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1">
                  <a:solidFill>
                    <a:srgbClr val="14B8A6"/>
                  </a:solidFill>
                  <a:latin typeface="Segoe UI"/>
                </a:defRPr>
              </a:pPr>
              <a:r>
                <a:rPr sz="750"/>
                <a:t>DECODER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2674620" y="1679322"/>
              <a:ext cx="1200150" cy="288036"/>
            </a:xfrm>
            <a:prstGeom prst="roundRect">
              <a:avLst>
                <a:gd name="adj" fmla="val 10000"/>
              </a:avLst>
            </a:prstGeom>
            <a:solidFill>
              <a:srgbClr val="1A2540"/>
            </a:solidFill>
            <a:ln w="19050">
              <a:solidFill>
                <a:srgbClr val="3B82F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000" b="1">
                  <a:solidFill>
                    <a:srgbClr val="3B82F6"/>
                  </a:solidFill>
                  <a:latin typeface="Segoe UI"/>
                </a:defRPr>
              </a:pPr>
              <a:r>
                <a:rPr sz="750" dirty="0"/>
                <a:t>Word Embeddings</a:t>
              </a:r>
            </a:p>
          </p:txBody>
        </p:sp>
        <p:cxnSp>
          <p:nvCxnSpPr>
            <p:cNvPr id="22" name="Connector 21"/>
            <p:cNvCxnSpPr/>
            <p:nvPr/>
          </p:nvCxnSpPr>
          <p:spPr>
            <a:xfrm>
              <a:off x="3274695" y="1967358"/>
              <a:ext cx="0" cy="123444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3" name="Rounded Rectangle 22"/>
            <p:cNvSpPr/>
            <p:nvPr/>
          </p:nvSpPr>
          <p:spPr>
            <a:xfrm>
              <a:off x="2674620" y="2090802"/>
              <a:ext cx="1200150" cy="288036"/>
            </a:xfrm>
            <a:prstGeom prst="roundRect">
              <a:avLst>
                <a:gd name="adj" fmla="val 10000"/>
              </a:avLst>
            </a:prstGeom>
            <a:solidFill>
              <a:srgbClr val="1A2540"/>
            </a:solidFill>
            <a:ln w="19050">
              <a:solidFill>
                <a:srgbClr val="14B8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000" b="1">
                  <a:solidFill>
                    <a:srgbClr val="14B8A6"/>
                  </a:solidFill>
                  <a:latin typeface="Segoe UI"/>
                </a:defRPr>
              </a:pPr>
              <a:r>
                <a:rPr sz="750"/>
                <a:t>RNN / LSTM ×N</a:t>
              </a:r>
            </a:p>
          </p:txBody>
        </p:sp>
        <p:cxnSp>
          <p:nvCxnSpPr>
            <p:cNvPr id="24" name="Connector 23"/>
            <p:cNvCxnSpPr/>
            <p:nvPr/>
          </p:nvCxnSpPr>
          <p:spPr>
            <a:xfrm>
              <a:off x="3274695" y="2378838"/>
              <a:ext cx="0" cy="123444"/>
            </a:xfrm>
            <a:prstGeom prst="line">
              <a:avLst/>
            </a:prstGeom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5" name="Rounded Rectangle 24"/>
            <p:cNvSpPr/>
            <p:nvPr/>
          </p:nvSpPr>
          <p:spPr>
            <a:xfrm>
              <a:off x="2674620" y="2502282"/>
              <a:ext cx="1200150" cy="288036"/>
            </a:xfrm>
            <a:prstGeom prst="roundRect">
              <a:avLst>
                <a:gd name="adj" fmla="val 10000"/>
              </a:avLst>
            </a:prstGeom>
            <a:solidFill>
              <a:srgbClr val="2A1F0F"/>
            </a:solidFill>
            <a:ln w="19050">
              <a:solidFill>
                <a:srgbClr val="F59E0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000" b="1">
                  <a:solidFill>
                    <a:srgbClr val="F59E0B"/>
                  </a:solidFill>
                  <a:latin typeface="Segoe UI"/>
                </a:defRPr>
              </a:pPr>
              <a:r>
                <a:rPr sz="750" dirty="0"/>
                <a:t>Attention Layer</a:t>
              </a:r>
            </a:p>
          </p:txBody>
        </p:sp>
        <p:cxnSp>
          <p:nvCxnSpPr>
            <p:cNvPr id="26" name="Connector 25"/>
            <p:cNvCxnSpPr/>
            <p:nvPr/>
          </p:nvCxnSpPr>
          <p:spPr>
            <a:xfrm>
              <a:off x="3274695" y="2790318"/>
              <a:ext cx="0" cy="123444"/>
            </a:xfrm>
            <a:prstGeom prst="line">
              <a:avLst/>
            </a:prstGeom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7" name="Rounded Rectangle 26"/>
            <p:cNvSpPr/>
            <p:nvPr/>
          </p:nvSpPr>
          <p:spPr>
            <a:xfrm>
              <a:off x="2674620" y="2913762"/>
              <a:ext cx="1200150" cy="288036"/>
            </a:xfrm>
            <a:prstGeom prst="roundRect">
              <a:avLst>
                <a:gd name="adj" fmla="val 10000"/>
              </a:avLst>
            </a:prstGeom>
            <a:solidFill>
              <a:srgbClr val="142E20"/>
            </a:solidFill>
            <a:ln w="19050">
              <a:solidFill>
                <a:srgbClr val="22C55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000" b="1">
                  <a:solidFill>
                    <a:srgbClr val="22C55E"/>
                  </a:solidFill>
                  <a:latin typeface="Segoe UI"/>
                </a:defRPr>
              </a:pPr>
              <a:r>
                <a:rPr sz="750"/>
                <a:t>Output (Softmax)</a:t>
              </a:r>
            </a:p>
          </p:txBody>
        </p:sp>
        <p:cxnSp>
          <p:nvCxnSpPr>
            <p:cNvPr id="28" name="Connector 27"/>
            <p:cNvCxnSpPr/>
            <p:nvPr/>
          </p:nvCxnSpPr>
          <p:spPr>
            <a:xfrm>
              <a:off x="1783080" y="2646300"/>
              <a:ext cx="891540" cy="0"/>
            </a:xfrm>
            <a:prstGeom prst="line">
              <a:avLst/>
            </a:prstGeom>
            <a:ln w="25400">
              <a:solidFill>
                <a:srgbClr val="F59E0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Isosceles Triangle 28"/>
            <p:cNvSpPr/>
            <p:nvPr/>
          </p:nvSpPr>
          <p:spPr>
            <a:xfrm rot="5400000">
              <a:off x="2592324" y="2598294"/>
              <a:ext cx="96012" cy="96012"/>
            </a:xfrm>
            <a:prstGeom prst="triangle">
              <a:avLst/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851660" y="2426844"/>
              <a:ext cx="96012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F59E0B"/>
                  </a:solidFill>
                  <a:latin typeface="Segoe UI"/>
                </a:defRPr>
              </a:pPr>
              <a:r>
                <a:rPr sz="675"/>
                <a:t>attention</a:t>
              </a: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33165408-B966-ECDB-E7CD-2BE4BC8DA4B4}"/>
              </a:ext>
            </a:extLst>
          </p:cNvPr>
          <p:cNvGrpSpPr/>
          <p:nvPr/>
        </p:nvGrpSpPr>
        <p:grpSpPr>
          <a:xfrm>
            <a:off x="548640" y="3325242"/>
            <a:ext cx="3566160" cy="470528"/>
            <a:chOff x="548640" y="3325242"/>
            <a:chExt cx="3566160" cy="470528"/>
          </a:xfrm>
        </p:grpSpPr>
        <p:sp>
          <p:nvSpPr>
            <p:cNvPr id="31" name="TextBox 30"/>
            <p:cNvSpPr txBox="1"/>
            <p:nvPr/>
          </p:nvSpPr>
          <p:spPr>
            <a:xfrm>
              <a:off x="548640" y="3325242"/>
              <a:ext cx="356616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94A3B8"/>
                  </a:solidFill>
                  <a:latin typeface="Segoe UI"/>
                </a:defRPr>
              </a:pPr>
              <a:r>
                <a:rPr sz="675" dirty="0"/>
                <a:t>⏱️ Sequential — can't </a:t>
              </a:r>
              <a:r>
                <a:rPr sz="675" dirty="0" err="1"/>
                <a:t>parallelise</a:t>
              </a:r>
              <a:endParaRPr sz="675" dirty="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48640" y="3462402"/>
              <a:ext cx="356616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94A3B8"/>
                  </a:solidFill>
                  <a:latin typeface="Segoe UI"/>
                </a:defRPr>
              </a:pPr>
              <a:r>
                <a:rPr sz="675" dirty="0"/>
                <a:t>📉 Vanishing gradients over long sequences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48640" y="3599562"/>
              <a:ext cx="356616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94A3B8"/>
                  </a:solidFill>
                  <a:latin typeface="Segoe UI"/>
                </a:defRPr>
              </a:pPr>
              <a:r>
                <a:rPr sz="675"/>
                <a:t>🐢 Slow training (days, not hours)</a:t>
              </a:r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5EFCBAD5-6C63-2E66-4B94-95785AACA7CA}"/>
              </a:ext>
            </a:extLst>
          </p:cNvPr>
          <p:cNvGrpSpPr/>
          <p:nvPr/>
        </p:nvGrpSpPr>
        <p:grpSpPr>
          <a:xfrm>
            <a:off x="4389120" y="993522"/>
            <a:ext cx="377190" cy="2763774"/>
            <a:chOff x="4389120" y="993522"/>
            <a:chExt cx="377190" cy="2763774"/>
          </a:xfrm>
        </p:grpSpPr>
        <p:sp>
          <p:nvSpPr>
            <p:cNvPr id="34" name="Rounded Rectangle 33"/>
            <p:cNvSpPr/>
            <p:nvPr/>
          </p:nvSpPr>
          <p:spPr>
            <a:xfrm>
              <a:off x="4389120" y="2022222"/>
              <a:ext cx="377190" cy="377190"/>
            </a:xfrm>
            <a:prstGeom prst="roundRect">
              <a:avLst>
                <a:gd name="adj" fmla="val 50000"/>
              </a:avLst>
            </a:prstGeom>
            <a:solidFill>
              <a:srgbClr val="1E293B"/>
            </a:solidFill>
            <a:ln w="19050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300" b="1">
                  <a:solidFill>
                    <a:srgbClr val="94A3B8"/>
                  </a:solidFill>
                  <a:latin typeface="Segoe UI"/>
                </a:defRPr>
              </a:pPr>
              <a:r>
                <a:rPr sz="975" dirty="0"/>
                <a:t>VS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4560570" y="993522"/>
              <a:ext cx="19050" cy="123444"/>
            </a:xfrm>
            <a:prstGeom prst="rect">
              <a:avLst/>
            </a:prstGeom>
            <a:solidFill>
              <a:srgbClr val="33445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4560570" y="1233552"/>
              <a:ext cx="19050" cy="123444"/>
            </a:xfrm>
            <a:prstGeom prst="rect">
              <a:avLst/>
            </a:prstGeom>
            <a:solidFill>
              <a:srgbClr val="33445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4560570" y="1473582"/>
              <a:ext cx="19050" cy="123444"/>
            </a:xfrm>
            <a:prstGeom prst="rect">
              <a:avLst/>
            </a:prstGeom>
            <a:solidFill>
              <a:srgbClr val="33445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560570" y="2433702"/>
              <a:ext cx="19050" cy="123444"/>
            </a:xfrm>
            <a:prstGeom prst="rect">
              <a:avLst/>
            </a:prstGeom>
            <a:solidFill>
              <a:srgbClr val="33445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4560570" y="2673732"/>
              <a:ext cx="19050" cy="123444"/>
            </a:xfrm>
            <a:prstGeom prst="rect">
              <a:avLst/>
            </a:prstGeom>
            <a:solidFill>
              <a:srgbClr val="33445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4560570" y="2913762"/>
              <a:ext cx="19050" cy="123444"/>
            </a:xfrm>
            <a:prstGeom prst="rect">
              <a:avLst/>
            </a:prstGeom>
            <a:solidFill>
              <a:srgbClr val="33445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4560570" y="3153792"/>
              <a:ext cx="19050" cy="123444"/>
            </a:xfrm>
            <a:prstGeom prst="rect">
              <a:avLst/>
            </a:prstGeom>
            <a:solidFill>
              <a:srgbClr val="33445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4560570" y="3393822"/>
              <a:ext cx="19050" cy="123444"/>
            </a:xfrm>
            <a:prstGeom prst="rect">
              <a:avLst/>
            </a:prstGeom>
            <a:solidFill>
              <a:srgbClr val="33445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4560570" y="3633852"/>
              <a:ext cx="19050" cy="123444"/>
            </a:xfrm>
            <a:prstGeom prst="rect">
              <a:avLst/>
            </a:prstGeom>
            <a:solidFill>
              <a:srgbClr val="33445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</p:grpSp>
      <p:sp>
        <p:nvSpPr>
          <p:cNvPr id="44" name="Rounded Rectangle 43"/>
          <p:cNvSpPr/>
          <p:nvPr/>
        </p:nvSpPr>
        <p:spPr>
          <a:xfrm>
            <a:off x="4834890" y="924942"/>
            <a:ext cx="4080510" cy="2905118"/>
          </a:xfrm>
          <a:prstGeom prst="roundRect">
            <a:avLst>
              <a:gd name="adj" fmla="val 3000"/>
            </a:avLst>
          </a:prstGeom>
          <a:solidFill>
            <a:srgbClr val="162033"/>
          </a:solidFill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3D75B1F8-68A1-4D24-EEED-14C4BAF44403}"/>
              </a:ext>
            </a:extLst>
          </p:cNvPr>
          <p:cNvGrpSpPr/>
          <p:nvPr/>
        </p:nvGrpSpPr>
        <p:grpSpPr>
          <a:xfrm>
            <a:off x="4937760" y="993522"/>
            <a:ext cx="3840480" cy="413489"/>
            <a:chOff x="4937760" y="993522"/>
            <a:chExt cx="3840480" cy="413489"/>
          </a:xfrm>
        </p:grpSpPr>
        <p:sp>
          <p:nvSpPr>
            <p:cNvPr id="45" name="TextBox 44"/>
            <p:cNvSpPr txBox="1"/>
            <p:nvPr/>
          </p:nvSpPr>
          <p:spPr>
            <a:xfrm>
              <a:off x="4937760" y="993522"/>
              <a:ext cx="342900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400" b="1">
                  <a:solidFill>
                    <a:srgbClr val="22C55E"/>
                  </a:solidFill>
                  <a:latin typeface="Segoe UI"/>
                </a:defRPr>
              </a:pPr>
              <a:r>
                <a:rPr sz="1050" dirty="0"/>
                <a:t>✅  Transformer (2017)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4937760" y="1199262"/>
              <a:ext cx="384048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94A3B8"/>
                  </a:solidFill>
                  <a:latin typeface="Segoe UI"/>
                </a:defRPr>
              </a:pPr>
              <a:r>
                <a:rPr sz="750"/>
                <a:t>Parallel  •  Fast  •  No recurrence  •  Scales to billions</a:t>
              </a:r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C49DD26F-3329-1AA6-287E-FD497462000C}"/>
              </a:ext>
            </a:extLst>
          </p:cNvPr>
          <p:cNvGrpSpPr/>
          <p:nvPr/>
        </p:nvGrpSpPr>
        <p:grpSpPr>
          <a:xfrm>
            <a:off x="5095494" y="1417098"/>
            <a:ext cx="1796796" cy="1879092"/>
            <a:chOff x="5074920" y="1439292"/>
            <a:chExt cx="1796796" cy="1879092"/>
          </a:xfrm>
        </p:grpSpPr>
        <p:sp>
          <p:nvSpPr>
            <p:cNvPr id="47" name="TextBox 46"/>
            <p:cNvSpPr txBox="1"/>
            <p:nvPr/>
          </p:nvSpPr>
          <p:spPr>
            <a:xfrm>
              <a:off x="5074920" y="1439292"/>
              <a:ext cx="147447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1">
                  <a:solidFill>
                    <a:srgbClr val="A78BFA"/>
                  </a:solidFill>
                  <a:latin typeface="Segoe UI"/>
                </a:defRPr>
              </a:pPr>
              <a:r>
                <a:rPr sz="750" dirty="0"/>
                <a:t>ENCODER</a:t>
              </a:r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5074920" y="1645032"/>
              <a:ext cx="1474470" cy="301752"/>
            </a:xfrm>
            <a:prstGeom prst="roundRect">
              <a:avLst>
                <a:gd name="adj" fmla="val 10000"/>
              </a:avLst>
            </a:prstGeom>
            <a:solidFill>
              <a:srgbClr val="1A2540"/>
            </a:solidFill>
            <a:ln w="19050">
              <a:solidFill>
                <a:srgbClr val="3B82F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3B82F6"/>
                  </a:solidFill>
                  <a:latin typeface="Segoe UI"/>
                </a:defRPr>
              </a:pPr>
              <a:r>
                <a:rPr sz="675"/>
                <a:t>Input Embeddings</a:t>
              </a:r>
              <a:br>
                <a:rPr sz="675"/>
              </a:br>
              <a:r>
                <a:rPr sz="675"/>
                <a:t>+ Positional Encoding</a:t>
              </a:r>
            </a:p>
          </p:txBody>
        </p:sp>
        <p:cxnSp>
          <p:nvCxnSpPr>
            <p:cNvPr id="49" name="Connector 48"/>
            <p:cNvCxnSpPr/>
            <p:nvPr/>
          </p:nvCxnSpPr>
          <p:spPr>
            <a:xfrm>
              <a:off x="5812155" y="1946784"/>
              <a:ext cx="0" cy="54864"/>
            </a:xfrm>
            <a:prstGeom prst="line">
              <a:avLst/>
            </a:prstGeom>
            <a:ln w="12700">
              <a:solidFill>
                <a:srgbClr val="94A3B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Rounded Rectangle 49"/>
            <p:cNvSpPr/>
            <p:nvPr/>
          </p:nvSpPr>
          <p:spPr>
            <a:xfrm>
              <a:off x="5074920" y="2001648"/>
              <a:ext cx="1474470" cy="301752"/>
            </a:xfrm>
            <a:prstGeom prst="roundRect">
              <a:avLst>
                <a:gd name="adj" fmla="val 10000"/>
              </a:avLst>
            </a:prstGeom>
            <a:solidFill>
              <a:srgbClr val="2A1F0F"/>
            </a:solidFill>
            <a:ln w="19050">
              <a:solidFill>
                <a:srgbClr val="F59E0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F59E0B"/>
                  </a:solidFill>
                  <a:latin typeface="Segoe UI"/>
                </a:defRPr>
              </a:pPr>
              <a:r>
                <a:rPr sz="675" dirty="0"/>
                <a:t>Multi-Head</a:t>
              </a:r>
              <a:br>
                <a:rPr sz="675" dirty="0"/>
              </a:br>
              <a:r>
                <a:rPr sz="675" dirty="0"/>
                <a:t>Self-Attention</a:t>
              </a:r>
            </a:p>
          </p:txBody>
        </p:sp>
        <p:cxnSp>
          <p:nvCxnSpPr>
            <p:cNvPr id="51" name="Connector 50"/>
            <p:cNvCxnSpPr/>
            <p:nvPr/>
          </p:nvCxnSpPr>
          <p:spPr>
            <a:xfrm>
              <a:off x="5812155" y="2303400"/>
              <a:ext cx="0" cy="54864"/>
            </a:xfrm>
            <a:prstGeom prst="line">
              <a:avLst/>
            </a:prstGeom>
            <a:ln w="12700">
              <a:solidFill>
                <a:srgbClr val="94A3B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Rounded Rectangle 51"/>
            <p:cNvSpPr/>
            <p:nvPr/>
          </p:nvSpPr>
          <p:spPr>
            <a:xfrm>
              <a:off x="5074920" y="2358264"/>
              <a:ext cx="1474470" cy="246888"/>
            </a:xfrm>
            <a:prstGeom prst="roundRect">
              <a:avLst>
                <a:gd name="adj" fmla="val 10000"/>
              </a:avLst>
            </a:prstGeom>
            <a:solidFill>
              <a:srgbClr val="1A2540"/>
            </a:solidFill>
            <a:ln w="19050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Add &amp; Norm</a:t>
              </a:r>
            </a:p>
          </p:txBody>
        </p:sp>
        <p:cxnSp>
          <p:nvCxnSpPr>
            <p:cNvPr id="53" name="Connector 52"/>
            <p:cNvCxnSpPr/>
            <p:nvPr/>
          </p:nvCxnSpPr>
          <p:spPr>
            <a:xfrm>
              <a:off x="5812155" y="2605152"/>
              <a:ext cx="0" cy="109728"/>
            </a:xfrm>
            <a:prstGeom prst="line">
              <a:avLst/>
            </a:prstGeom>
            <a:ln w="12700">
              <a:solidFill>
                <a:srgbClr val="94A3B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Rounded Rectangle 53"/>
            <p:cNvSpPr/>
            <p:nvPr/>
          </p:nvSpPr>
          <p:spPr>
            <a:xfrm>
              <a:off x="5074920" y="2714880"/>
              <a:ext cx="1474470" cy="301752"/>
            </a:xfrm>
            <a:prstGeom prst="roundRect">
              <a:avLst>
                <a:gd name="adj" fmla="val 10000"/>
              </a:avLst>
            </a:prstGeom>
            <a:solidFill>
              <a:srgbClr val="1A2540"/>
            </a:solidFill>
            <a:ln w="19050">
              <a:solidFill>
                <a:srgbClr val="A78BF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A78BFA"/>
                  </a:solidFill>
                  <a:latin typeface="Segoe UI"/>
                </a:defRPr>
              </a:pPr>
              <a:r>
                <a:rPr sz="675"/>
                <a:t>Feed-Forward</a:t>
              </a:r>
              <a:br>
                <a:rPr sz="675"/>
              </a:br>
              <a:r>
                <a:rPr sz="675"/>
                <a:t>Network</a:t>
              </a:r>
            </a:p>
          </p:txBody>
        </p:sp>
        <p:cxnSp>
          <p:nvCxnSpPr>
            <p:cNvPr id="55" name="Connector 54"/>
            <p:cNvCxnSpPr/>
            <p:nvPr/>
          </p:nvCxnSpPr>
          <p:spPr>
            <a:xfrm>
              <a:off x="5812155" y="3016632"/>
              <a:ext cx="0" cy="54864"/>
            </a:xfrm>
            <a:prstGeom prst="line">
              <a:avLst/>
            </a:prstGeom>
            <a:ln w="12700">
              <a:solidFill>
                <a:srgbClr val="94A3B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Rounded Rectangle 55"/>
            <p:cNvSpPr/>
            <p:nvPr/>
          </p:nvSpPr>
          <p:spPr>
            <a:xfrm>
              <a:off x="5074920" y="3071496"/>
              <a:ext cx="1474470" cy="246888"/>
            </a:xfrm>
            <a:prstGeom prst="roundRect">
              <a:avLst>
                <a:gd name="adj" fmla="val 10000"/>
              </a:avLst>
            </a:prstGeom>
            <a:solidFill>
              <a:srgbClr val="1A2540"/>
            </a:solidFill>
            <a:ln w="19050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Add &amp; Norm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6563106" y="1987932"/>
              <a:ext cx="30861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200" b="1">
                  <a:solidFill>
                    <a:srgbClr val="A78BFA"/>
                  </a:solidFill>
                  <a:latin typeface="Segoe UI"/>
                </a:defRPr>
              </a:pPr>
              <a:r>
                <a:rPr sz="900"/>
                <a:t>× N</a:t>
              </a:r>
            </a:p>
          </p:txBody>
        </p:sp>
        <p:cxnSp>
          <p:nvCxnSpPr>
            <p:cNvPr id="58" name="Connector 57"/>
            <p:cNvCxnSpPr/>
            <p:nvPr/>
          </p:nvCxnSpPr>
          <p:spPr>
            <a:xfrm>
              <a:off x="6606255" y="1983169"/>
              <a:ext cx="0" cy="1097280"/>
            </a:xfrm>
            <a:prstGeom prst="line">
              <a:avLst/>
            </a:prstGeom>
            <a:ln w="12700">
              <a:solidFill>
                <a:srgbClr val="A78BF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or 58"/>
            <p:cNvCxnSpPr/>
            <p:nvPr/>
          </p:nvCxnSpPr>
          <p:spPr>
            <a:xfrm>
              <a:off x="6556248" y="1987932"/>
              <a:ext cx="54864" cy="0"/>
            </a:xfrm>
            <a:prstGeom prst="line">
              <a:avLst/>
            </a:prstGeom>
            <a:ln w="12700">
              <a:solidFill>
                <a:srgbClr val="A78BF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or 59"/>
            <p:cNvCxnSpPr/>
            <p:nvPr/>
          </p:nvCxnSpPr>
          <p:spPr>
            <a:xfrm>
              <a:off x="6556248" y="3085212"/>
              <a:ext cx="54864" cy="0"/>
            </a:xfrm>
            <a:prstGeom prst="line">
              <a:avLst/>
            </a:prstGeom>
            <a:ln w="12700">
              <a:solidFill>
                <a:srgbClr val="A78BF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2C429640-F3C1-1D3D-518B-FFE15DE8E543}"/>
              </a:ext>
            </a:extLst>
          </p:cNvPr>
          <p:cNvGrpSpPr/>
          <p:nvPr/>
        </p:nvGrpSpPr>
        <p:grpSpPr>
          <a:xfrm>
            <a:off x="6586797" y="1396944"/>
            <a:ext cx="2160270" cy="1879092"/>
            <a:chOff x="6549390" y="1439292"/>
            <a:chExt cx="2160270" cy="1879092"/>
          </a:xfrm>
        </p:grpSpPr>
        <p:sp>
          <p:nvSpPr>
            <p:cNvPr id="61" name="TextBox 60"/>
            <p:cNvSpPr txBox="1"/>
            <p:nvPr/>
          </p:nvSpPr>
          <p:spPr>
            <a:xfrm>
              <a:off x="7235190" y="1439292"/>
              <a:ext cx="147447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1">
                  <a:solidFill>
                    <a:srgbClr val="14B8A6"/>
                  </a:solidFill>
                  <a:latin typeface="Segoe UI"/>
                </a:defRPr>
              </a:pPr>
              <a:r>
                <a:rPr sz="750"/>
                <a:t>DECODER</a:t>
              </a:r>
            </a:p>
          </p:txBody>
        </p:sp>
        <p:sp>
          <p:nvSpPr>
            <p:cNvPr id="62" name="Rounded Rectangle 61"/>
            <p:cNvSpPr/>
            <p:nvPr/>
          </p:nvSpPr>
          <p:spPr>
            <a:xfrm>
              <a:off x="7235190" y="1645032"/>
              <a:ext cx="1474470" cy="301752"/>
            </a:xfrm>
            <a:prstGeom prst="roundRect">
              <a:avLst>
                <a:gd name="adj" fmla="val 10000"/>
              </a:avLst>
            </a:prstGeom>
            <a:solidFill>
              <a:srgbClr val="1A2540"/>
            </a:solidFill>
            <a:ln w="19050">
              <a:solidFill>
                <a:srgbClr val="3B82F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3B82F6"/>
                  </a:solidFill>
                  <a:latin typeface="Segoe UI"/>
                </a:defRPr>
              </a:pPr>
              <a:r>
                <a:rPr sz="675"/>
                <a:t>Output Embeddings</a:t>
              </a:r>
              <a:br>
                <a:rPr sz="675"/>
              </a:br>
              <a:r>
                <a:rPr sz="675"/>
                <a:t>+ Positional Encoding</a:t>
              </a:r>
            </a:p>
          </p:txBody>
        </p:sp>
        <p:cxnSp>
          <p:nvCxnSpPr>
            <p:cNvPr id="63" name="Connector 62"/>
            <p:cNvCxnSpPr/>
            <p:nvPr/>
          </p:nvCxnSpPr>
          <p:spPr>
            <a:xfrm>
              <a:off x="7972425" y="1946784"/>
              <a:ext cx="0" cy="54864"/>
            </a:xfrm>
            <a:prstGeom prst="line">
              <a:avLst/>
            </a:prstGeom>
            <a:ln w="12700">
              <a:solidFill>
                <a:srgbClr val="94A3B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Rounded Rectangle 63"/>
            <p:cNvSpPr/>
            <p:nvPr/>
          </p:nvSpPr>
          <p:spPr>
            <a:xfrm>
              <a:off x="7235190" y="2001648"/>
              <a:ext cx="1474470" cy="301752"/>
            </a:xfrm>
            <a:prstGeom prst="roundRect">
              <a:avLst>
                <a:gd name="adj" fmla="val 10000"/>
              </a:avLst>
            </a:prstGeom>
            <a:solidFill>
              <a:srgbClr val="2A1A25"/>
            </a:solidFill>
            <a:ln w="19050">
              <a:solidFill>
                <a:srgbClr val="EC489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EC4899"/>
                  </a:solidFill>
                  <a:latin typeface="Segoe UI"/>
                </a:defRPr>
              </a:pPr>
              <a:r>
                <a:rPr sz="675"/>
                <a:t>Masked Multi-Head</a:t>
              </a:r>
              <a:br>
                <a:rPr sz="675"/>
              </a:br>
              <a:r>
                <a:rPr sz="675"/>
                <a:t>Self-Attention</a:t>
              </a:r>
            </a:p>
          </p:txBody>
        </p:sp>
        <p:cxnSp>
          <p:nvCxnSpPr>
            <p:cNvPr id="65" name="Connector 64"/>
            <p:cNvCxnSpPr/>
            <p:nvPr/>
          </p:nvCxnSpPr>
          <p:spPr>
            <a:xfrm>
              <a:off x="7972425" y="2303400"/>
              <a:ext cx="0" cy="54864"/>
            </a:xfrm>
            <a:prstGeom prst="line">
              <a:avLst/>
            </a:prstGeom>
            <a:ln w="12700">
              <a:solidFill>
                <a:srgbClr val="94A3B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Rounded Rectangle 65"/>
            <p:cNvSpPr/>
            <p:nvPr/>
          </p:nvSpPr>
          <p:spPr>
            <a:xfrm>
              <a:off x="7235190" y="2358264"/>
              <a:ext cx="1474470" cy="301752"/>
            </a:xfrm>
            <a:prstGeom prst="roundRect">
              <a:avLst>
                <a:gd name="adj" fmla="val 10000"/>
              </a:avLst>
            </a:prstGeom>
            <a:solidFill>
              <a:srgbClr val="2A1F0F"/>
            </a:solidFill>
            <a:ln w="19050">
              <a:solidFill>
                <a:srgbClr val="F59E0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F59E0B"/>
                  </a:solidFill>
                  <a:latin typeface="Segoe UI"/>
                </a:defRPr>
              </a:pPr>
              <a:r>
                <a:rPr sz="675"/>
                <a:t>Multi-Head</a:t>
              </a:r>
              <a:br>
                <a:rPr sz="675"/>
              </a:br>
              <a:r>
                <a:rPr sz="675"/>
                <a:t>Cross-Attention</a:t>
              </a:r>
            </a:p>
          </p:txBody>
        </p:sp>
        <p:cxnSp>
          <p:nvCxnSpPr>
            <p:cNvPr id="67" name="Connector 66"/>
            <p:cNvCxnSpPr/>
            <p:nvPr/>
          </p:nvCxnSpPr>
          <p:spPr>
            <a:xfrm>
              <a:off x="7972425" y="2660016"/>
              <a:ext cx="0" cy="54864"/>
            </a:xfrm>
            <a:prstGeom prst="line">
              <a:avLst/>
            </a:prstGeom>
            <a:ln w="12700">
              <a:solidFill>
                <a:srgbClr val="94A3B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Rounded Rectangle 67"/>
            <p:cNvSpPr/>
            <p:nvPr/>
          </p:nvSpPr>
          <p:spPr>
            <a:xfrm>
              <a:off x="7235190" y="2714880"/>
              <a:ext cx="1474470" cy="301752"/>
            </a:xfrm>
            <a:prstGeom prst="roundRect">
              <a:avLst>
                <a:gd name="adj" fmla="val 10000"/>
              </a:avLst>
            </a:prstGeom>
            <a:solidFill>
              <a:srgbClr val="1A2540"/>
            </a:solidFill>
            <a:ln w="19050">
              <a:solidFill>
                <a:srgbClr val="14B8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14B8A6"/>
                  </a:solidFill>
                  <a:latin typeface="Segoe UI"/>
                </a:defRPr>
              </a:pPr>
              <a:r>
                <a:rPr sz="675"/>
                <a:t>Feed-Forward</a:t>
              </a:r>
              <a:br>
                <a:rPr sz="675"/>
              </a:br>
              <a:r>
                <a:rPr sz="675"/>
                <a:t>Network</a:t>
              </a:r>
            </a:p>
          </p:txBody>
        </p:sp>
        <p:cxnSp>
          <p:nvCxnSpPr>
            <p:cNvPr id="69" name="Connector 68"/>
            <p:cNvCxnSpPr/>
            <p:nvPr/>
          </p:nvCxnSpPr>
          <p:spPr>
            <a:xfrm>
              <a:off x="7972425" y="3016632"/>
              <a:ext cx="0" cy="54864"/>
            </a:xfrm>
            <a:prstGeom prst="line">
              <a:avLst/>
            </a:prstGeom>
            <a:ln w="12700">
              <a:solidFill>
                <a:srgbClr val="94A3B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Rounded Rectangle 69"/>
            <p:cNvSpPr/>
            <p:nvPr/>
          </p:nvSpPr>
          <p:spPr>
            <a:xfrm>
              <a:off x="7235190" y="3071496"/>
              <a:ext cx="1474470" cy="246888"/>
            </a:xfrm>
            <a:prstGeom prst="roundRect">
              <a:avLst>
                <a:gd name="adj" fmla="val 10000"/>
              </a:avLst>
            </a:prstGeom>
            <a:solidFill>
              <a:srgbClr val="142E20"/>
            </a:solidFill>
            <a:ln w="19050">
              <a:solidFill>
                <a:srgbClr val="22C55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22C55E"/>
                  </a:solidFill>
                  <a:latin typeface="Segoe UI"/>
                </a:defRPr>
              </a:pPr>
              <a:r>
                <a:rPr sz="675"/>
                <a:t>Linear + Softmax</a:t>
              </a:r>
            </a:p>
          </p:txBody>
        </p:sp>
        <p:cxnSp>
          <p:nvCxnSpPr>
            <p:cNvPr id="71" name="Connector 70"/>
            <p:cNvCxnSpPr>
              <a:cxnSpLocks/>
              <a:endCxn id="72" idx="3"/>
            </p:cNvCxnSpPr>
            <p:nvPr/>
          </p:nvCxnSpPr>
          <p:spPr>
            <a:xfrm flipV="1">
              <a:off x="6549390" y="2509140"/>
              <a:ext cx="603504" cy="685800"/>
            </a:xfrm>
            <a:prstGeom prst="line">
              <a:avLst/>
            </a:prstGeom>
            <a:ln w="25400">
              <a:solidFill>
                <a:srgbClr val="F59E0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Isosceles Triangle 71"/>
            <p:cNvSpPr/>
            <p:nvPr/>
          </p:nvSpPr>
          <p:spPr>
            <a:xfrm rot="5400000">
              <a:off x="7152894" y="2461134"/>
              <a:ext cx="96012" cy="96012"/>
            </a:xfrm>
            <a:prstGeom prst="triangle">
              <a:avLst/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7ED21837-931B-A114-CC94-D042172C516A}"/>
              </a:ext>
            </a:extLst>
          </p:cNvPr>
          <p:cNvGrpSpPr/>
          <p:nvPr/>
        </p:nvGrpSpPr>
        <p:grpSpPr>
          <a:xfrm>
            <a:off x="5040630" y="3359532"/>
            <a:ext cx="3634740" cy="470528"/>
            <a:chOff x="5040630" y="3359532"/>
            <a:chExt cx="3634740" cy="470528"/>
          </a:xfrm>
        </p:grpSpPr>
        <p:sp>
          <p:nvSpPr>
            <p:cNvPr id="73" name="TextBox 72"/>
            <p:cNvSpPr txBox="1"/>
            <p:nvPr/>
          </p:nvSpPr>
          <p:spPr>
            <a:xfrm>
              <a:off x="5040630" y="3359532"/>
              <a:ext cx="363474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22C55E"/>
                  </a:solidFill>
                  <a:latin typeface="Segoe UI"/>
                </a:defRPr>
              </a:pPr>
              <a:r>
                <a:rPr sz="675"/>
                <a:t>⚡ ALL tokens processed in parallel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5040630" y="3496692"/>
              <a:ext cx="363474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22C55E"/>
                  </a:solidFill>
                  <a:latin typeface="Segoe UI"/>
                </a:defRPr>
              </a:pPr>
              <a:r>
                <a:rPr sz="675" dirty="0"/>
                <a:t>🔗 Every token attends to every other token directly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5040630" y="3633852"/>
              <a:ext cx="363474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22C55E"/>
                  </a:solidFill>
                  <a:latin typeface="Segoe UI"/>
                </a:defRPr>
              </a:pPr>
              <a:r>
                <a:rPr sz="675"/>
                <a:t>📈 Scales to billions of parameters easily</a:t>
              </a: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D9F5933B-4CFC-8F5E-FF38-293480579BF2}"/>
              </a:ext>
            </a:extLst>
          </p:cNvPr>
          <p:cNvGrpSpPr/>
          <p:nvPr/>
        </p:nvGrpSpPr>
        <p:grpSpPr>
          <a:xfrm>
            <a:off x="342900" y="3916086"/>
            <a:ext cx="8455914" cy="260604"/>
            <a:chOff x="342900" y="3916086"/>
            <a:chExt cx="8455914" cy="260604"/>
          </a:xfrm>
        </p:grpSpPr>
        <p:sp>
          <p:nvSpPr>
            <p:cNvPr id="76" name="Rounded Rectangle 75"/>
            <p:cNvSpPr/>
            <p:nvPr/>
          </p:nvSpPr>
          <p:spPr>
            <a:xfrm>
              <a:off x="342900" y="3916086"/>
              <a:ext cx="8455914" cy="260604"/>
            </a:xfrm>
            <a:prstGeom prst="roundRect">
              <a:avLst>
                <a:gd name="adj" fmla="val 3000"/>
              </a:avLst>
            </a:prstGeom>
            <a:solidFill>
              <a:srgbClr val="1A2540"/>
            </a:solidFill>
            <a:ln w="19050">
              <a:solidFill>
                <a:srgbClr val="3B82F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342900" y="3943519"/>
              <a:ext cx="137160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100" b="1">
                  <a:solidFill>
                    <a:srgbClr val="3B82F6"/>
                  </a:solidFill>
                  <a:latin typeface="Segoe UI"/>
                </a:defRPr>
              </a:pPr>
              <a:r>
                <a:rPr sz="825"/>
                <a:t>Aspect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1851660" y="3943519"/>
              <a:ext cx="308610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100" b="1">
                  <a:solidFill>
                    <a:srgbClr val="3B82F6"/>
                  </a:solidFill>
                  <a:latin typeface="Segoe UI"/>
                </a:defRPr>
              </a:pPr>
              <a:r>
                <a:rPr sz="825"/>
                <a:t>RNN Seq2Seq + Attention</a:t>
              </a: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5006340" y="3943519"/>
              <a:ext cx="377190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100" b="1">
                  <a:solidFill>
                    <a:srgbClr val="3B82F6"/>
                  </a:solidFill>
                  <a:latin typeface="Segoe UI"/>
                </a:defRPr>
              </a:pPr>
              <a:r>
                <a:rPr sz="825"/>
                <a:t>Transformer</a:t>
              </a:r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38532184-F247-8B87-2EF5-7F92FBFFA7BF}"/>
              </a:ext>
            </a:extLst>
          </p:cNvPr>
          <p:cNvGrpSpPr/>
          <p:nvPr/>
        </p:nvGrpSpPr>
        <p:grpSpPr>
          <a:xfrm>
            <a:off x="411480" y="4204122"/>
            <a:ext cx="8366760" cy="196208"/>
            <a:chOff x="411480" y="4204122"/>
            <a:chExt cx="8366760" cy="196208"/>
          </a:xfrm>
        </p:grpSpPr>
        <p:sp>
          <p:nvSpPr>
            <p:cNvPr id="80" name="TextBox 79"/>
            <p:cNvSpPr txBox="1"/>
            <p:nvPr/>
          </p:nvSpPr>
          <p:spPr>
            <a:xfrm>
              <a:off x="411480" y="4204122"/>
              <a:ext cx="137160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FFFFFF"/>
                  </a:solidFill>
                  <a:latin typeface="Segoe UI"/>
                </a:defRPr>
              </a:pPr>
              <a:r>
                <a:rPr sz="675" dirty="0"/>
                <a:t>Processing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1851660" y="4204122"/>
              <a:ext cx="308610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94A3B8"/>
                  </a:solidFill>
                  <a:latin typeface="Segoe UI"/>
                </a:defRPr>
              </a:pPr>
              <a:r>
                <a:rPr sz="675" dirty="0"/>
                <a:t>Sequential (one token at a time)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5006340" y="4204122"/>
              <a:ext cx="377190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22C55E"/>
                  </a:solidFill>
                  <a:latin typeface="Segoe UI"/>
                </a:defRPr>
              </a:pPr>
              <a:r>
                <a:rPr sz="675"/>
                <a:t>Parallel (all tokens at once)</a:t>
              </a: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9EB7A6CB-9C55-1C91-E997-A0B0D4695996}"/>
              </a:ext>
            </a:extLst>
          </p:cNvPr>
          <p:cNvGrpSpPr/>
          <p:nvPr/>
        </p:nvGrpSpPr>
        <p:grpSpPr>
          <a:xfrm>
            <a:off x="411480" y="4354998"/>
            <a:ext cx="8366760" cy="196208"/>
            <a:chOff x="411480" y="4354998"/>
            <a:chExt cx="8366760" cy="196208"/>
          </a:xfrm>
        </p:grpSpPr>
        <p:sp>
          <p:nvSpPr>
            <p:cNvPr id="83" name="TextBox 82"/>
            <p:cNvSpPr txBox="1"/>
            <p:nvPr/>
          </p:nvSpPr>
          <p:spPr>
            <a:xfrm>
              <a:off x="411480" y="4354998"/>
              <a:ext cx="137160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FFFFFF"/>
                  </a:solidFill>
                  <a:latin typeface="Segoe UI"/>
                </a:defRPr>
              </a:pPr>
              <a:r>
                <a:rPr sz="675" dirty="0"/>
                <a:t>Long-range</a:t>
              </a: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1851660" y="4354998"/>
              <a:ext cx="308610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94A3B8"/>
                  </a:solidFill>
                  <a:latin typeface="Segoe UI"/>
                </a:defRPr>
              </a:pPr>
              <a:r>
                <a:rPr sz="675" dirty="0"/>
                <a:t>Poor — hidden state fades</a:t>
              </a: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5006340" y="4354998"/>
              <a:ext cx="377190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22C55E"/>
                  </a:solidFill>
                  <a:latin typeface="Segoe UI"/>
                </a:defRPr>
              </a:pPr>
              <a:r>
                <a:rPr sz="675"/>
                <a:t>Excellent — direct attention to any token</a:t>
              </a:r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6A41FC0C-04F4-BD5E-DCA1-2332D2A8C476}"/>
              </a:ext>
            </a:extLst>
          </p:cNvPr>
          <p:cNvGrpSpPr/>
          <p:nvPr/>
        </p:nvGrpSpPr>
        <p:grpSpPr>
          <a:xfrm>
            <a:off x="411480" y="4505874"/>
            <a:ext cx="8366760" cy="196208"/>
            <a:chOff x="411480" y="4505874"/>
            <a:chExt cx="8366760" cy="196208"/>
          </a:xfrm>
        </p:grpSpPr>
        <p:sp>
          <p:nvSpPr>
            <p:cNvPr id="86" name="TextBox 85"/>
            <p:cNvSpPr txBox="1"/>
            <p:nvPr/>
          </p:nvSpPr>
          <p:spPr>
            <a:xfrm>
              <a:off x="411480" y="4505874"/>
              <a:ext cx="137160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FFFFFF"/>
                  </a:solidFill>
                  <a:latin typeface="Segoe UI"/>
                </a:defRPr>
              </a:pPr>
              <a:r>
                <a:rPr sz="675" dirty="0"/>
                <a:t>Training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1851660" y="4505874"/>
              <a:ext cx="308610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94A3B8"/>
                  </a:solidFill>
                  <a:latin typeface="Segoe UI"/>
                </a:defRPr>
              </a:pPr>
              <a:r>
                <a:rPr sz="675"/>
                <a:t>Slow (days on GPUs)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5006340" y="4505874"/>
              <a:ext cx="377190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22C55E"/>
                  </a:solidFill>
                  <a:latin typeface="Segoe UI"/>
                </a:defRPr>
              </a:pPr>
              <a:r>
                <a:rPr sz="675"/>
                <a:t>Fast (hours on GPUs/TPUs)</a:t>
              </a: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81E6C3F5-E5A7-E566-499C-699C79A23E36}"/>
              </a:ext>
            </a:extLst>
          </p:cNvPr>
          <p:cNvGrpSpPr/>
          <p:nvPr/>
        </p:nvGrpSpPr>
        <p:grpSpPr>
          <a:xfrm>
            <a:off x="411480" y="4656750"/>
            <a:ext cx="8366760" cy="196208"/>
            <a:chOff x="411480" y="4656750"/>
            <a:chExt cx="8366760" cy="196208"/>
          </a:xfrm>
        </p:grpSpPr>
        <p:sp>
          <p:nvSpPr>
            <p:cNvPr id="89" name="TextBox 88"/>
            <p:cNvSpPr txBox="1"/>
            <p:nvPr/>
          </p:nvSpPr>
          <p:spPr>
            <a:xfrm>
              <a:off x="411480" y="4656750"/>
              <a:ext cx="137160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FFFFFF"/>
                  </a:solidFill>
                  <a:latin typeface="Segoe UI"/>
                </a:defRPr>
              </a:pPr>
              <a:r>
                <a:rPr sz="675" dirty="0"/>
                <a:t>Scale</a:t>
              </a: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1851660" y="4656750"/>
              <a:ext cx="308610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94A3B8"/>
                  </a:solidFill>
                  <a:latin typeface="Segoe UI"/>
                </a:defRPr>
              </a:pPr>
              <a:r>
                <a:rPr sz="675"/>
                <a:t>Hard to scale beyond millions of params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5006340" y="4656750"/>
              <a:ext cx="377190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22C55E"/>
                  </a:solidFill>
                  <a:latin typeface="Segoe UI"/>
                </a:defRPr>
              </a:pPr>
              <a:r>
                <a:rPr sz="675"/>
                <a:t>Billions+ parameters (GPT, LLaMA)</a:t>
              </a:r>
            </a:p>
          </p:txBody>
        </p: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FD816AB0-6625-DC92-E9A9-67F2D1367196}"/>
              </a:ext>
            </a:extLst>
          </p:cNvPr>
          <p:cNvGrpSpPr/>
          <p:nvPr/>
        </p:nvGrpSpPr>
        <p:grpSpPr>
          <a:xfrm>
            <a:off x="411480" y="4807626"/>
            <a:ext cx="8366760" cy="196208"/>
            <a:chOff x="411480" y="4807626"/>
            <a:chExt cx="8366760" cy="196208"/>
          </a:xfrm>
        </p:grpSpPr>
        <p:sp>
          <p:nvSpPr>
            <p:cNvPr id="92" name="TextBox 91"/>
            <p:cNvSpPr txBox="1"/>
            <p:nvPr/>
          </p:nvSpPr>
          <p:spPr>
            <a:xfrm>
              <a:off x="411480" y="4807626"/>
              <a:ext cx="137160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FFFFFF"/>
                  </a:solidFill>
                  <a:latin typeface="Segoe UI"/>
                </a:defRPr>
              </a:pPr>
              <a:r>
                <a:rPr sz="675" dirty="0"/>
                <a:t>Foundation</a:t>
              </a: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1851660" y="4807626"/>
              <a:ext cx="308610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94A3B8"/>
                  </a:solidFill>
                  <a:latin typeface="Segoe UI"/>
                </a:defRPr>
              </a:pPr>
              <a:r>
                <a:rPr sz="675"/>
                <a:t>Early NMT, chatbots</a:t>
              </a: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5006340" y="4807626"/>
              <a:ext cx="377190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22C55E"/>
                  </a:solidFill>
                  <a:latin typeface="Segoe UI"/>
                </a:defRPr>
              </a:pPr>
              <a:r>
                <a:rPr sz="675"/>
                <a:t>GPT, BERT, T5, LLaMA, ALL modern LLMs</a:t>
              </a:r>
            </a:p>
          </p:txBody>
        </p:sp>
      </p:grpSp>
      <p:sp>
        <p:nvSpPr>
          <p:cNvPr id="3" name="Rounded Rectangle 94">
            <a:extLst>
              <a:ext uri="{FF2B5EF4-FFF2-40B4-BE49-F238E27FC236}">
                <a16:creationId xmlns:a16="http://schemas.microsoft.com/office/drawing/2014/main" id="{63E17E65-2324-2665-E261-F4AD08C96104}"/>
              </a:ext>
            </a:extLst>
          </p:cNvPr>
          <p:cNvSpPr/>
          <p:nvPr/>
        </p:nvSpPr>
        <p:spPr>
          <a:xfrm>
            <a:off x="7143636" y="181185"/>
            <a:ext cx="1931784" cy="57150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BBF24"/>
                </a:solidFill>
                <a:latin typeface="Segoe UI"/>
              </a:defRPr>
            </a:pPr>
            <a:r>
              <a:rPr sz="800" dirty="0"/>
              <a:t>📄  "Attention Is All You Need"</a:t>
            </a:r>
          </a:p>
          <a:p>
            <a:pPr>
              <a:spcBef>
                <a:spcPts val="300"/>
              </a:spcBef>
              <a:defRPr sz="900">
                <a:solidFill>
                  <a:srgbClr val="B0B8C8"/>
                </a:solidFill>
                <a:latin typeface="Segoe UI"/>
              </a:defRPr>
            </a:pPr>
            <a:r>
              <a:rPr sz="500" dirty="0"/>
              <a:t>Vaswani et al.  •  Google Brain  •  June 2017</a:t>
            </a:r>
          </a:p>
          <a:p>
            <a:pPr>
              <a:spcBef>
                <a:spcPts val="300"/>
              </a:spcBef>
              <a:defRPr sz="900" b="1">
                <a:solidFill>
                  <a:srgbClr val="F59E0B"/>
                </a:solidFill>
                <a:latin typeface="Segoe UI"/>
              </a:defRPr>
            </a:pPr>
            <a:r>
              <a:rPr sz="500" dirty="0"/>
              <a:t>🏆 120,000+ citations  •  Foundation of ALL modern LLMs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4" name="TextBox 3"/>
          <p:cNvSpPr txBox="1"/>
          <p:nvPr/>
        </p:nvSpPr>
        <p:spPr>
          <a:xfrm>
            <a:off x="342900" y="5164"/>
            <a:ext cx="6858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sz="2400"/>
              <a:t>Self-Attention – The Heart of the Transformer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" y="450934"/>
            <a:ext cx="7543800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rPr sz="1125"/>
              <a:t>Every token asks: "Which other tokens in this sentence should I pay attention to?"</a:t>
            </a:r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477ED05D-CFB7-0B98-D6DE-D34AF213086C}"/>
              </a:ext>
            </a:extLst>
          </p:cNvPr>
          <p:cNvGrpSpPr/>
          <p:nvPr/>
        </p:nvGrpSpPr>
        <p:grpSpPr>
          <a:xfrm>
            <a:off x="173665" y="918680"/>
            <a:ext cx="2655078" cy="2873502"/>
            <a:chOff x="259572" y="796045"/>
            <a:chExt cx="2655078" cy="2873502"/>
          </a:xfrm>
        </p:grpSpPr>
        <p:sp>
          <p:nvSpPr>
            <p:cNvPr id="7" name="TextBox 6"/>
            <p:cNvSpPr txBox="1"/>
            <p:nvPr/>
          </p:nvSpPr>
          <p:spPr>
            <a:xfrm>
              <a:off x="259572" y="796045"/>
              <a:ext cx="264033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A78BFA"/>
                  </a:solidFill>
                  <a:latin typeface="Segoe UI"/>
                </a:defRPr>
              </a:pPr>
              <a:r>
                <a:rPr sz="900" dirty="0"/>
                <a:t>THE LIBRARY ANALOGY — Query, Key, Value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274320" y="1036075"/>
              <a:ext cx="2640330" cy="809244"/>
            </a:xfrm>
            <a:prstGeom prst="roundRect">
              <a:avLst>
                <a:gd name="adj" fmla="val 4000"/>
              </a:avLst>
            </a:prstGeom>
            <a:solidFill>
              <a:srgbClr val="12203D"/>
            </a:solidFill>
            <a:ln w="19050">
              <a:solidFill>
                <a:srgbClr val="3B82F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56616" y="1118371"/>
              <a:ext cx="329184" cy="329184"/>
            </a:xfrm>
            <a:prstGeom prst="roundRect">
              <a:avLst>
                <a:gd name="adj" fmla="val 12000"/>
              </a:avLst>
            </a:prstGeom>
            <a:solidFill>
              <a:srgbClr val="3B8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2000" b="1">
                  <a:solidFill>
                    <a:srgbClr val="0F172A"/>
                  </a:solidFill>
                  <a:latin typeface="Segoe UI"/>
                </a:defRPr>
              </a:pPr>
              <a:r>
                <a:rPr sz="1500"/>
                <a:t>Q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68096" y="1077224"/>
              <a:ext cx="2057400" cy="3462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3B82F6"/>
                  </a:solidFill>
                  <a:latin typeface="Segoe UI"/>
                </a:defRPr>
              </a:pPr>
              <a:r>
                <a:rPr sz="825" dirty="0"/>
                <a:t>Query  —  🔍  "What am I looking for?"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68096" y="1342471"/>
              <a:ext cx="2057400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94A3B8"/>
                  </a:solidFill>
                  <a:latin typeface="Segoe UI"/>
                </a:defRPr>
              </a:pPr>
              <a:r>
                <a:rPr sz="750" dirty="0"/>
                <a:t>You walk into a library with</a:t>
              </a:r>
              <a:br>
                <a:rPr sz="750" dirty="0"/>
              </a:br>
              <a:r>
                <a:rPr sz="750" dirty="0"/>
                <a:t>a question in mind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20090" y="1118371"/>
              <a:ext cx="14288" cy="617220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274320" y="1948189"/>
              <a:ext cx="2640330" cy="809244"/>
            </a:xfrm>
            <a:prstGeom prst="roundRect">
              <a:avLst>
                <a:gd name="adj" fmla="val 4000"/>
              </a:avLst>
            </a:prstGeom>
            <a:solidFill>
              <a:srgbClr val="2A1F0F"/>
            </a:solidFill>
            <a:ln w="19050">
              <a:solidFill>
                <a:srgbClr val="F59E0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56616" y="2030485"/>
              <a:ext cx="329184" cy="329184"/>
            </a:xfrm>
            <a:prstGeom prst="roundRect">
              <a:avLst>
                <a:gd name="adj" fmla="val 12000"/>
              </a:avLst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2000" b="1">
                  <a:solidFill>
                    <a:srgbClr val="0F172A"/>
                  </a:solidFill>
                  <a:latin typeface="Segoe UI"/>
                </a:defRPr>
              </a:pPr>
              <a:r>
                <a:rPr sz="1500"/>
                <a:t>K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68096" y="1989338"/>
              <a:ext cx="205740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F59E0B"/>
                  </a:solidFill>
                  <a:latin typeface="Segoe UI"/>
                </a:defRPr>
              </a:pPr>
              <a:r>
                <a:rPr sz="825"/>
                <a:t>Key  —  🏷️  "What do I contain?"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68096" y="2188219"/>
              <a:ext cx="2057400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94A3B8"/>
                  </a:solidFill>
                  <a:latin typeface="Segoe UI"/>
                </a:defRPr>
              </a:pPr>
              <a:r>
                <a:rPr sz="750"/>
                <a:t>Each book has a title/label</a:t>
              </a:r>
              <a:br>
                <a:rPr sz="750"/>
              </a:br>
              <a:r>
                <a:rPr sz="750"/>
                <a:t>that describes its content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20090" y="2030485"/>
              <a:ext cx="14288" cy="61722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274320" y="2860303"/>
              <a:ext cx="2640330" cy="809244"/>
            </a:xfrm>
            <a:prstGeom prst="roundRect">
              <a:avLst>
                <a:gd name="adj" fmla="val 4000"/>
              </a:avLst>
            </a:prstGeom>
            <a:solidFill>
              <a:srgbClr val="0F2D1F"/>
            </a:solidFill>
            <a:ln w="19050">
              <a:solidFill>
                <a:srgbClr val="22C55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356616" y="2942599"/>
              <a:ext cx="329184" cy="329184"/>
            </a:xfrm>
            <a:prstGeom prst="roundRect">
              <a:avLst>
                <a:gd name="adj" fmla="val 12000"/>
              </a:avLst>
            </a:prstGeom>
            <a:solidFill>
              <a:srgbClr val="22C55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2000" b="1">
                  <a:solidFill>
                    <a:srgbClr val="0F172A"/>
                  </a:solidFill>
                  <a:latin typeface="Segoe UI"/>
                </a:defRPr>
              </a:pPr>
              <a:r>
                <a:rPr sz="1500"/>
                <a:t>V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68096" y="2901452"/>
              <a:ext cx="2057400" cy="3462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22C55E"/>
                  </a:solidFill>
                  <a:latin typeface="Segoe UI"/>
                </a:defRPr>
              </a:pPr>
              <a:r>
                <a:rPr sz="825"/>
                <a:t>Value  —  📖  "Here is my actual content"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68096" y="3159325"/>
              <a:ext cx="2057400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94A3B8"/>
                  </a:solidFill>
                  <a:latin typeface="Segoe UI"/>
                </a:defRPr>
              </a:pPr>
              <a:r>
                <a:rPr sz="750" dirty="0"/>
                <a:t>The actual pages and info</a:t>
              </a:r>
              <a:br>
                <a:rPr sz="750" dirty="0"/>
              </a:br>
              <a:r>
                <a:rPr sz="750" dirty="0"/>
                <a:t>inside the book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20090" y="2942599"/>
              <a:ext cx="14288" cy="617220"/>
            </a:xfrm>
            <a:prstGeom prst="rect">
              <a:avLst/>
            </a:prstGeom>
            <a:solidFill>
              <a:srgbClr val="22C55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F329F198-5C6F-7902-B7CB-AE1881AE57D1}"/>
              </a:ext>
            </a:extLst>
          </p:cNvPr>
          <p:cNvGrpSpPr/>
          <p:nvPr/>
        </p:nvGrpSpPr>
        <p:grpSpPr>
          <a:xfrm>
            <a:off x="3061398" y="803424"/>
            <a:ext cx="2708910" cy="843018"/>
            <a:chOff x="3061398" y="803424"/>
            <a:chExt cx="2708910" cy="843018"/>
          </a:xfrm>
        </p:grpSpPr>
        <p:sp>
          <p:nvSpPr>
            <p:cNvPr id="23" name="TextBox 22"/>
            <p:cNvSpPr txBox="1"/>
            <p:nvPr/>
          </p:nvSpPr>
          <p:spPr>
            <a:xfrm>
              <a:off x="3061398" y="803424"/>
              <a:ext cx="270891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F59E0B"/>
                  </a:solidFill>
                  <a:latin typeface="Segoe UI"/>
                </a:defRPr>
              </a:pPr>
              <a:r>
                <a:rPr sz="900" dirty="0"/>
                <a:t>HOW SELF-ATTENTION WORKS (Step by Step)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3120390" y="1056654"/>
              <a:ext cx="2571750" cy="534924"/>
            </a:xfrm>
            <a:prstGeom prst="roundRect">
              <a:avLst>
                <a:gd name="adj" fmla="val 4000"/>
              </a:avLst>
            </a:prstGeom>
            <a:solidFill>
              <a:srgbClr val="162033"/>
            </a:solidFill>
            <a:ln w="19050">
              <a:solidFill>
                <a:srgbClr val="A78BF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3175254" y="1111518"/>
              <a:ext cx="205740" cy="205740"/>
            </a:xfrm>
            <a:prstGeom prst="roundRect">
              <a:avLst>
                <a:gd name="adj" fmla="val 50000"/>
              </a:avLst>
            </a:prstGeom>
            <a:solidFill>
              <a:srgbClr val="A78B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200" b="1">
                  <a:solidFill>
                    <a:srgbClr val="0F172A"/>
                  </a:solidFill>
                  <a:latin typeface="Segoe UI"/>
                </a:defRPr>
              </a:pPr>
              <a:r>
                <a:rPr sz="900"/>
                <a:t>1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449574" y="1077228"/>
              <a:ext cx="216027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FFFFFF"/>
                  </a:solidFill>
                  <a:latin typeface="Segoe UI"/>
                </a:defRPr>
              </a:pPr>
              <a:r>
                <a:rPr sz="900"/>
                <a:t>Create Q, K, V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449574" y="1234962"/>
              <a:ext cx="2160270" cy="4039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94A3B8"/>
                  </a:solidFill>
                  <a:latin typeface="Consolas"/>
                </a:defRPr>
              </a:pPr>
              <a:r>
                <a:rPr sz="675"/>
                <a:t>Multiply each input embedding</a:t>
              </a:r>
              <a:br>
                <a:rPr sz="675"/>
              </a:br>
              <a:r>
                <a:rPr sz="675"/>
                <a:t>by 3 learned weight matrices:</a:t>
              </a:r>
              <a:br>
                <a:rPr sz="675"/>
              </a:br>
              <a:r>
                <a:rPr sz="675"/>
                <a:t>Q = X·Wq    K = X·Wk    V = X·Wv</a:t>
              </a:r>
            </a:p>
          </p:txBody>
        </p:sp>
        <p:cxnSp>
          <p:nvCxnSpPr>
            <p:cNvPr id="28" name="Connector 27"/>
            <p:cNvCxnSpPr/>
            <p:nvPr/>
          </p:nvCxnSpPr>
          <p:spPr>
            <a:xfrm>
              <a:off x="3278124" y="1591578"/>
              <a:ext cx="0" cy="54864"/>
            </a:xfrm>
            <a:prstGeom prst="line">
              <a:avLst/>
            </a:prstGeom>
            <a:ln w="19050">
              <a:solidFill>
                <a:srgbClr val="A78BF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D914937D-418F-661F-2271-EBC9D9C950FC}"/>
              </a:ext>
            </a:extLst>
          </p:cNvPr>
          <p:cNvGrpSpPr/>
          <p:nvPr/>
        </p:nvGrpSpPr>
        <p:grpSpPr>
          <a:xfrm>
            <a:off x="3120390" y="1646442"/>
            <a:ext cx="2571750" cy="589788"/>
            <a:chOff x="3120390" y="1646442"/>
            <a:chExt cx="2571750" cy="589788"/>
          </a:xfrm>
        </p:grpSpPr>
        <p:sp>
          <p:nvSpPr>
            <p:cNvPr id="29" name="Rounded Rectangle 28"/>
            <p:cNvSpPr/>
            <p:nvPr/>
          </p:nvSpPr>
          <p:spPr>
            <a:xfrm>
              <a:off x="3120390" y="1646442"/>
              <a:ext cx="2571750" cy="534924"/>
            </a:xfrm>
            <a:prstGeom prst="roundRect">
              <a:avLst>
                <a:gd name="adj" fmla="val 4000"/>
              </a:avLst>
            </a:prstGeom>
            <a:solidFill>
              <a:srgbClr val="162033"/>
            </a:solidFill>
            <a:ln w="19050">
              <a:solidFill>
                <a:srgbClr val="F59E0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3175254" y="1701306"/>
              <a:ext cx="205740" cy="20574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200" b="1">
                  <a:solidFill>
                    <a:srgbClr val="0F172A"/>
                  </a:solidFill>
                  <a:latin typeface="Segoe UI"/>
                </a:defRPr>
              </a:pPr>
              <a:r>
                <a:rPr sz="900"/>
                <a:t>2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449574" y="1667016"/>
              <a:ext cx="216027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FFFFFF"/>
                  </a:solidFill>
                  <a:latin typeface="Segoe UI"/>
                </a:defRPr>
              </a:pPr>
              <a:r>
                <a:rPr sz="900"/>
                <a:t>Compute Scores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3449574" y="1824750"/>
              <a:ext cx="2160270" cy="4039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94A3B8"/>
                  </a:solidFill>
                  <a:latin typeface="Consolas"/>
                </a:defRPr>
              </a:pPr>
              <a:r>
                <a:rPr sz="675"/>
                <a:t>Score = Q · Kᵀ</a:t>
              </a:r>
              <a:br>
                <a:rPr sz="675"/>
              </a:br>
              <a:r>
                <a:rPr sz="675"/>
                <a:t>(dot product of query with</a:t>
              </a:r>
              <a:br>
                <a:rPr sz="675"/>
              </a:br>
              <a:r>
                <a:rPr sz="675"/>
                <a:t>every key → relevance scores)</a:t>
              </a:r>
            </a:p>
          </p:txBody>
        </p:sp>
        <p:cxnSp>
          <p:nvCxnSpPr>
            <p:cNvPr id="33" name="Connector 32"/>
            <p:cNvCxnSpPr/>
            <p:nvPr/>
          </p:nvCxnSpPr>
          <p:spPr>
            <a:xfrm>
              <a:off x="3278124" y="2181366"/>
              <a:ext cx="0" cy="54864"/>
            </a:xfrm>
            <a:prstGeom prst="line">
              <a:avLst/>
            </a:prstGeom>
            <a:ln w="19050">
              <a:solidFill>
                <a:srgbClr val="F59E0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A946549B-9419-4A4C-3584-FE87AE684292}"/>
              </a:ext>
            </a:extLst>
          </p:cNvPr>
          <p:cNvGrpSpPr/>
          <p:nvPr/>
        </p:nvGrpSpPr>
        <p:grpSpPr>
          <a:xfrm>
            <a:off x="3120390" y="2236230"/>
            <a:ext cx="2571750" cy="589788"/>
            <a:chOff x="3120390" y="2236230"/>
            <a:chExt cx="2571750" cy="589788"/>
          </a:xfrm>
        </p:grpSpPr>
        <p:sp>
          <p:nvSpPr>
            <p:cNvPr id="34" name="Rounded Rectangle 33"/>
            <p:cNvSpPr/>
            <p:nvPr/>
          </p:nvSpPr>
          <p:spPr>
            <a:xfrm>
              <a:off x="3120390" y="2236230"/>
              <a:ext cx="2571750" cy="534924"/>
            </a:xfrm>
            <a:prstGeom prst="roundRect">
              <a:avLst>
                <a:gd name="adj" fmla="val 4000"/>
              </a:avLst>
            </a:prstGeom>
            <a:solidFill>
              <a:srgbClr val="162033"/>
            </a:solidFill>
            <a:ln w="19050">
              <a:solidFill>
                <a:srgbClr val="FBBF2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3175254" y="2291094"/>
              <a:ext cx="205740" cy="205740"/>
            </a:xfrm>
            <a:prstGeom prst="roundRect">
              <a:avLst>
                <a:gd name="adj" fmla="val 50000"/>
              </a:avLst>
            </a:prstGeom>
            <a:solidFill>
              <a:srgbClr val="FBBF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200" b="1">
                  <a:solidFill>
                    <a:srgbClr val="0F172A"/>
                  </a:solidFill>
                  <a:latin typeface="Segoe UI"/>
                </a:defRPr>
              </a:pPr>
              <a:r>
                <a:rPr sz="900"/>
                <a:t>3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449574" y="2256804"/>
              <a:ext cx="216027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FFFFFF"/>
                  </a:solidFill>
                  <a:latin typeface="Segoe UI"/>
                </a:defRPr>
              </a:pPr>
              <a:r>
                <a:rPr sz="900"/>
                <a:t>Scale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449574" y="2414538"/>
              <a:ext cx="2160270" cy="4039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94A3B8"/>
                  </a:solidFill>
                  <a:latin typeface="Consolas"/>
                </a:defRPr>
              </a:pPr>
              <a:r>
                <a:rPr sz="675"/>
                <a:t>Score = Score / √dₖ</a:t>
              </a:r>
              <a:br>
                <a:rPr sz="675"/>
              </a:br>
              <a:r>
                <a:rPr sz="675"/>
                <a:t>(prevents scores from getting</a:t>
              </a:r>
              <a:br>
                <a:rPr sz="675"/>
              </a:br>
              <a:r>
                <a:rPr sz="675"/>
                <a:t>too large before softmax)</a:t>
              </a:r>
            </a:p>
          </p:txBody>
        </p:sp>
        <p:cxnSp>
          <p:nvCxnSpPr>
            <p:cNvPr id="38" name="Connector 37"/>
            <p:cNvCxnSpPr/>
            <p:nvPr/>
          </p:nvCxnSpPr>
          <p:spPr>
            <a:xfrm>
              <a:off x="3278124" y="2771154"/>
              <a:ext cx="0" cy="54864"/>
            </a:xfrm>
            <a:prstGeom prst="line">
              <a:avLst/>
            </a:prstGeom>
            <a:ln w="19050">
              <a:solidFill>
                <a:srgbClr val="FBBF2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F7558878-BCEA-E335-17E6-BF5186991539}"/>
              </a:ext>
            </a:extLst>
          </p:cNvPr>
          <p:cNvGrpSpPr/>
          <p:nvPr/>
        </p:nvGrpSpPr>
        <p:grpSpPr>
          <a:xfrm>
            <a:off x="3120390" y="2826018"/>
            <a:ext cx="2571750" cy="589788"/>
            <a:chOff x="3120390" y="2826018"/>
            <a:chExt cx="2571750" cy="589788"/>
          </a:xfrm>
        </p:grpSpPr>
        <p:sp>
          <p:nvSpPr>
            <p:cNvPr id="39" name="Rounded Rectangle 38"/>
            <p:cNvSpPr/>
            <p:nvPr/>
          </p:nvSpPr>
          <p:spPr>
            <a:xfrm>
              <a:off x="3120390" y="2826018"/>
              <a:ext cx="2571750" cy="534924"/>
            </a:xfrm>
            <a:prstGeom prst="roundRect">
              <a:avLst>
                <a:gd name="adj" fmla="val 4000"/>
              </a:avLst>
            </a:prstGeom>
            <a:solidFill>
              <a:srgbClr val="162033"/>
            </a:solidFill>
            <a:ln w="19050">
              <a:solidFill>
                <a:srgbClr val="EC489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3175254" y="2880882"/>
              <a:ext cx="205740" cy="205740"/>
            </a:xfrm>
            <a:prstGeom prst="roundRect">
              <a:avLst>
                <a:gd name="adj" fmla="val 50000"/>
              </a:avLst>
            </a:prstGeom>
            <a:solidFill>
              <a:srgbClr val="EC48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200" b="1">
                  <a:solidFill>
                    <a:srgbClr val="0F172A"/>
                  </a:solidFill>
                  <a:latin typeface="Segoe UI"/>
                </a:defRPr>
              </a:pPr>
              <a:r>
                <a:rPr sz="900"/>
                <a:t>4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449574" y="2846592"/>
              <a:ext cx="216027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FFFFFF"/>
                  </a:solidFill>
                  <a:latin typeface="Segoe UI"/>
                </a:defRPr>
              </a:pPr>
              <a:r>
                <a:rPr sz="900"/>
                <a:t>Softmax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3449574" y="3004326"/>
              <a:ext cx="2160270" cy="4039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94A3B8"/>
                  </a:solidFill>
                  <a:latin typeface="Consolas"/>
                </a:defRPr>
              </a:pPr>
              <a:r>
                <a:rPr sz="675"/>
                <a:t>Weights = softmax(Score)</a:t>
              </a:r>
              <a:br>
                <a:rPr sz="675"/>
              </a:br>
              <a:r>
                <a:rPr sz="675"/>
                <a:t>(convert to probabilities</a:t>
              </a:r>
              <a:br>
                <a:rPr sz="675"/>
              </a:br>
              <a:r>
                <a:rPr sz="675"/>
                <a:t>that sum to 1)</a:t>
              </a:r>
            </a:p>
          </p:txBody>
        </p:sp>
        <p:cxnSp>
          <p:nvCxnSpPr>
            <p:cNvPr id="43" name="Connector 42"/>
            <p:cNvCxnSpPr/>
            <p:nvPr/>
          </p:nvCxnSpPr>
          <p:spPr>
            <a:xfrm>
              <a:off x="3278124" y="3360942"/>
              <a:ext cx="0" cy="54864"/>
            </a:xfrm>
            <a:prstGeom prst="line">
              <a:avLst/>
            </a:prstGeom>
            <a:ln w="19050">
              <a:solidFill>
                <a:srgbClr val="EC489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B0FA39C7-2ECC-1C3F-B2AA-46A84BDE0923}"/>
              </a:ext>
            </a:extLst>
          </p:cNvPr>
          <p:cNvGrpSpPr/>
          <p:nvPr/>
        </p:nvGrpSpPr>
        <p:grpSpPr>
          <a:xfrm>
            <a:off x="3120390" y="3415806"/>
            <a:ext cx="2571750" cy="582265"/>
            <a:chOff x="3120390" y="3415806"/>
            <a:chExt cx="2571750" cy="582265"/>
          </a:xfrm>
        </p:grpSpPr>
        <p:sp>
          <p:nvSpPr>
            <p:cNvPr id="44" name="Rounded Rectangle 43"/>
            <p:cNvSpPr/>
            <p:nvPr/>
          </p:nvSpPr>
          <p:spPr>
            <a:xfrm>
              <a:off x="3120390" y="3415806"/>
              <a:ext cx="2571750" cy="534924"/>
            </a:xfrm>
            <a:prstGeom prst="roundRect">
              <a:avLst>
                <a:gd name="adj" fmla="val 4000"/>
              </a:avLst>
            </a:prstGeom>
            <a:solidFill>
              <a:srgbClr val="162033"/>
            </a:solidFill>
            <a:ln w="19050">
              <a:solidFill>
                <a:srgbClr val="22C55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3175254" y="3470670"/>
              <a:ext cx="205740" cy="20574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200" b="1">
                  <a:solidFill>
                    <a:srgbClr val="0F172A"/>
                  </a:solidFill>
                  <a:latin typeface="Segoe UI"/>
                </a:defRPr>
              </a:pPr>
              <a:r>
                <a:rPr sz="900"/>
                <a:t>5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3449574" y="3436380"/>
              <a:ext cx="216027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FFFFFF"/>
                  </a:solidFill>
                  <a:latin typeface="Segoe UI"/>
                </a:defRPr>
              </a:pPr>
              <a:r>
                <a:rPr sz="900"/>
                <a:t>Weighted Sum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3449574" y="3594114"/>
              <a:ext cx="2160270" cy="4039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94A3B8"/>
                  </a:solidFill>
                  <a:latin typeface="Consolas"/>
                </a:defRPr>
              </a:pPr>
              <a:r>
                <a:rPr sz="675"/>
                <a:t>Output = Weights · V</a:t>
              </a:r>
              <a:br>
                <a:rPr sz="675"/>
              </a:br>
              <a:r>
                <a:rPr sz="675"/>
                <a:t>(each token's output is a blend</a:t>
              </a:r>
              <a:br>
                <a:rPr sz="675"/>
              </a:br>
              <a:r>
                <a:rPr sz="675"/>
                <a:t>of ALL value vectors)</a:t>
              </a: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77E4275E-72C7-03A6-8328-83CA2AED0E8D}"/>
              </a:ext>
            </a:extLst>
          </p:cNvPr>
          <p:cNvGrpSpPr/>
          <p:nvPr/>
        </p:nvGrpSpPr>
        <p:grpSpPr>
          <a:xfrm>
            <a:off x="5897880" y="810800"/>
            <a:ext cx="3086100" cy="891540"/>
            <a:chOff x="5897880" y="810800"/>
            <a:chExt cx="3086100" cy="891540"/>
          </a:xfrm>
        </p:grpSpPr>
        <p:sp>
          <p:nvSpPr>
            <p:cNvPr id="48" name="TextBox 47"/>
            <p:cNvSpPr txBox="1"/>
            <p:nvPr/>
          </p:nvSpPr>
          <p:spPr>
            <a:xfrm>
              <a:off x="5897880" y="810800"/>
              <a:ext cx="308610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FBBF24"/>
                  </a:solidFill>
                  <a:latin typeface="Segoe UI"/>
                </a:defRPr>
              </a:pPr>
              <a:r>
                <a:rPr sz="900"/>
                <a:t>THE FORMULA</a:t>
              </a:r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5897880" y="1050830"/>
              <a:ext cx="3051810" cy="651510"/>
            </a:xfrm>
            <a:prstGeom prst="roundRect">
              <a:avLst>
                <a:gd name="adj" fmla="val 4000"/>
              </a:avLst>
            </a:prstGeom>
            <a:solidFill>
              <a:srgbClr val="162033"/>
            </a:solidFill>
            <a:ln w="19050">
              <a:solidFill>
                <a:srgbClr val="FBBF2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300" b="1">
                  <a:solidFill>
                    <a:srgbClr val="FBBF24"/>
                  </a:solidFill>
                  <a:latin typeface="Consolas"/>
                </a:defRPr>
              </a:pPr>
              <a:r>
                <a:rPr sz="975"/>
                <a:t>Attention(Q, K, V)  =</a:t>
              </a:r>
            </a:p>
            <a:p>
              <a:pPr algn="ctr">
                <a:spcBef>
                  <a:spcPts val="450"/>
                </a:spcBef>
                <a:defRPr sz="1600" b="1">
                  <a:solidFill>
                    <a:srgbClr val="FFFFFF"/>
                  </a:solidFill>
                  <a:latin typeface="Consolas"/>
                </a:defRPr>
              </a:pPr>
              <a:r>
                <a:rPr sz="1200"/>
                <a:t>softmax( Q · Kᵀ / √dₖ ) · V</a:t>
              </a: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6BC49A44-69A2-DC58-FA37-ABFB091E5C69}"/>
              </a:ext>
            </a:extLst>
          </p:cNvPr>
          <p:cNvGrpSpPr/>
          <p:nvPr/>
        </p:nvGrpSpPr>
        <p:grpSpPr>
          <a:xfrm>
            <a:off x="5926341" y="1869974"/>
            <a:ext cx="2983230" cy="701696"/>
            <a:chOff x="5897880" y="2468880"/>
            <a:chExt cx="2983230" cy="701696"/>
          </a:xfrm>
        </p:grpSpPr>
        <p:sp>
          <p:nvSpPr>
            <p:cNvPr id="50" name="Rounded Rectangle 49"/>
            <p:cNvSpPr/>
            <p:nvPr/>
          </p:nvSpPr>
          <p:spPr>
            <a:xfrm>
              <a:off x="5897880" y="2468880"/>
              <a:ext cx="720090" cy="685800"/>
            </a:xfrm>
            <a:prstGeom prst="roundRect">
              <a:avLst>
                <a:gd name="adj" fmla="val 6000"/>
              </a:avLst>
            </a:prstGeom>
            <a:solidFill>
              <a:srgbClr val="162033"/>
            </a:solidFill>
            <a:ln w="19050">
              <a:solidFill>
                <a:srgbClr val="3B82F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5897880" y="2503170"/>
              <a:ext cx="72009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1">
                  <a:solidFill>
                    <a:srgbClr val="3B82F6"/>
                  </a:solidFill>
                  <a:latin typeface="Consolas"/>
                </a:defRPr>
              </a:pPr>
              <a:r>
                <a:rPr sz="750"/>
                <a:t>Q · Kᵀ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5932170" y="2708910"/>
              <a:ext cx="65151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800" b="0">
                  <a:solidFill>
                    <a:srgbClr val="94A3B8"/>
                  </a:solidFill>
                  <a:latin typeface="Segoe UI"/>
                </a:defRPr>
              </a:pPr>
              <a:r>
                <a:rPr sz="600"/>
                <a:t>How relevant is each</a:t>
              </a:r>
              <a:br>
                <a:rPr sz="600"/>
              </a:br>
              <a:r>
                <a:rPr sz="600"/>
                <a:t>token to me?</a:t>
              </a:r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6652260" y="2468880"/>
              <a:ext cx="720090" cy="685800"/>
            </a:xfrm>
            <a:prstGeom prst="roundRect">
              <a:avLst>
                <a:gd name="adj" fmla="val 6000"/>
              </a:avLst>
            </a:prstGeom>
            <a:solidFill>
              <a:srgbClr val="162033"/>
            </a:solidFill>
            <a:ln w="19050">
              <a:solidFill>
                <a:srgbClr val="FBBF2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6652260" y="2503170"/>
              <a:ext cx="72009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1">
                  <a:solidFill>
                    <a:srgbClr val="FBBF24"/>
                  </a:solidFill>
                  <a:latin typeface="Consolas"/>
                </a:defRPr>
              </a:pPr>
              <a:r>
                <a:rPr sz="750"/>
                <a:t>/ √dₖ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6686550" y="2708910"/>
              <a:ext cx="6515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800" b="0">
                  <a:solidFill>
                    <a:srgbClr val="94A3B8"/>
                  </a:solidFill>
                  <a:latin typeface="Segoe UI"/>
                </a:defRPr>
              </a:pPr>
              <a:r>
                <a:rPr sz="600" dirty="0"/>
                <a:t>Scale down to prevent</a:t>
              </a:r>
              <a:br>
                <a:rPr sz="600" dirty="0"/>
              </a:br>
              <a:r>
                <a:rPr sz="600" dirty="0"/>
                <a:t>exploding values</a:t>
              </a:r>
            </a:p>
          </p:txBody>
        </p:sp>
        <p:sp>
          <p:nvSpPr>
            <p:cNvPr id="56" name="Rounded Rectangle 55"/>
            <p:cNvSpPr/>
            <p:nvPr/>
          </p:nvSpPr>
          <p:spPr>
            <a:xfrm>
              <a:off x="7406640" y="2468880"/>
              <a:ext cx="720090" cy="685800"/>
            </a:xfrm>
            <a:prstGeom prst="roundRect">
              <a:avLst>
                <a:gd name="adj" fmla="val 6000"/>
              </a:avLst>
            </a:prstGeom>
            <a:solidFill>
              <a:srgbClr val="162033"/>
            </a:solidFill>
            <a:ln w="19050">
              <a:solidFill>
                <a:srgbClr val="EC489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7406640" y="2503170"/>
              <a:ext cx="72009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1">
                  <a:solidFill>
                    <a:srgbClr val="EC4899"/>
                  </a:solidFill>
                  <a:latin typeface="Consolas"/>
                </a:defRPr>
              </a:pPr>
              <a:r>
                <a:rPr sz="750"/>
                <a:t>softmax(…)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7440930" y="2708910"/>
              <a:ext cx="6515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800" b="0">
                  <a:solidFill>
                    <a:srgbClr val="94A3B8"/>
                  </a:solidFill>
                  <a:latin typeface="Segoe UI"/>
                </a:defRPr>
              </a:pPr>
              <a:r>
                <a:rPr sz="600" dirty="0"/>
                <a:t>Convert to probabilities</a:t>
              </a:r>
              <a:br>
                <a:rPr sz="600" dirty="0"/>
              </a:br>
              <a:r>
                <a:rPr sz="600" dirty="0"/>
                <a:t>(0–1, sum to 1)</a:t>
              </a:r>
            </a:p>
          </p:txBody>
        </p:sp>
        <p:sp>
          <p:nvSpPr>
            <p:cNvPr id="59" name="Rounded Rectangle 58"/>
            <p:cNvSpPr/>
            <p:nvPr/>
          </p:nvSpPr>
          <p:spPr>
            <a:xfrm>
              <a:off x="8161020" y="2468880"/>
              <a:ext cx="720090" cy="685800"/>
            </a:xfrm>
            <a:prstGeom prst="roundRect">
              <a:avLst>
                <a:gd name="adj" fmla="val 6000"/>
              </a:avLst>
            </a:prstGeom>
            <a:solidFill>
              <a:srgbClr val="162033"/>
            </a:solidFill>
            <a:ln w="19050">
              <a:solidFill>
                <a:srgbClr val="22C55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8161020" y="2503170"/>
              <a:ext cx="72009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1">
                  <a:solidFill>
                    <a:srgbClr val="22C55E"/>
                  </a:solidFill>
                  <a:latin typeface="Consolas"/>
                </a:defRPr>
              </a:pPr>
              <a:r>
                <a:rPr sz="750"/>
                <a:t>· V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8195310" y="2708911"/>
              <a:ext cx="6515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800" b="0">
                  <a:solidFill>
                    <a:srgbClr val="94A3B8"/>
                  </a:solidFill>
                  <a:latin typeface="Segoe UI"/>
                </a:defRPr>
              </a:pPr>
              <a:r>
                <a:rPr sz="600"/>
                <a:t>Blend value vectors</a:t>
              </a:r>
              <a:br>
                <a:rPr sz="600"/>
              </a:br>
              <a:r>
                <a:rPr sz="600"/>
                <a:t>by those weights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6DE16884-712A-7C2D-A518-ED742A7A697E}"/>
              </a:ext>
            </a:extLst>
          </p:cNvPr>
          <p:cNvGrpSpPr/>
          <p:nvPr/>
        </p:nvGrpSpPr>
        <p:grpSpPr>
          <a:xfrm>
            <a:off x="5882465" y="2625316"/>
            <a:ext cx="3120390" cy="2365007"/>
            <a:chOff x="5882465" y="2625316"/>
            <a:chExt cx="3120390" cy="2365007"/>
          </a:xfrm>
        </p:grpSpPr>
        <p:sp>
          <p:nvSpPr>
            <p:cNvPr id="62" name="TextBox 61"/>
            <p:cNvSpPr txBox="1"/>
            <p:nvPr/>
          </p:nvSpPr>
          <p:spPr>
            <a:xfrm>
              <a:off x="5939028" y="2625316"/>
              <a:ext cx="2424859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14B8A6"/>
                  </a:solidFill>
                  <a:latin typeface="Segoe UI"/>
                </a:defRPr>
              </a:pPr>
              <a:r>
                <a:rPr sz="750" dirty="0"/>
                <a:t>EXAMPLE:  "The cat sat"  —  Self-Attention Scores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6602555" y="2830053"/>
              <a:ext cx="4800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1">
                  <a:solidFill>
                    <a:srgbClr val="3B82F6"/>
                  </a:solidFill>
                  <a:latin typeface="Consolas"/>
                </a:defRPr>
              </a:pPr>
              <a:r>
                <a:rPr sz="750" dirty="0"/>
                <a:t>The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7082615" y="2830053"/>
              <a:ext cx="4800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1">
                  <a:solidFill>
                    <a:srgbClr val="3B82F6"/>
                  </a:solidFill>
                  <a:latin typeface="Consolas"/>
                </a:defRPr>
              </a:pPr>
              <a:r>
                <a:rPr sz="750"/>
                <a:t>cat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7562675" y="2830053"/>
              <a:ext cx="4800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1">
                  <a:solidFill>
                    <a:srgbClr val="3B82F6"/>
                  </a:solidFill>
                  <a:latin typeface="Consolas"/>
                </a:defRPr>
              </a:pPr>
              <a:r>
                <a:rPr sz="750"/>
                <a:t>sat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6931174" y="2741095"/>
              <a:ext cx="674546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800" b="0">
                  <a:solidFill>
                    <a:srgbClr val="94A3B8"/>
                  </a:solidFill>
                  <a:latin typeface="Segoe UI"/>
                </a:defRPr>
              </a:pPr>
              <a:r>
                <a:rPr sz="600" dirty="0"/>
                <a:t>Attends to →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5882465" y="3104373"/>
              <a:ext cx="41356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defRPr sz="800" b="0">
                  <a:solidFill>
                    <a:srgbClr val="94A3B8"/>
                  </a:solidFill>
                  <a:latin typeface="Segoe UI"/>
                </a:defRPr>
              </a:pPr>
              <a:r>
                <a:rPr sz="600" dirty="0"/>
                <a:t>Token ↓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6172201" y="3160718"/>
              <a:ext cx="390904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defRPr sz="1000" b="1">
                  <a:solidFill>
                    <a:srgbClr val="14B8A6"/>
                  </a:solidFill>
                  <a:latin typeface="Consolas"/>
                </a:defRPr>
              </a:pPr>
              <a:r>
                <a:rPr sz="750" dirty="0"/>
                <a:t>The</a:t>
              </a: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6602555" y="3035793"/>
              <a:ext cx="480060" cy="480060"/>
            </a:xfrm>
            <a:prstGeom prst="rect">
              <a:avLst/>
            </a:prstGeom>
            <a:solidFill>
              <a:srgbClr val="153644"/>
            </a:solidFill>
            <a:ln w="9525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6602555" y="3138664"/>
              <a:ext cx="48006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100" b="0">
                  <a:solidFill>
                    <a:srgbClr val="B0B8C8"/>
                  </a:solidFill>
                  <a:latin typeface="Consolas"/>
                </a:defRPr>
              </a:pPr>
              <a:r>
                <a:rPr sz="825"/>
                <a:t>15%</a:t>
              </a: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7082615" y="3035793"/>
              <a:ext cx="480060" cy="480060"/>
            </a:xfrm>
            <a:prstGeom prst="rect">
              <a:avLst/>
            </a:prstGeom>
            <a:solidFill>
              <a:srgbClr val="156466"/>
            </a:solidFill>
            <a:ln w="9525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7082615" y="3138664"/>
              <a:ext cx="48006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100" b="1">
                  <a:solidFill>
                    <a:srgbClr val="B0B8C8"/>
                  </a:solidFill>
                  <a:latin typeface="Consolas"/>
                </a:defRPr>
              </a:pPr>
              <a:r>
                <a:rPr sz="825"/>
                <a:t>45%</a:t>
              </a:r>
            </a:p>
          </p:txBody>
        </p:sp>
        <p:sp>
          <p:nvSpPr>
            <p:cNvPr id="73" name="Rectangle 72"/>
            <p:cNvSpPr/>
            <p:nvPr/>
          </p:nvSpPr>
          <p:spPr>
            <a:xfrm>
              <a:off x="7562675" y="3035793"/>
              <a:ext cx="480060" cy="480060"/>
            </a:xfrm>
            <a:prstGeom prst="rect">
              <a:avLst/>
            </a:prstGeom>
            <a:solidFill>
              <a:srgbClr val="155C61"/>
            </a:solidFill>
            <a:ln w="9525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7562675" y="3138664"/>
              <a:ext cx="48006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100" b="0">
                  <a:solidFill>
                    <a:srgbClr val="B0B8C8"/>
                  </a:solidFill>
                  <a:latin typeface="Consolas"/>
                </a:defRPr>
              </a:pPr>
              <a:r>
                <a:rPr sz="825"/>
                <a:t>40%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5951045" y="3584433"/>
              <a:ext cx="61722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defRPr sz="1000" b="1">
                  <a:solidFill>
                    <a:srgbClr val="14B8A6"/>
                  </a:solidFill>
                  <a:latin typeface="Consolas"/>
                </a:defRPr>
              </a:pPr>
              <a:r>
                <a:rPr sz="750"/>
                <a:t>cat</a:t>
              </a: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6602555" y="3515853"/>
              <a:ext cx="480060" cy="480060"/>
            </a:xfrm>
            <a:prstGeom prst="rect">
              <a:avLst/>
            </a:prstGeom>
            <a:solidFill>
              <a:srgbClr val="152F3E"/>
            </a:solidFill>
            <a:ln w="9525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6602555" y="3618724"/>
              <a:ext cx="48006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100" b="0">
                  <a:solidFill>
                    <a:srgbClr val="B0B8C8"/>
                  </a:solidFill>
                  <a:latin typeface="Consolas"/>
                </a:defRPr>
              </a:pPr>
              <a:r>
                <a:rPr sz="825"/>
                <a:t>10%</a:t>
              </a:r>
            </a:p>
          </p:txBody>
        </p:sp>
        <p:sp>
          <p:nvSpPr>
            <p:cNvPr id="78" name="Rectangle 77"/>
            <p:cNvSpPr/>
            <p:nvPr/>
          </p:nvSpPr>
          <p:spPr>
            <a:xfrm>
              <a:off x="7082615" y="3515853"/>
              <a:ext cx="480060" cy="480060"/>
            </a:xfrm>
            <a:prstGeom prst="rect">
              <a:avLst/>
            </a:prstGeom>
            <a:solidFill>
              <a:srgbClr val="15464F"/>
            </a:solidFill>
            <a:ln w="9525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7082615" y="3618724"/>
              <a:ext cx="48006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100" b="0">
                  <a:solidFill>
                    <a:srgbClr val="B0B8C8"/>
                  </a:solidFill>
                  <a:latin typeface="Consolas"/>
                </a:defRPr>
              </a:pPr>
              <a:r>
                <a:rPr sz="825"/>
                <a:t>25%</a:t>
              </a: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7562675" y="3515853"/>
              <a:ext cx="480060" cy="480060"/>
            </a:xfrm>
            <a:prstGeom prst="rect">
              <a:avLst/>
            </a:prstGeom>
            <a:solidFill>
              <a:srgbClr val="14827D"/>
            </a:solidFill>
            <a:ln w="9525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7562675" y="3618724"/>
              <a:ext cx="48006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100" b="1">
                  <a:solidFill>
                    <a:srgbClr val="0F172A"/>
                  </a:solidFill>
                  <a:latin typeface="Consolas"/>
                </a:defRPr>
              </a:pPr>
              <a:r>
                <a:rPr sz="825"/>
                <a:t>65%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5951045" y="4064493"/>
              <a:ext cx="61722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defRPr sz="1000" b="1">
                  <a:solidFill>
                    <a:srgbClr val="14B8A6"/>
                  </a:solidFill>
                  <a:latin typeface="Consolas"/>
                </a:defRPr>
              </a:pPr>
              <a:r>
                <a:rPr sz="750"/>
                <a:t>sat</a:t>
              </a:r>
            </a:p>
          </p:txBody>
        </p:sp>
        <p:sp>
          <p:nvSpPr>
            <p:cNvPr id="83" name="Rectangle 82"/>
            <p:cNvSpPr/>
            <p:nvPr/>
          </p:nvSpPr>
          <p:spPr>
            <a:xfrm>
              <a:off x="6602555" y="3995913"/>
              <a:ext cx="480060" cy="480060"/>
            </a:xfrm>
            <a:prstGeom prst="rect">
              <a:avLst/>
            </a:prstGeom>
            <a:solidFill>
              <a:srgbClr val="152C3C"/>
            </a:solidFill>
            <a:ln w="9525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6602555" y="4098784"/>
              <a:ext cx="48006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100" b="0">
                  <a:solidFill>
                    <a:srgbClr val="B0B8C8"/>
                  </a:solidFill>
                  <a:latin typeface="Consolas"/>
                </a:defRPr>
              </a:pPr>
              <a:r>
                <a:rPr sz="825"/>
                <a:t>8%</a:t>
              </a:r>
            </a:p>
          </p:txBody>
        </p:sp>
        <p:sp>
          <p:nvSpPr>
            <p:cNvPr id="85" name="Rectangle 84"/>
            <p:cNvSpPr/>
            <p:nvPr/>
          </p:nvSpPr>
          <p:spPr>
            <a:xfrm>
              <a:off x="7082615" y="3995913"/>
              <a:ext cx="480060" cy="480060"/>
            </a:xfrm>
            <a:prstGeom prst="rect">
              <a:avLst/>
            </a:prstGeom>
            <a:solidFill>
              <a:srgbClr val="148D85"/>
            </a:solidFill>
            <a:ln w="9525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7082615" y="4098784"/>
              <a:ext cx="48006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100" b="1">
                  <a:solidFill>
                    <a:srgbClr val="0F172A"/>
                  </a:solidFill>
                  <a:latin typeface="Consolas"/>
                </a:defRPr>
              </a:pPr>
              <a:r>
                <a:rPr sz="825"/>
                <a:t>72%</a:t>
              </a:r>
            </a:p>
          </p:txBody>
        </p:sp>
        <p:sp>
          <p:nvSpPr>
            <p:cNvPr id="87" name="Rectangle 86"/>
            <p:cNvSpPr/>
            <p:nvPr/>
          </p:nvSpPr>
          <p:spPr>
            <a:xfrm>
              <a:off x="7562675" y="3995913"/>
              <a:ext cx="480060" cy="480060"/>
            </a:xfrm>
            <a:prstGeom prst="rect">
              <a:avLst/>
            </a:prstGeom>
            <a:solidFill>
              <a:srgbClr val="153E4A"/>
            </a:solidFill>
            <a:ln w="9525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7562675" y="4098784"/>
              <a:ext cx="48006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100" b="0">
                  <a:solidFill>
                    <a:srgbClr val="B0B8C8"/>
                  </a:solidFill>
                  <a:latin typeface="Consolas"/>
                </a:defRPr>
              </a:pPr>
              <a:r>
                <a:rPr sz="825"/>
                <a:t>20%</a:t>
              </a:r>
            </a:p>
          </p:txBody>
        </p:sp>
        <p:sp>
          <p:nvSpPr>
            <p:cNvPr id="89" name="Rounded Rectangle 88"/>
            <p:cNvSpPr/>
            <p:nvPr/>
          </p:nvSpPr>
          <p:spPr>
            <a:xfrm>
              <a:off x="5951045" y="4544553"/>
              <a:ext cx="3051810" cy="445770"/>
            </a:xfrm>
            <a:prstGeom prst="roundRect">
              <a:avLst>
                <a:gd name="adj" fmla="val 4000"/>
              </a:avLst>
            </a:prstGeom>
            <a:solidFill>
              <a:srgbClr val="162033"/>
            </a:solidFill>
            <a:ln w="19050">
              <a:solidFill>
                <a:srgbClr val="14B8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000" b="1">
                  <a:solidFill>
                    <a:srgbClr val="14B8A6"/>
                  </a:solidFill>
                  <a:latin typeface="Segoe UI"/>
                </a:defRPr>
              </a:pPr>
              <a:r>
                <a:rPr sz="750"/>
                <a:t>💡  "sat" pays 72% attention to "cat"</a:t>
              </a:r>
            </a:p>
            <a:p>
              <a:pPr>
                <a:spcBef>
                  <a:spcPts val="150"/>
                </a:spcBef>
                <a:defRPr sz="900">
                  <a:solidFill>
                    <a:srgbClr val="94A3B8"/>
                  </a:solidFill>
                  <a:latin typeface="Segoe UI"/>
                </a:defRPr>
              </a:pPr>
              <a:r>
                <a:rPr sz="675"/>
                <a:t>The model learns that "sat" is an action done by "cat".</a:t>
              </a:r>
              <a:br>
                <a:rPr sz="675"/>
              </a:br>
              <a:r>
                <a:rPr sz="675"/>
                <a:t>This relationship is discovered automatically — not programmed!</a:t>
              </a:r>
            </a:p>
          </p:txBody>
        </p:sp>
      </p:grpSp>
      <p:sp>
        <p:nvSpPr>
          <p:cNvPr id="90" name="Rounded Rectangle 89"/>
          <p:cNvSpPr/>
          <p:nvPr/>
        </p:nvSpPr>
        <p:spPr>
          <a:xfrm>
            <a:off x="356616" y="4426767"/>
            <a:ext cx="4760042" cy="288036"/>
          </a:xfrm>
          <a:prstGeom prst="roundRect">
            <a:avLst>
              <a:gd name="adj" fmla="val 5000"/>
            </a:avLst>
          </a:prstGeom>
          <a:solidFill>
            <a:srgbClr val="1C2735"/>
          </a:solidFill>
          <a:ln w="19050">
            <a:solidFill>
              <a:srgbClr val="334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 dirty="0">
                <a:solidFill>
                  <a:srgbClr val="F59E0B"/>
                </a:solidFill>
                <a:latin typeface="Segoe UI"/>
              </a:rPr>
              <a:t>🧠 Key Insight:  </a:t>
            </a:r>
            <a:r>
              <a:rPr sz="900" dirty="0">
                <a:solidFill>
                  <a:srgbClr val="B0B8C8"/>
                </a:solidFill>
                <a:latin typeface="Segoe UI"/>
              </a:rPr>
              <a:t>Self-Attention lets EVERY token directly communicate with EVERY other token — no sequential processing, no distance limitations, all in ONE computation.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04" y="-1345"/>
            <a:ext cx="9143771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4" name="TextBox 3"/>
          <p:cNvSpPr txBox="1"/>
          <p:nvPr/>
        </p:nvSpPr>
        <p:spPr>
          <a:xfrm>
            <a:off x="342900" y="7620"/>
            <a:ext cx="8092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sz="2400" dirty="0"/>
              <a:t>Multi-Head Attention – Multiple Perspectives at Once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" y="453390"/>
            <a:ext cx="7543800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rPr sz="1125" dirty="0"/>
              <a:t>Instead of one attention, run 8 in parallel — each learning a different type of relationship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9EB29FD2-01AC-C51A-896F-F167F04813A0}"/>
              </a:ext>
            </a:extLst>
          </p:cNvPr>
          <p:cNvGrpSpPr/>
          <p:nvPr/>
        </p:nvGrpSpPr>
        <p:grpSpPr>
          <a:xfrm>
            <a:off x="274320" y="882796"/>
            <a:ext cx="1899666" cy="1920240"/>
            <a:chOff x="274320" y="882796"/>
            <a:chExt cx="1899666" cy="1920240"/>
          </a:xfrm>
        </p:grpSpPr>
        <p:sp>
          <p:nvSpPr>
            <p:cNvPr id="7" name="TextBox 6"/>
            <p:cNvSpPr txBox="1"/>
            <p:nvPr/>
          </p:nvSpPr>
          <p:spPr>
            <a:xfrm>
              <a:off x="274320" y="882796"/>
              <a:ext cx="189966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A78BFA"/>
                  </a:solidFill>
                  <a:latin typeface="Segoe UI"/>
                </a:defRPr>
              </a:pPr>
              <a:r>
                <a:rPr sz="900" dirty="0"/>
                <a:t>SINGLE HEAD  vs  MULTI-HEAD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274320" y="1157116"/>
              <a:ext cx="1714500" cy="1645920"/>
            </a:xfrm>
            <a:prstGeom prst="roundRect">
              <a:avLst>
                <a:gd name="adj" fmla="val 4000"/>
              </a:avLst>
            </a:prstGeom>
            <a:solidFill>
              <a:srgbClr val="162033"/>
            </a:solidFill>
            <a:ln w="19050">
              <a:solidFill>
                <a:srgbClr val="EF444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42900" y="1211980"/>
              <a:ext cx="157734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200" b="1">
                  <a:solidFill>
                    <a:srgbClr val="EF4444"/>
                  </a:solidFill>
                  <a:latin typeface="Segoe UI"/>
                </a:defRPr>
              </a:pPr>
              <a:r>
                <a:rPr sz="900"/>
                <a:t>❌  Single Head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480060" y="1500016"/>
              <a:ext cx="1303020" cy="480060"/>
            </a:xfrm>
            <a:prstGeom prst="roundRect">
              <a:avLst>
                <a:gd name="adj" fmla="val 10000"/>
              </a:avLst>
            </a:prstGeom>
            <a:solidFill>
              <a:srgbClr val="1E293B"/>
            </a:solidFill>
            <a:ln w="19050">
              <a:solidFill>
                <a:srgbClr val="EF444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400" b="1">
                  <a:solidFill>
                    <a:srgbClr val="EF4444"/>
                  </a:solidFill>
                  <a:latin typeface="Segoe UI"/>
                </a:defRPr>
              </a:pPr>
              <a:r>
                <a:rPr sz="1050"/>
                <a:t>Attention</a:t>
              </a:r>
            </a:p>
            <a:p>
              <a:pPr algn="ctr">
                <a:defRPr sz="1000">
                  <a:solidFill>
                    <a:srgbClr val="94A3B8"/>
                  </a:solidFill>
                  <a:latin typeface="Consolas"/>
                </a:defRPr>
              </a:pPr>
              <a:r>
                <a:rPr sz="750"/>
                <a:t>d = 512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42900" y="2117237"/>
              <a:ext cx="1577340" cy="5078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94A3B8"/>
                  </a:solidFill>
                  <a:latin typeface="Segoe UI"/>
                </a:defRPr>
              </a:pPr>
              <a:r>
                <a:rPr sz="675"/>
                <a:t>One perspective only.</a:t>
              </a:r>
              <a:br>
                <a:rPr sz="675"/>
              </a:br>
              <a:r>
                <a:rPr sz="675"/>
                <a:t>Forced to average ALL</a:t>
              </a:r>
              <a:br>
                <a:rPr sz="675"/>
              </a:br>
              <a:r>
                <a:rPr sz="675"/>
                <a:t>relationship types into</a:t>
              </a:r>
              <a:br>
                <a:rPr sz="675"/>
              </a:br>
              <a:r>
                <a:rPr sz="675"/>
                <a:t>one set of weights.</a:t>
              </a: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94FCD7FF-88B9-4842-D302-13C8AB79A5A5}"/>
              </a:ext>
            </a:extLst>
          </p:cNvPr>
          <p:cNvGrpSpPr/>
          <p:nvPr/>
        </p:nvGrpSpPr>
        <p:grpSpPr>
          <a:xfrm>
            <a:off x="2023110" y="1157116"/>
            <a:ext cx="2125980" cy="1645920"/>
            <a:chOff x="2023110" y="1157116"/>
            <a:chExt cx="2125980" cy="1645920"/>
          </a:xfrm>
        </p:grpSpPr>
        <p:sp>
          <p:nvSpPr>
            <p:cNvPr id="12" name="TextBox 11"/>
            <p:cNvSpPr txBox="1"/>
            <p:nvPr/>
          </p:nvSpPr>
          <p:spPr>
            <a:xfrm>
              <a:off x="2023110" y="1774336"/>
              <a:ext cx="342900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2000" b="0">
                  <a:solidFill>
                    <a:srgbClr val="33445C"/>
                  </a:solidFill>
                  <a:latin typeface="Segoe UI"/>
                </a:defRPr>
              </a:pPr>
              <a:r>
                <a:rPr sz="1500" dirty="0"/>
                <a:t>→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2366010" y="1157116"/>
              <a:ext cx="1783080" cy="1645920"/>
            </a:xfrm>
            <a:prstGeom prst="roundRect">
              <a:avLst>
                <a:gd name="adj" fmla="val 4000"/>
              </a:avLst>
            </a:prstGeom>
            <a:solidFill>
              <a:srgbClr val="162033"/>
            </a:solidFill>
            <a:ln w="19050">
              <a:solidFill>
                <a:srgbClr val="22C55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434590" y="1211980"/>
              <a:ext cx="164592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200" b="1">
                  <a:solidFill>
                    <a:srgbClr val="22C55E"/>
                  </a:solidFill>
                  <a:latin typeface="Segoe UI"/>
                </a:defRPr>
              </a:pPr>
              <a:r>
                <a:rPr sz="900"/>
                <a:t>✅  Multi-Head (h=8)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2468880" y="1465726"/>
              <a:ext cx="342900" cy="342900"/>
            </a:xfrm>
            <a:prstGeom prst="roundRect">
              <a:avLst>
                <a:gd name="adj" fmla="val 12000"/>
              </a:avLst>
            </a:prstGeom>
            <a:solidFill>
              <a:srgbClr val="1E293B"/>
            </a:solidFill>
            <a:ln w="19050">
              <a:solidFill>
                <a:srgbClr val="3B82F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000" b="1">
                  <a:solidFill>
                    <a:srgbClr val="3B82F6"/>
                  </a:solidFill>
                  <a:latin typeface="Segoe UI"/>
                </a:defRPr>
              </a:pPr>
              <a:r>
                <a:rPr sz="750"/>
                <a:t>H1</a:t>
              </a:r>
            </a:p>
            <a:p>
              <a:pPr algn="ctr">
                <a:defRPr sz="700">
                  <a:solidFill>
                    <a:srgbClr val="94A3B8"/>
                  </a:solidFill>
                  <a:latin typeface="Consolas"/>
                </a:defRPr>
              </a:pPr>
              <a:r>
                <a:rPr sz="525"/>
                <a:t>d=64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2852928" y="1465726"/>
              <a:ext cx="342900" cy="342900"/>
            </a:xfrm>
            <a:prstGeom prst="roundRect">
              <a:avLst>
                <a:gd name="adj" fmla="val 12000"/>
              </a:avLst>
            </a:prstGeom>
            <a:solidFill>
              <a:srgbClr val="1E293B"/>
            </a:solidFill>
            <a:ln w="19050">
              <a:solidFill>
                <a:srgbClr val="F59E0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000" b="1">
                  <a:solidFill>
                    <a:srgbClr val="F59E0B"/>
                  </a:solidFill>
                  <a:latin typeface="Segoe UI"/>
                </a:defRPr>
              </a:pPr>
              <a:r>
                <a:rPr sz="750"/>
                <a:t>H2</a:t>
              </a:r>
            </a:p>
            <a:p>
              <a:pPr algn="ctr">
                <a:defRPr sz="700">
                  <a:solidFill>
                    <a:srgbClr val="94A3B8"/>
                  </a:solidFill>
                  <a:latin typeface="Consolas"/>
                </a:defRPr>
              </a:pPr>
              <a:r>
                <a:rPr sz="525"/>
                <a:t>d=64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3236976" y="1465726"/>
              <a:ext cx="342900" cy="342900"/>
            </a:xfrm>
            <a:prstGeom prst="roundRect">
              <a:avLst>
                <a:gd name="adj" fmla="val 12000"/>
              </a:avLst>
            </a:prstGeom>
            <a:solidFill>
              <a:srgbClr val="1E293B"/>
            </a:solidFill>
            <a:ln w="19050">
              <a:solidFill>
                <a:srgbClr val="22C55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000" b="1">
                  <a:solidFill>
                    <a:srgbClr val="22C55E"/>
                  </a:solidFill>
                  <a:latin typeface="Segoe UI"/>
                </a:defRPr>
              </a:pPr>
              <a:r>
                <a:rPr sz="750"/>
                <a:t>H3</a:t>
              </a:r>
            </a:p>
            <a:p>
              <a:pPr algn="ctr">
                <a:defRPr sz="700">
                  <a:solidFill>
                    <a:srgbClr val="94A3B8"/>
                  </a:solidFill>
                  <a:latin typeface="Consolas"/>
                </a:defRPr>
              </a:pPr>
              <a:r>
                <a:rPr sz="525"/>
                <a:t>d=64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3621024" y="1465726"/>
              <a:ext cx="342900" cy="342900"/>
            </a:xfrm>
            <a:prstGeom prst="roundRect">
              <a:avLst>
                <a:gd name="adj" fmla="val 12000"/>
              </a:avLst>
            </a:prstGeom>
            <a:solidFill>
              <a:srgbClr val="1E293B"/>
            </a:solidFill>
            <a:ln w="19050">
              <a:solidFill>
                <a:srgbClr val="EC489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000" b="1">
                  <a:solidFill>
                    <a:srgbClr val="EC4899"/>
                  </a:solidFill>
                  <a:latin typeface="Segoe UI"/>
                </a:defRPr>
              </a:pPr>
              <a:r>
                <a:rPr sz="750"/>
                <a:t>H4</a:t>
              </a:r>
            </a:p>
            <a:p>
              <a:pPr algn="ctr">
                <a:defRPr sz="700">
                  <a:solidFill>
                    <a:srgbClr val="94A3B8"/>
                  </a:solidFill>
                  <a:latin typeface="Consolas"/>
                </a:defRPr>
              </a:pPr>
              <a:r>
                <a:rPr sz="525"/>
                <a:t>d=64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2468880" y="1849774"/>
              <a:ext cx="342900" cy="342900"/>
            </a:xfrm>
            <a:prstGeom prst="roundRect">
              <a:avLst>
                <a:gd name="adj" fmla="val 12000"/>
              </a:avLst>
            </a:prstGeom>
            <a:solidFill>
              <a:srgbClr val="1E293B"/>
            </a:solidFill>
            <a:ln w="19050">
              <a:solidFill>
                <a:srgbClr val="14B8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000" b="1">
                  <a:solidFill>
                    <a:srgbClr val="14B8A6"/>
                  </a:solidFill>
                  <a:latin typeface="Segoe UI"/>
                </a:defRPr>
              </a:pPr>
              <a:r>
                <a:rPr sz="750"/>
                <a:t>H5</a:t>
              </a:r>
            </a:p>
            <a:p>
              <a:pPr algn="ctr">
                <a:defRPr sz="700">
                  <a:solidFill>
                    <a:srgbClr val="94A3B8"/>
                  </a:solidFill>
                  <a:latin typeface="Consolas"/>
                </a:defRPr>
              </a:pPr>
              <a:r>
                <a:rPr sz="525"/>
                <a:t>d=64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2852928" y="1849774"/>
              <a:ext cx="342900" cy="342900"/>
            </a:xfrm>
            <a:prstGeom prst="roundRect">
              <a:avLst>
                <a:gd name="adj" fmla="val 12000"/>
              </a:avLst>
            </a:prstGeom>
            <a:solidFill>
              <a:srgbClr val="1E293B"/>
            </a:solidFill>
            <a:ln w="19050">
              <a:solidFill>
                <a:srgbClr val="A78BF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000" b="1">
                  <a:solidFill>
                    <a:srgbClr val="A78BFA"/>
                  </a:solidFill>
                  <a:latin typeface="Segoe UI"/>
                </a:defRPr>
              </a:pPr>
              <a:r>
                <a:rPr sz="750"/>
                <a:t>H6</a:t>
              </a:r>
            </a:p>
            <a:p>
              <a:pPr algn="ctr">
                <a:defRPr sz="700">
                  <a:solidFill>
                    <a:srgbClr val="94A3B8"/>
                  </a:solidFill>
                  <a:latin typeface="Consolas"/>
                </a:defRPr>
              </a:pPr>
              <a:r>
                <a:rPr sz="525"/>
                <a:t>d=64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3236976" y="1849774"/>
              <a:ext cx="342900" cy="342900"/>
            </a:xfrm>
            <a:prstGeom prst="roundRect">
              <a:avLst>
                <a:gd name="adj" fmla="val 12000"/>
              </a:avLst>
            </a:prstGeom>
            <a:solidFill>
              <a:srgbClr val="1E293B"/>
            </a:solidFill>
            <a:ln w="19050">
              <a:solidFill>
                <a:srgbClr val="EF444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000" b="1">
                  <a:solidFill>
                    <a:srgbClr val="EF4444"/>
                  </a:solidFill>
                  <a:latin typeface="Segoe UI"/>
                </a:defRPr>
              </a:pPr>
              <a:r>
                <a:rPr sz="750"/>
                <a:t>H7</a:t>
              </a:r>
            </a:p>
            <a:p>
              <a:pPr algn="ctr">
                <a:defRPr sz="700">
                  <a:solidFill>
                    <a:srgbClr val="94A3B8"/>
                  </a:solidFill>
                  <a:latin typeface="Consolas"/>
                </a:defRPr>
              </a:pPr>
              <a:r>
                <a:rPr sz="525"/>
                <a:t>d=64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3621024" y="1849774"/>
              <a:ext cx="342900" cy="342900"/>
            </a:xfrm>
            <a:prstGeom prst="roundRect">
              <a:avLst>
                <a:gd name="adj" fmla="val 12000"/>
              </a:avLst>
            </a:prstGeom>
            <a:solidFill>
              <a:srgbClr val="1E293B"/>
            </a:solidFill>
            <a:ln w="19050">
              <a:solidFill>
                <a:srgbClr val="FBBF2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000" b="1">
                  <a:solidFill>
                    <a:srgbClr val="FBBF24"/>
                  </a:solidFill>
                  <a:latin typeface="Segoe UI"/>
                </a:defRPr>
              </a:pPr>
              <a:r>
                <a:rPr sz="750"/>
                <a:t>H8</a:t>
              </a:r>
            </a:p>
            <a:p>
              <a:pPr algn="ctr">
                <a:defRPr sz="700">
                  <a:solidFill>
                    <a:srgbClr val="94A3B8"/>
                  </a:solidFill>
                  <a:latin typeface="Consolas"/>
                </a:defRPr>
              </a:pPr>
              <a:r>
                <a:rPr sz="525"/>
                <a:t>d=64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434590" y="2288687"/>
              <a:ext cx="1645920" cy="5078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22C55E"/>
                  </a:solidFill>
                  <a:latin typeface="Segoe UI"/>
                </a:defRPr>
              </a:pPr>
              <a:r>
                <a:rPr sz="675"/>
                <a:t>8 parallel perspectives.</a:t>
              </a:r>
              <a:br>
                <a:rPr sz="675"/>
              </a:br>
              <a:r>
                <a:rPr sz="675"/>
                <a:t>Each head captures a</a:t>
              </a:r>
              <a:br>
                <a:rPr sz="675"/>
              </a:br>
              <a:r>
                <a:rPr sz="675"/>
                <a:t>different relationship.</a:t>
              </a:r>
              <a:br>
                <a:rPr sz="675"/>
              </a:br>
              <a:r>
                <a:rPr sz="675"/>
                <a:t>Same total computation!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4DB1C344-A2E6-FAB0-94FB-D8AA6B19F234}"/>
              </a:ext>
            </a:extLst>
          </p:cNvPr>
          <p:cNvGrpSpPr/>
          <p:nvPr/>
        </p:nvGrpSpPr>
        <p:grpSpPr>
          <a:xfrm>
            <a:off x="274320" y="3147956"/>
            <a:ext cx="3977640" cy="873144"/>
            <a:chOff x="274320" y="3147956"/>
            <a:chExt cx="3977640" cy="873144"/>
          </a:xfrm>
        </p:grpSpPr>
        <p:sp>
          <p:nvSpPr>
            <p:cNvPr id="24" name="TextBox 23"/>
            <p:cNvSpPr txBox="1"/>
            <p:nvPr/>
          </p:nvSpPr>
          <p:spPr>
            <a:xfrm>
              <a:off x="274320" y="3147956"/>
              <a:ext cx="397764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F59E0B"/>
                  </a:solidFill>
                  <a:latin typeface="Segoe UI"/>
                </a:defRPr>
              </a:pPr>
              <a:r>
                <a:rPr sz="825" dirty="0"/>
                <a:t>HOW MULTI-HEAD ATTENTION WORKS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274320" y="3367411"/>
              <a:ext cx="925830" cy="651510"/>
            </a:xfrm>
            <a:prstGeom prst="roundRect">
              <a:avLst>
                <a:gd name="adj" fmla="val 6000"/>
              </a:avLst>
            </a:prstGeom>
            <a:solidFill>
              <a:srgbClr val="162033"/>
            </a:solidFill>
            <a:ln w="19050">
              <a:solidFill>
                <a:srgbClr val="3B82F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08610" y="3401701"/>
              <a:ext cx="85725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1">
                  <a:solidFill>
                    <a:srgbClr val="3B82F6"/>
                  </a:solidFill>
                  <a:latin typeface="Segoe UI"/>
                </a:defRPr>
              </a:pPr>
              <a:r>
                <a:rPr sz="750"/>
                <a:t>1  Split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08610" y="3559435"/>
              <a:ext cx="85725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800" b="0">
                  <a:solidFill>
                    <a:srgbClr val="94A3B8"/>
                  </a:solidFill>
                  <a:latin typeface="Consolas"/>
                </a:defRPr>
              </a:pPr>
              <a:r>
                <a:rPr sz="600" dirty="0"/>
                <a:t>Q, K, V each split</a:t>
              </a:r>
              <a:br>
                <a:rPr sz="600" dirty="0"/>
              </a:br>
              <a:r>
                <a:rPr sz="600" dirty="0"/>
                <a:t>into h=8 slices</a:t>
              </a:r>
              <a:br>
                <a:rPr sz="600" dirty="0"/>
              </a:br>
              <a:r>
                <a:rPr sz="600" dirty="0"/>
                <a:t>(512 → 8 × 64)</a:t>
              </a:r>
            </a:p>
          </p:txBody>
        </p:sp>
        <p:cxnSp>
          <p:nvCxnSpPr>
            <p:cNvPr id="28" name="Connector 27"/>
            <p:cNvCxnSpPr/>
            <p:nvPr/>
          </p:nvCxnSpPr>
          <p:spPr>
            <a:xfrm>
              <a:off x="1200150" y="3693166"/>
              <a:ext cx="82296" cy="0"/>
            </a:xfrm>
            <a:prstGeom prst="line">
              <a:avLst/>
            </a:prstGeom>
            <a:ln w="19050">
              <a:solidFill>
                <a:srgbClr val="33445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Isosceles Triangle 28"/>
            <p:cNvSpPr/>
            <p:nvPr/>
          </p:nvSpPr>
          <p:spPr>
            <a:xfrm rot="5400000">
              <a:off x="1213866" y="3652018"/>
              <a:ext cx="82296" cy="82296"/>
            </a:xfrm>
            <a:prstGeom prst="triangle">
              <a:avLst/>
            </a:prstGeom>
            <a:solidFill>
              <a:srgbClr val="33445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68EEF95E-A9D5-0BA9-D8F5-2175620F17CD}"/>
              </a:ext>
            </a:extLst>
          </p:cNvPr>
          <p:cNvGrpSpPr/>
          <p:nvPr/>
        </p:nvGrpSpPr>
        <p:grpSpPr>
          <a:xfrm>
            <a:off x="1282446" y="3367411"/>
            <a:ext cx="1008126" cy="653689"/>
            <a:chOff x="1282446" y="3367411"/>
            <a:chExt cx="1008126" cy="653689"/>
          </a:xfrm>
        </p:grpSpPr>
        <p:sp>
          <p:nvSpPr>
            <p:cNvPr id="30" name="Rounded Rectangle 29"/>
            <p:cNvSpPr/>
            <p:nvPr/>
          </p:nvSpPr>
          <p:spPr>
            <a:xfrm>
              <a:off x="1282446" y="3367411"/>
              <a:ext cx="925830" cy="651510"/>
            </a:xfrm>
            <a:prstGeom prst="roundRect">
              <a:avLst>
                <a:gd name="adj" fmla="val 6000"/>
              </a:avLst>
            </a:prstGeom>
            <a:solidFill>
              <a:srgbClr val="162033"/>
            </a:solidFill>
            <a:ln w="19050">
              <a:solidFill>
                <a:srgbClr val="F59E0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316736" y="3401701"/>
              <a:ext cx="85725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1">
                  <a:solidFill>
                    <a:srgbClr val="F59E0B"/>
                  </a:solidFill>
                  <a:latin typeface="Segoe UI"/>
                </a:defRPr>
              </a:pPr>
              <a:r>
                <a:rPr sz="750"/>
                <a:t>2  Attend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316736" y="3559435"/>
              <a:ext cx="85725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800" b="0">
                  <a:solidFill>
                    <a:srgbClr val="94A3B8"/>
                  </a:solidFill>
                  <a:latin typeface="Consolas"/>
                </a:defRPr>
              </a:pPr>
              <a:r>
                <a:rPr sz="600"/>
                <a:t>Each head runs</a:t>
              </a:r>
              <a:br>
                <a:rPr sz="600"/>
              </a:br>
              <a:r>
                <a:rPr sz="600"/>
                <a:t>Attention(Qᵢ, Kᵢ, Vᵢ)</a:t>
              </a:r>
              <a:br>
                <a:rPr sz="600"/>
              </a:br>
              <a:r>
                <a:rPr sz="600"/>
                <a:t>independently</a:t>
              </a:r>
            </a:p>
          </p:txBody>
        </p:sp>
        <p:cxnSp>
          <p:nvCxnSpPr>
            <p:cNvPr id="33" name="Connector 32"/>
            <p:cNvCxnSpPr/>
            <p:nvPr/>
          </p:nvCxnSpPr>
          <p:spPr>
            <a:xfrm>
              <a:off x="2208276" y="3693166"/>
              <a:ext cx="82296" cy="0"/>
            </a:xfrm>
            <a:prstGeom prst="line">
              <a:avLst/>
            </a:prstGeom>
            <a:ln w="19050">
              <a:solidFill>
                <a:srgbClr val="33445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D8144E69-BBC8-99E0-AE3A-B7007607206D}"/>
              </a:ext>
            </a:extLst>
          </p:cNvPr>
          <p:cNvGrpSpPr/>
          <p:nvPr/>
        </p:nvGrpSpPr>
        <p:grpSpPr>
          <a:xfrm>
            <a:off x="2221992" y="3367411"/>
            <a:ext cx="1090422" cy="653689"/>
            <a:chOff x="2221992" y="3367411"/>
            <a:chExt cx="1090422" cy="653689"/>
          </a:xfrm>
        </p:grpSpPr>
        <p:sp>
          <p:nvSpPr>
            <p:cNvPr id="34" name="Isosceles Triangle 33"/>
            <p:cNvSpPr/>
            <p:nvPr/>
          </p:nvSpPr>
          <p:spPr>
            <a:xfrm rot="5400000">
              <a:off x="2221992" y="3652018"/>
              <a:ext cx="82296" cy="82296"/>
            </a:xfrm>
            <a:prstGeom prst="triangle">
              <a:avLst/>
            </a:prstGeom>
            <a:solidFill>
              <a:srgbClr val="33445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2290572" y="3367411"/>
              <a:ext cx="925830" cy="651510"/>
            </a:xfrm>
            <a:prstGeom prst="roundRect">
              <a:avLst>
                <a:gd name="adj" fmla="val 6000"/>
              </a:avLst>
            </a:prstGeom>
            <a:solidFill>
              <a:srgbClr val="162033"/>
            </a:solidFill>
            <a:ln w="19050">
              <a:solidFill>
                <a:srgbClr val="22C55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324862" y="3401701"/>
              <a:ext cx="85725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1">
                  <a:solidFill>
                    <a:srgbClr val="22C55E"/>
                  </a:solidFill>
                  <a:latin typeface="Segoe UI"/>
                </a:defRPr>
              </a:pPr>
              <a:r>
                <a:rPr sz="750"/>
                <a:t>3  Concat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324862" y="3559435"/>
              <a:ext cx="85725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800" b="0">
                  <a:solidFill>
                    <a:srgbClr val="94A3B8"/>
                  </a:solidFill>
                  <a:latin typeface="Consolas"/>
                </a:defRPr>
              </a:pPr>
              <a:r>
                <a:rPr sz="600"/>
                <a:t>Concatenate all 8</a:t>
              </a:r>
              <a:br>
                <a:rPr sz="600"/>
              </a:br>
              <a:r>
                <a:rPr sz="600"/>
                <a:t>head outputs</a:t>
              </a:r>
              <a:br>
                <a:rPr sz="600"/>
              </a:br>
              <a:r>
                <a:rPr sz="600"/>
                <a:t>(8 × 64 → 512)</a:t>
              </a:r>
            </a:p>
          </p:txBody>
        </p:sp>
        <p:cxnSp>
          <p:nvCxnSpPr>
            <p:cNvPr id="38" name="Connector 37"/>
            <p:cNvCxnSpPr/>
            <p:nvPr/>
          </p:nvCxnSpPr>
          <p:spPr>
            <a:xfrm>
              <a:off x="3216402" y="3693166"/>
              <a:ext cx="82296" cy="0"/>
            </a:xfrm>
            <a:prstGeom prst="line">
              <a:avLst/>
            </a:prstGeom>
            <a:ln w="19050">
              <a:solidFill>
                <a:srgbClr val="33445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Isosceles Triangle 38"/>
            <p:cNvSpPr/>
            <p:nvPr/>
          </p:nvSpPr>
          <p:spPr>
            <a:xfrm rot="5400000">
              <a:off x="3230118" y="3652018"/>
              <a:ext cx="82296" cy="82296"/>
            </a:xfrm>
            <a:prstGeom prst="triangle">
              <a:avLst/>
            </a:prstGeom>
            <a:solidFill>
              <a:srgbClr val="33445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41FE0D23-863C-ECD3-9EE9-CAE77C987FDD}"/>
              </a:ext>
            </a:extLst>
          </p:cNvPr>
          <p:cNvGrpSpPr/>
          <p:nvPr/>
        </p:nvGrpSpPr>
        <p:grpSpPr>
          <a:xfrm>
            <a:off x="3298698" y="3367411"/>
            <a:ext cx="925830" cy="653689"/>
            <a:chOff x="3298698" y="3367411"/>
            <a:chExt cx="925830" cy="653689"/>
          </a:xfrm>
        </p:grpSpPr>
        <p:sp>
          <p:nvSpPr>
            <p:cNvPr id="40" name="Rounded Rectangle 39"/>
            <p:cNvSpPr/>
            <p:nvPr/>
          </p:nvSpPr>
          <p:spPr>
            <a:xfrm>
              <a:off x="3298698" y="3367411"/>
              <a:ext cx="925830" cy="651510"/>
            </a:xfrm>
            <a:prstGeom prst="roundRect">
              <a:avLst>
                <a:gd name="adj" fmla="val 6000"/>
              </a:avLst>
            </a:prstGeom>
            <a:solidFill>
              <a:srgbClr val="162033"/>
            </a:solidFill>
            <a:ln w="19050">
              <a:solidFill>
                <a:srgbClr val="A78BF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332988" y="3401701"/>
              <a:ext cx="85725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1">
                  <a:solidFill>
                    <a:srgbClr val="A78BFA"/>
                  </a:solidFill>
                  <a:latin typeface="Segoe UI"/>
                </a:defRPr>
              </a:pPr>
              <a:r>
                <a:rPr sz="750"/>
                <a:t>4  Project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3332988" y="3559435"/>
              <a:ext cx="85725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800" b="0">
                  <a:solidFill>
                    <a:srgbClr val="94A3B8"/>
                  </a:solidFill>
                  <a:latin typeface="Consolas"/>
                </a:defRPr>
              </a:pPr>
              <a:r>
                <a:rPr sz="600" dirty="0"/>
                <a:t>Multiply by W_O</a:t>
              </a:r>
              <a:br>
                <a:rPr sz="600" dirty="0"/>
              </a:br>
              <a:r>
                <a:rPr sz="600" dirty="0"/>
                <a:t>final linear layer</a:t>
              </a:r>
              <a:br>
                <a:rPr sz="600" dirty="0"/>
              </a:br>
              <a:r>
                <a:rPr sz="600" dirty="0"/>
                <a:t>→ output (512)</a:t>
              </a: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4320540" y="882796"/>
            <a:ext cx="336221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4B8A6"/>
                </a:solidFill>
                <a:latin typeface="Segoe UI"/>
              </a:defRPr>
            </a:pPr>
            <a:r>
              <a:rPr sz="900" dirty="0"/>
              <a:t>WHAT EACH HEAD LEARNS (Real findings from research)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CB099AB4-B7DA-4098-41A4-7CAC84D0A430}"/>
              </a:ext>
            </a:extLst>
          </p:cNvPr>
          <p:cNvGrpSpPr/>
          <p:nvPr/>
        </p:nvGrpSpPr>
        <p:grpSpPr>
          <a:xfrm>
            <a:off x="4320540" y="1157116"/>
            <a:ext cx="2263140" cy="381374"/>
            <a:chOff x="4320540" y="1157116"/>
            <a:chExt cx="2263140" cy="381374"/>
          </a:xfrm>
        </p:grpSpPr>
        <p:sp>
          <p:nvSpPr>
            <p:cNvPr id="44" name="Rounded Rectangle 43"/>
            <p:cNvSpPr/>
            <p:nvPr/>
          </p:nvSpPr>
          <p:spPr>
            <a:xfrm>
              <a:off x="4320540" y="1157116"/>
              <a:ext cx="2263140" cy="377190"/>
            </a:xfrm>
            <a:prstGeom prst="roundRect">
              <a:avLst>
                <a:gd name="adj" fmla="val 6000"/>
              </a:avLst>
            </a:prstGeom>
            <a:solidFill>
              <a:srgbClr val="162033"/>
            </a:solidFill>
            <a:ln w="19050">
              <a:solidFill>
                <a:srgbClr val="3B82F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4361688" y="1198264"/>
              <a:ext cx="260604" cy="260604"/>
            </a:xfrm>
            <a:prstGeom prst="roundRect">
              <a:avLst>
                <a:gd name="adj" fmla="val 10000"/>
              </a:avLst>
            </a:prstGeom>
            <a:solidFill>
              <a:srgbClr val="3B8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 b="1">
                  <a:solidFill>
                    <a:srgbClr val="0F172A"/>
                  </a:solidFill>
                  <a:latin typeface="Segoe UI"/>
                </a:defRPr>
              </a:pPr>
              <a:r>
                <a:rPr sz="750"/>
                <a:t>H1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4663440" y="1170832"/>
              <a:ext cx="18516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3B82F6"/>
                  </a:solidFill>
                  <a:latin typeface="Segoe UI"/>
                </a:defRPr>
              </a:pPr>
              <a:r>
                <a:rPr sz="750"/>
                <a:t>🔤  Syntax / Grammar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4663440" y="1342282"/>
              <a:ext cx="185166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94A3B8"/>
                  </a:solidFill>
                  <a:latin typeface="Consolas"/>
                </a:defRPr>
              </a:pPr>
              <a:r>
                <a:rPr sz="675" dirty="0"/>
                <a:t>"sat" → "cat"  (subject-verb)</a:t>
              </a: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514FCE9D-7031-EF56-2ECF-0868EE003B64}"/>
              </a:ext>
            </a:extLst>
          </p:cNvPr>
          <p:cNvGrpSpPr/>
          <p:nvPr/>
        </p:nvGrpSpPr>
        <p:grpSpPr>
          <a:xfrm>
            <a:off x="4320540" y="1575454"/>
            <a:ext cx="2263140" cy="381374"/>
            <a:chOff x="4320540" y="1575454"/>
            <a:chExt cx="2263140" cy="381374"/>
          </a:xfrm>
        </p:grpSpPr>
        <p:sp>
          <p:nvSpPr>
            <p:cNvPr id="48" name="Rounded Rectangle 47"/>
            <p:cNvSpPr/>
            <p:nvPr/>
          </p:nvSpPr>
          <p:spPr>
            <a:xfrm>
              <a:off x="4320540" y="1575454"/>
              <a:ext cx="2263140" cy="377190"/>
            </a:xfrm>
            <a:prstGeom prst="roundRect">
              <a:avLst>
                <a:gd name="adj" fmla="val 6000"/>
              </a:avLst>
            </a:prstGeom>
            <a:solidFill>
              <a:srgbClr val="162033"/>
            </a:solidFill>
            <a:ln w="19050">
              <a:solidFill>
                <a:srgbClr val="F59E0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4361688" y="1616602"/>
              <a:ext cx="260604" cy="260604"/>
            </a:xfrm>
            <a:prstGeom prst="roundRect">
              <a:avLst>
                <a:gd name="adj" fmla="val 10000"/>
              </a:avLst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 b="1">
                  <a:solidFill>
                    <a:srgbClr val="0F172A"/>
                  </a:solidFill>
                  <a:latin typeface="Segoe UI"/>
                </a:defRPr>
              </a:pPr>
              <a:r>
                <a:rPr sz="750"/>
                <a:t>H2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4663440" y="1589170"/>
              <a:ext cx="18516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F59E0B"/>
                  </a:solidFill>
                  <a:latin typeface="Segoe UI"/>
                </a:defRPr>
              </a:pPr>
              <a:r>
                <a:rPr sz="750"/>
                <a:t>📍  Positional / Adjacent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4663440" y="1760620"/>
              <a:ext cx="185166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94A3B8"/>
                  </a:solidFill>
                  <a:latin typeface="Consolas"/>
                </a:defRPr>
              </a:pPr>
              <a:r>
                <a:rPr sz="675"/>
                <a:t>"cat" → "the"  (nearby words)</a:t>
              </a: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401CF538-21B4-34D7-38A3-F9F670964AE1}"/>
              </a:ext>
            </a:extLst>
          </p:cNvPr>
          <p:cNvGrpSpPr/>
          <p:nvPr/>
        </p:nvGrpSpPr>
        <p:grpSpPr>
          <a:xfrm>
            <a:off x="4320540" y="1993792"/>
            <a:ext cx="2263140" cy="381374"/>
            <a:chOff x="4320540" y="1993792"/>
            <a:chExt cx="2263140" cy="381374"/>
          </a:xfrm>
        </p:grpSpPr>
        <p:sp>
          <p:nvSpPr>
            <p:cNvPr id="52" name="Rounded Rectangle 51"/>
            <p:cNvSpPr/>
            <p:nvPr/>
          </p:nvSpPr>
          <p:spPr>
            <a:xfrm>
              <a:off x="4320540" y="1993792"/>
              <a:ext cx="2263140" cy="377190"/>
            </a:xfrm>
            <a:prstGeom prst="roundRect">
              <a:avLst>
                <a:gd name="adj" fmla="val 6000"/>
              </a:avLst>
            </a:prstGeom>
            <a:solidFill>
              <a:srgbClr val="162033"/>
            </a:solidFill>
            <a:ln w="19050">
              <a:solidFill>
                <a:srgbClr val="22C55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4361688" y="2034940"/>
              <a:ext cx="260604" cy="260604"/>
            </a:xfrm>
            <a:prstGeom prst="roundRect">
              <a:avLst>
                <a:gd name="adj" fmla="val 10000"/>
              </a:avLst>
            </a:prstGeom>
            <a:solidFill>
              <a:srgbClr val="22C55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 b="1">
                  <a:solidFill>
                    <a:srgbClr val="0F172A"/>
                  </a:solidFill>
                  <a:latin typeface="Segoe UI"/>
                </a:defRPr>
              </a:pPr>
              <a:r>
                <a:rPr sz="750"/>
                <a:t>H3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4663440" y="2007508"/>
              <a:ext cx="18516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22C55E"/>
                  </a:solidFill>
                  <a:latin typeface="Segoe UI"/>
                </a:defRPr>
              </a:pPr>
              <a:r>
                <a:rPr sz="750"/>
                <a:t>🔗  Coreference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4663440" y="2178958"/>
              <a:ext cx="185166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94A3B8"/>
                  </a:solidFill>
                  <a:latin typeface="Consolas"/>
                </a:defRPr>
              </a:pPr>
              <a:r>
                <a:rPr sz="675"/>
                <a:t>"it" → "animal"  (pronoun link)</a:t>
              </a: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3BA16383-6C8B-DF18-D45A-DA750453C2FE}"/>
              </a:ext>
            </a:extLst>
          </p:cNvPr>
          <p:cNvGrpSpPr/>
          <p:nvPr/>
        </p:nvGrpSpPr>
        <p:grpSpPr>
          <a:xfrm>
            <a:off x="4320540" y="2412130"/>
            <a:ext cx="2263140" cy="381374"/>
            <a:chOff x="4320540" y="2412130"/>
            <a:chExt cx="2263140" cy="381374"/>
          </a:xfrm>
        </p:grpSpPr>
        <p:sp>
          <p:nvSpPr>
            <p:cNvPr id="56" name="Rounded Rectangle 55"/>
            <p:cNvSpPr/>
            <p:nvPr/>
          </p:nvSpPr>
          <p:spPr>
            <a:xfrm>
              <a:off x="4320540" y="2412130"/>
              <a:ext cx="2263140" cy="377190"/>
            </a:xfrm>
            <a:prstGeom prst="roundRect">
              <a:avLst>
                <a:gd name="adj" fmla="val 6000"/>
              </a:avLst>
            </a:prstGeom>
            <a:solidFill>
              <a:srgbClr val="162033"/>
            </a:solidFill>
            <a:ln w="19050">
              <a:solidFill>
                <a:srgbClr val="EC489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57" name="Rounded Rectangle 56"/>
            <p:cNvSpPr/>
            <p:nvPr/>
          </p:nvSpPr>
          <p:spPr>
            <a:xfrm>
              <a:off x="4361688" y="2453278"/>
              <a:ext cx="260604" cy="260604"/>
            </a:xfrm>
            <a:prstGeom prst="roundRect">
              <a:avLst>
                <a:gd name="adj" fmla="val 10000"/>
              </a:avLst>
            </a:prstGeom>
            <a:solidFill>
              <a:srgbClr val="EC48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 b="1">
                  <a:solidFill>
                    <a:srgbClr val="0F172A"/>
                  </a:solidFill>
                  <a:latin typeface="Segoe UI"/>
                </a:defRPr>
              </a:pPr>
              <a:r>
                <a:rPr sz="750"/>
                <a:t>H4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4663440" y="2425846"/>
              <a:ext cx="18516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EC4899"/>
                  </a:solidFill>
                  <a:latin typeface="Segoe UI"/>
                </a:defRPr>
              </a:pPr>
              <a:r>
                <a:rPr sz="750"/>
                <a:t>💬  Semantic Similarity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4663440" y="2597296"/>
              <a:ext cx="185166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94A3B8"/>
                  </a:solidFill>
                  <a:latin typeface="Consolas"/>
                </a:defRPr>
              </a:pPr>
              <a:r>
                <a:rPr sz="675"/>
                <a:t>"happy" ↔ "joyful"  (meaning)</a:t>
              </a: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82F79432-4E33-342C-EF34-258EC4762C23}"/>
              </a:ext>
            </a:extLst>
          </p:cNvPr>
          <p:cNvGrpSpPr/>
          <p:nvPr/>
        </p:nvGrpSpPr>
        <p:grpSpPr>
          <a:xfrm>
            <a:off x="6686550" y="1157116"/>
            <a:ext cx="2263140" cy="381374"/>
            <a:chOff x="6686550" y="1157116"/>
            <a:chExt cx="2263140" cy="381374"/>
          </a:xfrm>
        </p:grpSpPr>
        <p:sp>
          <p:nvSpPr>
            <p:cNvPr id="60" name="Rounded Rectangle 59"/>
            <p:cNvSpPr/>
            <p:nvPr/>
          </p:nvSpPr>
          <p:spPr>
            <a:xfrm>
              <a:off x="6686550" y="1157116"/>
              <a:ext cx="2263140" cy="377190"/>
            </a:xfrm>
            <a:prstGeom prst="roundRect">
              <a:avLst>
                <a:gd name="adj" fmla="val 6000"/>
              </a:avLst>
            </a:prstGeom>
            <a:solidFill>
              <a:srgbClr val="162033"/>
            </a:solidFill>
            <a:ln w="19050">
              <a:solidFill>
                <a:srgbClr val="14B8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61" name="Rounded Rectangle 60"/>
            <p:cNvSpPr/>
            <p:nvPr/>
          </p:nvSpPr>
          <p:spPr>
            <a:xfrm>
              <a:off x="6727698" y="1198264"/>
              <a:ext cx="260604" cy="260604"/>
            </a:xfrm>
            <a:prstGeom prst="roundRect">
              <a:avLst>
                <a:gd name="adj" fmla="val 10000"/>
              </a:avLst>
            </a:prstGeom>
            <a:solidFill>
              <a:srgbClr val="14B8A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 b="1">
                  <a:solidFill>
                    <a:srgbClr val="0F172A"/>
                  </a:solidFill>
                  <a:latin typeface="Segoe UI"/>
                </a:defRPr>
              </a:pPr>
              <a:r>
                <a:rPr sz="750"/>
                <a:t>H5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7029450" y="1170832"/>
              <a:ext cx="18516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14B8A6"/>
                  </a:solidFill>
                  <a:latin typeface="Segoe UI"/>
                </a:defRPr>
              </a:pPr>
              <a:r>
                <a:rPr sz="750"/>
                <a:t>📌  Separator / Punctuation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7029450" y="1342282"/>
              <a:ext cx="185166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94A3B8"/>
                  </a:solidFill>
                  <a:latin typeface="Consolas"/>
                </a:defRPr>
              </a:pPr>
              <a:r>
                <a:rPr sz="675"/>
                <a:t>"." → sentence boundary focus</a:t>
              </a: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2DCD513A-4706-7F10-520C-6396B366DF5C}"/>
              </a:ext>
            </a:extLst>
          </p:cNvPr>
          <p:cNvGrpSpPr/>
          <p:nvPr/>
        </p:nvGrpSpPr>
        <p:grpSpPr>
          <a:xfrm>
            <a:off x="6686550" y="1575454"/>
            <a:ext cx="2263140" cy="381374"/>
            <a:chOff x="6686550" y="1575454"/>
            <a:chExt cx="2263140" cy="381374"/>
          </a:xfrm>
        </p:grpSpPr>
        <p:sp>
          <p:nvSpPr>
            <p:cNvPr id="64" name="Rounded Rectangle 63"/>
            <p:cNvSpPr/>
            <p:nvPr/>
          </p:nvSpPr>
          <p:spPr>
            <a:xfrm>
              <a:off x="6686550" y="1575454"/>
              <a:ext cx="2263140" cy="377190"/>
            </a:xfrm>
            <a:prstGeom prst="roundRect">
              <a:avLst>
                <a:gd name="adj" fmla="val 6000"/>
              </a:avLst>
            </a:prstGeom>
            <a:solidFill>
              <a:srgbClr val="162033"/>
            </a:solidFill>
            <a:ln w="19050">
              <a:solidFill>
                <a:srgbClr val="A78BF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65" name="Rounded Rectangle 64"/>
            <p:cNvSpPr/>
            <p:nvPr/>
          </p:nvSpPr>
          <p:spPr>
            <a:xfrm>
              <a:off x="6727698" y="1616602"/>
              <a:ext cx="260604" cy="260604"/>
            </a:xfrm>
            <a:prstGeom prst="roundRect">
              <a:avLst>
                <a:gd name="adj" fmla="val 10000"/>
              </a:avLst>
            </a:prstGeom>
            <a:solidFill>
              <a:srgbClr val="A78B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 b="1">
                  <a:solidFill>
                    <a:srgbClr val="0F172A"/>
                  </a:solidFill>
                  <a:latin typeface="Segoe UI"/>
                </a:defRPr>
              </a:pPr>
              <a:r>
                <a:rPr sz="750"/>
                <a:t>H6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7029450" y="1589170"/>
              <a:ext cx="18516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A78BFA"/>
                  </a:solidFill>
                  <a:latin typeface="Segoe UI"/>
                </a:defRPr>
              </a:pPr>
              <a:r>
                <a:rPr sz="750" dirty="0"/>
                <a:t>🧩  Rare Patterns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7029450" y="1760620"/>
              <a:ext cx="185166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94A3B8"/>
                  </a:solidFill>
                  <a:latin typeface="Consolas"/>
                </a:defRPr>
              </a:pPr>
              <a:r>
                <a:rPr sz="675"/>
                <a:t>Domain-specific or long-range links</a:t>
              </a: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93AC80C9-929A-51DF-FA3E-43361B74B0E9}"/>
              </a:ext>
            </a:extLst>
          </p:cNvPr>
          <p:cNvGrpSpPr/>
          <p:nvPr/>
        </p:nvGrpSpPr>
        <p:grpSpPr>
          <a:xfrm>
            <a:off x="6686550" y="1993792"/>
            <a:ext cx="2263140" cy="381374"/>
            <a:chOff x="6686550" y="1993792"/>
            <a:chExt cx="2263140" cy="381374"/>
          </a:xfrm>
        </p:grpSpPr>
        <p:sp>
          <p:nvSpPr>
            <p:cNvPr id="68" name="Rounded Rectangle 67"/>
            <p:cNvSpPr/>
            <p:nvPr/>
          </p:nvSpPr>
          <p:spPr>
            <a:xfrm>
              <a:off x="6686550" y="1993792"/>
              <a:ext cx="2263140" cy="377190"/>
            </a:xfrm>
            <a:prstGeom prst="roundRect">
              <a:avLst>
                <a:gd name="adj" fmla="val 6000"/>
              </a:avLst>
            </a:prstGeom>
            <a:solidFill>
              <a:srgbClr val="162033"/>
            </a:solidFill>
            <a:ln w="19050">
              <a:solidFill>
                <a:srgbClr val="EF444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69" name="Rounded Rectangle 68"/>
            <p:cNvSpPr/>
            <p:nvPr/>
          </p:nvSpPr>
          <p:spPr>
            <a:xfrm>
              <a:off x="6727698" y="2034940"/>
              <a:ext cx="260604" cy="260604"/>
            </a:xfrm>
            <a:prstGeom prst="roundRect">
              <a:avLst>
                <a:gd name="adj" fmla="val 10000"/>
              </a:avLst>
            </a:prstGeom>
            <a:solidFill>
              <a:srgbClr val="EF444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 b="1">
                  <a:solidFill>
                    <a:srgbClr val="0F172A"/>
                  </a:solidFill>
                  <a:latin typeface="Segoe UI"/>
                </a:defRPr>
              </a:pPr>
              <a:r>
                <a:rPr sz="750"/>
                <a:t>H7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7029450" y="2007508"/>
              <a:ext cx="18516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EF4444"/>
                  </a:solidFill>
                  <a:latin typeface="Segoe UI"/>
                </a:defRPr>
              </a:pPr>
              <a:r>
                <a:rPr sz="750"/>
                <a:t>🎯  Entity Tracking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7029450" y="2178958"/>
              <a:ext cx="185166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94A3B8"/>
                  </a:solidFill>
                  <a:latin typeface="Consolas"/>
                </a:defRPr>
              </a:pPr>
              <a:r>
                <a:rPr sz="675" dirty="0"/>
                <a:t>"Paris" → "France"  (entity-</a:t>
              </a:r>
              <a:r>
                <a:rPr sz="675" dirty="0" err="1"/>
                <a:t>rel</a:t>
              </a:r>
              <a:r>
                <a:rPr sz="675" dirty="0"/>
                <a:t>)</a:t>
              </a:r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A57F72A4-6094-8613-443F-2CACDD15A7BF}"/>
              </a:ext>
            </a:extLst>
          </p:cNvPr>
          <p:cNvGrpSpPr/>
          <p:nvPr/>
        </p:nvGrpSpPr>
        <p:grpSpPr>
          <a:xfrm>
            <a:off x="6686550" y="2412130"/>
            <a:ext cx="2263140" cy="381374"/>
            <a:chOff x="6686550" y="2412130"/>
            <a:chExt cx="2263140" cy="381374"/>
          </a:xfrm>
        </p:grpSpPr>
        <p:sp>
          <p:nvSpPr>
            <p:cNvPr id="72" name="Rounded Rectangle 71"/>
            <p:cNvSpPr/>
            <p:nvPr/>
          </p:nvSpPr>
          <p:spPr>
            <a:xfrm>
              <a:off x="6686550" y="2412130"/>
              <a:ext cx="2263140" cy="377190"/>
            </a:xfrm>
            <a:prstGeom prst="roundRect">
              <a:avLst>
                <a:gd name="adj" fmla="val 6000"/>
              </a:avLst>
            </a:prstGeom>
            <a:solidFill>
              <a:srgbClr val="162033"/>
            </a:solidFill>
            <a:ln w="19050">
              <a:solidFill>
                <a:srgbClr val="FBBF2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73" name="Rounded Rectangle 72"/>
            <p:cNvSpPr/>
            <p:nvPr/>
          </p:nvSpPr>
          <p:spPr>
            <a:xfrm>
              <a:off x="6727698" y="2453278"/>
              <a:ext cx="260604" cy="260604"/>
            </a:xfrm>
            <a:prstGeom prst="roundRect">
              <a:avLst>
                <a:gd name="adj" fmla="val 10000"/>
              </a:avLst>
            </a:prstGeom>
            <a:solidFill>
              <a:srgbClr val="FBBF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 b="1">
                  <a:solidFill>
                    <a:srgbClr val="0F172A"/>
                  </a:solidFill>
                  <a:latin typeface="Segoe UI"/>
                </a:defRPr>
              </a:pPr>
              <a:r>
                <a:rPr sz="750"/>
                <a:t>H8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7029450" y="2425846"/>
              <a:ext cx="18516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FBBF24"/>
                  </a:solidFill>
                  <a:latin typeface="Segoe UI"/>
                </a:defRPr>
              </a:pPr>
              <a:r>
                <a:rPr sz="750"/>
                <a:t>📐  Structural Roles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7029450" y="2597296"/>
              <a:ext cx="185166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94A3B8"/>
                  </a:solidFill>
                  <a:latin typeface="Consolas"/>
                </a:defRPr>
              </a:pPr>
              <a:r>
                <a:rPr sz="675"/>
                <a:t>Clauses, nested structures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8EAF5619-293B-A486-2038-2BCA24E4B5CA}"/>
              </a:ext>
            </a:extLst>
          </p:cNvPr>
          <p:cNvGrpSpPr/>
          <p:nvPr/>
        </p:nvGrpSpPr>
        <p:grpSpPr>
          <a:xfrm>
            <a:off x="4320540" y="3147956"/>
            <a:ext cx="4663440" cy="870965"/>
            <a:chOff x="4320540" y="3147956"/>
            <a:chExt cx="4663440" cy="870965"/>
          </a:xfrm>
        </p:grpSpPr>
        <p:sp>
          <p:nvSpPr>
            <p:cNvPr id="76" name="TextBox 75"/>
            <p:cNvSpPr txBox="1"/>
            <p:nvPr/>
          </p:nvSpPr>
          <p:spPr>
            <a:xfrm>
              <a:off x="4320540" y="3147956"/>
              <a:ext cx="466344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FBBF24"/>
                  </a:solidFill>
                  <a:latin typeface="Segoe UI"/>
                </a:defRPr>
              </a:pPr>
              <a:r>
                <a:rPr sz="825"/>
                <a:t>THE FORMULA</a:t>
              </a:r>
            </a:p>
          </p:txBody>
        </p:sp>
        <p:sp>
          <p:nvSpPr>
            <p:cNvPr id="77" name="Rounded Rectangle 76"/>
            <p:cNvSpPr/>
            <p:nvPr/>
          </p:nvSpPr>
          <p:spPr>
            <a:xfrm>
              <a:off x="4320540" y="3367411"/>
              <a:ext cx="4663440" cy="651510"/>
            </a:xfrm>
            <a:prstGeom prst="roundRect">
              <a:avLst>
                <a:gd name="adj" fmla="val 4000"/>
              </a:avLst>
            </a:prstGeom>
            <a:solidFill>
              <a:srgbClr val="162033"/>
            </a:solidFill>
            <a:ln w="19050">
              <a:solidFill>
                <a:srgbClr val="FBBF2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300" b="1">
                  <a:solidFill>
                    <a:srgbClr val="FFFFFF"/>
                  </a:solidFill>
                  <a:latin typeface="Consolas"/>
                </a:defRPr>
              </a:pPr>
              <a:r>
                <a:rPr sz="975" dirty="0" err="1"/>
                <a:t>MultiHead</a:t>
              </a:r>
              <a:r>
                <a:rPr sz="975" dirty="0"/>
                <a:t>(Q, K, V)  =  </a:t>
              </a:r>
              <a:r>
                <a:rPr sz="975" dirty="0" err="1"/>
                <a:t>Concat</a:t>
              </a:r>
              <a:r>
                <a:rPr sz="975" dirty="0"/>
                <a:t>(head₁, head₂, ..., head₈) · W_O</a:t>
              </a:r>
            </a:p>
            <a:p>
              <a:pPr algn="ctr">
                <a:spcBef>
                  <a:spcPts val="600"/>
                </a:spcBef>
                <a:defRPr sz="1200">
                  <a:solidFill>
                    <a:srgbClr val="FBBF24"/>
                  </a:solidFill>
                  <a:latin typeface="Consolas"/>
                </a:defRPr>
              </a:pPr>
              <a:r>
                <a:rPr sz="900" dirty="0"/>
                <a:t>where  headᵢ = Attention( </a:t>
              </a:r>
              <a:r>
                <a:rPr sz="900" dirty="0" err="1"/>
                <a:t>Q·W_Qi</a:t>
              </a:r>
              <a:r>
                <a:rPr sz="900" dirty="0"/>
                <a:t> ,  </a:t>
              </a:r>
              <a:r>
                <a:rPr sz="900" dirty="0" err="1"/>
                <a:t>K·W_Ki</a:t>
              </a:r>
              <a:r>
                <a:rPr sz="900" dirty="0"/>
                <a:t> ,  </a:t>
              </a:r>
              <a:r>
                <a:rPr sz="900" dirty="0" err="1"/>
                <a:t>V·W_Vi</a:t>
              </a:r>
              <a:r>
                <a:rPr sz="900" dirty="0"/>
                <a:t> )</a:t>
              </a:r>
            </a:p>
            <a:p>
              <a:pPr algn="ctr">
                <a:spcBef>
                  <a:spcPts val="450"/>
                </a:spcBef>
                <a:defRPr sz="1000">
                  <a:solidFill>
                    <a:srgbClr val="94A3B8"/>
                  </a:solidFill>
                  <a:latin typeface="Consolas"/>
                </a:defRPr>
              </a:pPr>
              <a:r>
                <a:rPr sz="750" dirty="0" err="1"/>
                <a:t>d_model</a:t>
              </a:r>
              <a:r>
                <a:rPr sz="750" dirty="0"/>
                <a:t> = 512    h = 8    </a:t>
              </a:r>
              <a:r>
                <a:rPr sz="750" dirty="0" err="1"/>
                <a:t>d_k</a:t>
              </a:r>
              <a:r>
                <a:rPr sz="750" dirty="0"/>
                <a:t> = </a:t>
              </a:r>
              <a:r>
                <a:rPr sz="750" dirty="0" err="1"/>
                <a:t>d_model</a:t>
              </a:r>
              <a:r>
                <a:rPr sz="750" dirty="0"/>
                <a:t> / h = 64    Total cost ≈ same as single head!</a:t>
              </a:r>
            </a:p>
          </p:txBody>
        </p:sp>
      </p:grpSp>
      <p:sp>
        <p:nvSpPr>
          <p:cNvPr id="78" name="Rounded Rectangle 77"/>
          <p:cNvSpPr/>
          <p:nvPr/>
        </p:nvSpPr>
        <p:spPr>
          <a:xfrm>
            <a:off x="342900" y="4544835"/>
            <a:ext cx="8455914" cy="288036"/>
          </a:xfrm>
          <a:prstGeom prst="roundRect">
            <a:avLst>
              <a:gd name="adj" fmla="val 5000"/>
            </a:avLst>
          </a:prstGeom>
          <a:solidFill>
            <a:srgbClr val="1C2735"/>
          </a:solidFill>
          <a:ln w="19050">
            <a:solidFill>
              <a:srgbClr val="334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 dirty="0">
                <a:solidFill>
                  <a:srgbClr val="F59E0B"/>
                </a:solidFill>
                <a:latin typeface="Segoe UI"/>
              </a:rPr>
              <a:t>🧠 Analogy:  </a:t>
            </a:r>
            <a:r>
              <a:rPr sz="900" dirty="0">
                <a:solidFill>
                  <a:srgbClr val="B0B8C8"/>
                </a:solidFill>
                <a:latin typeface="Segoe UI"/>
              </a:rPr>
              <a:t>Single-head = reading a sentence with ONE question in mind.  Multi-head = reading it 8 times, each time looking for something different, then combining all insights.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7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9DF401D5-30D6-05EB-7B2E-D1E04FE74F6F}"/>
              </a:ext>
            </a:extLst>
          </p:cNvPr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3" name="TextBox 2"/>
          <p:cNvSpPr txBox="1"/>
          <p:nvPr/>
        </p:nvSpPr>
        <p:spPr>
          <a:xfrm>
            <a:off x="411480" y="9186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sz="2400" dirty="0"/>
              <a:t>Why Does Word Order Matter?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20666"/>
            <a:ext cx="6858000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rPr sz="1125"/>
              <a:t>Self-Attention has no concept of sequence — every word is processed simultaneously.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563E2F8-D8B1-24A4-C0F3-980B5D80FEED}"/>
              </a:ext>
            </a:extLst>
          </p:cNvPr>
          <p:cNvGrpSpPr/>
          <p:nvPr/>
        </p:nvGrpSpPr>
        <p:grpSpPr>
          <a:xfrm>
            <a:off x="411480" y="1142776"/>
            <a:ext cx="3977640" cy="1371599"/>
            <a:chOff x="411480" y="1474471"/>
            <a:chExt cx="3977640" cy="1371599"/>
          </a:xfrm>
        </p:grpSpPr>
        <p:sp>
          <p:nvSpPr>
            <p:cNvPr id="5" name="TextBox 4"/>
            <p:cNvSpPr txBox="1"/>
            <p:nvPr/>
          </p:nvSpPr>
          <p:spPr>
            <a:xfrm>
              <a:off x="411480" y="1474471"/>
              <a:ext cx="37719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600" b="1">
                  <a:solidFill>
                    <a:srgbClr val="EF4444"/>
                  </a:solidFill>
                  <a:latin typeface="Segoe UI"/>
                </a:defRPr>
              </a:pPr>
              <a:r>
                <a:rPr sz="1200"/>
                <a:t>⚠  THE PROBLEM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11480" y="1851660"/>
              <a:ext cx="3977640" cy="994410"/>
            </a:xfrm>
            <a:prstGeom prst="roundRect">
              <a:avLst>
                <a:gd name="adj" fmla="val 4000"/>
              </a:avLst>
            </a:prstGeom>
            <a:solidFill>
              <a:srgbClr val="1E293B"/>
            </a:solidFill>
            <a:ln w="19050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17220" y="1954530"/>
              <a:ext cx="3566160" cy="3000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800" b="1">
                  <a:solidFill>
                    <a:srgbClr val="F59E0B"/>
                  </a:solidFill>
                  <a:latin typeface="Consolas"/>
                </a:defRPr>
              </a:pPr>
              <a:r>
                <a:rPr sz="1350" dirty="0"/>
                <a:t>"Dog  bites  man"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17220" y="2152650"/>
              <a:ext cx="356616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0">
                  <a:solidFill>
                    <a:srgbClr val="94A3B8"/>
                  </a:solidFill>
                  <a:latin typeface="Segoe UI"/>
                </a:defRPr>
              </a:pPr>
              <a:r>
                <a:rPr sz="1050"/>
                <a:t>vs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17220" y="2358390"/>
              <a:ext cx="3566160" cy="3000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800" b="1">
                  <a:solidFill>
                    <a:srgbClr val="14B8A6"/>
                  </a:solidFill>
                  <a:latin typeface="Consolas"/>
                </a:defRPr>
              </a:pPr>
              <a:r>
                <a:rPr sz="1350" dirty="0"/>
                <a:t>"Man  bites  dog"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14350" y="2613660"/>
              <a:ext cx="377190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200" b="0">
                  <a:solidFill>
                    <a:srgbClr val="94A3B8"/>
                  </a:solidFill>
                  <a:latin typeface="Segoe UI"/>
                </a:defRPr>
              </a:pPr>
              <a:r>
                <a:rPr sz="900" dirty="0"/>
                <a:t>Same words, completely different meaning!  Order matters.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7E3682D-798D-C9C2-873B-41FF9CEC8CB6}"/>
              </a:ext>
            </a:extLst>
          </p:cNvPr>
          <p:cNvGrpSpPr/>
          <p:nvPr/>
        </p:nvGrpSpPr>
        <p:grpSpPr>
          <a:xfrm>
            <a:off x="411480" y="2945800"/>
            <a:ext cx="3977640" cy="788670"/>
            <a:chOff x="411480" y="3017520"/>
            <a:chExt cx="3977640" cy="788670"/>
          </a:xfrm>
        </p:grpSpPr>
        <p:sp>
          <p:nvSpPr>
            <p:cNvPr id="11" name="Rounded Rectangle 10"/>
            <p:cNvSpPr/>
            <p:nvPr/>
          </p:nvSpPr>
          <p:spPr>
            <a:xfrm>
              <a:off x="411480" y="3017520"/>
              <a:ext cx="3977640" cy="788670"/>
            </a:xfrm>
            <a:prstGeom prst="roundRect">
              <a:avLst>
                <a:gd name="adj" fmla="val 4000"/>
              </a:avLst>
            </a:prstGeom>
            <a:solidFill>
              <a:srgbClr val="162033"/>
            </a:solidFill>
            <a:ln w="19050">
              <a:solidFill>
                <a:srgbClr val="A78BF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82930" y="3099816"/>
              <a:ext cx="3634740" cy="2423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300" b="1">
                  <a:solidFill>
                    <a:srgbClr val="A78BFA"/>
                  </a:solidFill>
                  <a:latin typeface="Segoe UI"/>
                </a:defRPr>
              </a:pPr>
              <a:r>
                <a:rPr sz="975"/>
                <a:t>💡 Analogy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82930" y="3326130"/>
              <a:ext cx="36347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0">
                  <a:solidFill>
                    <a:srgbClr val="B0B8C8"/>
                  </a:solidFill>
                  <a:latin typeface="Segoe UI"/>
                </a:defRPr>
              </a:pPr>
              <a:r>
                <a:rPr sz="900" dirty="0"/>
                <a:t>Imagine reading a book with all pages shuffled — you have</a:t>
              </a:r>
              <a:br>
                <a:rPr sz="900" dirty="0"/>
              </a:br>
              <a:r>
                <a:rPr sz="900" dirty="0"/>
                <a:t>every word, but you've completely lost the story.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0083A93-471F-479E-9BBD-3EC476E4B145}"/>
              </a:ext>
            </a:extLst>
          </p:cNvPr>
          <p:cNvGrpSpPr/>
          <p:nvPr/>
        </p:nvGrpSpPr>
        <p:grpSpPr>
          <a:xfrm>
            <a:off x="4800600" y="1142776"/>
            <a:ext cx="3977640" cy="1409239"/>
            <a:chOff x="4800600" y="1474471"/>
            <a:chExt cx="3977640" cy="1409239"/>
          </a:xfrm>
        </p:grpSpPr>
        <p:sp>
          <p:nvSpPr>
            <p:cNvPr id="14" name="TextBox 13"/>
            <p:cNvSpPr txBox="1"/>
            <p:nvPr/>
          </p:nvSpPr>
          <p:spPr>
            <a:xfrm>
              <a:off x="4800600" y="1474471"/>
              <a:ext cx="37719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600" b="1">
                  <a:solidFill>
                    <a:srgbClr val="22C55E"/>
                  </a:solidFill>
                  <a:latin typeface="Segoe UI"/>
                </a:defRPr>
              </a:pPr>
              <a:r>
                <a:rPr sz="1200"/>
                <a:t>✅  THE SOLUTION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4800600" y="1851660"/>
              <a:ext cx="3977640" cy="1028700"/>
            </a:xfrm>
            <a:prstGeom prst="roundRect">
              <a:avLst>
                <a:gd name="adj" fmla="val 4000"/>
              </a:avLst>
            </a:prstGeom>
            <a:solidFill>
              <a:srgbClr val="1E293B"/>
            </a:solidFill>
            <a:ln w="19050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006340" y="1940814"/>
              <a:ext cx="3566160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1">
                  <a:solidFill>
                    <a:srgbClr val="FFFFFF"/>
                  </a:solidFill>
                  <a:latin typeface="Segoe UI"/>
                </a:defRPr>
              </a:pPr>
              <a:r>
                <a:rPr sz="1050"/>
                <a:t>Add a unique position signal to each word embedding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006340" y="2228850"/>
              <a:ext cx="3566160" cy="2423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300" b="0">
                  <a:solidFill>
                    <a:srgbClr val="B0B8C8"/>
                  </a:solidFill>
                  <a:latin typeface="Segoe UI"/>
                </a:defRPr>
              </a:pPr>
              <a:r>
                <a:rPr sz="975"/>
                <a:t>before feeding it into the Transformer.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006340" y="2537461"/>
              <a:ext cx="3566160" cy="3462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100" b="0">
                  <a:solidFill>
                    <a:srgbClr val="94A3B8"/>
                  </a:solidFill>
                  <a:latin typeface="Segoe UI"/>
                </a:defRPr>
              </a:pPr>
              <a:r>
                <a:rPr sz="825"/>
                <a:t>Position Encoding has the same dimension (d_model) as the word embedding.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B1052F2-7E35-97C9-ABBB-2D8D88C2BE6E}"/>
              </a:ext>
            </a:extLst>
          </p:cNvPr>
          <p:cNvGrpSpPr/>
          <p:nvPr/>
        </p:nvGrpSpPr>
        <p:grpSpPr>
          <a:xfrm>
            <a:off x="4629150" y="3086100"/>
            <a:ext cx="4354830" cy="676268"/>
            <a:chOff x="4629150" y="3086100"/>
            <a:chExt cx="4354830" cy="676268"/>
          </a:xfrm>
        </p:grpSpPr>
        <p:sp>
          <p:nvSpPr>
            <p:cNvPr id="19" name="Rounded Rectangle 18"/>
            <p:cNvSpPr/>
            <p:nvPr/>
          </p:nvSpPr>
          <p:spPr>
            <a:xfrm>
              <a:off x="4629150" y="3086100"/>
              <a:ext cx="1131570" cy="445770"/>
            </a:xfrm>
            <a:prstGeom prst="roundRect">
              <a:avLst>
                <a:gd name="adj" fmla="val 10000"/>
              </a:avLst>
            </a:prstGeom>
            <a:solidFill>
              <a:srgbClr val="162033"/>
            </a:solidFill>
            <a:ln w="19050">
              <a:solidFill>
                <a:srgbClr val="3B82F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200" b="1">
                  <a:solidFill>
                    <a:srgbClr val="3B82F6"/>
                  </a:solidFill>
                  <a:latin typeface="Segoe UI"/>
                </a:defRPr>
              </a:pPr>
              <a:r>
                <a:rPr sz="900" dirty="0"/>
                <a:t>Word</a:t>
              </a:r>
              <a:br>
                <a:rPr sz="900" dirty="0"/>
              </a:br>
              <a:r>
                <a:rPr sz="900" dirty="0"/>
                <a:t>Embedding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932170" y="3154680"/>
              <a:ext cx="24003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  <a:latin typeface="Segoe UI"/>
                </a:defRPr>
              </a:pPr>
              <a:r>
                <a:rPr sz="1800"/>
                <a:t>+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6240780" y="3086100"/>
              <a:ext cx="1131570" cy="445770"/>
            </a:xfrm>
            <a:prstGeom prst="roundRect">
              <a:avLst>
                <a:gd name="adj" fmla="val 10000"/>
              </a:avLst>
            </a:prstGeom>
            <a:solidFill>
              <a:srgbClr val="162033"/>
            </a:solidFill>
            <a:ln w="19050">
              <a:solidFill>
                <a:srgbClr val="F59E0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200" b="1">
                  <a:solidFill>
                    <a:srgbClr val="F59E0B"/>
                  </a:solidFill>
                  <a:latin typeface="Segoe UI"/>
                </a:defRPr>
              </a:pPr>
              <a:r>
                <a:rPr sz="900"/>
                <a:t>Position</a:t>
              </a:r>
              <a:br>
                <a:rPr sz="900"/>
              </a:br>
              <a:r>
                <a:rPr sz="900"/>
                <a:t>Encoding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543800" y="3154680"/>
              <a:ext cx="24003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  <a:latin typeface="Segoe UI"/>
                </a:defRPr>
              </a:pPr>
              <a:r>
                <a:rPr sz="1800"/>
                <a:t>=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7852410" y="3086100"/>
              <a:ext cx="1131570" cy="445770"/>
            </a:xfrm>
            <a:prstGeom prst="roundRect">
              <a:avLst>
                <a:gd name="adj" fmla="val 10000"/>
              </a:avLst>
            </a:prstGeom>
            <a:solidFill>
              <a:srgbClr val="162033"/>
            </a:solidFill>
            <a:ln w="19050">
              <a:solidFill>
                <a:srgbClr val="22C55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200" b="1">
                  <a:solidFill>
                    <a:srgbClr val="22C55E"/>
                  </a:solidFill>
                  <a:latin typeface="Segoe UI"/>
                </a:defRPr>
              </a:pPr>
              <a:r>
                <a:rPr sz="900"/>
                <a:t>Input to</a:t>
              </a:r>
              <a:br>
                <a:rPr sz="900"/>
              </a:br>
              <a:r>
                <a:rPr sz="900"/>
                <a:t>Transformer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629150" y="3566160"/>
              <a:ext cx="113157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94A3B8"/>
                  </a:solidFill>
                  <a:latin typeface="Consolas"/>
                </a:defRPr>
              </a:pPr>
              <a:r>
                <a:rPr sz="675"/>
                <a:t>d_model = 512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240780" y="3566160"/>
              <a:ext cx="113157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94A3B8"/>
                  </a:solidFill>
                  <a:latin typeface="Consolas"/>
                </a:defRPr>
              </a:pPr>
              <a:r>
                <a:rPr sz="675"/>
                <a:t>d_model = 512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7852410" y="3566160"/>
              <a:ext cx="113157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94A3B8"/>
                  </a:solidFill>
                  <a:latin typeface="Consolas"/>
                </a:defRPr>
              </a:pPr>
              <a:r>
                <a:rPr sz="675"/>
                <a:t>d_model = 512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057A399-88F2-10B5-397B-AEBDCBAED0E7}"/>
              </a:ext>
            </a:extLst>
          </p:cNvPr>
          <p:cNvGrpSpPr/>
          <p:nvPr/>
        </p:nvGrpSpPr>
        <p:grpSpPr>
          <a:xfrm>
            <a:off x="2640330" y="4011930"/>
            <a:ext cx="3977640" cy="685800"/>
            <a:chOff x="2640330" y="4011930"/>
            <a:chExt cx="3977640" cy="685800"/>
          </a:xfrm>
        </p:grpSpPr>
        <p:sp>
          <p:nvSpPr>
            <p:cNvPr id="27" name="Rounded Rectangle 26"/>
            <p:cNvSpPr/>
            <p:nvPr/>
          </p:nvSpPr>
          <p:spPr>
            <a:xfrm>
              <a:off x="2640330" y="4011930"/>
              <a:ext cx="3977640" cy="685800"/>
            </a:xfrm>
            <a:prstGeom prst="roundRect">
              <a:avLst>
                <a:gd name="adj" fmla="val 4000"/>
              </a:avLst>
            </a:prstGeom>
            <a:solidFill>
              <a:srgbClr val="162033"/>
            </a:solidFill>
            <a:ln w="19050">
              <a:solidFill>
                <a:srgbClr val="14B8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811780" y="4080510"/>
              <a:ext cx="3634740" cy="2423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300" b="1">
                  <a:solidFill>
                    <a:srgbClr val="14B8A6"/>
                  </a:solidFill>
                  <a:latin typeface="Segoe UI"/>
                </a:defRPr>
              </a:pPr>
              <a:r>
                <a:rPr sz="975"/>
                <a:t>🔑 Key Insight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811780" y="4286250"/>
              <a:ext cx="3634740" cy="3847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300"/>
                </a:spcAft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 dirty="0"/>
                <a:t>• Position encoding is ADDED, not concatenated</a:t>
              </a:r>
            </a:p>
            <a:p>
              <a:pPr>
                <a:spcAft>
                  <a:spcPts val="300"/>
                </a:spcAft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 dirty="0"/>
                <a:t>• Each position gets a unique, deterministic pattern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Rectangle 192">
            <a:extLst>
              <a:ext uri="{FF2B5EF4-FFF2-40B4-BE49-F238E27FC236}">
                <a16:creationId xmlns:a16="http://schemas.microsoft.com/office/drawing/2014/main" id="{48EDF9DE-4C72-D099-B44A-3A10EE3BDBFB}"/>
              </a:ext>
            </a:extLst>
          </p:cNvPr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3" name="TextBox 2"/>
          <p:cNvSpPr txBox="1"/>
          <p:nvPr/>
        </p:nvSpPr>
        <p:spPr>
          <a:xfrm>
            <a:off x="411480" y="18151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sz="2400"/>
              <a:t>Sinusoidal Positional Encoding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95341"/>
            <a:ext cx="6858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rPr sz="1050"/>
              <a:t>The original Transformer paper uses sine and cosine functions of different frequencies.</a:t>
            </a:r>
          </a:p>
        </p:txBody>
      </p: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E1C6A66D-4598-E2A3-EBFA-7826B29AB936}"/>
              </a:ext>
            </a:extLst>
          </p:cNvPr>
          <p:cNvGrpSpPr/>
          <p:nvPr/>
        </p:nvGrpSpPr>
        <p:grpSpPr>
          <a:xfrm>
            <a:off x="411480" y="844246"/>
            <a:ext cx="5143500" cy="1072205"/>
            <a:chOff x="411480" y="844246"/>
            <a:chExt cx="5143500" cy="1072205"/>
          </a:xfrm>
        </p:grpSpPr>
        <p:sp>
          <p:nvSpPr>
            <p:cNvPr id="5" name="Rounded Rectangle 4"/>
            <p:cNvSpPr/>
            <p:nvPr/>
          </p:nvSpPr>
          <p:spPr>
            <a:xfrm>
              <a:off x="411480" y="844246"/>
              <a:ext cx="5143500" cy="1072205"/>
            </a:xfrm>
            <a:prstGeom prst="roundRect">
              <a:avLst>
                <a:gd name="adj" fmla="val 4000"/>
              </a:avLst>
            </a:prstGeom>
            <a:solidFill>
              <a:srgbClr val="162033"/>
            </a:solidFill>
            <a:ln w="19050">
              <a:solidFill>
                <a:srgbClr val="3B82F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582930" y="912827"/>
              <a:ext cx="205740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400" b="1">
                  <a:solidFill>
                    <a:srgbClr val="3B82F6"/>
                  </a:solidFill>
                  <a:latin typeface="Segoe UI"/>
                </a:defRPr>
              </a:pPr>
              <a:r>
                <a:rPr sz="1050"/>
                <a:t>📐 The Formula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82930" y="1132284"/>
              <a:ext cx="4663440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300"/>
                </a:spcAft>
                <a:defRPr sz="1300" b="1">
                  <a:solidFill>
                    <a:srgbClr val="F59E0B"/>
                  </a:solidFill>
                  <a:latin typeface="Consolas"/>
                </a:defRPr>
              </a:pPr>
              <a:r>
                <a:rPr sz="975" dirty="0"/>
                <a:t>PE(pos, 2i)     = sin( pos / 10000^(2i / </a:t>
              </a:r>
              <a:r>
                <a:rPr sz="975" dirty="0" err="1"/>
                <a:t>d_model</a:t>
              </a:r>
              <a:r>
                <a:rPr sz="975" dirty="0"/>
                <a:t>) )</a:t>
              </a:r>
            </a:p>
            <a:p>
              <a:pPr>
                <a:spcAft>
                  <a:spcPts val="300"/>
                </a:spcAft>
                <a:defRPr sz="1300" b="1">
                  <a:solidFill>
                    <a:srgbClr val="14B8A6"/>
                  </a:solidFill>
                  <a:latin typeface="Consolas"/>
                </a:defRPr>
              </a:pPr>
              <a:r>
                <a:rPr sz="975" dirty="0"/>
                <a:t>PE(pos, 2i+1) = cos( pos / 10000^(2i / </a:t>
              </a:r>
              <a:r>
                <a:rPr sz="975" dirty="0" err="1"/>
                <a:t>d_model</a:t>
              </a:r>
              <a:r>
                <a:rPr sz="975" dirty="0"/>
                <a:t>) )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82930" y="1530047"/>
              <a:ext cx="4663440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94A3B8"/>
                  </a:solidFill>
                  <a:latin typeface="Consolas"/>
                </a:defRPr>
              </a:pPr>
              <a:r>
                <a:rPr sz="750" dirty="0"/>
                <a:t>pos = position in sequence  •  </a:t>
              </a:r>
              <a:r>
                <a:rPr sz="750" dirty="0" err="1"/>
                <a:t>i</a:t>
              </a:r>
              <a:r>
                <a:rPr sz="750" dirty="0"/>
                <a:t> = dimension index  •  </a:t>
              </a:r>
              <a:r>
                <a:rPr sz="750" dirty="0" err="1"/>
                <a:t>d_model</a:t>
              </a:r>
              <a:r>
                <a:rPr sz="750" dirty="0"/>
                <a:t> = embedding size (e.g., 512)</a:t>
              </a:r>
            </a:p>
          </p:txBody>
        </p:sp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D6CAEA44-0E14-9A3F-E938-D8420275E96D}"/>
              </a:ext>
            </a:extLst>
          </p:cNvPr>
          <p:cNvGrpSpPr/>
          <p:nvPr/>
        </p:nvGrpSpPr>
        <p:grpSpPr>
          <a:xfrm>
            <a:off x="276620" y="2027461"/>
            <a:ext cx="5177790" cy="2786357"/>
            <a:chOff x="276620" y="2027461"/>
            <a:chExt cx="5177790" cy="2786357"/>
          </a:xfrm>
        </p:grpSpPr>
        <p:sp>
          <p:nvSpPr>
            <p:cNvPr id="9" name="TextBox 8"/>
            <p:cNvSpPr txBox="1"/>
            <p:nvPr/>
          </p:nvSpPr>
          <p:spPr>
            <a:xfrm>
              <a:off x="411480" y="2027461"/>
              <a:ext cx="4363077" cy="2423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300" b="1">
                  <a:solidFill>
                    <a:srgbClr val="FFFFFF"/>
                  </a:solidFill>
                  <a:latin typeface="Segoe UI"/>
                </a:defRPr>
              </a:pPr>
              <a:r>
                <a:rPr sz="975" dirty="0"/>
                <a:t>📊 Encoding Pattern (Positions × Dimensions)</a:t>
              </a:r>
            </a:p>
          </p:txBody>
        </p:sp>
        <p:grpSp>
          <p:nvGrpSpPr>
            <p:cNvPr id="201" name="Group 200">
              <a:extLst>
                <a:ext uri="{FF2B5EF4-FFF2-40B4-BE49-F238E27FC236}">
                  <a16:creationId xmlns:a16="http://schemas.microsoft.com/office/drawing/2014/main" id="{B7E4A690-A0F7-B9C5-2CFC-C484F29D3451}"/>
                </a:ext>
              </a:extLst>
            </p:cNvPr>
            <p:cNvGrpSpPr/>
            <p:nvPr/>
          </p:nvGrpSpPr>
          <p:grpSpPr>
            <a:xfrm>
              <a:off x="276620" y="2274740"/>
              <a:ext cx="5177790" cy="2539078"/>
              <a:chOff x="276620" y="2274740"/>
              <a:chExt cx="5177790" cy="2539078"/>
            </a:xfrm>
          </p:grpSpPr>
          <p:sp>
            <p:nvSpPr>
              <p:cNvPr id="10" name="TextBox 9"/>
              <p:cNvSpPr txBox="1"/>
              <p:nvPr/>
            </p:nvSpPr>
            <p:spPr>
              <a:xfrm>
                <a:off x="276620" y="2411900"/>
                <a:ext cx="20574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defRPr sz="800" b="0">
                    <a:solidFill>
                      <a:srgbClr val="94A3B8"/>
                    </a:solidFill>
                    <a:latin typeface="Consolas"/>
                  </a:defRPr>
                </a:pPr>
                <a:r>
                  <a:rPr sz="600"/>
                  <a:t>P0</a:t>
                </a: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276620" y="2651930"/>
                <a:ext cx="20574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defRPr sz="800" b="0">
                    <a:solidFill>
                      <a:srgbClr val="94A3B8"/>
                    </a:solidFill>
                    <a:latin typeface="Consolas"/>
                  </a:defRPr>
                </a:pPr>
                <a:r>
                  <a:rPr sz="600"/>
                  <a:t>P1</a:t>
                </a: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276620" y="2891960"/>
                <a:ext cx="20574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defRPr sz="800" b="0">
                    <a:solidFill>
                      <a:srgbClr val="94A3B8"/>
                    </a:solidFill>
                    <a:latin typeface="Consolas"/>
                  </a:defRPr>
                </a:pPr>
                <a:r>
                  <a:rPr sz="600"/>
                  <a:t>P2</a:t>
                </a: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276620" y="3131990"/>
                <a:ext cx="20574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defRPr sz="800" b="0">
                    <a:solidFill>
                      <a:srgbClr val="94A3B8"/>
                    </a:solidFill>
                    <a:latin typeface="Consolas"/>
                  </a:defRPr>
                </a:pPr>
                <a:r>
                  <a:rPr sz="600"/>
                  <a:t>P3</a:t>
                </a: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276620" y="3372020"/>
                <a:ext cx="20574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defRPr sz="800" b="0">
                    <a:solidFill>
                      <a:srgbClr val="94A3B8"/>
                    </a:solidFill>
                    <a:latin typeface="Consolas"/>
                  </a:defRPr>
                </a:pPr>
                <a:r>
                  <a:rPr sz="600"/>
                  <a:t>P4</a:t>
                </a: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276620" y="3612050"/>
                <a:ext cx="20574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defRPr sz="800" b="0">
                    <a:solidFill>
                      <a:srgbClr val="94A3B8"/>
                    </a:solidFill>
                    <a:latin typeface="Consolas"/>
                  </a:defRPr>
                </a:pPr>
                <a:r>
                  <a:rPr sz="600"/>
                  <a:t>P5</a:t>
                </a:r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276620" y="3852080"/>
                <a:ext cx="20574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defRPr sz="800" b="0">
                    <a:solidFill>
                      <a:srgbClr val="94A3B8"/>
                    </a:solidFill>
                    <a:latin typeface="Consolas"/>
                  </a:defRPr>
                </a:pPr>
                <a:r>
                  <a:rPr sz="600"/>
                  <a:t>P6</a:t>
                </a:r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276620" y="4092110"/>
                <a:ext cx="20574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defRPr sz="800" b="0">
                    <a:solidFill>
                      <a:srgbClr val="94A3B8"/>
                    </a:solidFill>
                    <a:latin typeface="Consolas"/>
                  </a:defRPr>
                </a:pPr>
                <a:r>
                  <a:rPr sz="600"/>
                  <a:t>P7</a:t>
                </a:r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516650" y="2274740"/>
                <a:ext cx="308610" cy="1731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700" b="0">
                    <a:solidFill>
                      <a:srgbClr val="94A3B8"/>
                    </a:solidFill>
                    <a:latin typeface="Consolas"/>
                  </a:defRPr>
                </a:pPr>
                <a:r>
                  <a:rPr sz="525"/>
                  <a:t>sin</a:t>
                </a: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825260" y="2274740"/>
                <a:ext cx="308610" cy="1731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700" b="0">
                    <a:solidFill>
                      <a:srgbClr val="94A3B8"/>
                    </a:solidFill>
                    <a:latin typeface="Consolas"/>
                  </a:defRPr>
                </a:pPr>
                <a:r>
                  <a:rPr sz="525"/>
                  <a:t>cos</a:t>
                </a: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1133870" y="2274740"/>
                <a:ext cx="308610" cy="1731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700" b="0">
                    <a:solidFill>
                      <a:srgbClr val="94A3B8"/>
                    </a:solidFill>
                    <a:latin typeface="Consolas"/>
                  </a:defRPr>
                </a:pPr>
                <a:r>
                  <a:rPr sz="525"/>
                  <a:t>sin</a:t>
                </a:r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1442480" y="2274740"/>
                <a:ext cx="308610" cy="1731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700" b="0">
                    <a:solidFill>
                      <a:srgbClr val="94A3B8"/>
                    </a:solidFill>
                    <a:latin typeface="Consolas"/>
                  </a:defRPr>
                </a:pPr>
                <a:r>
                  <a:rPr sz="525"/>
                  <a:t>cos</a:t>
                </a:r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1751090" y="2274740"/>
                <a:ext cx="308610" cy="1731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700" b="0">
                    <a:solidFill>
                      <a:srgbClr val="94A3B8"/>
                    </a:solidFill>
                    <a:latin typeface="Consolas"/>
                  </a:defRPr>
                </a:pPr>
                <a:r>
                  <a:rPr sz="525"/>
                  <a:t>sin</a:t>
                </a: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2059700" y="2274740"/>
                <a:ext cx="308610" cy="1731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700" b="0">
                    <a:solidFill>
                      <a:srgbClr val="94A3B8"/>
                    </a:solidFill>
                    <a:latin typeface="Consolas"/>
                  </a:defRPr>
                </a:pPr>
                <a:r>
                  <a:rPr sz="525"/>
                  <a:t>cos</a:t>
                </a: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2368310" y="2274740"/>
                <a:ext cx="308610" cy="1731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700" b="0">
                    <a:solidFill>
                      <a:srgbClr val="94A3B8"/>
                    </a:solidFill>
                    <a:latin typeface="Consolas"/>
                  </a:defRPr>
                </a:pPr>
                <a:r>
                  <a:rPr sz="525"/>
                  <a:t>sin</a:t>
                </a: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2676920" y="2274740"/>
                <a:ext cx="308610" cy="1731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700" b="0">
                    <a:solidFill>
                      <a:srgbClr val="94A3B8"/>
                    </a:solidFill>
                    <a:latin typeface="Consolas"/>
                  </a:defRPr>
                </a:pPr>
                <a:r>
                  <a:rPr sz="525"/>
                  <a:t>cos</a:t>
                </a:r>
              </a:p>
            </p:txBody>
          </p:sp>
          <p:sp>
            <p:nvSpPr>
              <p:cNvPr id="26" name="TextBox 25"/>
              <p:cNvSpPr txBox="1"/>
              <p:nvPr/>
            </p:nvSpPr>
            <p:spPr>
              <a:xfrm>
                <a:off x="2985530" y="2274740"/>
                <a:ext cx="308610" cy="1731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700" b="0">
                    <a:solidFill>
                      <a:srgbClr val="94A3B8"/>
                    </a:solidFill>
                    <a:latin typeface="Consolas"/>
                  </a:defRPr>
                </a:pPr>
                <a:r>
                  <a:rPr sz="525"/>
                  <a:t>sin</a:t>
                </a:r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3294140" y="2274740"/>
                <a:ext cx="308610" cy="1731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700" b="0">
                    <a:solidFill>
                      <a:srgbClr val="94A3B8"/>
                    </a:solidFill>
                    <a:latin typeface="Consolas"/>
                  </a:defRPr>
                </a:pPr>
                <a:r>
                  <a:rPr sz="525"/>
                  <a:t>cos</a:t>
                </a:r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3602750" y="2274740"/>
                <a:ext cx="308610" cy="1731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700" b="0">
                    <a:solidFill>
                      <a:srgbClr val="94A3B8"/>
                    </a:solidFill>
                    <a:latin typeface="Consolas"/>
                  </a:defRPr>
                </a:pPr>
                <a:r>
                  <a:rPr sz="525"/>
                  <a:t>sin</a:t>
                </a:r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3911360" y="2274740"/>
                <a:ext cx="308610" cy="1731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700" b="0">
                    <a:solidFill>
                      <a:srgbClr val="94A3B8"/>
                    </a:solidFill>
                    <a:latin typeface="Consolas"/>
                  </a:defRPr>
                </a:pPr>
                <a:r>
                  <a:rPr sz="525"/>
                  <a:t>cos</a:t>
                </a:r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4219970" y="2274740"/>
                <a:ext cx="308610" cy="1731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700" b="0">
                    <a:solidFill>
                      <a:srgbClr val="94A3B8"/>
                    </a:solidFill>
                    <a:latin typeface="Consolas"/>
                  </a:defRPr>
                </a:pPr>
                <a:r>
                  <a:rPr sz="525"/>
                  <a:t>sin</a:t>
                </a:r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4528580" y="2274740"/>
                <a:ext cx="308610" cy="1731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700" b="0">
                    <a:solidFill>
                      <a:srgbClr val="94A3B8"/>
                    </a:solidFill>
                    <a:latin typeface="Consolas"/>
                  </a:defRPr>
                </a:pPr>
                <a:r>
                  <a:rPr sz="525"/>
                  <a:t>cos</a:t>
                </a:r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4837190" y="2274740"/>
                <a:ext cx="308610" cy="1731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700" b="0">
                    <a:solidFill>
                      <a:srgbClr val="94A3B8"/>
                    </a:solidFill>
                    <a:latin typeface="Consolas"/>
                  </a:defRPr>
                </a:pPr>
                <a:r>
                  <a:rPr sz="525"/>
                  <a:t>sin</a:t>
                </a: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5145800" y="2274740"/>
                <a:ext cx="308610" cy="1731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700" b="0">
                    <a:solidFill>
                      <a:srgbClr val="94A3B8"/>
                    </a:solidFill>
                    <a:latin typeface="Consolas"/>
                  </a:defRPr>
                </a:pPr>
                <a:r>
                  <a:rPr sz="525"/>
                  <a:t>cos</a:t>
                </a:r>
              </a:p>
            </p:txBody>
          </p:sp>
          <p:sp>
            <p:nvSpPr>
              <p:cNvPr id="34" name="Rectangle 33"/>
              <p:cNvSpPr/>
              <p:nvPr/>
            </p:nvSpPr>
            <p:spPr>
              <a:xfrm>
                <a:off x="516650" y="2411900"/>
                <a:ext cx="308610" cy="24003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35" name="Rectangle 34"/>
              <p:cNvSpPr/>
              <p:nvPr/>
            </p:nvSpPr>
            <p:spPr>
              <a:xfrm>
                <a:off x="825260" y="2411900"/>
                <a:ext cx="308610" cy="240030"/>
              </a:xfrm>
              <a:prstGeom prst="rect">
                <a:avLst/>
              </a:prstGeom>
              <a:solidFill>
                <a:srgbClr val="FF9E0B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36" name="Rectangle 35"/>
              <p:cNvSpPr/>
              <p:nvPr/>
            </p:nvSpPr>
            <p:spPr>
              <a:xfrm>
                <a:off x="1133870" y="2411900"/>
                <a:ext cx="308610" cy="24003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37" name="Rectangle 36"/>
              <p:cNvSpPr/>
              <p:nvPr/>
            </p:nvSpPr>
            <p:spPr>
              <a:xfrm>
                <a:off x="1442480" y="2411900"/>
                <a:ext cx="308610" cy="240030"/>
              </a:xfrm>
              <a:prstGeom prst="rect">
                <a:avLst/>
              </a:prstGeom>
              <a:solidFill>
                <a:srgbClr val="FF9E0B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38" name="Rectangle 37"/>
              <p:cNvSpPr/>
              <p:nvPr/>
            </p:nvSpPr>
            <p:spPr>
              <a:xfrm>
                <a:off x="1751090" y="2411900"/>
                <a:ext cx="308610" cy="24003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39" name="Rectangle 38"/>
              <p:cNvSpPr/>
              <p:nvPr/>
            </p:nvSpPr>
            <p:spPr>
              <a:xfrm>
                <a:off x="2059700" y="2411900"/>
                <a:ext cx="308610" cy="240030"/>
              </a:xfrm>
              <a:prstGeom prst="rect">
                <a:avLst/>
              </a:prstGeom>
              <a:solidFill>
                <a:srgbClr val="FF9E0B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40" name="Rectangle 39"/>
              <p:cNvSpPr/>
              <p:nvPr/>
            </p:nvSpPr>
            <p:spPr>
              <a:xfrm>
                <a:off x="2368310" y="2411900"/>
                <a:ext cx="308610" cy="24003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41" name="Rectangle 40"/>
              <p:cNvSpPr/>
              <p:nvPr/>
            </p:nvSpPr>
            <p:spPr>
              <a:xfrm>
                <a:off x="2676920" y="2411900"/>
                <a:ext cx="308610" cy="240030"/>
              </a:xfrm>
              <a:prstGeom prst="rect">
                <a:avLst/>
              </a:prstGeom>
              <a:solidFill>
                <a:srgbClr val="FF9E0B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42" name="Rectangle 41"/>
              <p:cNvSpPr/>
              <p:nvPr/>
            </p:nvSpPr>
            <p:spPr>
              <a:xfrm>
                <a:off x="2985530" y="2411900"/>
                <a:ext cx="308610" cy="24003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43" name="Rectangle 42"/>
              <p:cNvSpPr/>
              <p:nvPr/>
            </p:nvSpPr>
            <p:spPr>
              <a:xfrm>
                <a:off x="3294140" y="2411900"/>
                <a:ext cx="308610" cy="240030"/>
              </a:xfrm>
              <a:prstGeom prst="rect">
                <a:avLst/>
              </a:prstGeom>
              <a:solidFill>
                <a:srgbClr val="FF9E0B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44" name="Rectangle 43"/>
              <p:cNvSpPr/>
              <p:nvPr/>
            </p:nvSpPr>
            <p:spPr>
              <a:xfrm>
                <a:off x="3602750" y="2411900"/>
                <a:ext cx="308610" cy="24003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45" name="Rectangle 44"/>
              <p:cNvSpPr/>
              <p:nvPr/>
            </p:nvSpPr>
            <p:spPr>
              <a:xfrm>
                <a:off x="3911360" y="2411900"/>
                <a:ext cx="308610" cy="240030"/>
              </a:xfrm>
              <a:prstGeom prst="rect">
                <a:avLst/>
              </a:prstGeom>
              <a:solidFill>
                <a:srgbClr val="FF9E0B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46" name="Rectangle 45"/>
              <p:cNvSpPr/>
              <p:nvPr/>
            </p:nvSpPr>
            <p:spPr>
              <a:xfrm>
                <a:off x="4219970" y="2411900"/>
                <a:ext cx="308610" cy="24003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47" name="Rectangle 46"/>
              <p:cNvSpPr/>
              <p:nvPr/>
            </p:nvSpPr>
            <p:spPr>
              <a:xfrm>
                <a:off x="4528580" y="2411900"/>
                <a:ext cx="308610" cy="240030"/>
              </a:xfrm>
              <a:prstGeom prst="rect">
                <a:avLst/>
              </a:prstGeom>
              <a:solidFill>
                <a:srgbClr val="FF9E0B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48" name="Rectangle 47"/>
              <p:cNvSpPr/>
              <p:nvPr/>
            </p:nvSpPr>
            <p:spPr>
              <a:xfrm>
                <a:off x="4837190" y="2411900"/>
                <a:ext cx="308610" cy="24003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49" name="Rectangle 48"/>
              <p:cNvSpPr/>
              <p:nvPr/>
            </p:nvSpPr>
            <p:spPr>
              <a:xfrm>
                <a:off x="5145800" y="2411900"/>
                <a:ext cx="308610" cy="240030"/>
              </a:xfrm>
              <a:prstGeom prst="rect">
                <a:avLst/>
              </a:prstGeom>
              <a:solidFill>
                <a:srgbClr val="FF9E0B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50" name="Rectangle 49"/>
              <p:cNvSpPr/>
              <p:nvPr/>
            </p:nvSpPr>
            <p:spPr>
              <a:xfrm>
                <a:off x="516650" y="2651930"/>
                <a:ext cx="308610" cy="240030"/>
              </a:xfrm>
              <a:prstGeom prst="rect">
                <a:avLst/>
              </a:prstGeom>
              <a:solidFill>
                <a:srgbClr val="FFAD31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51" name="Rectangle 50"/>
              <p:cNvSpPr/>
              <p:nvPr/>
            </p:nvSpPr>
            <p:spPr>
              <a:xfrm>
                <a:off x="825260" y="2651930"/>
                <a:ext cx="308610" cy="240030"/>
              </a:xfrm>
              <a:prstGeom prst="rect">
                <a:avLst/>
              </a:prstGeom>
              <a:solidFill>
                <a:srgbClr val="FFCA7B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52" name="Rectangle 51"/>
              <p:cNvSpPr/>
              <p:nvPr/>
            </p:nvSpPr>
            <p:spPr>
              <a:xfrm>
                <a:off x="1133870" y="2651930"/>
                <a:ext cx="308610" cy="240030"/>
              </a:xfrm>
              <a:prstGeom prst="rect">
                <a:avLst/>
              </a:prstGeom>
              <a:solidFill>
                <a:srgbClr val="FFBC58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53" name="Rectangle 52"/>
              <p:cNvSpPr/>
              <p:nvPr/>
            </p:nvSpPr>
            <p:spPr>
              <a:xfrm>
                <a:off x="1442480" y="2651930"/>
                <a:ext cx="308610" cy="240030"/>
              </a:xfrm>
              <a:prstGeom prst="rect">
                <a:avLst/>
              </a:prstGeom>
              <a:solidFill>
                <a:srgbClr val="FFB84C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54" name="Rectangle 53"/>
              <p:cNvSpPr/>
              <p:nvPr/>
            </p:nvSpPr>
            <p:spPr>
              <a:xfrm>
                <a:off x="1751090" y="2651930"/>
                <a:ext cx="308610" cy="240030"/>
              </a:xfrm>
              <a:prstGeom prst="rect">
                <a:avLst/>
              </a:prstGeom>
              <a:solidFill>
                <a:srgbClr val="FFCB7C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55" name="Rectangle 54"/>
              <p:cNvSpPr/>
              <p:nvPr/>
            </p:nvSpPr>
            <p:spPr>
              <a:xfrm>
                <a:off x="2059700" y="2651930"/>
                <a:ext cx="308610" cy="240030"/>
              </a:xfrm>
              <a:prstGeom prst="rect">
                <a:avLst/>
              </a:prstGeom>
              <a:solidFill>
                <a:srgbClr val="FFAC30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56" name="Rectangle 55"/>
              <p:cNvSpPr/>
              <p:nvPr/>
            </p:nvSpPr>
            <p:spPr>
              <a:xfrm>
                <a:off x="2368310" y="2651930"/>
                <a:ext cx="308610" cy="240030"/>
              </a:xfrm>
              <a:prstGeom prst="rect">
                <a:avLst/>
              </a:prstGeom>
              <a:solidFill>
                <a:srgbClr val="FFD79B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57" name="Rectangle 56"/>
              <p:cNvSpPr/>
              <p:nvPr/>
            </p:nvSpPr>
            <p:spPr>
              <a:xfrm>
                <a:off x="2676920" y="2651930"/>
                <a:ext cx="308610" cy="240030"/>
              </a:xfrm>
              <a:prstGeom prst="rect">
                <a:avLst/>
              </a:prstGeom>
              <a:solidFill>
                <a:srgbClr val="FFA620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58" name="Rectangle 57"/>
              <p:cNvSpPr/>
              <p:nvPr/>
            </p:nvSpPr>
            <p:spPr>
              <a:xfrm>
                <a:off x="2985530" y="2651930"/>
                <a:ext cx="308610" cy="240030"/>
              </a:xfrm>
              <a:prstGeom prst="rect">
                <a:avLst/>
              </a:prstGeom>
              <a:solidFill>
                <a:srgbClr val="FFE0B3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59" name="Rectangle 58"/>
              <p:cNvSpPr/>
              <p:nvPr/>
            </p:nvSpPr>
            <p:spPr>
              <a:xfrm>
                <a:off x="3294140" y="2651930"/>
                <a:ext cx="308610" cy="240030"/>
              </a:xfrm>
              <a:prstGeom prst="rect">
                <a:avLst/>
              </a:prstGeom>
              <a:solidFill>
                <a:srgbClr val="FFA217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60" name="Rectangle 59"/>
              <p:cNvSpPr/>
              <p:nvPr/>
            </p:nvSpPr>
            <p:spPr>
              <a:xfrm>
                <a:off x="3602750" y="2651930"/>
                <a:ext cx="308610" cy="240030"/>
              </a:xfrm>
              <a:prstGeom prst="rect">
                <a:avLst/>
              </a:prstGeom>
              <a:solidFill>
                <a:srgbClr val="FFE8C5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61" name="Rectangle 60"/>
              <p:cNvSpPr/>
              <p:nvPr/>
            </p:nvSpPr>
            <p:spPr>
              <a:xfrm>
                <a:off x="3911360" y="2651930"/>
                <a:ext cx="308610" cy="240030"/>
              </a:xfrm>
              <a:prstGeom prst="rect">
                <a:avLst/>
              </a:prstGeom>
              <a:solidFill>
                <a:srgbClr val="FFA011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62" name="Rectangle 61"/>
              <p:cNvSpPr/>
              <p:nvPr/>
            </p:nvSpPr>
            <p:spPr>
              <a:xfrm>
                <a:off x="4219970" y="2651930"/>
                <a:ext cx="308610" cy="240030"/>
              </a:xfrm>
              <a:prstGeom prst="rect">
                <a:avLst/>
              </a:prstGeom>
              <a:solidFill>
                <a:srgbClr val="FFEDD3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63" name="Rectangle 62"/>
              <p:cNvSpPr/>
              <p:nvPr/>
            </p:nvSpPr>
            <p:spPr>
              <a:xfrm>
                <a:off x="4528580" y="2651930"/>
                <a:ext cx="308610" cy="240030"/>
              </a:xfrm>
              <a:prstGeom prst="rect">
                <a:avLst/>
              </a:prstGeom>
              <a:solidFill>
                <a:srgbClr val="FF9F0E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64" name="Rectangle 63"/>
              <p:cNvSpPr/>
              <p:nvPr/>
            </p:nvSpPr>
            <p:spPr>
              <a:xfrm>
                <a:off x="4837190" y="2651930"/>
                <a:ext cx="308610" cy="240030"/>
              </a:xfrm>
              <a:prstGeom prst="rect">
                <a:avLst/>
              </a:prstGeom>
              <a:solidFill>
                <a:srgbClr val="FFF2DE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65" name="Rectangle 64"/>
              <p:cNvSpPr/>
              <p:nvPr/>
            </p:nvSpPr>
            <p:spPr>
              <a:xfrm>
                <a:off x="5145800" y="2651930"/>
                <a:ext cx="308610" cy="240030"/>
              </a:xfrm>
              <a:prstGeom prst="rect">
                <a:avLst/>
              </a:prstGeom>
              <a:solidFill>
                <a:srgbClr val="FF9E0D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66" name="Rectangle 65"/>
              <p:cNvSpPr/>
              <p:nvPr/>
            </p:nvSpPr>
            <p:spPr>
              <a:xfrm>
                <a:off x="516650" y="2891960"/>
                <a:ext cx="308610" cy="240030"/>
              </a:xfrm>
              <a:prstGeom prst="rect">
                <a:avLst/>
              </a:prstGeom>
              <a:solidFill>
                <a:srgbClr val="FFA621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67" name="Rectangle 66"/>
              <p:cNvSpPr/>
              <p:nvPr/>
            </p:nvSpPr>
            <p:spPr>
              <a:xfrm>
                <a:off x="825260" y="2891960"/>
                <a:ext cx="308610" cy="240030"/>
              </a:xfrm>
              <a:prstGeom prst="rect">
                <a:avLst/>
              </a:prstGeom>
              <a:solidFill>
                <a:srgbClr val="ADCAFF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68" name="Rectangle 67"/>
              <p:cNvSpPr/>
              <p:nvPr/>
            </p:nvSpPr>
            <p:spPr>
              <a:xfrm>
                <a:off x="1133870" y="2891960"/>
                <a:ext cx="308610" cy="240030"/>
              </a:xfrm>
              <a:prstGeom prst="rect">
                <a:avLst/>
              </a:prstGeom>
              <a:solidFill>
                <a:srgbClr val="FF9E0B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69" name="Rectangle 68"/>
              <p:cNvSpPr/>
              <p:nvPr/>
            </p:nvSpPr>
            <p:spPr>
              <a:xfrm>
                <a:off x="1442480" y="2891960"/>
                <a:ext cx="308610" cy="240030"/>
              </a:xfrm>
              <a:prstGeom prst="rect">
                <a:avLst/>
              </a:prstGeom>
              <a:solidFill>
                <a:srgbClr val="FFF8ED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70" name="Rectangle 69"/>
              <p:cNvSpPr/>
              <p:nvPr/>
            </p:nvSpPr>
            <p:spPr>
              <a:xfrm>
                <a:off x="1751090" y="2891960"/>
                <a:ext cx="308610" cy="240030"/>
              </a:xfrm>
              <a:prstGeom prst="rect">
                <a:avLst/>
              </a:prstGeom>
              <a:solidFill>
                <a:srgbClr val="FFA722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71" name="Rectangle 70"/>
              <p:cNvSpPr/>
              <p:nvPr/>
            </p:nvSpPr>
            <p:spPr>
              <a:xfrm>
                <a:off x="2059700" y="2891960"/>
                <a:ext cx="308610" cy="240030"/>
              </a:xfrm>
              <a:prstGeom prst="rect">
                <a:avLst/>
              </a:prstGeom>
              <a:solidFill>
                <a:srgbClr val="FFD595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72" name="Rectangle 71"/>
              <p:cNvSpPr/>
              <p:nvPr/>
            </p:nvSpPr>
            <p:spPr>
              <a:xfrm>
                <a:off x="2368310" y="2891960"/>
                <a:ext cx="308610" cy="240030"/>
              </a:xfrm>
              <a:prstGeom prst="rect">
                <a:avLst/>
              </a:prstGeom>
              <a:solidFill>
                <a:srgbClr val="FFB648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73" name="Rectangle 72"/>
              <p:cNvSpPr/>
              <p:nvPr/>
            </p:nvSpPr>
            <p:spPr>
              <a:xfrm>
                <a:off x="2676920" y="2891960"/>
                <a:ext cx="308610" cy="240030"/>
              </a:xfrm>
              <a:prstGeom prst="rect">
                <a:avLst/>
              </a:prstGeom>
              <a:solidFill>
                <a:srgbClr val="FFBE5C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74" name="Rectangle 73"/>
              <p:cNvSpPr/>
              <p:nvPr/>
            </p:nvSpPr>
            <p:spPr>
              <a:xfrm>
                <a:off x="2985530" y="2891960"/>
                <a:ext cx="308610" cy="240030"/>
              </a:xfrm>
              <a:prstGeom prst="rect">
                <a:avLst/>
              </a:prstGeom>
              <a:solidFill>
                <a:srgbClr val="FFC56E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75" name="Rectangle 74"/>
              <p:cNvSpPr/>
              <p:nvPr/>
            </p:nvSpPr>
            <p:spPr>
              <a:xfrm>
                <a:off x="3294140" y="2891960"/>
                <a:ext cx="308610" cy="240030"/>
              </a:xfrm>
              <a:prstGeom prst="rect">
                <a:avLst/>
              </a:prstGeom>
              <a:solidFill>
                <a:srgbClr val="FFB03A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3602750" y="2891960"/>
                <a:ext cx="308610" cy="240030"/>
              </a:xfrm>
              <a:prstGeom prst="rect">
                <a:avLst/>
              </a:prstGeom>
              <a:solidFill>
                <a:srgbClr val="FFD28F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911360" y="2891960"/>
                <a:ext cx="308610" cy="240030"/>
              </a:xfrm>
              <a:prstGeom prst="rect">
                <a:avLst/>
              </a:prstGeom>
              <a:solidFill>
                <a:srgbClr val="FFA825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78" name="Rectangle 77"/>
              <p:cNvSpPr/>
              <p:nvPr/>
            </p:nvSpPr>
            <p:spPr>
              <a:xfrm>
                <a:off x="4219970" y="2891960"/>
                <a:ext cx="308610" cy="240030"/>
              </a:xfrm>
              <a:prstGeom prst="rect">
                <a:avLst/>
              </a:prstGeom>
              <a:solidFill>
                <a:srgbClr val="FFDDAA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4528580" y="2891960"/>
                <a:ext cx="308610" cy="240030"/>
              </a:xfrm>
              <a:prstGeom prst="rect">
                <a:avLst/>
              </a:prstGeom>
              <a:solidFill>
                <a:srgbClr val="FFA41A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4837190" y="2891960"/>
                <a:ext cx="308610" cy="240030"/>
              </a:xfrm>
              <a:prstGeom prst="rect">
                <a:avLst/>
              </a:prstGeom>
              <a:solidFill>
                <a:srgbClr val="FFE5BE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81" name="Rectangle 80"/>
              <p:cNvSpPr/>
              <p:nvPr/>
            </p:nvSpPr>
            <p:spPr>
              <a:xfrm>
                <a:off x="5145800" y="2891960"/>
                <a:ext cx="308610" cy="240030"/>
              </a:xfrm>
              <a:prstGeom prst="rect">
                <a:avLst/>
              </a:prstGeom>
              <a:solidFill>
                <a:srgbClr val="FFA113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82" name="Rectangle 81"/>
              <p:cNvSpPr/>
              <p:nvPr/>
            </p:nvSpPr>
            <p:spPr>
              <a:xfrm>
                <a:off x="516650" y="3131990"/>
                <a:ext cx="308610" cy="240030"/>
              </a:xfrm>
              <a:prstGeom prst="rect">
                <a:avLst/>
              </a:prstGeom>
              <a:solidFill>
                <a:srgbClr val="FFF1DC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83" name="Rectangle 82"/>
              <p:cNvSpPr/>
              <p:nvPr/>
            </p:nvSpPr>
            <p:spPr>
              <a:xfrm>
                <a:off x="825260" y="3131990"/>
                <a:ext cx="308610" cy="240030"/>
              </a:xfrm>
              <a:prstGeom prst="rect">
                <a:avLst/>
              </a:prstGeom>
              <a:solidFill>
                <a:srgbClr val="3C83FF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84" name="Rectangle 83"/>
              <p:cNvSpPr/>
              <p:nvPr/>
            </p:nvSpPr>
            <p:spPr>
              <a:xfrm>
                <a:off x="1133870" y="3131990"/>
                <a:ext cx="308610" cy="240030"/>
              </a:xfrm>
              <a:prstGeom prst="rect">
                <a:avLst/>
              </a:prstGeom>
              <a:solidFill>
                <a:srgbClr val="FFB341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85" name="Rectangle 84"/>
              <p:cNvSpPr/>
              <p:nvPr/>
            </p:nvSpPr>
            <p:spPr>
              <a:xfrm>
                <a:off x="1442480" y="3131990"/>
                <a:ext cx="308610" cy="240030"/>
              </a:xfrm>
              <a:prstGeom prst="rect">
                <a:avLst/>
              </a:prstGeom>
              <a:solidFill>
                <a:srgbClr val="83B0FF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86" name="Rectangle 85"/>
              <p:cNvSpPr/>
              <p:nvPr/>
            </p:nvSpPr>
            <p:spPr>
              <a:xfrm>
                <a:off x="1751090" y="3131990"/>
                <a:ext cx="308610" cy="240030"/>
              </a:xfrm>
              <a:prstGeom prst="rect">
                <a:avLst/>
              </a:prstGeom>
              <a:solidFill>
                <a:srgbClr val="FF9E0C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87" name="Rectangle 86"/>
              <p:cNvSpPr/>
              <p:nvPr/>
            </p:nvSpPr>
            <p:spPr>
              <a:xfrm>
                <a:off x="2059700" y="3131990"/>
                <a:ext cx="308610" cy="240030"/>
              </a:xfrm>
              <a:prstGeom prst="rect">
                <a:avLst/>
              </a:prstGeom>
              <a:solidFill>
                <a:srgbClr val="E8F0FF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88" name="Rectangle 87"/>
              <p:cNvSpPr/>
              <p:nvPr/>
            </p:nvSpPr>
            <p:spPr>
              <a:xfrm>
                <a:off x="2368310" y="3131990"/>
                <a:ext cx="308610" cy="240030"/>
              </a:xfrm>
              <a:prstGeom prst="rect">
                <a:avLst/>
              </a:prstGeom>
              <a:solidFill>
                <a:srgbClr val="FFA216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89" name="Rectangle 88"/>
              <p:cNvSpPr/>
              <p:nvPr/>
            </p:nvSpPr>
            <p:spPr>
              <a:xfrm>
                <a:off x="2676920" y="3131990"/>
                <a:ext cx="308610" cy="240030"/>
              </a:xfrm>
              <a:prstGeom prst="rect">
                <a:avLst/>
              </a:prstGeom>
              <a:solidFill>
                <a:srgbClr val="FFE1B5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90" name="Rectangle 89"/>
              <p:cNvSpPr/>
              <p:nvPr/>
            </p:nvSpPr>
            <p:spPr>
              <a:xfrm>
                <a:off x="2985530" y="3131990"/>
                <a:ext cx="308610" cy="240030"/>
              </a:xfrm>
              <a:prstGeom prst="rect">
                <a:avLst/>
              </a:prstGeom>
              <a:solidFill>
                <a:srgbClr val="FFB038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91" name="Rectangle 90"/>
              <p:cNvSpPr/>
              <p:nvPr/>
            </p:nvSpPr>
            <p:spPr>
              <a:xfrm>
                <a:off x="3294140" y="3131990"/>
                <a:ext cx="308610" cy="240030"/>
              </a:xfrm>
              <a:prstGeom prst="rect">
                <a:avLst/>
              </a:prstGeom>
              <a:solidFill>
                <a:srgbClr val="FFC670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92" name="Rectangle 91"/>
              <p:cNvSpPr/>
              <p:nvPr/>
            </p:nvSpPr>
            <p:spPr>
              <a:xfrm>
                <a:off x="3602750" y="3131990"/>
                <a:ext cx="308610" cy="240030"/>
              </a:xfrm>
              <a:prstGeom prst="rect">
                <a:avLst/>
              </a:prstGeom>
              <a:solidFill>
                <a:srgbClr val="FFBF5F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93" name="Rectangle 92"/>
              <p:cNvSpPr/>
              <p:nvPr/>
            </p:nvSpPr>
            <p:spPr>
              <a:xfrm>
                <a:off x="3911360" y="3131990"/>
                <a:ext cx="308610" cy="240030"/>
              </a:xfrm>
              <a:prstGeom prst="rect">
                <a:avLst/>
              </a:prstGeom>
              <a:solidFill>
                <a:srgbClr val="FFB546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94" name="Rectangle 93"/>
              <p:cNvSpPr/>
              <p:nvPr/>
            </p:nvSpPr>
            <p:spPr>
              <a:xfrm>
                <a:off x="4219970" y="3131990"/>
                <a:ext cx="308610" cy="240030"/>
              </a:xfrm>
              <a:prstGeom prst="rect">
                <a:avLst/>
              </a:prstGeom>
              <a:solidFill>
                <a:srgbClr val="FFCD82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95" name="Rectangle 94"/>
              <p:cNvSpPr/>
              <p:nvPr/>
            </p:nvSpPr>
            <p:spPr>
              <a:xfrm>
                <a:off x="4528580" y="3131990"/>
                <a:ext cx="308610" cy="240030"/>
              </a:xfrm>
              <a:prstGeom prst="rect">
                <a:avLst/>
              </a:prstGeom>
              <a:solidFill>
                <a:srgbClr val="FFAB2C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96" name="Rectangle 95"/>
              <p:cNvSpPr/>
              <p:nvPr/>
            </p:nvSpPr>
            <p:spPr>
              <a:xfrm>
                <a:off x="4837190" y="3131990"/>
                <a:ext cx="308610" cy="240030"/>
              </a:xfrm>
              <a:prstGeom prst="rect">
                <a:avLst/>
              </a:prstGeom>
              <a:solidFill>
                <a:srgbClr val="FFD99F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97" name="Rectangle 96"/>
              <p:cNvSpPr/>
              <p:nvPr/>
            </p:nvSpPr>
            <p:spPr>
              <a:xfrm>
                <a:off x="5145800" y="3131990"/>
                <a:ext cx="308610" cy="240030"/>
              </a:xfrm>
              <a:prstGeom prst="rect">
                <a:avLst/>
              </a:prstGeom>
              <a:solidFill>
                <a:srgbClr val="FFA51E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98" name="Rectangle 97"/>
              <p:cNvSpPr/>
              <p:nvPr/>
            </p:nvSpPr>
            <p:spPr>
              <a:xfrm>
                <a:off x="516650" y="3372020"/>
                <a:ext cx="308610" cy="240030"/>
              </a:xfrm>
              <a:prstGeom prst="rect">
                <a:avLst/>
              </a:prstGeom>
              <a:solidFill>
                <a:srgbClr val="6AA0FF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99" name="Rectangle 98"/>
              <p:cNvSpPr/>
              <p:nvPr/>
            </p:nvSpPr>
            <p:spPr>
              <a:xfrm>
                <a:off x="825260" y="3372020"/>
                <a:ext cx="308610" cy="240030"/>
              </a:xfrm>
              <a:prstGeom prst="rect">
                <a:avLst/>
              </a:prstGeom>
              <a:solidFill>
                <a:srgbClr val="7EADFF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00" name="Rectangle 99"/>
              <p:cNvSpPr/>
              <p:nvPr/>
            </p:nvSpPr>
            <p:spPr>
              <a:xfrm>
                <a:off x="1133870" y="3372020"/>
                <a:ext cx="308610" cy="240030"/>
              </a:xfrm>
              <a:prstGeom prst="rect">
                <a:avLst/>
              </a:prstGeom>
              <a:solidFill>
                <a:srgbClr val="FFF1DC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01" name="Rectangle 100"/>
              <p:cNvSpPr/>
              <p:nvPr/>
            </p:nvSpPr>
            <p:spPr>
              <a:xfrm>
                <a:off x="1442480" y="3372020"/>
                <a:ext cx="308610" cy="240030"/>
              </a:xfrm>
              <a:prstGeom prst="rect">
                <a:avLst/>
              </a:prstGeom>
              <a:solidFill>
                <a:srgbClr val="3C83FF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02" name="Rectangle 101"/>
              <p:cNvSpPr/>
              <p:nvPr/>
            </p:nvSpPr>
            <p:spPr>
              <a:xfrm>
                <a:off x="1751090" y="3372020"/>
                <a:ext cx="308610" cy="240030"/>
              </a:xfrm>
              <a:prstGeom prst="rect">
                <a:avLst/>
              </a:prstGeom>
              <a:solidFill>
                <a:srgbClr val="FFB341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03" name="Rectangle 102"/>
              <p:cNvSpPr/>
              <p:nvPr/>
            </p:nvSpPr>
            <p:spPr>
              <a:xfrm>
                <a:off x="2059700" y="3372020"/>
                <a:ext cx="308610" cy="240030"/>
              </a:xfrm>
              <a:prstGeom prst="rect">
                <a:avLst/>
              </a:prstGeom>
              <a:solidFill>
                <a:srgbClr val="83B0FF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04" name="Rectangle 103"/>
              <p:cNvSpPr/>
              <p:nvPr/>
            </p:nvSpPr>
            <p:spPr>
              <a:xfrm>
                <a:off x="2368310" y="3372020"/>
                <a:ext cx="308610" cy="240030"/>
              </a:xfrm>
              <a:prstGeom prst="rect">
                <a:avLst/>
              </a:prstGeom>
              <a:solidFill>
                <a:srgbClr val="FF9E0C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676920" y="3372020"/>
                <a:ext cx="308610" cy="240030"/>
              </a:xfrm>
              <a:prstGeom prst="rect">
                <a:avLst/>
              </a:prstGeom>
              <a:solidFill>
                <a:srgbClr val="E8F0FF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2985530" y="3372020"/>
                <a:ext cx="308610" cy="240030"/>
              </a:xfrm>
              <a:prstGeom prst="rect">
                <a:avLst/>
              </a:prstGeom>
              <a:solidFill>
                <a:srgbClr val="FFA216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07" name="Rectangle 106"/>
              <p:cNvSpPr/>
              <p:nvPr/>
            </p:nvSpPr>
            <p:spPr>
              <a:xfrm>
                <a:off x="3294140" y="3372020"/>
                <a:ext cx="308610" cy="240030"/>
              </a:xfrm>
              <a:prstGeom prst="rect">
                <a:avLst/>
              </a:prstGeom>
              <a:solidFill>
                <a:srgbClr val="FFE1B5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08" name="Rectangle 107"/>
              <p:cNvSpPr/>
              <p:nvPr/>
            </p:nvSpPr>
            <p:spPr>
              <a:xfrm>
                <a:off x="3602750" y="3372020"/>
                <a:ext cx="308610" cy="240030"/>
              </a:xfrm>
              <a:prstGeom prst="rect">
                <a:avLst/>
              </a:prstGeom>
              <a:solidFill>
                <a:srgbClr val="FFB038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09" name="Rectangle 108"/>
              <p:cNvSpPr/>
              <p:nvPr/>
            </p:nvSpPr>
            <p:spPr>
              <a:xfrm>
                <a:off x="3911360" y="3372020"/>
                <a:ext cx="308610" cy="240030"/>
              </a:xfrm>
              <a:prstGeom prst="rect">
                <a:avLst/>
              </a:prstGeom>
              <a:solidFill>
                <a:srgbClr val="FFC670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10" name="Rectangle 109"/>
              <p:cNvSpPr/>
              <p:nvPr/>
            </p:nvSpPr>
            <p:spPr>
              <a:xfrm>
                <a:off x="4219970" y="3372020"/>
                <a:ext cx="308610" cy="240030"/>
              </a:xfrm>
              <a:prstGeom prst="rect">
                <a:avLst/>
              </a:prstGeom>
              <a:solidFill>
                <a:srgbClr val="FFBF5F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11" name="Rectangle 110"/>
              <p:cNvSpPr/>
              <p:nvPr/>
            </p:nvSpPr>
            <p:spPr>
              <a:xfrm>
                <a:off x="4528580" y="3372020"/>
                <a:ext cx="308610" cy="240030"/>
              </a:xfrm>
              <a:prstGeom prst="rect">
                <a:avLst/>
              </a:prstGeom>
              <a:solidFill>
                <a:srgbClr val="FFB546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12" name="Rectangle 111"/>
              <p:cNvSpPr/>
              <p:nvPr/>
            </p:nvSpPr>
            <p:spPr>
              <a:xfrm>
                <a:off x="4837190" y="3372020"/>
                <a:ext cx="308610" cy="240030"/>
              </a:xfrm>
              <a:prstGeom prst="rect">
                <a:avLst/>
              </a:prstGeom>
              <a:solidFill>
                <a:srgbClr val="FFCD82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13" name="Rectangle 112"/>
              <p:cNvSpPr/>
              <p:nvPr/>
            </p:nvSpPr>
            <p:spPr>
              <a:xfrm>
                <a:off x="5145800" y="3372020"/>
                <a:ext cx="308610" cy="240030"/>
              </a:xfrm>
              <a:prstGeom prst="rect">
                <a:avLst/>
              </a:prstGeom>
              <a:solidFill>
                <a:srgbClr val="FFAB2C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14" name="Rectangle 113"/>
              <p:cNvSpPr/>
              <p:nvPr/>
            </p:nvSpPr>
            <p:spPr>
              <a:xfrm>
                <a:off x="516650" y="3612050"/>
                <a:ext cx="308610" cy="240030"/>
              </a:xfrm>
              <a:prstGeom prst="rect">
                <a:avLst/>
              </a:prstGeom>
              <a:solidFill>
                <a:srgbClr val="4387FF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15" name="Rectangle 114"/>
              <p:cNvSpPr/>
              <p:nvPr/>
            </p:nvSpPr>
            <p:spPr>
              <a:xfrm>
                <a:off x="825260" y="3612050"/>
                <a:ext cx="308610" cy="240030"/>
              </a:xfrm>
              <a:prstGeom prst="rect">
                <a:avLst/>
              </a:prstGeom>
              <a:solidFill>
                <a:srgbClr val="FFE3B9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16" name="Rectangle 115"/>
              <p:cNvSpPr/>
              <p:nvPr/>
            </p:nvSpPr>
            <p:spPr>
              <a:xfrm>
                <a:off x="1133870" y="3612050"/>
                <a:ext cx="308610" cy="240030"/>
              </a:xfrm>
              <a:prstGeom prst="rect">
                <a:avLst/>
              </a:prstGeom>
              <a:solidFill>
                <a:srgbClr val="8FB7FF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17" name="Rectangle 116"/>
              <p:cNvSpPr/>
              <p:nvPr/>
            </p:nvSpPr>
            <p:spPr>
              <a:xfrm>
                <a:off x="1442480" y="3612050"/>
                <a:ext cx="308610" cy="240030"/>
              </a:xfrm>
              <a:prstGeom prst="rect">
                <a:avLst/>
              </a:prstGeom>
              <a:solidFill>
                <a:srgbClr val="5E98FF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18" name="Rectangle 117"/>
              <p:cNvSpPr/>
              <p:nvPr/>
            </p:nvSpPr>
            <p:spPr>
              <a:xfrm>
                <a:off x="1751090" y="3612050"/>
                <a:ext cx="308610" cy="240030"/>
              </a:xfrm>
              <a:prstGeom prst="rect">
                <a:avLst/>
              </a:prstGeom>
              <a:solidFill>
                <a:srgbClr val="FFDFAF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19" name="Rectangle 118"/>
              <p:cNvSpPr/>
              <p:nvPr/>
            </p:nvSpPr>
            <p:spPr>
              <a:xfrm>
                <a:off x="2059700" y="3612050"/>
                <a:ext cx="308610" cy="240030"/>
              </a:xfrm>
              <a:prstGeom prst="rect">
                <a:avLst/>
              </a:prstGeom>
              <a:solidFill>
                <a:srgbClr val="4588FF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20" name="Rectangle 119"/>
              <p:cNvSpPr/>
              <p:nvPr/>
            </p:nvSpPr>
            <p:spPr>
              <a:xfrm>
                <a:off x="2368310" y="3612050"/>
                <a:ext cx="308610" cy="240030"/>
              </a:xfrm>
              <a:prstGeom prst="rect">
                <a:avLst/>
              </a:prstGeom>
              <a:solidFill>
                <a:srgbClr val="FFAB2D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21" name="Rectangle 120"/>
              <p:cNvSpPr/>
              <p:nvPr/>
            </p:nvSpPr>
            <p:spPr>
              <a:xfrm>
                <a:off x="2676920" y="3612050"/>
                <a:ext cx="308610" cy="240030"/>
              </a:xfrm>
              <a:prstGeom prst="rect">
                <a:avLst/>
              </a:prstGeom>
              <a:solidFill>
                <a:srgbClr val="9ABEFF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2985530" y="3612050"/>
                <a:ext cx="308610" cy="240030"/>
              </a:xfrm>
              <a:prstGeom prst="rect">
                <a:avLst/>
              </a:prstGeom>
              <a:solidFill>
                <a:srgbClr val="FF9E0B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23" name="Rectangle 122"/>
              <p:cNvSpPr/>
              <p:nvPr/>
            </p:nvSpPr>
            <p:spPr>
              <a:xfrm>
                <a:off x="3294140" y="3612050"/>
                <a:ext cx="308610" cy="240030"/>
              </a:xfrm>
              <a:prstGeom prst="rect">
                <a:avLst/>
              </a:prstGeom>
              <a:solidFill>
                <a:srgbClr val="FCFDFF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24" name="Rectangle 123"/>
              <p:cNvSpPr/>
              <p:nvPr/>
            </p:nvSpPr>
            <p:spPr>
              <a:xfrm>
                <a:off x="3602750" y="3612050"/>
                <a:ext cx="308610" cy="240030"/>
              </a:xfrm>
              <a:prstGeom prst="rect">
                <a:avLst/>
              </a:prstGeom>
              <a:solidFill>
                <a:srgbClr val="FFA51C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25" name="Rectangle 124"/>
              <p:cNvSpPr/>
              <p:nvPr/>
            </p:nvSpPr>
            <p:spPr>
              <a:xfrm>
                <a:off x="3911360" y="3612050"/>
                <a:ext cx="308610" cy="240030"/>
              </a:xfrm>
              <a:prstGeom prst="rect">
                <a:avLst/>
              </a:prstGeom>
              <a:solidFill>
                <a:srgbClr val="FFDAA3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26" name="Rectangle 125"/>
              <p:cNvSpPr/>
              <p:nvPr/>
            </p:nvSpPr>
            <p:spPr>
              <a:xfrm>
                <a:off x="4219970" y="3612050"/>
                <a:ext cx="308610" cy="240030"/>
              </a:xfrm>
              <a:prstGeom prst="rect">
                <a:avLst/>
              </a:prstGeom>
              <a:solidFill>
                <a:srgbClr val="FFB341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27" name="Rectangle 126"/>
              <p:cNvSpPr/>
              <p:nvPr/>
            </p:nvSpPr>
            <p:spPr>
              <a:xfrm>
                <a:off x="4528580" y="3612050"/>
                <a:ext cx="308610" cy="240030"/>
              </a:xfrm>
              <a:prstGeom prst="rect">
                <a:avLst/>
              </a:prstGeom>
              <a:solidFill>
                <a:srgbClr val="FFC165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28" name="Rectangle 127"/>
              <p:cNvSpPr/>
              <p:nvPr/>
            </p:nvSpPr>
            <p:spPr>
              <a:xfrm>
                <a:off x="4837190" y="3612050"/>
                <a:ext cx="308610" cy="240030"/>
              </a:xfrm>
              <a:prstGeom prst="rect">
                <a:avLst/>
              </a:prstGeom>
              <a:solidFill>
                <a:srgbClr val="FFC368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29" name="Rectangle 128"/>
              <p:cNvSpPr/>
              <p:nvPr/>
            </p:nvSpPr>
            <p:spPr>
              <a:xfrm>
                <a:off x="5145800" y="3612050"/>
                <a:ext cx="308610" cy="240030"/>
              </a:xfrm>
              <a:prstGeom prst="rect">
                <a:avLst/>
              </a:prstGeom>
              <a:solidFill>
                <a:srgbClr val="FFB23F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30" name="Rectangle 129"/>
              <p:cNvSpPr/>
              <p:nvPr/>
            </p:nvSpPr>
            <p:spPr>
              <a:xfrm>
                <a:off x="516650" y="3852080"/>
                <a:ext cx="308610" cy="240030"/>
              </a:xfrm>
              <a:prstGeom prst="rect">
                <a:avLst/>
              </a:prstGeom>
              <a:solidFill>
                <a:srgbClr val="C8DCFF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31" name="Rectangle 130"/>
              <p:cNvSpPr/>
              <p:nvPr/>
            </p:nvSpPr>
            <p:spPr>
              <a:xfrm>
                <a:off x="825260" y="3852080"/>
                <a:ext cx="308610" cy="240030"/>
              </a:xfrm>
              <a:prstGeom prst="rect">
                <a:avLst/>
              </a:prstGeom>
              <a:solidFill>
                <a:srgbClr val="FFA114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32" name="Rectangle 131"/>
              <p:cNvSpPr/>
              <p:nvPr/>
            </p:nvSpPr>
            <p:spPr>
              <a:xfrm>
                <a:off x="1133870" y="3852080"/>
                <a:ext cx="308610" cy="240030"/>
              </a:xfrm>
              <a:prstGeom prst="rect">
                <a:avLst/>
              </a:prstGeom>
              <a:solidFill>
                <a:srgbClr val="3F84FF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33" name="Rectangle 132"/>
              <p:cNvSpPr/>
              <p:nvPr/>
            </p:nvSpPr>
            <p:spPr>
              <a:xfrm>
                <a:off x="1442480" y="3852080"/>
                <a:ext cx="308610" cy="240030"/>
              </a:xfrm>
              <a:prstGeom prst="rect">
                <a:avLst/>
              </a:prstGeom>
              <a:solidFill>
                <a:srgbClr val="D5E4FF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34" name="Rectangle 133"/>
              <p:cNvSpPr/>
              <p:nvPr/>
            </p:nvSpPr>
            <p:spPr>
              <a:xfrm>
                <a:off x="1751090" y="3852080"/>
                <a:ext cx="308610" cy="240030"/>
              </a:xfrm>
              <a:prstGeom prst="rect">
                <a:avLst/>
              </a:prstGeom>
              <a:solidFill>
                <a:srgbClr val="D1E2FF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35" name="Rectangle 134"/>
              <p:cNvSpPr/>
              <p:nvPr/>
            </p:nvSpPr>
            <p:spPr>
              <a:xfrm>
                <a:off x="2059700" y="3852080"/>
                <a:ext cx="308610" cy="240030"/>
              </a:xfrm>
              <a:prstGeom prst="rect">
                <a:avLst/>
              </a:prstGeom>
              <a:solidFill>
                <a:srgbClr val="4085FF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36" name="Rectangle 135"/>
              <p:cNvSpPr/>
              <p:nvPr/>
            </p:nvSpPr>
            <p:spPr>
              <a:xfrm>
                <a:off x="2368310" y="3852080"/>
                <a:ext cx="308610" cy="240030"/>
              </a:xfrm>
              <a:prstGeom prst="rect">
                <a:avLst/>
              </a:prstGeom>
              <a:solidFill>
                <a:srgbClr val="FFC772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37" name="Rectangle 136"/>
              <p:cNvSpPr/>
              <p:nvPr/>
            </p:nvSpPr>
            <p:spPr>
              <a:xfrm>
                <a:off x="2676920" y="3852080"/>
                <a:ext cx="308610" cy="240030"/>
              </a:xfrm>
              <a:prstGeom prst="rect">
                <a:avLst/>
              </a:prstGeom>
              <a:solidFill>
                <a:srgbClr val="5E98FF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38" name="Rectangle 137"/>
              <p:cNvSpPr/>
              <p:nvPr/>
            </p:nvSpPr>
            <p:spPr>
              <a:xfrm>
                <a:off x="2985530" y="3852080"/>
                <a:ext cx="308610" cy="240030"/>
              </a:xfrm>
              <a:prstGeom prst="rect">
                <a:avLst/>
              </a:prstGeom>
              <a:solidFill>
                <a:srgbClr val="FFA317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39" name="Rectangle 138"/>
              <p:cNvSpPr/>
              <p:nvPr/>
            </p:nvSpPr>
            <p:spPr>
              <a:xfrm>
                <a:off x="3294140" y="3852080"/>
                <a:ext cx="308610" cy="240030"/>
              </a:xfrm>
              <a:prstGeom prst="rect">
                <a:avLst/>
              </a:prstGeom>
              <a:solidFill>
                <a:srgbClr val="C0D6FF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40" name="Rectangle 139"/>
              <p:cNvSpPr/>
              <p:nvPr/>
            </p:nvSpPr>
            <p:spPr>
              <a:xfrm>
                <a:off x="3602750" y="3852080"/>
                <a:ext cx="308610" cy="240030"/>
              </a:xfrm>
              <a:prstGeom prst="rect">
                <a:avLst/>
              </a:prstGeom>
              <a:solidFill>
                <a:srgbClr val="FF9F0D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41" name="Rectangle 140"/>
              <p:cNvSpPr/>
              <p:nvPr/>
            </p:nvSpPr>
            <p:spPr>
              <a:xfrm>
                <a:off x="3911360" y="3852080"/>
                <a:ext cx="308610" cy="240030"/>
              </a:xfrm>
              <a:prstGeom prst="rect">
                <a:avLst/>
              </a:prstGeom>
              <a:solidFill>
                <a:srgbClr val="FFF0DB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42" name="Rectangle 141"/>
              <p:cNvSpPr/>
              <p:nvPr/>
            </p:nvSpPr>
            <p:spPr>
              <a:xfrm>
                <a:off x="4219970" y="3852080"/>
                <a:ext cx="308610" cy="240030"/>
              </a:xfrm>
              <a:prstGeom prst="rect">
                <a:avLst/>
              </a:prstGeom>
              <a:solidFill>
                <a:srgbClr val="FFAA29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43" name="Rectangle 142"/>
              <p:cNvSpPr/>
              <p:nvPr/>
            </p:nvSpPr>
            <p:spPr>
              <a:xfrm>
                <a:off x="4528580" y="3852080"/>
                <a:ext cx="308610" cy="240030"/>
              </a:xfrm>
              <a:prstGeom prst="rect">
                <a:avLst/>
              </a:prstGeom>
              <a:solidFill>
                <a:srgbClr val="FFD089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44" name="Rectangle 143"/>
              <p:cNvSpPr/>
              <p:nvPr/>
            </p:nvSpPr>
            <p:spPr>
              <a:xfrm>
                <a:off x="4837190" y="3852080"/>
                <a:ext cx="308610" cy="240030"/>
              </a:xfrm>
              <a:prstGeom prst="rect">
                <a:avLst/>
              </a:prstGeom>
              <a:solidFill>
                <a:srgbClr val="FFB94F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45" name="Rectangle 144"/>
              <p:cNvSpPr/>
              <p:nvPr/>
            </p:nvSpPr>
            <p:spPr>
              <a:xfrm>
                <a:off x="5145800" y="3852080"/>
                <a:ext cx="308610" cy="240030"/>
              </a:xfrm>
              <a:prstGeom prst="rect">
                <a:avLst/>
              </a:prstGeom>
              <a:solidFill>
                <a:srgbClr val="FFBB55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46" name="Rectangle 145"/>
              <p:cNvSpPr/>
              <p:nvPr/>
            </p:nvSpPr>
            <p:spPr>
              <a:xfrm>
                <a:off x="516650" y="4092110"/>
                <a:ext cx="308610" cy="240030"/>
              </a:xfrm>
              <a:prstGeom prst="rect">
                <a:avLst/>
              </a:prstGeom>
              <a:solidFill>
                <a:srgbClr val="FFBF5E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47" name="Rectangle 146"/>
              <p:cNvSpPr/>
              <p:nvPr/>
            </p:nvSpPr>
            <p:spPr>
              <a:xfrm>
                <a:off x="825260" y="4092110"/>
                <a:ext cx="308610" cy="240030"/>
              </a:xfrm>
              <a:prstGeom prst="rect">
                <a:avLst/>
              </a:prstGeom>
              <a:solidFill>
                <a:srgbClr val="FFB547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48" name="Rectangle 147"/>
              <p:cNvSpPr/>
              <p:nvPr/>
            </p:nvSpPr>
            <p:spPr>
              <a:xfrm>
                <a:off x="1133870" y="4092110"/>
                <a:ext cx="308610" cy="240030"/>
              </a:xfrm>
              <a:prstGeom prst="rect">
                <a:avLst/>
              </a:prstGeom>
              <a:solidFill>
                <a:srgbClr val="5693FF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49" name="Rectangle 148"/>
              <p:cNvSpPr/>
              <p:nvPr/>
            </p:nvSpPr>
            <p:spPr>
              <a:xfrm>
                <a:off x="1442480" y="4092110"/>
                <a:ext cx="308610" cy="240030"/>
              </a:xfrm>
              <a:prstGeom prst="rect">
                <a:avLst/>
              </a:prstGeom>
              <a:solidFill>
                <a:srgbClr val="FFCD82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50" name="Rectangle 149"/>
              <p:cNvSpPr/>
              <p:nvPr/>
            </p:nvSpPr>
            <p:spPr>
              <a:xfrm>
                <a:off x="1751090" y="4092110"/>
                <a:ext cx="308610" cy="240030"/>
              </a:xfrm>
              <a:prstGeom prst="rect">
                <a:avLst/>
              </a:prstGeom>
              <a:solidFill>
                <a:srgbClr val="73A5FF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51" name="Rectangle 150"/>
              <p:cNvSpPr/>
              <p:nvPr/>
            </p:nvSpPr>
            <p:spPr>
              <a:xfrm>
                <a:off x="2059700" y="4092110"/>
                <a:ext cx="308610" cy="240030"/>
              </a:xfrm>
              <a:prstGeom prst="rect">
                <a:avLst/>
              </a:prstGeom>
              <a:solidFill>
                <a:srgbClr val="75A7FF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52" name="Rectangle 151"/>
              <p:cNvSpPr/>
              <p:nvPr/>
            </p:nvSpPr>
            <p:spPr>
              <a:xfrm>
                <a:off x="2368310" y="4092110"/>
                <a:ext cx="308610" cy="240030"/>
              </a:xfrm>
              <a:prstGeom prst="rect">
                <a:avLst/>
              </a:prstGeom>
              <a:solidFill>
                <a:srgbClr val="FFECD0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53" name="Rectangle 152"/>
              <p:cNvSpPr/>
              <p:nvPr/>
            </p:nvSpPr>
            <p:spPr>
              <a:xfrm>
                <a:off x="2676920" y="4092110"/>
                <a:ext cx="308610" cy="240030"/>
              </a:xfrm>
              <a:prstGeom prst="rect">
                <a:avLst/>
              </a:prstGeom>
              <a:solidFill>
                <a:srgbClr val="3E84FF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54" name="Rectangle 153"/>
              <p:cNvSpPr/>
              <p:nvPr/>
            </p:nvSpPr>
            <p:spPr>
              <a:xfrm>
                <a:off x="2985530" y="4092110"/>
                <a:ext cx="308610" cy="240030"/>
              </a:xfrm>
              <a:prstGeom prst="rect">
                <a:avLst/>
              </a:prstGeom>
              <a:solidFill>
                <a:srgbClr val="FFB13B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55" name="Rectangle 154"/>
              <p:cNvSpPr/>
              <p:nvPr/>
            </p:nvSpPr>
            <p:spPr>
              <a:xfrm>
                <a:off x="3294140" y="4092110"/>
                <a:ext cx="308610" cy="240030"/>
              </a:xfrm>
              <a:prstGeom prst="rect">
                <a:avLst/>
              </a:prstGeom>
              <a:solidFill>
                <a:srgbClr val="89B4FF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56" name="Rectangle 155"/>
              <p:cNvSpPr/>
              <p:nvPr/>
            </p:nvSpPr>
            <p:spPr>
              <a:xfrm>
                <a:off x="3602750" y="4092110"/>
                <a:ext cx="308610" cy="240030"/>
              </a:xfrm>
              <a:prstGeom prst="rect">
                <a:avLst/>
              </a:prstGeom>
              <a:solidFill>
                <a:srgbClr val="FF9E0B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57" name="Rectangle 156"/>
              <p:cNvSpPr/>
              <p:nvPr/>
            </p:nvSpPr>
            <p:spPr>
              <a:xfrm>
                <a:off x="3911360" y="4092110"/>
                <a:ext cx="308610" cy="240030"/>
              </a:xfrm>
              <a:prstGeom prst="rect">
                <a:avLst/>
              </a:prstGeom>
              <a:solidFill>
                <a:srgbClr val="EDF3FF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58" name="Rectangle 157"/>
              <p:cNvSpPr/>
              <p:nvPr/>
            </p:nvSpPr>
            <p:spPr>
              <a:xfrm>
                <a:off x="4219970" y="4092110"/>
                <a:ext cx="308610" cy="240030"/>
              </a:xfrm>
              <a:prstGeom prst="rect">
                <a:avLst/>
              </a:prstGeom>
              <a:solidFill>
                <a:srgbClr val="FFA317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59" name="Rectangle 158"/>
              <p:cNvSpPr/>
              <p:nvPr/>
            </p:nvSpPr>
            <p:spPr>
              <a:xfrm>
                <a:off x="4528580" y="4092110"/>
                <a:ext cx="308610" cy="240030"/>
              </a:xfrm>
              <a:prstGeom prst="rect">
                <a:avLst/>
              </a:prstGeom>
              <a:solidFill>
                <a:srgbClr val="FFDFB0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60" name="Rectangle 159"/>
              <p:cNvSpPr/>
              <p:nvPr/>
            </p:nvSpPr>
            <p:spPr>
              <a:xfrm>
                <a:off x="4837190" y="4092110"/>
                <a:ext cx="308610" cy="240030"/>
              </a:xfrm>
              <a:prstGeom prst="rect">
                <a:avLst/>
              </a:prstGeom>
              <a:solidFill>
                <a:srgbClr val="FFB13A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61" name="Rectangle 160"/>
              <p:cNvSpPr/>
              <p:nvPr/>
            </p:nvSpPr>
            <p:spPr>
              <a:xfrm>
                <a:off x="5145800" y="4092110"/>
                <a:ext cx="308610" cy="240030"/>
              </a:xfrm>
              <a:prstGeom prst="rect">
                <a:avLst/>
              </a:prstGeom>
              <a:solidFill>
                <a:srgbClr val="FFC56D"/>
              </a:solidFill>
              <a:ln w="9525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62" name="Rectangle 161"/>
              <p:cNvSpPr/>
              <p:nvPr/>
            </p:nvSpPr>
            <p:spPr>
              <a:xfrm>
                <a:off x="514350" y="4400329"/>
                <a:ext cx="548640" cy="171450"/>
              </a:xfrm>
              <a:prstGeom prst="rect">
                <a:avLst/>
              </a:prstGeom>
              <a:solidFill>
                <a:srgbClr val="3B82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63" name="TextBox 162"/>
              <p:cNvSpPr txBox="1"/>
              <p:nvPr/>
            </p:nvSpPr>
            <p:spPr>
              <a:xfrm>
                <a:off x="1097280" y="4400329"/>
                <a:ext cx="411480" cy="1962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900" b="0">
                    <a:solidFill>
                      <a:srgbClr val="94A3B8"/>
                    </a:solidFill>
                    <a:latin typeface="Segoe UI"/>
                  </a:defRPr>
                </a:pPr>
                <a:r>
                  <a:rPr sz="675"/>
                  <a:t>= −1</a:t>
                </a:r>
              </a:p>
            </p:txBody>
          </p:sp>
          <p:sp>
            <p:nvSpPr>
              <p:cNvPr id="164" name="Rectangle 163"/>
              <p:cNvSpPr/>
              <p:nvPr/>
            </p:nvSpPr>
            <p:spPr>
              <a:xfrm>
                <a:off x="1611630" y="4400329"/>
                <a:ext cx="548640" cy="1714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65" name="TextBox 164"/>
              <p:cNvSpPr txBox="1"/>
              <p:nvPr/>
            </p:nvSpPr>
            <p:spPr>
              <a:xfrm>
                <a:off x="2194560" y="4400329"/>
                <a:ext cx="342900" cy="1962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900" b="0">
                    <a:solidFill>
                      <a:srgbClr val="94A3B8"/>
                    </a:solidFill>
                    <a:latin typeface="Segoe UI"/>
                  </a:defRPr>
                </a:pPr>
                <a:r>
                  <a:rPr sz="675"/>
                  <a:t>= 0</a:t>
                </a:r>
              </a:p>
            </p:txBody>
          </p:sp>
          <p:sp>
            <p:nvSpPr>
              <p:cNvPr id="166" name="Rectangle 165"/>
              <p:cNvSpPr/>
              <p:nvPr/>
            </p:nvSpPr>
            <p:spPr>
              <a:xfrm>
                <a:off x="2640330" y="4400329"/>
                <a:ext cx="548640" cy="171450"/>
              </a:xfrm>
              <a:prstGeom prst="rect">
                <a:avLst/>
              </a:prstGeom>
              <a:solidFill>
                <a:srgbClr val="FF9E0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67" name="TextBox 166"/>
              <p:cNvSpPr txBox="1"/>
              <p:nvPr/>
            </p:nvSpPr>
            <p:spPr>
              <a:xfrm>
                <a:off x="3223260" y="4400329"/>
                <a:ext cx="411480" cy="1962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900" b="0">
                    <a:solidFill>
                      <a:srgbClr val="94A3B8"/>
                    </a:solidFill>
                    <a:latin typeface="Segoe UI"/>
                  </a:defRPr>
                </a:pPr>
                <a:r>
                  <a:rPr sz="675"/>
                  <a:t>= +1</a:t>
                </a:r>
              </a:p>
            </p:txBody>
          </p:sp>
          <p:sp>
            <p:nvSpPr>
              <p:cNvPr id="168" name="TextBox 167"/>
              <p:cNvSpPr txBox="1"/>
              <p:nvPr/>
            </p:nvSpPr>
            <p:spPr>
              <a:xfrm>
                <a:off x="514350" y="4606069"/>
                <a:ext cx="4800600" cy="2077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1000" b="0">
                    <a:solidFill>
                      <a:srgbClr val="94A3B8"/>
                    </a:solidFill>
                    <a:latin typeface="Segoe UI"/>
                  </a:defRPr>
                </a:pPr>
                <a:r>
                  <a:rPr sz="750"/>
                  <a:t>Each row is a position's encoding. Notice: left columns change fast, right columns change slow.</a:t>
                </a:r>
              </a:p>
            </p:txBody>
          </p:sp>
        </p:grpSp>
      </p:grpSp>
      <p:sp>
        <p:nvSpPr>
          <p:cNvPr id="169" name="TextBox 168"/>
          <p:cNvSpPr txBox="1"/>
          <p:nvPr/>
        </p:nvSpPr>
        <p:spPr>
          <a:xfrm>
            <a:off x="5888860" y="767106"/>
            <a:ext cx="3086100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rPr sz="1125" dirty="0"/>
              <a:t>🎯 Why This Works</a:t>
            </a:r>
          </a:p>
        </p:txBody>
      </p: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2E73567F-5284-FB1A-1561-7CB52C157C3E}"/>
              </a:ext>
            </a:extLst>
          </p:cNvPr>
          <p:cNvGrpSpPr/>
          <p:nvPr/>
        </p:nvGrpSpPr>
        <p:grpSpPr>
          <a:xfrm>
            <a:off x="5888860" y="1075716"/>
            <a:ext cx="3017520" cy="515189"/>
            <a:chOff x="5888860" y="1075716"/>
            <a:chExt cx="3017520" cy="515189"/>
          </a:xfrm>
        </p:grpSpPr>
        <p:sp>
          <p:nvSpPr>
            <p:cNvPr id="170" name="Rectangle 169"/>
            <p:cNvSpPr/>
            <p:nvPr/>
          </p:nvSpPr>
          <p:spPr>
            <a:xfrm>
              <a:off x="5888860" y="1110006"/>
              <a:ext cx="41148" cy="377190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71" name="TextBox 170"/>
            <p:cNvSpPr txBox="1"/>
            <p:nvPr/>
          </p:nvSpPr>
          <p:spPr>
            <a:xfrm>
              <a:off x="6026020" y="1075716"/>
              <a:ext cx="288036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3B82F6"/>
                  </a:solidFill>
                  <a:latin typeface="Segoe UI"/>
                </a:defRPr>
              </a:pPr>
              <a:r>
                <a:rPr sz="900"/>
                <a:t>Unique per Position</a:t>
              </a:r>
            </a:p>
          </p:txBody>
        </p:sp>
        <p:sp>
          <p:nvSpPr>
            <p:cNvPr id="172" name="TextBox 171"/>
            <p:cNvSpPr txBox="1"/>
            <p:nvPr/>
          </p:nvSpPr>
          <p:spPr>
            <a:xfrm>
              <a:off x="6026020" y="1267740"/>
              <a:ext cx="2880360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Each position gets a completely</a:t>
              </a:r>
              <a:br>
                <a:rPr sz="750"/>
              </a:br>
              <a:r>
                <a:rPr sz="750"/>
                <a:t>different pattern of sin/cos values.</a:t>
              </a:r>
            </a:p>
          </p:txBody>
        </p:sp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BDBD5F5B-4C96-165E-2FE5-536C1C328181}"/>
              </a:ext>
            </a:extLst>
          </p:cNvPr>
          <p:cNvGrpSpPr/>
          <p:nvPr/>
        </p:nvGrpSpPr>
        <p:grpSpPr>
          <a:xfrm>
            <a:off x="5888860" y="1569492"/>
            <a:ext cx="3017520" cy="515189"/>
            <a:chOff x="5888860" y="1569492"/>
            <a:chExt cx="3017520" cy="515189"/>
          </a:xfrm>
        </p:grpSpPr>
        <p:sp>
          <p:nvSpPr>
            <p:cNvPr id="173" name="Rectangle 172"/>
            <p:cNvSpPr/>
            <p:nvPr/>
          </p:nvSpPr>
          <p:spPr>
            <a:xfrm>
              <a:off x="5888860" y="1603782"/>
              <a:ext cx="41148" cy="377190"/>
            </a:xfrm>
            <a:prstGeom prst="rect">
              <a:avLst/>
            </a:prstGeom>
            <a:solidFill>
              <a:srgbClr val="14B8A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74" name="TextBox 173"/>
            <p:cNvSpPr txBox="1"/>
            <p:nvPr/>
          </p:nvSpPr>
          <p:spPr>
            <a:xfrm>
              <a:off x="6026020" y="1569492"/>
              <a:ext cx="288036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14B8A6"/>
                  </a:solidFill>
                  <a:latin typeface="Segoe UI"/>
                </a:defRPr>
              </a:pPr>
              <a:r>
                <a:rPr sz="900"/>
                <a:t>Captures Relative Distance</a:t>
              </a:r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6026020" y="1761516"/>
              <a:ext cx="2880360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 dirty="0"/>
                <a:t>The dot product of two PEs</a:t>
              </a:r>
              <a:br>
                <a:rPr sz="750" dirty="0"/>
              </a:br>
              <a:r>
                <a:rPr sz="750" dirty="0"/>
                <a:t>depends on their distance apart.</a:t>
              </a:r>
            </a:p>
          </p:txBody>
        </p:sp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58324E92-8D21-8C77-B77E-059F9BEC28C3}"/>
              </a:ext>
            </a:extLst>
          </p:cNvPr>
          <p:cNvGrpSpPr/>
          <p:nvPr/>
        </p:nvGrpSpPr>
        <p:grpSpPr>
          <a:xfrm>
            <a:off x="5888860" y="2063268"/>
            <a:ext cx="3017520" cy="515189"/>
            <a:chOff x="5888860" y="2063268"/>
            <a:chExt cx="3017520" cy="515189"/>
          </a:xfrm>
        </p:grpSpPr>
        <p:sp>
          <p:nvSpPr>
            <p:cNvPr id="176" name="Rectangle 175"/>
            <p:cNvSpPr/>
            <p:nvPr/>
          </p:nvSpPr>
          <p:spPr>
            <a:xfrm>
              <a:off x="5888860" y="2097558"/>
              <a:ext cx="41148" cy="37719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77" name="TextBox 176"/>
            <p:cNvSpPr txBox="1"/>
            <p:nvPr/>
          </p:nvSpPr>
          <p:spPr>
            <a:xfrm>
              <a:off x="6026020" y="2063268"/>
              <a:ext cx="288036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F59E0B"/>
                  </a:solidFill>
                  <a:latin typeface="Segoe UI"/>
                </a:defRPr>
              </a:pPr>
              <a:r>
                <a:rPr sz="900"/>
                <a:t>Generalizes to New Lengths</a:t>
              </a:r>
            </a:p>
          </p:txBody>
        </p:sp>
        <p:sp>
          <p:nvSpPr>
            <p:cNvPr id="178" name="TextBox 177"/>
            <p:cNvSpPr txBox="1"/>
            <p:nvPr/>
          </p:nvSpPr>
          <p:spPr>
            <a:xfrm>
              <a:off x="6026020" y="2255292"/>
              <a:ext cx="2880360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 dirty="0"/>
                <a:t>Since it's a formula (not learned),</a:t>
              </a:r>
              <a:br>
                <a:rPr sz="750" dirty="0"/>
              </a:br>
              <a:r>
                <a:rPr sz="750" dirty="0"/>
                <a:t>it works for sequences never seen.</a:t>
              </a:r>
            </a:p>
          </p:txBody>
        </p:sp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2448EEDA-AADA-02BF-57ED-39087BE4B0A7}"/>
              </a:ext>
            </a:extLst>
          </p:cNvPr>
          <p:cNvGrpSpPr/>
          <p:nvPr/>
        </p:nvGrpSpPr>
        <p:grpSpPr>
          <a:xfrm>
            <a:off x="5888860" y="2557044"/>
            <a:ext cx="3017520" cy="515189"/>
            <a:chOff x="5888860" y="2557044"/>
            <a:chExt cx="3017520" cy="515189"/>
          </a:xfrm>
        </p:grpSpPr>
        <p:sp>
          <p:nvSpPr>
            <p:cNvPr id="179" name="Rectangle 178"/>
            <p:cNvSpPr/>
            <p:nvPr/>
          </p:nvSpPr>
          <p:spPr>
            <a:xfrm>
              <a:off x="5888860" y="2591334"/>
              <a:ext cx="41148" cy="377190"/>
            </a:xfrm>
            <a:prstGeom prst="rect">
              <a:avLst/>
            </a:prstGeom>
            <a:solidFill>
              <a:srgbClr val="22C55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80" name="TextBox 179"/>
            <p:cNvSpPr txBox="1"/>
            <p:nvPr/>
          </p:nvSpPr>
          <p:spPr>
            <a:xfrm>
              <a:off x="6026020" y="2557044"/>
              <a:ext cx="288036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22C55E"/>
                  </a:solidFill>
                  <a:latin typeface="Segoe UI"/>
                </a:defRPr>
              </a:pPr>
              <a:r>
                <a:rPr sz="900"/>
                <a:t>No Extra Parameters</a:t>
              </a:r>
            </a:p>
          </p:txBody>
        </p:sp>
        <p:sp>
          <p:nvSpPr>
            <p:cNvPr id="181" name="TextBox 180"/>
            <p:cNvSpPr txBox="1"/>
            <p:nvPr/>
          </p:nvSpPr>
          <p:spPr>
            <a:xfrm>
              <a:off x="6026020" y="2749068"/>
              <a:ext cx="2880360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 dirty="0"/>
                <a:t>Zero learnable parameters —</a:t>
              </a:r>
              <a:br>
                <a:rPr sz="750" dirty="0"/>
              </a:br>
              <a:r>
                <a:rPr sz="750" dirty="0"/>
                <a:t>just pure math, always deterministic.</a:t>
              </a:r>
            </a:p>
          </p:txBody>
        </p:sp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797C3C93-8799-ADAC-311F-DC004852BCCF}"/>
              </a:ext>
            </a:extLst>
          </p:cNvPr>
          <p:cNvGrpSpPr/>
          <p:nvPr/>
        </p:nvGrpSpPr>
        <p:grpSpPr>
          <a:xfrm>
            <a:off x="5781280" y="3312414"/>
            <a:ext cx="3086100" cy="1337310"/>
            <a:chOff x="5781280" y="3312414"/>
            <a:chExt cx="3086100" cy="1337310"/>
          </a:xfrm>
        </p:grpSpPr>
        <p:sp>
          <p:nvSpPr>
            <p:cNvPr id="182" name="TextBox 181"/>
            <p:cNvSpPr txBox="1"/>
            <p:nvPr/>
          </p:nvSpPr>
          <p:spPr>
            <a:xfrm>
              <a:off x="5781280" y="3312414"/>
              <a:ext cx="3086100" cy="2654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500" b="1">
                  <a:solidFill>
                    <a:srgbClr val="FFFFFF"/>
                  </a:solidFill>
                  <a:latin typeface="Segoe UI"/>
                </a:defRPr>
              </a:pPr>
              <a:r>
                <a:rPr sz="1125"/>
                <a:t>🔄 Modern Alternatives</a:t>
              </a:r>
            </a:p>
          </p:txBody>
        </p:sp>
        <p:grpSp>
          <p:nvGrpSpPr>
            <p:cNvPr id="199" name="Group 198">
              <a:extLst>
                <a:ext uri="{FF2B5EF4-FFF2-40B4-BE49-F238E27FC236}">
                  <a16:creationId xmlns:a16="http://schemas.microsoft.com/office/drawing/2014/main" id="{0AE08223-2944-30A6-73C8-80A883129054}"/>
                </a:ext>
              </a:extLst>
            </p:cNvPr>
            <p:cNvGrpSpPr/>
            <p:nvPr/>
          </p:nvGrpSpPr>
          <p:grpSpPr>
            <a:xfrm>
              <a:off x="5781280" y="3621024"/>
              <a:ext cx="3086100" cy="1028700"/>
              <a:chOff x="5781280" y="3621024"/>
              <a:chExt cx="3086100" cy="1028700"/>
            </a:xfrm>
          </p:grpSpPr>
          <p:sp>
            <p:nvSpPr>
              <p:cNvPr id="183" name="Rounded Rectangle 182"/>
              <p:cNvSpPr/>
              <p:nvPr/>
            </p:nvSpPr>
            <p:spPr>
              <a:xfrm>
                <a:off x="5781280" y="3621024"/>
                <a:ext cx="3086100" cy="1028700"/>
              </a:xfrm>
              <a:prstGeom prst="roundRect">
                <a:avLst>
                  <a:gd name="adj" fmla="val 4000"/>
                </a:avLst>
              </a:prstGeom>
              <a:solidFill>
                <a:srgbClr val="1E293B"/>
              </a:solidFill>
              <a:ln w="19050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84" name="Rounded Rectangle 183"/>
              <p:cNvSpPr/>
              <p:nvPr/>
            </p:nvSpPr>
            <p:spPr>
              <a:xfrm>
                <a:off x="5918440" y="3689604"/>
                <a:ext cx="685800" cy="205740"/>
              </a:xfrm>
              <a:prstGeom prst="roundRect">
                <a:avLst>
                  <a:gd name="adj" fmla="val 40000"/>
                </a:avLst>
              </a:prstGeom>
              <a:solidFill>
                <a:srgbClr val="A78B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>
                  <a:defRPr sz="900" b="1">
                    <a:solidFill>
                      <a:srgbClr val="FFFFFF"/>
                    </a:solidFill>
                    <a:latin typeface="Segoe UI"/>
                  </a:defRPr>
                </a:pPr>
                <a:r>
                  <a:rPr sz="675"/>
                  <a:t>Learned PE</a:t>
                </a:r>
              </a:p>
            </p:txBody>
          </p:sp>
          <p:sp>
            <p:nvSpPr>
              <p:cNvPr id="185" name="TextBox 184"/>
              <p:cNvSpPr txBox="1"/>
              <p:nvPr/>
            </p:nvSpPr>
            <p:spPr>
              <a:xfrm>
                <a:off x="6707110" y="3675888"/>
                <a:ext cx="822960" cy="2077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1000" b="0">
                    <a:solidFill>
                      <a:srgbClr val="94A3B8"/>
                    </a:solidFill>
                    <a:latin typeface="Consolas"/>
                  </a:defRPr>
                </a:pPr>
                <a:r>
                  <a:rPr sz="750"/>
                  <a:t>BERT, GPT-2</a:t>
                </a:r>
              </a:p>
            </p:txBody>
          </p:sp>
          <p:sp>
            <p:nvSpPr>
              <p:cNvPr id="186" name="TextBox 185"/>
              <p:cNvSpPr txBox="1"/>
              <p:nvPr/>
            </p:nvSpPr>
            <p:spPr>
              <a:xfrm>
                <a:off x="7564360" y="3675888"/>
                <a:ext cx="1165860" cy="3231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1000" b="0">
                    <a:solidFill>
                      <a:srgbClr val="B0B8C8"/>
                    </a:solidFill>
                    <a:latin typeface="Segoe UI"/>
                  </a:defRPr>
                </a:pPr>
                <a:r>
                  <a:rPr sz="750"/>
                  <a:t>Train position vectors as parameters</a:t>
                </a:r>
              </a:p>
            </p:txBody>
          </p:sp>
          <p:sp>
            <p:nvSpPr>
              <p:cNvPr id="187" name="Rounded Rectangle 186"/>
              <p:cNvSpPr/>
              <p:nvPr/>
            </p:nvSpPr>
            <p:spPr>
              <a:xfrm>
                <a:off x="5918440" y="3963924"/>
                <a:ext cx="685800" cy="205740"/>
              </a:xfrm>
              <a:prstGeom prst="roundRect">
                <a:avLst>
                  <a:gd name="adj" fmla="val 40000"/>
                </a:avLst>
              </a:prstGeom>
              <a:solidFill>
                <a:srgbClr val="EC489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>
                  <a:defRPr sz="900" b="1">
                    <a:solidFill>
                      <a:srgbClr val="FFFFFF"/>
                    </a:solidFill>
                    <a:latin typeface="Segoe UI"/>
                  </a:defRPr>
                </a:pPr>
                <a:r>
                  <a:rPr sz="675"/>
                  <a:t>RoPE</a:t>
                </a:r>
              </a:p>
            </p:txBody>
          </p:sp>
          <p:sp>
            <p:nvSpPr>
              <p:cNvPr id="188" name="TextBox 187"/>
              <p:cNvSpPr txBox="1"/>
              <p:nvPr/>
            </p:nvSpPr>
            <p:spPr>
              <a:xfrm>
                <a:off x="6707110" y="3950208"/>
                <a:ext cx="822960" cy="3231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1000" b="0">
                    <a:solidFill>
                      <a:srgbClr val="94A3B8"/>
                    </a:solidFill>
                    <a:latin typeface="Consolas"/>
                  </a:defRPr>
                </a:pPr>
                <a:r>
                  <a:rPr sz="750"/>
                  <a:t>LLaMA, Mistral</a:t>
                </a:r>
              </a:p>
            </p:txBody>
          </p:sp>
          <p:sp>
            <p:nvSpPr>
              <p:cNvPr id="189" name="TextBox 188"/>
              <p:cNvSpPr txBox="1"/>
              <p:nvPr/>
            </p:nvSpPr>
            <p:spPr>
              <a:xfrm>
                <a:off x="7564360" y="3950208"/>
                <a:ext cx="1165860" cy="3231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1000" b="0">
                    <a:solidFill>
                      <a:srgbClr val="B0B8C8"/>
                    </a:solidFill>
                    <a:latin typeface="Segoe UI"/>
                  </a:defRPr>
                </a:pPr>
                <a:r>
                  <a:rPr sz="750"/>
                  <a:t>Rotate embeddings by position angle</a:t>
                </a:r>
              </a:p>
            </p:txBody>
          </p:sp>
          <p:sp>
            <p:nvSpPr>
              <p:cNvPr id="190" name="Rounded Rectangle 189"/>
              <p:cNvSpPr/>
              <p:nvPr/>
            </p:nvSpPr>
            <p:spPr>
              <a:xfrm>
                <a:off x="5918440" y="4238244"/>
                <a:ext cx="685800" cy="205740"/>
              </a:xfrm>
              <a:prstGeom prst="roundRect">
                <a:avLst>
                  <a:gd name="adj" fmla="val 40000"/>
                </a:avLst>
              </a:prstGeom>
              <a:solidFill>
                <a:srgbClr val="F59E0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>
                  <a:defRPr sz="900" b="1">
                    <a:solidFill>
                      <a:srgbClr val="FFFFFF"/>
                    </a:solidFill>
                    <a:latin typeface="Segoe UI"/>
                  </a:defRPr>
                </a:pPr>
                <a:r>
                  <a:rPr sz="675"/>
                  <a:t>ALiBi</a:t>
                </a:r>
              </a:p>
            </p:txBody>
          </p:sp>
          <p:sp>
            <p:nvSpPr>
              <p:cNvPr id="191" name="TextBox 190"/>
              <p:cNvSpPr txBox="1"/>
              <p:nvPr/>
            </p:nvSpPr>
            <p:spPr>
              <a:xfrm>
                <a:off x="6707110" y="4224528"/>
                <a:ext cx="822960" cy="2077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1000" b="0">
                    <a:solidFill>
                      <a:srgbClr val="94A3B8"/>
                    </a:solidFill>
                    <a:latin typeface="Consolas"/>
                  </a:defRPr>
                </a:pPr>
                <a:r>
                  <a:rPr sz="750"/>
                  <a:t>BLOOM</a:t>
                </a:r>
              </a:p>
            </p:txBody>
          </p:sp>
          <p:sp>
            <p:nvSpPr>
              <p:cNvPr id="192" name="TextBox 191"/>
              <p:cNvSpPr txBox="1"/>
              <p:nvPr/>
            </p:nvSpPr>
            <p:spPr>
              <a:xfrm>
                <a:off x="7564360" y="4224528"/>
                <a:ext cx="1165860" cy="3231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1000" b="0">
                    <a:solidFill>
                      <a:srgbClr val="B0B8C8"/>
                    </a:solidFill>
                    <a:latin typeface="Segoe UI"/>
                  </a:defRPr>
                </a:pPr>
                <a:r>
                  <a:rPr sz="750"/>
                  <a:t>Add linear bias to attention scores</a:t>
                </a:r>
              </a:p>
            </p:txBody>
          </p:sp>
        </p:grpSp>
      </p:grpSp>
    </p:spTree>
  </p:cSld>
  <p:clrMapOvr>
    <a:overrideClrMapping bg1="lt1" tx1="dk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F352B656-E079-3455-1B2B-73A5C89B7555}"/>
              </a:ext>
            </a:extLst>
          </p:cNvPr>
          <p:cNvSpPr/>
          <p:nvPr/>
        </p:nvSpPr>
        <p:spPr>
          <a:xfrm>
            <a:off x="229" y="0"/>
            <a:ext cx="9143771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4" name="TextBox 3"/>
          <p:cNvSpPr txBox="1"/>
          <p:nvPr/>
        </p:nvSpPr>
        <p:spPr>
          <a:xfrm>
            <a:off x="411480" y="9377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sz="2400" dirty="0"/>
              <a:t>Inside One Encoder Block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2234"/>
            <a:ext cx="6858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rPr sz="1050" dirty="0"/>
              <a:t>Each encoder block has two sub-layers, each wrapped with a residual connection and layer normalization.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4350" y="1201272"/>
            <a:ext cx="3086100" cy="3586627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 w="19050">
            <a:solidFill>
              <a:srgbClr val="334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2639852D-E5DC-05F5-910C-8E2E7BF9E131}"/>
              </a:ext>
            </a:extLst>
          </p:cNvPr>
          <p:cNvGrpSpPr/>
          <p:nvPr/>
        </p:nvGrpSpPr>
        <p:grpSpPr>
          <a:xfrm>
            <a:off x="1152144" y="4134193"/>
            <a:ext cx="1920240" cy="623217"/>
            <a:chOff x="1152144" y="4134193"/>
            <a:chExt cx="1920240" cy="623217"/>
          </a:xfrm>
        </p:grpSpPr>
        <p:sp>
          <p:nvSpPr>
            <p:cNvPr id="8" name="Rounded Rectangle 7"/>
            <p:cNvSpPr/>
            <p:nvPr/>
          </p:nvSpPr>
          <p:spPr>
            <a:xfrm>
              <a:off x="1152144" y="4448800"/>
              <a:ext cx="1920240" cy="308610"/>
            </a:xfrm>
            <a:prstGeom prst="roundRect">
              <a:avLst>
                <a:gd name="adj" fmla="val 8000"/>
              </a:avLst>
            </a:prstGeom>
            <a:solidFill>
              <a:srgbClr val="162033"/>
            </a:solidFill>
            <a:ln w="19050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100" b="1">
                  <a:solidFill>
                    <a:srgbClr val="B0B8C8"/>
                  </a:solidFill>
                  <a:latin typeface="Segoe UI"/>
                </a:defRPr>
              </a:pPr>
              <a:r>
                <a:rPr sz="825" dirty="0"/>
                <a:t>Input Embeddings + Positional Encoding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2043430" y="4222044"/>
              <a:ext cx="27432" cy="240030"/>
            </a:xfrm>
            <a:prstGeom prst="rect">
              <a:avLst/>
            </a:prstGeom>
            <a:solidFill>
              <a:srgbClr val="94A3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0" name="Isosceles Triangle 9"/>
            <p:cNvSpPr/>
            <p:nvPr/>
          </p:nvSpPr>
          <p:spPr>
            <a:xfrm>
              <a:off x="2002536" y="4134193"/>
              <a:ext cx="109728" cy="96012"/>
            </a:xfrm>
            <a:prstGeom prst="triangle">
              <a:avLst/>
            </a:prstGeom>
            <a:solidFill>
              <a:srgbClr val="94A3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69465D39-59ED-96E0-7388-2DBCDF8979E7}"/>
              </a:ext>
            </a:extLst>
          </p:cNvPr>
          <p:cNvGrpSpPr/>
          <p:nvPr/>
        </p:nvGrpSpPr>
        <p:grpSpPr>
          <a:xfrm>
            <a:off x="-68580" y="3035422"/>
            <a:ext cx="3429000" cy="1094994"/>
            <a:chOff x="-68580" y="3035422"/>
            <a:chExt cx="3429000" cy="1094994"/>
          </a:xfrm>
        </p:grpSpPr>
        <p:sp>
          <p:nvSpPr>
            <p:cNvPr id="12" name="Rectangle 11"/>
            <p:cNvSpPr/>
            <p:nvPr/>
          </p:nvSpPr>
          <p:spPr>
            <a:xfrm>
              <a:off x="2043684" y="3443839"/>
              <a:ext cx="27432" cy="240030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3" name="Isosceles Triangle 12"/>
            <p:cNvSpPr/>
            <p:nvPr/>
          </p:nvSpPr>
          <p:spPr>
            <a:xfrm>
              <a:off x="2002536" y="3375259"/>
              <a:ext cx="109728" cy="96012"/>
            </a:xfrm>
            <a:prstGeom prst="triangle">
              <a:avLst/>
            </a:prstGeom>
            <a:solidFill>
              <a:srgbClr val="3B8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4C753B67-E65E-EA10-476E-BC472DB4ECD0}"/>
                </a:ext>
              </a:extLst>
            </p:cNvPr>
            <p:cNvGrpSpPr/>
            <p:nvPr/>
          </p:nvGrpSpPr>
          <p:grpSpPr>
            <a:xfrm>
              <a:off x="-68580" y="3035422"/>
              <a:ext cx="3429000" cy="1094994"/>
              <a:chOff x="-68580" y="3034645"/>
              <a:chExt cx="3429000" cy="1094994"/>
            </a:xfrm>
          </p:grpSpPr>
          <p:sp>
            <p:nvSpPr>
              <p:cNvPr id="11" name="Rounded Rectangle 10"/>
              <p:cNvSpPr/>
              <p:nvPr/>
            </p:nvSpPr>
            <p:spPr>
              <a:xfrm>
                <a:off x="754380" y="3683869"/>
                <a:ext cx="2606040" cy="445770"/>
              </a:xfrm>
              <a:prstGeom prst="roundRect">
                <a:avLst>
                  <a:gd name="adj" fmla="val 8000"/>
                </a:avLst>
              </a:prstGeom>
              <a:solidFill>
                <a:srgbClr val="1E293B"/>
              </a:solidFill>
              <a:ln w="19050">
                <a:solidFill>
                  <a:srgbClr val="3B82F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>
                  <a:defRPr sz="1400" b="1">
                    <a:solidFill>
                      <a:srgbClr val="3B82F6"/>
                    </a:solidFill>
                    <a:latin typeface="Segoe UI"/>
                  </a:defRPr>
                </a:pPr>
                <a:r>
                  <a:rPr sz="1050" dirty="0"/>
                  <a:t>Multi-Head Self-Attention</a:t>
                </a:r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541496" y="3041789"/>
                <a:ext cx="14288" cy="864965"/>
              </a:xfrm>
              <a:prstGeom prst="rect">
                <a:avLst/>
              </a:prstGeom>
              <a:solidFill>
                <a:srgbClr val="14B8A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548640" y="3899610"/>
                <a:ext cx="205740" cy="14288"/>
              </a:xfrm>
              <a:prstGeom prst="rect">
                <a:avLst/>
              </a:prstGeom>
              <a:solidFill>
                <a:srgbClr val="14B8A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548640" y="3034645"/>
                <a:ext cx="205740" cy="14288"/>
              </a:xfrm>
              <a:prstGeom prst="rect">
                <a:avLst/>
              </a:prstGeom>
              <a:solidFill>
                <a:srgbClr val="14B8A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-68580" y="3279247"/>
                <a:ext cx="582930" cy="1962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defRPr sz="900" b="0">
                    <a:solidFill>
                      <a:srgbClr val="14B8A6"/>
                    </a:solidFill>
                    <a:latin typeface="Segoe UI"/>
                  </a:defRPr>
                </a:pPr>
                <a:r>
                  <a:rPr sz="675"/>
                  <a:t>Residual</a:t>
                </a:r>
              </a:p>
            </p:txBody>
          </p:sp>
        </p:grp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F9866CC-1CF8-DC59-9039-A56F9B6890F7}"/>
              </a:ext>
            </a:extLst>
          </p:cNvPr>
          <p:cNvGrpSpPr/>
          <p:nvPr/>
        </p:nvGrpSpPr>
        <p:grpSpPr>
          <a:xfrm>
            <a:off x="754380" y="2566015"/>
            <a:ext cx="2606040" cy="642938"/>
            <a:chOff x="754380" y="2566015"/>
            <a:chExt cx="2606040" cy="642938"/>
          </a:xfrm>
        </p:grpSpPr>
        <p:sp>
          <p:nvSpPr>
            <p:cNvPr id="14" name="Rounded Rectangle 13"/>
            <p:cNvSpPr/>
            <p:nvPr/>
          </p:nvSpPr>
          <p:spPr>
            <a:xfrm>
              <a:off x="754380" y="2874625"/>
              <a:ext cx="2606040" cy="334328"/>
            </a:xfrm>
            <a:prstGeom prst="roundRect">
              <a:avLst>
                <a:gd name="adj" fmla="val 8000"/>
              </a:avLst>
            </a:prstGeom>
            <a:solidFill>
              <a:srgbClr val="1E293B"/>
            </a:solidFill>
            <a:ln w="19050">
              <a:solidFill>
                <a:srgbClr val="14B8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200" b="1">
                  <a:solidFill>
                    <a:srgbClr val="14B8A6"/>
                  </a:solidFill>
                  <a:latin typeface="Segoe UI"/>
                </a:defRPr>
              </a:pPr>
              <a:r>
                <a:rPr sz="900" dirty="0"/>
                <a:t>Add &amp; Layer Normalize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2043684" y="2634595"/>
              <a:ext cx="27432" cy="240030"/>
            </a:xfrm>
            <a:prstGeom prst="rect">
              <a:avLst/>
            </a:prstGeom>
            <a:solidFill>
              <a:srgbClr val="14B8A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0" name="Isosceles Triangle 19"/>
            <p:cNvSpPr/>
            <p:nvPr/>
          </p:nvSpPr>
          <p:spPr>
            <a:xfrm>
              <a:off x="2002536" y="2566015"/>
              <a:ext cx="109728" cy="96012"/>
            </a:xfrm>
            <a:prstGeom prst="triangle">
              <a:avLst/>
            </a:prstGeom>
            <a:solidFill>
              <a:srgbClr val="14B8A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BC670397-AE56-9062-4337-14AD1831A43B}"/>
              </a:ext>
            </a:extLst>
          </p:cNvPr>
          <p:cNvGrpSpPr/>
          <p:nvPr/>
        </p:nvGrpSpPr>
        <p:grpSpPr>
          <a:xfrm>
            <a:off x="-68580" y="1416157"/>
            <a:ext cx="3429000" cy="1094994"/>
            <a:chOff x="-68580" y="1416157"/>
            <a:chExt cx="3429000" cy="1094994"/>
          </a:xfrm>
        </p:grpSpPr>
        <p:sp>
          <p:nvSpPr>
            <p:cNvPr id="26" name="Rectangle 25"/>
            <p:cNvSpPr/>
            <p:nvPr/>
          </p:nvSpPr>
          <p:spPr>
            <a:xfrm>
              <a:off x="548640" y="2281122"/>
              <a:ext cx="205740" cy="14288"/>
            </a:xfrm>
            <a:prstGeom prst="rect">
              <a:avLst/>
            </a:prstGeom>
            <a:solidFill>
              <a:srgbClr val="14B8A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9F28C22B-2606-FF41-7A74-974CB7DBBBF6}"/>
                </a:ext>
              </a:extLst>
            </p:cNvPr>
            <p:cNvGrpSpPr/>
            <p:nvPr/>
          </p:nvGrpSpPr>
          <p:grpSpPr>
            <a:xfrm>
              <a:off x="-68580" y="1416157"/>
              <a:ext cx="3429000" cy="1094994"/>
              <a:chOff x="-68580" y="1416157"/>
              <a:chExt cx="3429000" cy="1094994"/>
            </a:xfrm>
          </p:grpSpPr>
          <p:sp>
            <p:nvSpPr>
              <p:cNvPr id="21" name="Rounded Rectangle 20"/>
              <p:cNvSpPr/>
              <p:nvPr/>
            </p:nvSpPr>
            <p:spPr>
              <a:xfrm>
                <a:off x="754380" y="2065381"/>
                <a:ext cx="2606040" cy="445770"/>
              </a:xfrm>
              <a:prstGeom prst="roundRect">
                <a:avLst>
                  <a:gd name="adj" fmla="val 8000"/>
                </a:avLst>
              </a:prstGeom>
              <a:solidFill>
                <a:srgbClr val="1E293B"/>
              </a:solidFill>
              <a:ln w="19050">
                <a:solidFill>
                  <a:srgbClr val="F59E0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>
                  <a:defRPr sz="1400" b="1">
                    <a:solidFill>
                      <a:srgbClr val="F59E0B"/>
                    </a:solidFill>
                    <a:latin typeface="Segoe UI"/>
                  </a:defRPr>
                </a:pPr>
                <a:r>
                  <a:rPr sz="1050" dirty="0"/>
                  <a:t>Feed-Forward Network (FFN)</a:t>
                </a:r>
              </a:p>
            </p:txBody>
          </p:sp>
          <p:sp>
            <p:nvSpPr>
              <p:cNvPr id="22" name="Rectangle 21"/>
              <p:cNvSpPr/>
              <p:nvPr/>
            </p:nvSpPr>
            <p:spPr>
              <a:xfrm>
                <a:off x="2043684" y="1825351"/>
                <a:ext cx="27432" cy="240030"/>
              </a:xfrm>
              <a:prstGeom prst="rect">
                <a:avLst/>
              </a:prstGeom>
              <a:solidFill>
                <a:srgbClr val="F59E0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23" name="Isosceles Triangle 22"/>
              <p:cNvSpPr/>
              <p:nvPr/>
            </p:nvSpPr>
            <p:spPr>
              <a:xfrm>
                <a:off x="2002536" y="1756771"/>
                <a:ext cx="109728" cy="96012"/>
              </a:xfrm>
              <a:prstGeom prst="triangle">
                <a:avLst/>
              </a:prstGeom>
              <a:solidFill>
                <a:srgbClr val="F59E0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25" name="Rectangle 24"/>
              <p:cNvSpPr/>
              <p:nvPr/>
            </p:nvSpPr>
            <p:spPr>
              <a:xfrm>
                <a:off x="541496" y="1423301"/>
                <a:ext cx="14288" cy="864965"/>
              </a:xfrm>
              <a:prstGeom prst="rect">
                <a:avLst/>
              </a:prstGeom>
              <a:solidFill>
                <a:srgbClr val="14B8A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27" name="Rectangle 26"/>
              <p:cNvSpPr/>
              <p:nvPr/>
            </p:nvSpPr>
            <p:spPr>
              <a:xfrm>
                <a:off x="548640" y="1416157"/>
                <a:ext cx="205740" cy="14288"/>
              </a:xfrm>
              <a:prstGeom prst="rect">
                <a:avLst/>
              </a:prstGeom>
              <a:solidFill>
                <a:srgbClr val="14B8A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-68580" y="1660759"/>
                <a:ext cx="582930" cy="1962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defRPr sz="900" b="0">
                    <a:solidFill>
                      <a:srgbClr val="14B8A6"/>
                    </a:solidFill>
                    <a:latin typeface="Segoe UI"/>
                  </a:defRPr>
                </a:pPr>
                <a:r>
                  <a:rPr sz="675"/>
                  <a:t>Residual</a:t>
                </a:r>
              </a:p>
            </p:txBody>
          </p:sp>
        </p:grp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15723D3-36C4-94B6-3A43-C91077FC7C35}"/>
              </a:ext>
            </a:extLst>
          </p:cNvPr>
          <p:cNvGrpSpPr/>
          <p:nvPr/>
        </p:nvGrpSpPr>
        <p:grpSpPr>
          <a:xfrm>
            <a:off x="541496" y="810367"/>
            <a:ext cx="2818924" cy="780098"/>
            <a:chOff x="541496" y="810367"/>
            <a:chExt cx="2818924" cy="780098"/>
          </a:xfrm>
        </p:grpSpPr>
        <p:sp>
          <p:nvSpPr>
            <p:cNvPr id="7" name="TextBox 6"/>
            <p:cNvSpPr txBox="1"/>
            <p:nvPr/>
          </p:nvSpPr>
          <p:spPr>
            <a:xfrm>
              <a:off x="541496" y="1004483"/>
              <a:ext cx="171450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94A3B8"/>
                  </a:solidFill>
                  <a:latin typeface="Segoe UI"/>
                </a:defRPr>
              </a:pPr>
              <a:r>
                <a:rPr sz="825" dirty="0"/>
                <a:t>ENCODER BLOCK  x</a:t>
              </a:r>
              <a:r>
                <a:rPr lang="en-IN" sz="825" dirty="0"/>
                <a:t> </a:t>
              </a:r>
              <a:r>
                <a:rPr sz="825" dirty="0"/>
                <a:t>N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754380" y="1256137"/>
              <a:ext cx="2606040" cy="334328"/>
            </a:xfrm>
            <a:prstGeom prst="roundRect">
              <a:avLst>
                <a:gd name="adj" fmla="val 8000"/>
              </a:avLst>
            </a:prstGeom>
            <a:solidFill>
              <a:srgbClr val="1E293B"/>
            </a:solidFill>
            <a:ln w="19050">
              <a:solidFill>
                <a:srgbClr val="14B8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200" b="1">
                  <a:solidFill>
                    <a:srgbClr val="14B8A6"/>
                  </a:solidFill>
                  <a:latin typeface="Segoe UI"/>
                </a:defRPr>
              </a:pPr>
              <a:r>
                <a:rPr sz="900" dirty="0"/>
                <a:t>Add &amp; Layer Normalize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2043684" y="1016107"/>
              <a:ext cx="27432" cy="240030"/>
            </a:xfrm>
            <a:prstGeom prst="rect">
              <a:avLst/>
            </a:prstGeom>
            <a:solidFill>
              <a:srgbClr val="94A3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0" name="Isosceles Triangle 29"/>
            <p:cNvSpPr/>
            <p:nvPr/>
          </p:nvSpPr>
          <p:spPr>
            <a:xfrm>
              <a:off x="2002536" y="947527"/>
              <a:ext cx="109728" cy="96012"/>
            </a:xfrm>
            <a:prstGeom prst="triangle">
              <a:avLst/>
            </a:prstGeom>
            <a:solidFill>
              <a:srgbClr val="94A3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097280" y="810367"/>
              <a:ext cx="192024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94A3B8"/>
                  </a:solidFill>
                  <a:latin typeface="Segoe UI"/>
                </a:defRPr>
              </a:pPr>
              <a:r>
                <a:rPr sz="750" dirty="0"/>
                <a:t>To Next Encoder Block (or to Decoder)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C35A89E8-102B-1938-9840-A5F396B50C0F}"/>
              </a:ext>
            </a:extLst>
          </p:cNvPr>
          <p:cNvGrpSpPr/>
          <p:nvPr/>
        </p:nvGrpSpPr>
        <p:grpSpPr>
          <a:xfrm>
            <a:off x="4183380" y="1081586"/>
            <a:ext cx="4663440" cy="824472"/>
            <a:chOff x="4183380" y="1207096"/>
            <a:chExt cx="4663440" cy="824472"/>
          </a:xfrm>
        </p:grpSpPr>
        <p:sp>
          <p:nvSpPr>
            <p:cNvPr id="32" name="Rounded Rectangle 31"/>
            <p:cNvSpPr/>
            <p:nvPr/>
          </p:nvSpPr>
          <p:spPr>
            <a:xfrm>
              <a:off x="4183380" y="1207096"/>
              <a:ext cx="4663440" cy="788670"/>
            </a:xfrm>
            <a:prstGeom prst="roundRect">
              <a:avLst>
                <a:gd name="adj" fmla="val 4000"/>
              </a:avLst>
            </a:prstGeom>
            <a:solidFill>
              <a:srgbClr val="1E293B"/>
            </a:solidFill>
            <a:ln w="19050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4183380" y="1261960"/>
              <a:ext cx="41148" cy="685800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334256" y="1261960"/>
              <a:ext cx="4457700" cy="2423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300" b="1">
                  <a:solidFill>
                    <a:srgbClr val="3B82F6"/>
                  </a:solidFill>
                  <a:latin typeface="Segoe UI"/>
                </a:defRPr>
              </a:pPr>
              <a:r>
                <a:rPr sz="975" dirty="0"/>
                <a:t>Sub-Layer 1: Multi-Head Self-Attention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334256" y="1481417"/>
              <a:ext cx="4389120" cy="5501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300"/>
                </a:spcAft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/>
                <a:t>Each word attends to ALL other words in the input</a:t>
              </a:r>
            </a:p>
            <a:p>
              <a:pPr>
                <a:spcAft>
                  <a:spcPts val="300"/>
                </a:spcAft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/>
                <a:t>8 parallel heads capture different relationship types</a:t>
              </a:r>
            </a:p>
            <a:p>
              <a:pPr>
                <a:spcAft>
                  <a:spcPts val="300"/>
                </a:spcAft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/>
                <a:t>Output: context-enriched representation of each word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576CBF3A-BDAC-8F91-9234-F4B12B071655}"/>
              </a:ext>
            </a:extLst>
          </p:cNvPr>
          <p:cNvGrpSpPr/>
          <p:nvPr/>
        </p:nvGrpSpPr>
        <p:grpSpPr>
          <a:xfrm>
            <a:off x="4183380" y="2000020"/>
            <a:ext cx="4663440" cy="824472"/>
            <a:chOff x="4183380" y="2098635"/>
            <a:chExt cx="4663440" cy="824472"/>
          </a:xfrm>
        </p:grpSpPr>
        <p:sp>
          <p:nvSpPr>
            <p:cNvPr id="36" name="Rounded Rectangle 35"/>
            <p:cNvSpPr/>
            <p:nvPr/>
          </p:nvSpPr>
          <p:spPr>
            <a:xfrm>
              <a:off x="4183380" y="2098635"/>
              <a:ext cx="4663440" cy="824471"/>
            </a:xfrm>
            <a:prstGeom prst="roundRect">
              <a:avLst>
                <a:gd name="adj" fmla="val 4000"/>
              </a:avLst>
            </a:prstGeom>
            <a:solidFill>
              <a:srgbClr val="1E293B"/>
            </a:solidFill>
            <a:ln w="19050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4183380" y="2153500"/>
              <a:ext cx="41148" cy="617220"/>
            </a:xfrm>
            <a:prstGeom prst="rect">
              <a:avLst/>
            </a:prstGeom>
            <a:solidFill>
              <a:srgbClr val="14B8A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334256" y="2153500"/>
              <a:ext cx="4457700" cy="2423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300" b="1">
                  <a:solidFill>
                    <a:srgbClr val="14B8A6"/>
                  </a:solidFill>
                  <a:latin typeface="Segoe UI"/>
                </a:defRPr>
              </a:pPr>
              <a:r>
                <a:rPr sz="975"/>
                <a:t>Add &amp; Layer Normalize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334256" y="2372956"/>
              <a:ext cx="4389120" cy="5501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300"/>
                </a:spcAft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 dirty="0"/>
                <a:t>ADD  = Residual connection (input + sub-layer output)</a:t>
              </a:r>
            </a:p>
            <a:p>
              <a:pPr>
                <a:spcAft>
                  <a:spcPts val="300"/>
                </a:spcAft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 dirty="0"/>
                <a:t>NORM = Layer Normalization (stabilize training)</a:t>
              </a:r>
            </a:p>
            <a:p>
              <a:pPr>
                <a:spcAft>
                  <a:spcPts val="300"/>
                </a:spcAft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 dirty="0"/>
                <a:t>Applied AFTER each sub-layer (2 times per block)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4A72DB6-7347-263D-7594-DB36A1E51467}"/>
              </a:ext>
            </a:extLst>
          </p:cNvPr>
          <p:cNvGrpSpPr/>
          <p:nvPr/>
        </p:nvGrpSpPr>
        <p:grpSpPr>
          <a:xfrm>
            <a:off x="4183380" y="2921595"/>
            <a:ext cx="4663440" cy="965963"/>
            <a:chOff x="4183380" y="2921595"/>
            <a:chExt cx="4663440" cy="965963"/>
          </a:xfrm>
        </p:grpSpPr>
        <p:sp>
          <p:nvSpPr>
            <p:cNvPr id="40" name="Rounded Rectangle 39"/>
            <p:cNvSpPr/>
            <p:nvPr/>
          </p:nvSpPr>
          <p:spPr>
            <a:xfrm>
              <a:off x="4183380" y="2921595"/>
              <a:ext cx="4663440" cy="965963"/>
            </a:xfrm>
            <a:prstGeom prst="roundRect">
              <a:avLst>
                <a:gd name="adj" fmla="val 4000"/>
              </a:avLst>
            </a:prstGeom>
            <a:solidFill>
              <a:srgbClr val="1E293B"/>
            </a:solidFill>
            <a:ln w="19050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 dirty="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4183380" y="2976460"/>
              <a:ext cx="41148" cy="82296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334256" y="2976460"/>
              <a:ext cx="4457700" cy="2423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300" b="1">
                  <a:solidFill>
                    <a:srgbClr val="F59E0B"/>
                  </a:solidFill>
                  <a:latin typeface="Segoe UI"/>
                </a:defRPr>
              </a:pPr>
              <a:r>
                <a:rPr sz="975"/>
                <a:t>Sub-Layer 2: Feed-Forward Network (FFN)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334256" y="3195916"/>
              <a:ext cx="4389120" cy="3847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300"/>
                </a:spcAft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lang="en-US" sz="825" dirty="0">
                  <a:solidFill>
                    <a:srgbClr val="B0B8C8"/>
                  </a:solidFill>
                  <a:latin typeface="Segoe UI"/>
                </a:rPr>
                <a:t>Each word goes through the same small neural network</a:t>
              </a:r>
              <a:endParaRPr sz="825" dirty="0">
                <a:solidFill>
                  <a:srgbClr val="B0B8C8"/>
                </a:solidFill>
                <a:latin typeface="Segoe UI"/>
              </a:endParaRPr>
            </a:p>
            <a:p>
              <a:pPr>
                <a:spcAft>
                  <a:spcPts val="300"/>
                </a:spcAft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 dirty="0"/>
                <a:t>Applied INDEPENDENTLY to each word position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462FDB34-4977-CAF4-B9C3-E46B51FED418}"/>
              </a:ext>
            </a:extLst>
          </p:cNvPr>
          <p:cNvGrpSpPr/>
          <p:nvPr/>
        </p:nvGrpSpPr>
        <p:grpSpPr>
          <a:xfrm>
            <a:off x="4183380" y="4039946"/>
            <a:ext cx="4663440" cy="685800"/>
            <a:chOff x="4183380" y="3950296"/>
            <a:chExt cx="4663440" cy="685800"/>
          </a:xfrm>
        </p:grpSpPr>
        <p:sp>
          <p:nvSpPr>
            <p:cNvPr id="44" name="Rounded Rectangle 43"/>
            <p:cNvSpPr/>
            <p:nvPr/>
          </p:nvSpPr>
          <p:spPr>
            <a:xfrm>
              <a:off x="4183380" y="3950296"/>
              <a:ext cx="4663440" cy="685800"/>
            </a:xfrm>
            <a:prstGeom prst="roundRect">
              <a:avLst>
                <a:gd name="adj" fmla="val 4000"/>
              </a:avLst>
            </a:prstGeom>
            <a:solidFill>
              <a:srgbClr val="162033"/>
            </a:solidFill>
            <a:ln w="19050">
              <a:solidFill>
                <a:srgbClr val="A78BF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334256" y="4005160"/>
              <a:ext cx="4457700" cy="2423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300" b="1">
                  <a:solidFill>
                    <a:srgbClr val="A78BFA"/>
                  </a:solidFill>
                  <a:latin typeface="Segoe UI"/>
                </a:defRPr>
              </a:pPr>
              <a:r>
                <a:rPr sz="975"/>
                <a:t>Stacking: N = 6 Identical Blocks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4334256" y="4224616"/>
              <a:ext cx="4389120" cy="3847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300"/>
                </a:spcAft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/>
                <a:t>Output of block 1 &gt; input of block 2 &gt; ... &gt; block 6</a:t>
              </a:r>
            </a:p>
            <a:p>
              <a:pPr>
                <a:spcAft>
                  <a:spcPts val="300"/>
                </a:spcAft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/>
                <a:t>Each block refines understanding with deeper context</a:t>
              </a:r>
            </a:p>
          </p:txBody>
        </p:sp>
      </p:grpSp>
      <p:sp>
        <p:nvSpPr>
          <p:cNvPr id="58" name="Rectangle 57">
            <a:extLst>
              <a:ext uri="{FF2B5EF4-FFF2-40B4-BE49-F238E27FC236}">
                <a16:creationId xmlns:a16="http://schemas.microsoft.com/office/drawing/2014/main" id="{90F1D972-2CE2-1515-71F4-91A2C6A34FD9}"/>
              </a:ext>
            </a:extLst>
          </p:cNvPr>
          <p:cNvSpPr/>
          <p:nvPr/>
        </p:nvSpPr>
        <p:spPr>
          <a:xfrm>
            <a:off x="4192881" y="4095146"/>
            <a:ext cx="45719" cy="603841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C3491F-86A6-A533-3ABC-2D794AD37554}"/>
              </a:ext>
            </a:extLst>
          </p:cNvPr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4" name="TextBox 3"/>
          <p:cNvSpPr txBox="1"/>
          <p:nvPr/>
        </p:nvSpPr>
        <p:spPr>
          <a:xfrm>
            <a:off x="411480" y="8025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sz="2400" dirty="0"/>
              <a:t>The Training Tricks That Make It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5214"/>
            <a:ext cx="6858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rPr sz="1050" dirty="0"/>
              <a:t>Residual connections and layer normalization are essential for training deep Transformer stacks.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477F003-A253-A7DD-9D4F-A2A0C59238D5}"/>
              </a:ext>
            </a:extLst>
          </p:cNvPr>
          <p:cNvGrpSpPr/>
          <p:nvPr/>
        </p:nvGrpSpPr>
        <p:grpSpPr>
          <a:xfrm>
            <a:off x="411480" y="864624"/>
            <a:ext cx="2606040" cy="3389605"/>
            <a:chOff x="411480" y="1017024"/>
            <a:chExt cx="2606040" cy="3389605"/>
          </a:xfrm>
        </p:grpSpPr>
        <p:sp>
          <p:nvSpPr>
            <p:cNvPr id="6" name="Rounded Rectangle 5"/>
            <p:cNvSpPr/>
            <p:nvPr/>
          </p:nvSpPr>
          <p:spPr>
            <a:xfrm>
              <a:off x="411480" y="1017024"/>
              <a:ext cx="2606040" cy="3389605"/>
            </a:xfrm>
            <a:prstGeom prst="roundRect">
              <a:avLst>
                <a:gd name="adj" fmla="val 4000"/>
              </a:avLst>
            </a:prstGeom>
            <a:solidFill>
              <a:srgbClr val="1E293B"/>
            </a:solidFill>
            <a:ln w="19050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11480" y="1071889"/>
              <a:ext cx="2606040" cy="27432"/>
            </a:xfrm>
            <a:prstGeom prst="rect">
              <a:avLst/>
            </a:prstGeom>
            <a:solidFill>
              <a:srgbClr val="14B8A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48640" y="1154185"/>
              <a:ext cx="24003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600" b="1">
                  <a:solidFill>
                    <a:srgbClr val="14B8A6"/>
                  </a:solidFill>
                  <a:latin typeface="Segoe UI"/>
                </a:defRPr>
              </a:pPr>
              <a:r>
                <a:rPr sz="1200"/>
                <a:t>🔗 Residual Connection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48640" y="1394215"/>
              <a:ext cx="240030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0">
                  <a:solidFill>
                    <a:srgbClr val="94A3B8"/>
                  </a:solidFill>
                  <a:latin typeface="Segoe UI"/>
                </a:defRPr>
              </a:pPr>
              <a:r>
                <a:rPr sz="900"/>
                <a:t>(Skip Connection)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48640" y="1668535"/>
              <a:ext cx="2331720" cy="342900"/>
            </a:xfrm>
            <a:prstGeom prst="roundRect">
              <a:avLst>
                <a:gd name="adj" fmla="val 6000"/>
              </a:avLst>
            </a:prstGeom>
            <a:solidFill>
              <a:srgbClr val="162033"/>
            </a:solidFill>
            <a:ln w="19050">
              <a:solidFill>
                <a:srgbClr val="14B8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51510" y="1716541"/>
              <a:ext cx="219456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1">
                  <a:solidFill>
                    <a:srgbClr val="14B8A6"/>
                  </a:solidFill>
                  <a:latin typeface="Consolas"/>
                </a:defRPr>
              </a:pPr>
              <a:r>
                <a:rPr sz="1050"/>
                <a:t>Output = x + SubLayer(x)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48640" y="2114305"/>
              <a:ext cx="2331720" cy="2262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300"/>
                </a:spcAft>
                <a:defRPr sz="1200" b="1">
                  <a:solidFill>
                    <a:srgbClr val="FFFFFF"/>
                  </a:solidFill>
                  <a:latin typeface="Segoe UI"/>
                </a:defRPr>
              </a:pPr>
              <a:r>
                <a:rPr sz="900" dirty="0"/>
                <a:t>What it does:</a:t>
              </a:r>
            </a:p>
            <a:p>
              <a:pPr>
                <a:spcAft>
                  <a:spcPts val="300"/>
                </a:spcAft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 dirty="0"/>
                <a:t>Adds the original input directly to the sub-layer output.</a:t>
              </a:r>
            </a:p>
            <a:p>
              <a:pPr>
                <a:spcAft>
                  <a:spcPts val="300"/>
                </a:spcAft>
                <a:defRPr sz="600" b="0">
                  <a:solidFill>
                    <a:srgbClr val="B0B8C8"/>
                  </a:solidFill>
                  <a:latin typeface="Segoe UI"/>
                </a:defRPr>
              </a:pPr>
              <a:endParaRPr sz="450" dirty="0"/>
            </a:p>
            <a:p>
              <a:pPr>
                <a:spcAft>
                  <a:spcPts val="300"/>
                </a:spcAft>
                <a:defRPr sz="1200" b="1">
                  <a:solidFill>
                    <a:srgbClr val="FFFFFF"/>
                  </a:solidFill>
                  <a:latin typeface="Segoe UI"/>
                </a:defRPr>
              </a:pPr>
              <a:r>
                <a:rPr sz="900" dirty="0"/>
                <a:t>Why it matters:</a:t>
              </a:r>
            </a:p>
            <a:p>
              <a:pPr>
                <a:spcAft>
                  <a:spcPts val="300"/>
                </a:spcAft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 dirty="0"/>
                <a:t>• Prevents vanishing gradients in deep networks</a:t>
              </a:r>
            </a:p>
            <a:p>
              <a:pPr>
                <a:spcAft>
                  <a:spcPts val="300"/>
                </a:spcAft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 dirty="0"/>
                <a:t>• Gradients can flow directly through the shortcut</a:t>
              </a:r>
            </a:p>
            <a:p>
              <a:pPr>
                <a:spcAft>
                  <a:spcPts val="300"/>
                </a:spcAft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 dirty="0"/>
                <a:t>• Even if a layer learns nothing useful, the signal survives</a:t>
              </a:r>
            </a:p>
            <a:p>
              <a:pPr>
                <a:spcAft>
                  <a:spcPts val="300"/>
                </a:spcAft>
                <a:defRPr sz="600" b="0">
                  <a:solidFill>
                    <a:srgbClr val="B0B8C8"/>
                  </a:solidFill>
                  <a:latin typeface="Segoe UI"/>
                </a:defRPr>
              </a:pPr>
              <a:endParaRPr sz="450" dirty="0"/>
            </a:p>
            <a:p>
              <a:pPr>
                <a:spcAft>
                  <a:spcPts val="300"/>
                </a:spcAft>
                <a:defRPr sz="1200" b="1">
                  <a:solidFill>
                    <a:srgbClr val="FBBF24"/>
                  </a:solidFill>
                  <a:latin typeface="Segoe UI"/>
                </a:defRPr>
              </a:pPr>
              <a:r>
                <a:rPr sz="900" dirty="0"/>
                <a:t>💡 Analogy:</a:t>
              </a:r>
            </a:p>
            <a:p>
              <a:pPr>
                <a:spcAft>
                  <a:spcPts val="300"/>
                </a:spcAft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 dirty="0"/>
                <a:t>Like a highway bypass — even if the city road is jammed, traffic still flows.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9AD29A1-3C91-9777-BBA6-30AFE622BC2A}"/>
              </a:ext>
            </a:extLst>
          </p:cNvPr>
          <p:cNvGrpSpPr/>
          <p:nvPr/>
        </p:nvGrpSpPr>
        <p:grpSpPr>
          <a:xfrm>
            <a:off x="3257550" y="846879"/>
            <a:ext cx="2606040" cy="3389604"/>
            <a:chOff x="3257550" y="1017025"/>
            <a:chExt cx="2606040" cy="3389604"/>
          </a:xfrm>
        </p:grpSpPr>
        <p:sp>
          <p:nvSpPr>
            <p:cNvPr id="13" name="Rounded Rectangle 12"/>
            <p:cNvSpPr/>
            <p:nvPr/>
          </p:nvSpPr>
          <p:spPr>
            <a:xfrm>
              <a:off x="3257550" y="1017025"/>
              <a:ext cx="2606040" cy="3389604"/>
            </a:xfrm>
            <a:prstGeom prst="roundRect">
              <a:avLst>
                <a:gd name="adj" fmla="val 4000"/>
              </a:avLst>
            </a:prstGeom>
            <a:solidFill>
              <a:srgbClr val="1E293B"/>
            </a:solidFill>
            <a:ln w="19050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257550" y="1071889"/>
              <a:ext cx="2606040" cy="27432"/>
            </a:xfrm>
            <a:prstGeom prst="rect">
              <a:avLst/>
            </a:prstGeom>
            <a:solidFill>
              <a:srgbClr val="A78B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394710" y="1154185"/>
              <a:ext cx="24003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600" b="1">
                  <a:solidFill>
                    <a:srgbClr val="A78BFA"/>
                  </a:solidFill>
                  <a:latin typeface="Segoe UI"/>
                </a:defRPr>
              </a:pPr>
              <a:r>
                <a:rPr sz="1200"/>
                <a:t>📏 Layer Normalization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394710" y="1394215"/>
              <a:ext cx="240030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0">
                  <a:solidFill>
                    <a:srgbClr val="94A3B8"/>
                  </a:solidFill>
                  <a:latin typeface="Segoe UI"/>
                </a:defRPr>
              </a:pPr>
              <a:r>
                <a:rPr sz="900"/>
                <a:t>(Normalize across features)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3394710" y="1668535"/>
              <a:ext cx="2331720" cy="342900"/>
            </a:xfrm>
            <a:prstGeom prst="roundRect">
              <a:avLst>
                <a:gd name="adj" fmla="val 6000"/>
              </a:avLst>
            </a:prstGeom>
            <a:solidFill>
              <a:srgbClr val="162033"/>
            </a:solidFill>
            <a:ln w="19050">
              <a:solidFill>
                <a:srgbClr val="A78BF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497580" y="1716541"/>
              <a:ext cx="219456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1">
                  <a:solidFill>
                    <a:srgbClr val="A78BFA"/>
                  </a:solidFill>
                  <a:latin typeface="Consolas"/>
                </a:defRPr>
              </a:pPr>
              <a:r>
                <a:rPr sz="1050"/>
                <a:t>LN(x) = γ · (x − μ) / σ + β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394710" y="2114305"/>
              <a:ext cx="2331720" cy="18812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300"/>
                </a:spcAft>
                <a:defRPr sz="1200" b="1">
                  <a:solidFill>
                    <a:srgbClr val="FFFFFF"/>
                  </a:solidFill>
                  <a:latin typeface="Segoe UI"/>
                </a:defRPr>
              </a:pPr>
              <a:r>
                <a:rPr sz="900" dirty="0"/>
                <a:t>What it does:</a:t>
              </a:r>
            </a:p>
            <a:p>
              <a:pPr>
                <a:spcAft>
                  <a:spcPts val="300"/>
                </a:spcAft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 dirty="0"/>
                <a:t>Normalizes values across the 512 feature dimensions for each word independently.</a:t>
              </a:r>
            </a:p>
            <a:p>
              <a:pPr>
                <a:spcAft>
                  <a:spcPts val="300"/>
                </a:spcAft>
                <a:defRPr sz="600" b="0">
                  <a:solidFill>
                    <a:srgbClr val="B0B8C8"/>
                  </a:solidFill>
                  <a:latin typeface="Segoe UI"/>
                </a:defRPr>
              </a:pPr>
              <a:endParaRPr sz="450" dirty="0"/>
            </a:p>
            <a:p>
              <a:pPr>
                <a:spcAft>
                  <a:spcPts val="300"/>
                </a:spcAft>
                <a:defRPr sz="1200" b="1">
                  <a:solidFill>
                    <a:srgbClr val="FFFFFF"/>
                  </a:solidFill>
                  <a:latin typeface="Segoe UI"/>
                </a:defRPr>
              </a:pPr>
              <a:r>
                <a:rPr sz="900" dirty="0"/>
                <a:t>Why it matters:</a:t>
              </a:r>
            </a:p>
            <a:p>
              <a:pPr>
                <a:spcAft>
                  <a:spcPts val="300"/>
                </a:spcAft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 dirty="0"/>
                <a:t>• Keeps activations in a stable range</a:t>
              </a:r>
            </a:p>
            <a:p>
              <a:pPr>
                <a:spcAft>
                  <a:spcPts val="300"/>
                </a:spcAft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 dirty="0"/>
                <a:t>• Speeds up training convergence</a:t>
              </a:r>
            </a:p>
            <a:p>
              <a:pPr>
                <a:spcAft>
                  <a:spcPts val="300"/>
                </a:spcAft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 dirty="0"/>
                <a:t>• Each word is normalized independently</a:t>
              </a:r>
            </a:p>
            <a:p>
              <a:pPr>
                <a:spcAft>
                  <a:spcPts val="300"/>
                </a:spcAft>
                <a:defRPr sz="600" b="0">
                  <a:solidFill>
                    <a:srgbClr val="B0B8C8"/>
                  </a:solidFill>
                  <a:latin typeface="Segoe UI"/>
                </a:defRPr>
              </a:pPr>
              <a:endParaRPr sz="450" dirty="0"/>
            </a:p>
            <a:p>
              <a:pPr>
                <a:spcAft>
                  <a:spcPts val="300"/>
                </a:spcAft>
                <a:defRPr sz="1200" b="1">
                  <a:solidFill>
                    <a:srgbClr val="FBBF24"/>
                  </a:solidFill>
                  <a:latin typeface="Segoe UI"/>
                </a:defRPr>
              </a:pPr>
              <a:r>
                <a:rPr sz="900" dirty="0"/>
                <a:t>💡 Analogy:</a:t>
              </a:r>
            </a:p>
            <a:p>
              <a:pPr>
                <a:spcAft>
                  <a:spcPts val="300"/>
                </a:spcAft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 dirty="0"/>
                <a:t>Like grading on a curve — ensures no feature dominates unfairly.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432A6F1-B92C-55F5-8558-41D9F1E16567}"/>
              </a:ext>
            </a:extLst>
          </p:cNvPr>
          <p:cNvGrpSpPr/>
          <p:nvPr/>
        </p:nvGrpSpPr>
        <p:grpSpPr>
          <a:xfrm>
            <a:off x="6103620" y="864625"/>
            <a:ext cx="2606040" cy="3389604"/>
            <a:chOff x="6103620" y="1017025"/>
            <a:chExt cx="2606040" cy="3389604"/>
          </a:xfrm>
        </p:grpSpPr>
        <p:sp>
          <p:nvSpPr>
            <p:cNvPr id="20" name="Rounded Rectangle 19"/>
            <p:cNvSpPr/>
            <p:nvPr/>
          </p:nvSpPr>
          <p:spPr>
            <a:xfrm>
              <a:off x="6103620" y="1017025"/>
              <a:ext cx="2606040" cy="3389604"/>
            </a:xfrm>
            <a:prstGeom prst="roundRect">
              <a:avLst>
                <a:gd name="adj" fmla="val 4000"/>
              </a:avLst>
            </a:prstGeom>
            <a:solidFill>
              <a:srgbClr val="1E293B"/>
            </a:solidFill>
            <a:ln w="19050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103620" y="1071889"/>
              <a:ext cx="2606040" cy="27432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240780" y="1154185"/>
              <a:ext cx="24003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600" b="1">
                  <a:solidFill>
                    <a:srgbClr val="F59E0B"/>
                  </a:solidFill>
                  <a:latin typeface="Segoe UI"/>
                </a:defRPr>
              </a:pPr>
              <a:r>
                <a:rPr sz="1200"/>
                <a:t>🧠 Feed-Forward Network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240780" y="1394215"/>
              <a:ext cx="240030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0">
                  <a:solidFill>
                    <a:srgbClr val="94A3B8"/>
                  </a:solidFill>
                  <a:latin typeface="Segoe UI"/>
                </a:defRPr>
              </a:pPr>
              <a:r>
                <a:rPr sz="900"/>
                <a:t>(Position-wise FFN)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6240780" y="1668535"/>
              <a:ext cx="2331720" cy="342900"/>
            </a:xfrm>
            <a:prstGeom prst="roundRect">
              <a:avLst>
                <a:gd name="adj" fmla="val 6000"/>
              </a:avLst>
            </a:prstGeom>
            <a:solidFill>
              <a:srgbClr val="162033"/>
            </a:solidFill>
            <a:ln w="19050">
              <a:solidFill>
                <a:srgbClr val="F59E0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343650" y="1716541"/>
              <a:ext cx="2194560" cy="2423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300" b="1">
                  <a:solidFill>
                    <a:srgbClr val="F59E0B"/>
                  </a:solidFill>
                  <a:latin typeface="Consolas"/>
                </a:defRPr>
              </a:pPr>
              <a:r>
                <a:rPr sz="975"/>
                <a:t>FFN(x) = ReLU(xW₁+b₁)W₂+b₂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240780" y="2114305"/>
              <a:ext cx="2331720" cy="18812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300"/>
                </a:spcAft>
                <a:defRPr sz="1200" b="1">
                  <a:solidFill>
                    <a:srgbClr val="FFFFFF"/>
                  </a:solidFill>
                  <a:latin typeface="Segoe UI"/>
                </a:defRPr>
              </a:pPr>
              <a:r>
                <a:rPr sz="900" dirty="0"/>
                <a:t>What it does:</a:t>
              </a:r>
            </a:p>
            <a:p>
              <a:pPr>
                <a:spcAft>
                  <a:spcPts val="300"/>
                </a:spcAft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 dirty="0"/>
                <a:t>Two linear layers with </a:t>
              </a:r>
              <a:r>
                <a:rPr sz="825" dirty="0" err="1"/>
                <a:t>ReLU</a:t>
              </a:r>
              <a:r>
                <a:rPr sz="825" dirty="0"/>
                <a:t> in between. Processes each position separately.</a:t>
              </a:r>
            </a:p>
            <a:p>
              <a:pPr>
                <a:spcAft>
                  <a:spcPts val="300"/>
                </a:spcAft>
                <a:defRPr sz="600" b="0">
                  <a:solidFill>
                    <a:srgbClr val="B0B8C8"/>
                  </a:solidFill>
                  <a:latin typeface="Segoe UI"/>
                </a:defRPr>
              </a:pPr>
              <a:endParaRPr sz="450" dirty="0"/>
            </a:p>
            <a:p>
              <a:pPr>
                <a:spcAft>
                  <a:spcPts val="300"/>
                </a:spcAft>
                <a:defRPr sz="1200" b="1">
                  <a:solidFill>
                    <a:srgbClr val="FFFFFF"/>
                  </a:solidFill>
                  <a:latin typeface="Segoe UI"/>
                </a:defRPr>
              </a:pPr>
              <a:r>
                <a:rPr sz="900" dirty="0"/>
                <a:t>Dimensions:</a:t>
              </a:r>
            </a:p>
            <a:p>
              <a:pPr>
                <a:spcAft>
                  <a:spcPts val="300"/>
                </a:spcAft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 dirty="0"/>
                <a:t>• Input:  </a:t>
              </a:r>
              <a:r>
                <a:rPr sz="825" dirty="0" err="1"/>
                <a:t>d_model</a:t>
              </a:r>
              <a:r>
                <a:rPr sz="825" dirty="0"/>
                <a:t> = 512</a:t>
              </a:r>
            </a:p>
            <a:p>
              <a:pPr>
                <a:spcAft>
                  <a:spcPts val="300"/>
                </a:spcAft>
                <a:defRPr sz="1100" b="1">
                  <a:solidFill>
                    <a:srgbClr val="F59E0B"/>
                  </a:solidFill>
                  <a:latin typeface="Segoe UI"/>
                </a:defRPr>
              </a:pPr>
              <a:r>
                <a:rPr sz="825" dirty="0"/>
                <a:t>• Hidden: </a:t>
              </a:r>
              <a:r>
                <a:rPr sz="825" dirty="0" err="1"/>
                <a:t>d_ff</a:t>
              </a:r>
              <a:r>
                <a:rPr sz="825" dirty="0"/>
                <a:t> = 2048  (4× expansion)</a:t>
              </a:r>
            </a:p>
            <a:p>
              <a:pPr>
                <a:spcAft>
                  <a:spcPts val="300"/>
                </a:spcAft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 dirty="0"/>
                <a:t>• Output: </a:t>
              </a:r>
              <a:r>
                <a:rPr sz="825" dirty="0" err="1"/>
                <a:t>d_model</a:t>
              </a:r>
              <a:r>
                <a:rPr sz="825" dirty="0"/>
                <a:t> = 512</a:t>
              </a:r>
            </a:p>
            <a:p>
              <a:pPr>
                <a:spcAft>
                  <a:spcPts val="300"/>
                </a:spcAft>
                <a:defRPr sz="600" b="0">
                  <a:solidFill>
                    <a:srgbClr val="B0B8C8"/>
                  </a:solidFill>
                  <a:latin typeface="Segoe UI"/>
                </a:defRPr>
              </a:pPr>
              <a:endParaRPr sz="450" dirty="0"/>
            </a:p>
            <a:p>
              <a:pPr>
                <a:spcAft>
                  <a:spcPts val="300"/>
                </a:spcAft>
                <a:defRPr sz="1200" b="1">
                  <a:solidFill>
                    <a:srgbClr val="FBBF24"/>
                  </a:solidFill>
                  <a:latin typeface="Segoe UI"/>
                </a:defRPr>
              </a:pPr>
              <a:r>
                <a:rPr sz="900" dirty="0"/>
                <a:t>💡 Analogy:</a:t>
              </a:r>
            </a:p>
            <a:p>
              <a:pPr>
                <a:spcAft>
                  <a:spcPts val="300"/>
                </a:spcAft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 dirty="0"/>
                <a:t>After a group discussion (attention), each person gets private thinking time.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36116E7-B23A-7BAE-47E4-62040C39A11A}"/>
              </a:ext>
            </a:extLst>
          </p:cNvPr>
          <p:cNvGrpSpPr/>
          <p:nvPr/>
        </p:nvGrpSpPr>
        <p:grpSpPr>
          <a:xfrm>
            <a:off x="411480" y="4562028"/>
            <a:ext cx="8298180" cy="377190"/>
            <a:chOff x="411480" y="4562028"/>
            <a:chExt cx="8298180" cy="377190"/>
          </a:xfrm>
        </p:grpSpPr>
        <p:sp>
          <p:nvSpPr>
            <p:cNvPr id="27" name="Rounded Rectangle 26"/>
            <p:cNvSpPr/>
            <p:nvPr/>
          </p:nvSpPr>
          <p:spPr>
            <a:xfrm>
              <a:off x="411480" y="4562028"/>
              <a:ext cx="8298180" cy="377190"/>
            </a:xfrm>
            <a:prstGeom prst="roundRect">
              <a:avLst>
                <a:gd name="adj" fmla="val 4000"/>
              </a:avLst>
            </a:prstGeom>
            <a:solidFill>
              <a:srgbClr val="162033"/>
            </a:solidFill>
            <a:ln w="19050">
              <a:solidFill>
                <a:srgbClr val="3B82F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82930" y="4616892"/>
              <a:ext cx="795528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200" b="0">
                  <a:solidFill>
                    <a:srgbClr val="B0B8C8"/>
                  </a:solidFill>
                  <a:latin typeface="Segoe UI"/>
                </a:defRPr>
              </a:pPr>
              <a:r>
                <a:rPr sz="900" dirty="0"/>
                <a:t>🔑  Each encoder block:  Self-Attention → Add &amp; Norm → FFN → Add &amp; Norm  |  Repeated 6 times  |  ~7M parameters per block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AE3F3D81-D1F0-8FAB-3210-6E3F3F30FB84}"/>
              </a:ext>
            </a:extLst>
          </p:cNvPr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4" name="TextBox 3"/>
          <p:cNvSpPr txBox="1"/>
          <p:nvPr/>
        </p:nvSpPr>
        <p:spPr>
          <a:xfrm>
            <a:off x="411480" y="420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sz="2400" dirty="0"/>
              <a:t>Inside One Decoder Block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77610"/>
            <a:ext cx="75438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rPr sz="1050" dirty="0"/>
              <a:t>Three sub-layers instead of two — adds masked attention and cross-attention to talk to the encoder.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7258" y="957985"/>
            <a:ext cx="3086100" cy="4156306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 w="19050">
            <a:solidFill>
              <a:srgbClr val="334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DABD5A6-37B7-FFF9-946B-F67F7CC2DD13}"/>
              </a:ext>
            </a:extLst>
          </p:cNvPr>
          <p:cNvGrpSpPr/>
          <p:nvPr/>
        </p:nvGrpSpPr>
        <p:grpSpPr>
          <a:xfrm>
            <a:off x="1001608" y="4586988"/>
            <a:ext cx="2057400" cy="458723"/>
            <a:chOff x="1001608" y="4586988"/>
            <a:chExt cx="2057400" cy="458723"/>
          </a:xfrm>
        </p:grpSpPr>
        <p:sp>
          <p:nvSpPr>
            <p:cNvPr id="8" name="Rounded Rectangle 7"/>
            <p:cNvSpPr/>
            <p:nvPr/>
          </p:nvSpPr>
          <p:spPr>
            <a:xfrm>
              <a:off x="1001608" y="4771391"/>
              <a:ext cx="2057400" cy="274320"/>
            </a:xfrm>
            <a:prstGeom prst="roundRect">
              <a:avLst>
                <a:gd name="adj" fmla="val 8000"/>
              </a:avLst>
            </a:prstGeom>
            <a:solidFill>
              <a:srgbClr val="162033"/>
            </a:solidFill>
            <a:ln w="19050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000" b="1">
                  <a:solidFill>
                    <a:srgbClr val="B0B8C8"/>
                  </a:solidFill>
                  <a:latin typeface="Segoe UI"/>
                </a:defRPr>
              </a:pPr>
              <a:r>
                <a:rPr sz="750" dirty="0"/>
                <a:t>Output Embeddings + Positional Encoding</a:t>
              </a:r>
            </a:p>
          </p:txBody>
        </p:sp>
        <p:cxnSp>
          <p:nvCxnSpPr>
            <p:cNvPr id="9" name="Connector 8"/>
            <p:cNvCxnSpPr>
              <a:cxnSpLocks/>
            </p:cNvCxnSpPr>
            <p:nvPr/>
          </p:nvCxnSpPr>
          <p:spPr>
            <a:xfrm flipV="1">
              <a:off x="2030308" y="4668714"/>
              <a:ext cx="0" cy="105058"/>
            </a:xfrm>
            <a:prstGeom prst="line">
              <a:avLst/>
            </a:prstGeom>
            <a:ln w="25400">
              <a:solidFill>
                <a:srgbClr val="94A3B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Isosceles Triangle 9"/>
            <p:cNvSpPr/>
            <p:nvPr/>
          </p:nvSpPr>
          <p:spPr>
            <a:xfrm>
              <a:off x="1975444" y="4586988"/>
              <a:ext cx="109728" cy="96012"/>
            </a:xfrm>
            <a:prstGeom prst="triangle">
              <a:avLst/>
            </a:prstGeom>
            <a:solidFill>
              <a:srgbClr val="94A3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9663053-D39A-4884-CCCB-D276B5CB6006}"/>
              </a:ext>
            </a:extLst>
          </p:cNvPr>
          <p:cNvGrpSpPr/>
          <p:nvPr/>
        </p:nvGrpSpPr>
        <p:grpSpPr>
          <a:xfrm>
            <a:off x="727288" y="3920999"/>
            <a:ext cx="2606040" cy="658368"/>
            <a:chOff x="727288" y="3920999"/>
            <a:chExt cx="2606040" cy="658368"/>
          </a:xfrm>
        </p:grpSpPr>
        <p:sp>
          <p:nvSpPr>
            <p:cNvPr id="11" name="Rounded Rectangle 10"/>
            <p:cNvSpPr/>
            <p:nvPr/>
          </p:nvSpPr>
          <p:spPr>
            <a:xfrm>
              <a:off x="727288" y="4181603"/>
              <a:ext cx="2606040" cy="397764"/>
            </a:xfrm>
            <a:prstGeom prst="roundRect">
              <a:avLst>
                <a:gd name="adj" fmla="val 8000"/>
              </a:avLst>
            </a:prstGeom>
            <a:solidFill>
              <a:srgbClr val="1E293B"/>
            </a:solidFill>
            <a:ln w="19050">
              <a:solidFill>
                <a:srgbClr val="EF444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200" b="1">
                  <a:solidFill>
                    <a:srgbClr val="EF4444"/>
                  </a:solidFill>
                  <a:latin typeface="Segoe UI"/>
                </a:defRPr>
              </a:pPr>
              <a:r>
                <a:rPr sz="900" dirty="0"/>
                <a:t>Masked Multi-Head</a:t>
              </a:r>
              <a:br>
                <a:rPr sz="900" dirty="0"/>
              </a:br>
              <a:r>
                <a:rPr sz="900" dirty="0"/>
                <a:t>Self-Attention</a:t>
              </a:r>
            </a:p>
          </p:txBody>
        </p:sp>
        <p:cxnSp>
          <p:nvCxnSpPr>
            <p:cNvPr id="12" name="Connector 11"/>
            <p:cNvCxnSpPr/>
            <p:nvPr/>
          </p:nvCxnSpPr>
          <p:spPr>
            <a:xfrm flipV="1">
              <a:off x="2030308" y="3989579"/>
              <a:ext cx="0" cy="192024"/>
            </a:xfrm>
            <a:prstGeom prst="line">
              <a:avLst/>
            </a:prstGeom>
            <a:ln w="25400">
              <a:solidFill>
                <a:srgbClr val="EF44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Isosceles Triangle 12"/>
            <p:cNvSpPr/>
            <p:nvPr/>
          </p:nvSpPr>
          <p:spPr>
            <a:xfrm>
              <a:off x="1975444" y="3920999"/>
              <a:ext cx="109728" cy="96012"/>
            </a:xfrm>
            <a:prstGeom prst="triangle">
              <a:avLst/>
            </a:prstGeom>
            <a:solidFill>
              <a:srgbClr val="EF444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</p:grpSp>
      <p:cxnSp>
        <p:nvCxnSpPr>
          <p:cNvPr id="15" name="Connector 14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1524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2" name="Group 61">
            <a:extLst>
              <a:ext uri="{FF2B5EF4-FFF2-40B4-BE49-F238E27FC236}">
                <a16:creationId xmlns:a16="http://schemas.microsoft.com/office/drawing/2014/main" id="{B6E1C2B6-EC98-A6D8-2686-D33A487E7074}"/>
              </a:ext>
            </a:extLst>
          </p:cNvPr>
          <p:cNvGrpSpPr/>
          <p:nvPr/>
        </p:nvGrpSpPr>
        <p:grpSpPr>
          <a:xfrm>
            <a:off x="727288" y="3317495"/>
            <a:ext cx="2606040" cy="589788"/>
            <a:chOff x="727288" y="3317495"/>
            <a:chExt cx="2606040" cy="589788"/>
          </a:xfrm>
        </p:grpSpPr>
        <p:sp>
          <p:nvSpPr>
            <p:cNvPr id="14" name="Rounded Rectangle 13"/>
            <p:cNvSpPr/>
            <p:nvPr/>
          </p:nvSpPr>
          <p:spPr>
            <a:xfrm>
              <a:off x="727288" y="3578099"/>
              <a:ext cx="2606040" cy="329184"/>
            </a:xfrm>
            <a:prstGeom prst="roundRect">
              <a:avLst>
                <a:gd name="adj" fmla="val 8000"/>
              </a:avLst>
            </a:prstGeom>
            <a:solidFill>
              <a:srgbClr val="1E293B"/>
            </a:solidFill>
            <a:ln w="19050">
              <a:solidFill>
                <a:srgbClr val="14B8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000" b="1">
                  <a:solidFill>
                    <a:srgbClr val="14B8A6"/>
                  </a:solidFill>
                  <a:latin typeface="Segoe UI"/>
                </a:defRPr>
              </a:pPr>
              <a:r>
                <a:rPr sz="750"/>
                <a:t>Add &amp; Layer Normalize</a:t>
              </a:r>
            </a:p>
          </p:txBody>
        </p:sp>
        <p:cxnSp>
          <p:nvCxnSpPr>
            <p:cNvPr id="18" name="Connector 17"/>
            <p:cNvCxnSpPr/>
            <p:nvPr/>
          </p:nvCxnSpPr>
          <p:spPr>
            <a:xfrm flipV="1">
              <a:off x="2030308" y="3386075"/>
              <a:ext cx="0" cy="192024"/>
            </a:xfrm>
            <a:prstGeom prst="line">
              <a:avLst/>
            </a:prstGeom>
            <a:ln w="25400">
              <a:solidFill>
                <a:srgbClr val="14B8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Isosceles Triangle 18"/>
            <p:cNvSpPr/>
            <p:nvPr/>
          </p:nvSpPr>
          <p:spPr>
            <a:xfrm>
              <a:off x="1975444" y="3317495"/>
              <a:ext cx="109728" cy="96012"/>
            </a:xfrm>
            <a:prstGeom prst="triangle">
              <a:avLst/>
            </a:prstGeom>
            <a:solidFill>
              <a:srgbClr val="14B8A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</p:grpSp>
      <p:cxnSp>
        <p:nvCxnSpPr>
          <p:cNvPr id="22" name="Connector 21"/>
          <p:cNvCxnSpPr/>
          <p:nvPr/>
        </p:nvCxnSpPr>
        <p:spPr>
          <a:xfrm flipH="1">
            <a:off x="0" y="0"/>
            <a:ext cx="0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7" name="Group 66">
            <a:extLst>
              <a:ext uri="{FF2B5EF4-FFF2-40B4-BE49-F238E27FC236}">
                <a16:creationId xmlns:a16="http://schemas.microsoft.com/office/drawing/2014/main" id="{27F9D043-3196-F065-5C3E-E6EF34B8F82A}"/>
              </a:ext>
            </a:extLst>
          </p:cNvPr>
          <p:cNvGrpSpPr/>
          <p:nvPr/>
        </p:nvGrpSpPr>
        <p:grpSpPr>
          <a:xfrm>
            <a:off x="3708035" y="2878585"/>
            <a:ext cx="671913" cy="438910"/>
            <a:chOff x="3708035" y="2878585"/>
            <a:chExt cx="671913" cy="438910"/>
          </a:xfrm>
        </p:grpSpPr>
        <p:sp>
          <p:nvSpPr>
            <p:cNvPr id="21" name="Rounded Rectangle 20"/>
            <p:cNvSpPr/>
            <p:nvPr/>
          </p:nvSpPr>
          <p:spPr>
            <a:xfrm>
              <a:off x="3708035" y="3071961"/>
              <a:ext cx="671913" cy="245534"/>
            </a:xfrm>
            <a:prstGeom prst="roundRect">
              <a:avLst>
                <a:gd name="adj" fmla="val 40000"/>
              </a:avLst>
            </a:prstGeom>
            <a:solidFill>
              <a:srgbClr val="3B8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000" b="1">
                  <a:solidFill>
                    <a:srgbClr val="FFFFFF"/>
                  </a:solidFill>
                  <a:latin typeface="Segoe UI"/>
                </a:defRPr>
              </a:pPr>
              <a:r>
                <a:rPr sz="750" dirty="0"/>
                <a:t>From</a:t>
              </a:r>
              <a:br>
                <a:rPr sz="750" dirty="0"/>
              </a:br>
              <a:r>
                <a:rPr sz="750" dirty="0"/>
                <a:t>Encoder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813840" y="2878585"/>
              <a:ext cx="41148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1">
                  <a:solidFill>
                    <a:srgbClr val="3B82F6"/>
                  </a:solidFill>
                  <a:latin typeface="Consolas"/>
                </a:defRPr>
              </a:pPr>
              <a:r>
                <a:rPr sz="750" dirty="0"/>
                <a:t>K, V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08F0C973-308C-A28C-56B0-2BA7C7151307}"/>
              </a:ext>
            </a:extLst>
          </p:cNvPr>
          <p:cNvGrpSpPr/>
          <p:nvPr/>
        </p:nvGrpSpPr>
        <p:grpSpPr>
          <a:xfrm>
            <a:off x="727288" y="2645411"/>
            <a:ext cx="2606040" cy="658368"/>
            <a:chOff x="727288" y="2645411"/>
            <a:chExt cx="2606040" cy="658368"/>
          </a:xfrm>
        </p:grpSpPr>
        <p:sp>
          <p:nvSpPr>
            <p:cNvPr id="20" name="Rounded Rectangle 19"/>
            <p:cNvSpPr/>
            <p:nvPr/>
          </p:nvSpPr>
          <p:spPr>
            <a:xfrm>
              <a:off x="727288" y="2906015"/>
              <a:ext cx="2606040" cy="397764"/>
            </a:xfrm>
            <a:prstGeom prst="roundRect">
              <a:avLst>
                <a:gd name="adj" fmla="val 8000"/>
              </a:avLst>
            </a:prstGeom>
            <a:solidFill>
              <a:srgbClr val="1E293B"/>
            </a:solidFill>
            <a:ln w="19050">
              <a:solidFill>
                <a:srgbClr val="F59E0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200" b="1">
                  <a:solidFill>
                    <a:srgbClr val="F59E0B"/>
                  </a:solidFill>
                  <a:latin typeface="Segoe UI"/>
                </a:defRPr>
              </a:pPr>
              <a:r>
                <a:rPr sz="900"/>
                <a:t>Cross-Attention</a:t>
              </a:r>
              <a:br>
                <a:rPr sz="900"/>
              </a:br>
              <a:r>
                <a:rPr sz="900"/>
                <a:t>(Encoder-Decoder)</a:t>
              </a:r>
            </a:p>
          </p:txBody>
        </p:sp>
        <p:cxnSp>
          <p:nvCxnSpPr>
            <p:cNvPr id="24" name="Connector 23"/>
            <p:cNvCxnSpPr/>
            <p:nvPr/>
          </p:nvCxnSpPr>
          <p:spPr>
            <a:xfrm flipV="1">
              <a:off x="2030308" y="2713991"/>
              <a:ext cx="0" cy="192024"/>
            </a:xfrm>
            <a:prstGeom prst="line">
              <a:avLst/>
            </a:prstGeom>
            <a:ln w="25400">
              <a:solidFill>
                <a:srgbClr val="F59E0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Isosceles Triangle 24"/>
            <p:cNvSpPr/>
            <p:nvPr/>
          </p:nvSpPr>
          <p:spPr>
            <a:xfrm>
              <a:off x="1975444" y="2645411"/>
              <a:ext cx="109728" cy="96012"/>
            </a:xfrm>
            <a:prstGeom prst="triangle">
              <a:avLst/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</p:grpSp>
      <p:cxnSp>
        <p:nvCxnSpPr>
          <p:cNvPr id="27" name="Connector 26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1524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4" name="Group 63">
            <a:extLst>
              <a:ext uri="{FF2B5EF4-FFF2-40B4-BE49-F238E27FC236}">
                <a16:creationId xmlns:a16="http://schemas.microsoft.com/office/drawing/2014/main" id="{C5BFDC9A-61D3-26E9-CEBB-58ADBBFC3E0A}"/>
              </a:ext>
            </a:extLst>
          </p:cNvPr>
          <p:cNvGrpSpPr/>
          <p:nvPr/>
        </p:nvGrpSpPr>
        <p:grpSpPr>
          <a:xfrm>
            <a:off x="727288" y="2041907"/>
            <a:ext cx="2606040" cy="589788"/>
            <a:chOff x="727288" y="2041907"/>
            <a:chExt cx="2606040" cy="589788"/>
          </a:xfrm>
        </p:grpSpPr>
        <p:sp>
          <p:nvSpPr>
            <p:cNvPr id="26" name="Rounded Rectangle 25"/>
            <p:cNvSpPr/>
            <p:nvPr/>
          </p:nvSpPr>
          <p:spPr>
            <a:xfrm>
              <a:off x="727288" y="2302511"/>
              <a:ext cx="2606040" cy="329184"/>
            </a:xfrm>
            <a:prstGeom prst="roundRect">
              <a:avLst>
                <a:gd name="adj" fmla="val 8000"/>
              </a:avLst>
            </a:prstGeom>
            <a:solidFill>
              <a:srgbClr val="1E293B"/>
            </a:solidFill>
            <a:ln w="19050">
              <a:solidFill>
                <a:srgbClr val="14B8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000" b="1">
                  <a:solidFill>
                    <a:srgbClr val="14B8A6"/>
                  </a:solidFill>
                  <a:latin typeface="Segoe UI"/>
                </a:defRPr>
              </a:pPr>
              <a:r>
                <a:rPr sz="750"/>
                <a:t>Add &amp; Layer Normalize</a:t>
              </a:r>
            </a:p>
          </p:txBody>
        </p:sp>
        <p:cxnSp>
          <p:nvCxnSpPr>
            <p:cNvPr id="30" name="Connector 29"/>
            <p:cNvCxnSpPr/>
            <p:nvPr/>
          </p:nvCxnSpPr>
          <p:spPr>
            <a:xfrm flipV="1">
              <a:off x="2030308" y="2110487"/>
              <a:ext cx="0" cy="192024"/>
            </a:xfrm>
            <a:prstGeom prst="line">
              <a:avLst/>
            </a:prstGeom>
            <a:ln w="25400">
              <a:solidFill>
                <a:srgbClr val="14B8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Isosceles Triangle 30"/>
            <p:cNvSpPr/>
            <p:nvPr/>
          </p:nvSpPr>
          <p:spPr>
            <a:xfrm>
              <a:off x="1975444" y="2041907"/>
              <a:ext cx="109728" cy="96012"/>
            </a:xfrm>
            <a:prstGeom prst="triangle">
              <a:avLst/>
            </a:prstGeom>
            <a:solidFill>
              <a:srgbClr val="14B8A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0B21ACD5-B535-6320-DD77-D7326D201B1A}"/>
              </a:ext>
            </a:extLst>
          </p:cNvPr>
          <p:cNvGrpSpPr/>
          <p:nvPr/>
        </p:nvGrpSpPr>
        <p:grpSpPr>
          <a:xfrm>
            <a:off x="727288" y="1369823"/>
            <a:ext cx="2606040" cy="658368"/>
            <a:chOff x="727288" y="1369823"/>
            <a:chExt cx="2606040" cy="658368"/>
          </a:xfrm>
        </p:grpSpPr>
        <p:sp>
          <p:nvSpPr>
            <p:cNvPr id="32" name="Rounded Rectangle 31"/>
            <p:cNvSpPr/>
            <p:nvPr/>
          </p:nvSpPr>
          <p:spPr>
            <a:xfrm>
              <a:off x="727288" y="1630427"/>
              <a:ext cx="2606040" cy="397764"/>
            </a:xfrm>
            <a:prstGeom prst="roundRect">
              <a:avLst>
                <a:gd name="adj" fmla="val 8000"/>
              </a:avLst>
            </a:prstGeom>
            <a:solidFill>
              <a:srgbClr val="1E293B"/>
            </a:solidFill>
            <a:ln w="19050">
              <a:solidFill>
                <a:srgbClr val="F59E0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200" b="1">
                  <a:solidFill>
                    <a:srgbClr val="F59E0B"/>
                  </a:solidFill>
                  <a:latin typeface="Segoe UI"/>
                </a:defRPr>
              </a:pPr>
              <a:r>
                <a:rPr sz="900"/>
                <a:t>Feed-Forward</a:t>
              </a:r>
              <a:br>
                <a:rPr sz="900"/>
              </a:br>
              <a:r>
                <a:rPr sz="900"/>
                <a:t>Network (FFN)</a:t>
              </a:r>
            </a:p>
          </p:txBody>
        </p:sp>
        <p:cxnSp>
          <p:nvCxnSpPr>
            <p:cNvPr id="33" name="Connector 32"/>
            <p:cNvCxnSpPr/>
            <p:nvPr/>
          </p:nvCxnSpPr>
          <p:spPr>
            <a:xfrm flipV="1">
              <a:off x="2030308" y="1438403"/>
              <a:ext cx="0" cy="192024"/>
            </a:xfrm>
            <a:prstGeom prst="line">
              <a:avLst/>
            </a:prstGeom>
            <a:ln w="25400">
              <a:solidFill>
                <a:srgbClr val="F59E0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Isosceles Triangle 33"/>
            <p:cNvSpPr/>
            <p:nvPr/>
          </p:nvSpPr>
          <p:spPr>
            <a:xfrm>
              <a:off x="1975444" y="1369823"/>
              <a:ext cx="109728" cy="96012"/>
            </a:xfrm>
            <a:prstGeom prst="triangle">
              <a:avLst/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</p:grpSp>
      <p:cxnSp>
        <p:nvCxnSpPr>
          <p:cNvPr id="36" name="Connector 35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1524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6" name="Group 65">
            <a:extLst>
              <a:ext uri="{FF2B5EF4-FFF2-40B4-BE49-F238E27FC236}">
                <a16:creationId xmlns:a16="http://schemas.microsoft.com/office/drawing/2014/main" id="{D40D3B26-BDD3-EA6B-D59B-C97E3BF98C84}"/>
              </a:ext>
            </a:extLst>
          </p:cNvPr>
          <p:cNvGrpSpPr/>
          <p:nvPr/>
        </p:nvGrpSpPr>
        <p:grpSpPr>
          <a:xfrm>
            <a:off x="519433" y="615443"/>
            <a:ext cx="2813895" cy="740664"/>
            <a:chOff x="519433" y="615443"/>
            <a:chExt cx="2813895" cy="740664"/>
          </a:xfrm>
        </p:grpSpPr>
        <p:sp>
          <p:nvSpPr>
            <p:cNvPr id="7" name="TextBox 6"/>
            <p:cNvSpPr txBox="1"/>
            <p:nvPr/>
          </p:nvSpPr>
          <p:spPr>
            <a:xfrm>
              <a:off x="519433" y="766314"/>
              <a:ext cx="171450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94A3B8"/>
                  </a:solidFill>
                  <a:latin typeface="Segoe UI"/>
                </a:defRPr>
              </a:pPr>
              <a:r>
                <a:rPr sz="825" dirty="0"/>
                <a:t>DECODER BLOCK  ×N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727288" y="1026923"/>
              <a:ext cx="2606040" cy="329184"/>
            </a:xfrm>
            <a:prstGeom prst="roundRect">
              <a:avLst>
                <a:gd name="adj" fmla="val 8000"/>
              </a:avLst>
            </a:prstGeom>
            <a:solidFill>
              <a:srgbClr val="1E293B"/>
            </a:solidFill>
            <a:ln w="19050">
              <a:solidFill>
                <a:srgbClr val="14B8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000" b="1">
                  <a:solidFill>
                    <a:srgbClr val="14B8A6"/>
                  </a:solidFill>
                  <a:latin typeface="Segoe UI"/>
                </a:defRPr>
              </a:pPr>
              <a:r>
                <a:rPr sz="750" dirty="0"/>
                <a:t>Add &amp; Layer Normalize</a:t>
              </a:r>
            </a:p>
          </p:txBody>
        </p:sp>
        <p:cxnSp>
          <p:nvCxnSpPr>
            <p:cNvPr id="39" name="Connector 38"/>
            <p:cNvCxnSpPr/>
            <p:nvPr/>
          </p:nvCxnSpPr>
          <p:spPr>
            <a:xfrm flipV="1">
              <a:off x="2030308" y="834899"/>
              <a:ext cx="0" cy="192024"/>
            </a:xfrm>
            <a:prstGeom prst="line">
              <a:avLst/>
            </a:prstGeom>
            <a:ln w="25400">
              <a:solidFill>
                <a:srgbClr val="94A3B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Isosceles Triangle 39"/>
            <p:cNvSpPr/>
            <p:nvPr/>
          </p:nvSpPr>
          <p:spPr>
            <a:xfrm>
              <a:off x="1975444" y="766319"/>
              <a:ext cx="109728" cy="96012"/>
            </a:xfrm>
            <a:prstGeom prst="triangle">
              <a:avLst/>
            </a:prstGeom>
            <a:solidFill>
              <a:srgbClr val="94A3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933028" y="615443"/>
              <a:ext cx="21945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94A3B8"/>
                  </a:solidFill>
                  <a:latin typeface="Segoe UI"/>
                </a:defRPr>
              </a:pPr>
              <a:r>
                <a:rPr sz="750" dirty="0"/>
                <a:t>To Linear + </a:t>
              </a:r>
              <a:r>
                <a:rPr sz="750" dirty="0" err="1"/>
                <a:t>Softmax</a:t>
              </a:r>
              <a:r>
                <a:rPr sz="750" dirty="0"/>
                <a:t> → Next Token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BCB4594E-26E9-9AD8-66BB-23C84535B382}"/>
              </a:ext>
            </a:extLst>
          </p:cNvPr>
          <p:cNvGrpSpPr/>
          <p:nvPr/>
        </p:nvGrpSpPr>
        <p:grpSpPr>
          <a:xfrm>
            <a:off x="4526280" y="986369"/>
            <a:ext cx="4320540" cy="3903123"/>
            <a:chOff x="4526280" y="986369"/>
            <a:chExt cx="4320540" cy="3903123"/>
          </a:xfrm>
        </p:grpSpPr>
        <p:sp>
          <p:nvSpPr>
            <p:cNvPr id="42" name="Rounded Rectangle 41"/>
            <p:cNvSpPr/>
            <p:nvPr/>
          </p:nvSpPr>
          <p:spPr>
            <a:xfrm>
              <a:off x="4526280" y="986369"/>
              <a:ext cx="4320540" cy="994410"/>
            </a:xfrm>
            <a:prstGeom prst="roundRect">
              <a:avLst>
                <a:gd name="adj" fmla="val 4000"/>
              </a:avLst>
            </a:prstGeom>
            <a:solidFill>
              <a:srgbClr val="1E293B"/>
            </a:solidFill>
            <a:ln w="19050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4526280" y="1041233"/>
              <a:ext cx="41148" cy="891540"/>
            </a:xfrm>
            <a:prstGeom prst="rect">
              <a:avLst/>
            </a:prstGeom>
            <a:solidFill>
              <a:srgbClr val="EF444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4677156" y="1041233"/>
              <a:ext cx="4114800" cy="2423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300" b="1">
                  <a:solidFill>
                    <a:srgbClr val="EF4444"/>
                  </a:solidFill>
                  <a:latin typeface="Segoe UI"/>
                </a:defRPr>
              </a:pPr>
              <a:r>
                <a:rPr sz="975"/>
                <a:t>🔴 Sub-Layer 1: Masked Multi-Head Self-Attention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677156" y="1274405"/>
              <a:ext cx="4046220" cy="7155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300"/>
                </a:spcAft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/>
                <a:t>• Output tokens attend to each other, BUT only to PAST tokens</a:t>
              </a:r>
            </a:p>
            <a:p>
              <a:pPr>
                <a:spcAft>
                  <a:spcPts val="300"/>
                </a:spcAft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/>
                <a:t>• Future positions are MASKED (set to −∞ before softmax)</a:t>
              </a:r>
            </a:p>
            <a:p>
              <a:pPr>
                <a:spcAft>
                  <a:spcPts val="300"/>
                </a:spcAft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/>
                <a:t>• Prevents cheating — model can't peek at the answer</a:t>
              </a:r>
            </a:p>
            <a:p>
              <a:pPr>
                <a:spcAft>
                  <a:spcPts val="300"/>
                </a:spcAft>
                <a:defRPr sz="1100" b="0">
                  <a:solidFill>
                    <a:srgbClr val="EF4444"/>
                  </a:solidFill>
                  <a:latin typeface="Segoe UI"/>
                </a:defRPr>
              </a:pPr>
              <a:r>
                <a:rPr sz="825"/>
                <a:t>• "I am a ___" → "a" can see "I" and "am", but NOT "___"</a:t>
              </a:r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4526280" y="2110741"/>
              <a:ext cx="4320540" cy="1062990"/>
            </a:xfrm>
            <a:prstGeom prst="roundRect">
              <a:avLst>
                <a:gd name="adj" fmla="val 4000"/>
              </a:avLst>
            </a:prstGeom>
            <a:solidFill>
              <a:srgbClr val="1E293B"/>
            </a:solidFill>
            <a:ln w="19050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4526280" y="2165605"/>
              <a:ext cx="41148" cy="96012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4677156" y="2165605"/>
              <a:ext cx="4114800" cy="2423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300" b="1">
                  <a:solidFill>
                    <a:srgbClr val="F59E0B"/>
                  </a:solidFill>
                  <a:latin typeface="Segoe UI"/>
                </a:defRPr>
              </a:pPr>
              <a:r>
                <a:rPr sz="975"/>
                <a:t>🟠 Sub-Layer 2: Cross-Attention (Encoder-Decoder)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4677156" y="2398777"/>
              <a:ext cx="4046220" cy="7155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300"/>
                </a:spcAft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/>
                <a:t>• Queries (Q) come from the DECODER (previous sub-layer)</a:t>
              </a:r>
            </a:p>
            <a:p>
              <a:pPr>
                <a:spcAft>
                  <a:spcPts val="300"/>
                </a:spcAft>
                <a:defRPr sz="1100" b="1">
                  <a:solidFill>
                    <a:srgbClr val="3B82F6"/>
                  </a:solidFill>
                  <a:latin typeface="Segoe UI"/>
                </a:defRPr>
              </a:pPr>
              <a:r>
                <a:rPr sz="825"/>
                <a:t>• Keys (K) and Values (V) come from the ENCODER output</a:t>
              </a:r>
            </a:p>
            <a:p>
              <a:pPr>
                <a:spcAft>
                  <a:spcPts val="300"/>
                </a:spcAft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/>
                <a:t>• This is HOW the decoder reads the source sentence</a:t>
              </a:r>
            </a:p>
            <a:p>
              <a:pPr>
                <a:spcAft>
                  <a:spcPts val="300"/>
                </a:spcAft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/>
                <a:t>• Like a student (decoder) asking questions about a textbook (encoder)</a:t>
              </a:r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4526280" y="3296924"/>
              <a:ext cx="4320540" cy="651510"/>
            </a:xfrm>
            <a:prstGeom prst="roundRect">
              <a:avLst>
                <a:gd name="adj" fmla="val 4000"/>
              </a:avLst>
            </a:prstGeom>
            <a:solidFill>
              <a:srgbClr val="1E293B"/>
            </a:solidFill>
            <a:ln w="19050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4526280" y="3351788"/>
              <a:ext cx="41148" cy="54864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4677156" y="3351788"/>
              <a:ext cx="4114800" cy="2423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300" b="1">
                  <a:solidFill>
                    <a:srgbClr val="F59E0B"/>
                  </a:solidFill>
                  <a:latin typeface="Segoe UI"/>
                </a:defRPr>
              </a:pPr>
              <a:r>
                <a:rPr sz="975"/>
                <a:t>🟠 Sub-Layer 3: Feed-Forward Network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4677156" y="3584960"/>
              <a:ext cx="4046220" cy="3847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300"/>
                </a:spcAft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/>
                <a:t>• Identical to encoder FFN: two linear layers + ReLU</a:t>
              </a:r>
            </a:p>
            <a:p>
              <a:pPr>
                <a:spcAft>
                  <a:spcPts val="300"/>
                </a:spcAft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/>
                <a:t>• Independent processing per position, 512 → 2048 → 512</a:t>
              </a:r>
            </a:p>
          </p:txBody>
        </p:sp>
        <p:sp>
          <p:nvSpPr>
            <p:cNvPr id="54" name="Rounded Rectangle 53"/>
            <p:cNvSpPr/>
            <p:nvPr/>
          </p:nvSpPr>
          <p:spPr>
            <a:xfrm>
              <a:off x="4526280" y="4051304"/>
              <a:ext cx="4320540" cy="788670"/>
            </a:xfrm>
            <a:prstGeom prst="roundRect">
              <a:avLst>
                <a:gd name="adj" fmla="val 4000"/>
              </a:avLst>
            </a:prstGeom>
            <a:solidFill>
              <a:srgbClr val="162033"/>
            </a:solidFill>
            <a:ln w="19050">
              <a:solidFill>
                <a:srgbClr val="A78BF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4677156" y="4106168"/>
              <a:ext cx="4114800" cy="2423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300" b="1">
                  <a:solidFill>
                    <a:srgbClr val="A78BFA"/>
                  </a:solidFill>
                  <a:latin typeface="Segoe UI"/>
                </a:defRPr>
              </a:pPr>
              <a:r>
                <a:rPr sz="975"/>
                <a:t>🔀 Encoder vs Decoder – Key Difference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4677156" y="4339341"/>
              <a:ext cx="4046220" cy="5501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300"/>
                </a:spcAft>
                <a:defRPr sz="1100" b="1">
                  <a:solidFill>
                    <a:srgbClr val="3B82F6"/>
                  </a:solidFill>
                  <a:latin typeface="Segoe UI"/>
                </a:defRPr>
              </a:pPr>
              <a:r>
                <a:rPr sz="825"/>
                <a:t>Encoder:  2 sub-layers  •  bidirectional  •  sees full input</a:t>
              </a:r>
            </a:p>
            <a:p>
              <a:pPr>
                <a:spcAft>
                  <a:spcPts val="300"/>
                </a:spcAft>
                <a:defRPr sz="1100" b="1">
                  <a:solidFill>
                    <a:srgbClr val="EC4899"/>
                  </a:solidFill>
                  <a:latin typeface="Segoe UI"/>
                </a:defRPr>
              </a:pPr>
              <a:r>
                <a:rPr sz="825"/>
                <a:t>Decoder:  3 sub-layers  •  causal (left-to-right)  •  masked</a:t>
              </a:r>
            </a:p>
            <a:p>
              <a:pPr>
                <a:spcAft>
                  <a:spcPts val="300"/>
                </a:spcAft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/>
                <a:t>The decoder has one EXTRA sub-layer: cross-attention.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>
            <a:extLst>
              <a:ext uri="{FF2B5EF4-FFF2-40B4-BE49-F238E27FC236}">
                <a16:creationId xmlns:a16="http://schemas.microsoft.com/office/drawing/2014/main" id="{CCA4E279-DED5-DB3E-7D57-656CC97D6C80}"/>
              </a:ext>
            </a:extLst>
          </p:cNvPr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4" name="TextBox 3"/>
          <p:cNvSpPr txBox="1"/>
          <p:nvPr/>
        </p:nvSpPr>
        <p:spPr>
          <a:xfrm>
            <a:off x="411480" y="7202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sz="2400" dirty="0"/>
              <a:t>Masked Attention &amp; Cross-Attention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4392"/>
            <a:ext cx="75438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rPr sz="1050"/>
              <a:t>Two mechanisms that make the decoder fundamentally different from the encoder.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221FBFCD-1AA4-A028-624C-16D23E59FF49}"/>
              </a:ext>
            </a:extLst>
          </p:cNvPr>
          <p:cNvGrpSpPr/>
          <p:nvPr/>
        </p:nvGrpSpPr>
        <p:grpSpPr>
          <a:xfrm>
            <a:off x="342900" y="701373"/>
            <a:ext cx="4114800" cy="3889301"/>
            <a:chOff x="342900" y="701373"/>
            <a:chExt cx="4114800" cy="3889301"/>
          </a:xfrm>
        </p:grpSpPr>
        <p:sp>
          <p:nvSpPr>
            <p:cNvPr id="6" name="TextBox 5"/>
            <p:cNvSpPr txBox="1"/>
            <p:nvPr/>
          </p:nvSpPr>
          <p:spPr>
            <a:xfrm>
              <a:off x="342900" y="701373"/>
              <a:ext cx="41148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600" b="1">
                  <a:solidFill>
                    <a:srgbClr val="EF4444"/>
                  </a:solidFill>
                  <a:latin typeface="Segoe UI"/>
                </a:defRPr>
              </a:pPr>
              <a:r>
                <a:rPr sz="1200" dirty="0"/>
                <a:t>🔒 Masked Self-Attention – No Peeking!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749638" y="1027595"/>
              <a:ext cx="575733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94A3B8"/>
                  </a:solidFill>
                  <a:latin typeface="Consolas"/>
                </a:defRPr>
              </a:pPr>
              <a:r>
                <a:rPr sz="750" dirty="0"/>
                <a:t>Keys →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029548" y="1184915"/>
              <a:ext cx="48006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100" b="1">
                  <a:solidFill>
                    <a:srgbClr val="B0B8C8"/>
                  </a:solidFill>
                  <a:latin typeface="Consolas"/>
                </a:defRPr>
              </a:pPr>
              <a:r>
                <a:rPr sz="825"/>
                <a:t>I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509608" y="1184915"/>
              <a:ext cx="48006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100" b="1">
                  <a:solidFill>
                    <a:srgbClr val="B0B8C8"/>
                  </a:solidFill>
                  <a:latin typeface="Consolas"/>
                </a:defRPr>
              </a:pPr>
              <a:r>
                <a:rPr sz="825"/>
                <a:t>love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989668" y="1184915"/>
              <a:ext cx="48006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100" b="1">
                  <a:solidFill>
                    <a:srgbClr val="B0B8C8"/>
                  </a:solidFill>
                  <a:latin typeface="Consolas"/>
                </a:defRPr>
              </a:pPr>
              <a:r>
                <a:rPr sz="825"/>
                <a:t>cats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469728" y="1184915"/>
              <a:ext cx="48006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100" b="1">
                  <a:solidFill>
                    <a:srgbClr val="B0B8C8"/>
                  </a:solidFill>
                  <a:latin typeface="Consolas"/>
                </a:defRPr>
              </a:pPr>
              <a:r>
                <a:rPr sz="825"/>
                <a:t>&lt;eos&gt;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46618" y="1335790"/>
              <a:ext cx="582930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94A3B8"/>
                  </a:solidFill>
                  <a:latin typeface="Consolas"/>
                </a:defRPr>
              </a:pPr>
              <a:r>
                <a:rPr sz="750" dirty="0"/>
                <a:t>Queries ↓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49488" y="1493525"/>
              <a:ext cx="41148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defRPr sz="1100" b="1">
                  <a:solidFill>
                    <a:srgbClr val="B0B8C8"/>
                  </a:solidFill>
                  <a:latin typeface="Consolas"/>
                </a:defRPr>
              </a:pPr>
              <a:r>
                <a:rPr sz="825"/>
                <a:t>I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49488" y="1973585"/>
              <a:ext cx="41148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defRPr sz="1100" b="1">
                  <a:solidFill>
                    <a:srgbClr val="B0B8C8"/>
                  </a:solidFill>
                  <a:latin typeface="Consolas"/>
                </a:defRPr>
              </a:pPr>
              <a:r>
                <a:rPr sz="825"/>
                <a:t>love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49488" y="2453645"/>
              <a:ext cx="41148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defRPr sz="1100" b="1">
                  <a:solidFill>
                    <a:srgbClr val="B0B8C8"/>
                  </a:solidFill>
                  <a:latin typeface="Consolas"/>
                </a:defRPr>
              </a:pPr>
              <a:r>
                <a:rPr sz="825"/>
                <a:t>cats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49488" y="2933705"/>
              <a:ext cx="411480" cy="3462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defRPr sz="1100" b="1">
                  <a:solidFill>
                    <a:srgbClr val="B0B8C8"/>
                  </a:solidFill>
                  <a:latin typeface="Consolas"/>
                </a:defRPr>
              </a:pPr>
              <a:r>
                <a:rPr sz="825"/>
                <a:t>&lt;eos&gt;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1029548" y="1390654"/>
              <a:ext cx="480060" cy="480060"/>
            </a:xfrm>
            <a:prstGeom prst="roundRect">
              <a:avLst>
                <a:gd name="adj" fmla="val 6000"/>
              </a:avLst>
            </a:prstGeom>
            <a:solidFill>
              <a:srgbClr val="153A25"/>
            </a:solidFill>
            <a:ln w="19050">
              <a:solidFill>
                <a:srgbClr val="22C55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029548" y="1493525"/>
              <a:ext cx="48006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600" b="1">
                  <a:solidFill>
                    <a:srgbClr val="22C55E"/>
                  </a:solidFill>
                  <a:latin typeface="Segoe UI"/>
                </a:defRPr>
              </a:pPr>
              <a:r>
                <a:rPr sz="1200"/>
                <a:t>✓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1509608" y="1390654"/>
              <a:ext cx="480060" cy="480060"/>
            </a:xfrm>
            <a:prstGeom prst="roundRect">
              <a:avLst>
                <a:gd name="adj" fmla="val 6000"/>
              </a:avLst>
            </a:prstGeom>
            <a:solidFill>
              <a:srgbClr val="3A1515"/>
            </a:solidFill>
            <a:ln w="19050">
              <a:solidFill>
                <a:srgbClr val="EF444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509608" y="1493525"/>
              <a:ext cx="48006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600" b="1">
                  <a:solidFill>
                    <a:srgbClr val="EF4444"/>
                  </a:solidFill>
                  <a:latin typeface="Segoe UI"/>
                </a:defRPr>
              </a:pPr>
              <a:r>
                <a:rPr sz="1200"/>
                <a:t>−∞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1989668" y="1390654"/>
              <a:ext cx="480060" cy="480060"/>
            </a:xfrm>
            <a:prstGeom prst="roundRect">
              <a:avLst>
                <a:gd name="adj" fmla="val 6000"/>
              </a:avLst>
            </a:prstGeom>
            <a:solidFill>
              <a:srgbClr val="3A1515"/>
            </a:solidFill>
            <a:ln w="19050">
              <a:solidFill>
                <a:srgbClr val="EF444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989668" y="1493525"/>
              <a:ext cx="48006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600" b="1">
                  <a:solidFill>
                    <a:srgbClr val="EF4444"/>
                  </a:solidFill>
                  <a:latin typeface="Segoe UI"/>
                </a:defRPr>
              </a:pPr>
              <a:r>
                <a:rPr sz="1200"/>
                <a:t>−∞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2469728" y="1390654"/>
              <a:ext cx="480060" cy="480060"/>
            </a:xfrm>
            <a:prstGeom prst="roundRect">
              <a:avLst>
                <a:gd name="adj" fmla="val 6000"/>
              </a:avLst>
            </a:prstGeom>
            <a:solidFill>
              <a:srgbClr val="3A1515"/>
            </a:solidFill>
            <a:ln w="19050">
              <a:solidFill>
                <a:srgbClr val="EF444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469728" y="1493525"/>
              <a:ext cx="48006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600" b="1">
                  <a:solidFill>
                    <a:srgbClr val="EF4444"/>
                  </a:solidFill>
                  <a:latin typeface="Segoe UI"/>
                </a:defRPr>
              </a:pPr>
              <a:r>
                <a:rPr sz="1200"/>
                <a:t>−∞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1029548" y="1870714"/>
              <a:ext cx="480060" cy="480060"/>
            </a:xfrm>
            <a:prstGeom prst="roundRect">
              <a:avLst>
                <a:gd name="adj" fmla="val 6000"/>
              </a:avLst>
            </a:prstGeom>
            <a:solidFill>
              <a:srgbClr val="153A25"/>
            </a:solidFill>
            <a:ln w="19050">
              <a:solidFill>
                <a:srgbClr val="22C55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029548" y="1973585"/>
              <a:ext cx="48006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600" b="1">
                  <a:solidFill>
                    <a:srgbClr val="22C55E"/>
                  </a:solidFill>
                  <a:latin typeface="Segoe UI"/>
                </a:defRPr>
              </a:pPr>
              <a:r>
                <a:rPr sz="1200"/>
                <a:t>✓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1509608" y="1870714"/>
              <a:ext cx="480060" cy="480060"/>
            </a:xfrm>
            <a:prstGeom prst="roundRect">
              <a:avLst>
                <a:gd name="adj" fmla="val 6000"/>
              </a:avLst>
            </a:prstGeom>
            <a:solidFill>
              <a:srgbClr val="153A25"/>
            </a:solidFill>
            <a:ln w="19050">
              <a:solidFill>
                <a:srgbClr val="22C55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509608" y="1973585"/>
              <a:ext cx="48006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600" b="1">
                  <a:solidFill>
                    <a:srgbClr val="22C55E"/>
                  </a:solidFill>
                  <a:latin typeface="Segoe UI"/>
                </a:defRPr>
              </a:pPr>
              <a:r>
                <a:rPr sz="1200"/>
                <a:t>✓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1989668" y="1870714"/>
              <a:ext cx="480060" cy="480060"/>
            </a:xfrm>
            <a:prstGeom prst="roundRect">
              <a:avLst>
                <a:gd name="adj" fmla="val 6000"/>
              </a:avLst>
            </a:prstGeom>
            <a:solidFill>
              <a:srgbClr val="3A1515"/>
            </a:solidFill>
            <a:ln w="19050">
              <a:solidFill>
                <a:srgbClr val="EF444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989668" y="1973585"/>
              <a:ext cx="48006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600" b="1">
                  <a:solidFill>
                    <a:srgbClr val="EF4444"/>
                  </a:solidFill>
                  <a:latin typeface="Segoe UI"/>
                </a:defRPr>
              </a:pPr>
              <a:r>
                <a:rPr sz="1200"/>
                <a:t>−∞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2469728" y="1870714"/>
              <a:ext cx="480060" cy="480060"/>
            </a:xfrm>
            <a:prstGeom prst="roundRect">
              <a:avLst>
                <a:gd name="adj" fmla="val 6000"/>
              </a:avLst>
            </a:prstGeom>
            <a:solidFill>
              <a:srgbClr val="3A1515"/>
            </a:solidFill>
            <a:ln w="19050">
              <a:solidFill>
                <a:srgbClr val="EF444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2469728" y="1973585"/>
              <a:ext cx="48006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600" b="1">
                  <a:solidFill>
                    <a:srgbClr val="EF4444"/>
                  </a:solidFill>
                  <a:latin typeface="Segoe UI"/>
                </a:defRPr>
              </a:pPr>
              <a:r>
                <a:rPr sz="1200"/>
                <a:t>−∞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1029548" y="2350774"/>
              <a:ext cx="480060" cy="480060"/>
            </a:xfrm>
            <a:prstGeom prst="roundRect">
              <a:avLst>
                <a:gd name="adj" fmla="val 6000"/>
              </a:avLst>
            </a:prstGeom>
            <a:solidFill>
              <a:srgbClr val="153A25"/>
            </a:solidFill>
            <a:ln w="19050">
              <a:solidFill>
                <a:srgbClr val="22C55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029548" y="2453645"/>
              <a:ext cx="48006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600" b="1">
                  <a:solidFill>
                    <a:srgbClr val="22C55E"/>
                  </a:solidFill>
                  <a:latin typeface="Segoe UI"/>
                </a:defRPr>
              </a:pPr>
              <a:r>
                <a:rPr sz="1200"/>
                <a:t>✓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1509608" y="2350774"/>
              <a:ext cx="480060" cy="480060"/>
            </a:xfrm>
            <a:prstGeom prst="roundRect">
              <a:avLst>
                <a:gd name="adj" fmla="val 6000"/>
              </a:avLst>
            </a:prstGeom>
            <a:solidFill>
              <a:srgbClr val="153A25"/>
            </a:solidFill>
            <a:ln w="19050">
              <a:solidFill>
                <a:srgbClr val="22C55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509608" y="2453645"/>
              <a:ext cx="48006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600" b="1">
                  <a:solidFill>
                    <a:srgbClr val="22C55E"/>
                  </a:solidFill>
                  <a:latin typeface="Segoe UI"/>
                </a:defRPr>
              </a:pPr>
              <a:r>
                <a:rPr sz="1200"/>
                <a:t>✓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1989668" y="2350774"/>
              <a:ext cx="480060" cy="480060"/>
            </a:xfrm>
            <a:prstGeom prst="roundRect">
              <a:avLst>
                <a:gd name="adj" fmla="val 6000"/>
              </a:avLst>
            </a:prstGeom>
            <a:solidFill>
              <a:srgbClr val="153A25"/>
            </a:solidFill>
            <a:ln w="19050">
              <a:solidFill>
                <a:srgbClr val="22C55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989668" y="2453645"/>
              <a:ext cx="48006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600" b="1">
                  <a:solidFill>
                    <a:srgbClr val="22C55E"/>
                  </a:solidFill>
                  <a:latin typeface="Segoe UI"/>
                </a:defRPr>
              </a:pPr>
              <a:r>
                <a:rPr sz="1200"/>
                <a:t>✓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2469728" y="2350774"/>
              <a:ext cx="480060" cy="480060"/>
            </a:xfrm>
            <a:prstGeom prst="roundRect">
              <a:avLst>
                <a:gd name="adj" fmla="val 6000"/>
              </a:avLst>
            </a:prstGeom>
            <a:solidFill>
              <a:srgbClr val="3A1515"/>
            </a:solidFill>
            <a:ln w="19050">
              <a:solidFill>
                <a:srgbClr val="EF444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2469728" y="2453645"/>
              <a:ext cx="48006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600" b="1">
                  <a:solidFill>
                    <a:srgbClr val="EF4444"/>
                  </a:solidFill>
                  <a:latin typeface="Segoe UI"/>
                </a:defRPr>
              </a:pPr>
              <a:r>
                <a:rPr sz="1200"/>
                <a:t>−∞</a:t>
              </a: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1029548" y="2830834"/>
              <a:ext cx="480060" cy="480060"/>
            </a:xfrm>
            <a:prstGeom prst="roundRect">
              <a:avLst>
                <a:gd name="adj" fmla="val 6000"/>
              </a:avLst>
            </a:prstGeom>
            <a:solidFill>
              <a:srgbClr val="153A25"/>
            </a:solidFill>
            <a:ln w="19050">
              <a:solidFill>
                <a:srgbClr val="22C55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029548" y="2933705"/>
              <a:ext cx="48006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600" b="1">
                  <a:solidFill>
                    <a:srgbClr val="22C55E"/>
                  </a:solidFill>
                  <a:latin typeface="Segoe UI"/>
                </a:defRPr>
              </a:pPr>
              <a:r>
                <a:rPr sz="1200"/>
                <a:t>✓</a:t>
              </a: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1509608" y="2830834"/>
              <a:ext cx="480060" cy="480060"/>
            </a:xfrm>
            <a:prstGeom prst="roundRect">
              <a:avLst>
                <a:gd name="adj" fmla="val 6000"/>
              </a:avLst>
            </a:prstGeom>
            <a:solidFill>
              <a:srgbClr val="153A25"/>
            </a:solidFill>
            <a:ln w="19050">
              <a:solidFill>
                <a:srgbClr val="22C55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1509608" y="2933705"/>
              <a:ext cx="48006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600" b="1">
                  <a:solidFill>
                    <a:srgbClr val="22C55E"/>
                  </a:solidFill>
                  <a:latin typeface="Segoe UI"/>
                </a:defRPr>
              </a:pPr>
              <a:r>
                <a:rPr sz="1200"/>
                <a:t>✓</a:t>
              </a: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1989668" y="2830834"/>
              <a:ext cx="480060" cy="480060"/>
            </a:xfrm>
            <a:prstGeom prst="roundRect">
              <a:avLst>
                <a:gd name="adj" fmla="val 6000"/>
              </a:avLst>
            </a:prstGeom>
            <a:solidFill>
              <a:srgbClr val="153A25"/>
            </a:solidFill>
            <a:ln w="19050">
              <a:solidFill>
                <a:srgbClr val="22C55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1989668" y="2933705"/>
              <a:ext cx="48006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600" b="1">
                  <a:solidFill>
                    <a:srgbClr val="22C55E"/>
                  </a:solidFill>
                  <a:latin typeface="Segoe UI"/>
                </a:defRPr>
              </a:pPr>
              <a:r>
                <a:rPr sz="1200"/>
                <a:t>✓</a:t>
              </a:r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2469728" y="2830834"/>
              <a:ext cx="480060" cy="480060"/>
            </a:xfrm>
            <a:prstGeom prst="roundRect">
              <a:avLst>
                <a:gd name="adj" fmla="val 6000"/>
              </a:avLst>
            </a:prstGeom>
            <a:solidFill>
              <a:srgbClr val="153A25"/>
            </a:solidFill>
            <a:ln w="19050">
              <a:solidFill>
                <a:srgbClr val="22C55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469728" y="2933705"/>
              <a:ext cx="48006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600" b="1">
                  <a:solidFill>
                    <a:srgbClr val="22C55E"/>
                  </a:solidFill>
                  <a:latin typeface="Segoe UI"/>
                </a:defRPr>
              </a:pPr>
              <a:r>
                <a:rPr sz="1200"/>
                <a:t>✓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411480" y="3448054"/>
              <a:ext cx="3977640" cy="11426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300"/>
                </a:spcAft>
                <a:defRPr sz="1000" b="0">
                  <a:solidFill>
                    <a:srgbClr val="94A3B8"/>
                  </a:solidFill>
                  <a:latin typeface="Segoe UI"/>
                </a:defRPr>
              </a:pPr>
              <a:r>
                <a:rPr sz="750" dirty="0"/>
                <a:t>✓ = Can attend    −∞ = Masked (becomes 0 after </a:t>
              </a:r>
              <a:r>
                <a:rPr sz="750" dirty="0" err="1"/>
                <a:t>softmax</a:t>
              </a:r>
              <a:r>
                <a:rPr sz="750" dirty="0"/>
                <a:t>)</a:t>
              </a:r>
            </a:p>
            <a:p>
              <a:pPr>
                <a:spcAft>
                  <a:spcPts val="300"/>
                </a:spcAft>
                <a:defRPr sz="500" b="0">
                  <a:solidFill>
                    <a:srgbClr val="94A3B8"/>
                  </a:solidFill>
                  <a:latin typeface="Segoe UI"/>
                </a:defRPr>
              </a:pPr>
              <a:endParaRPr sz="375" dirty="0"/>
            </a:p>
            <a:p>
              <a:pPr>
                <a:spcAft>
                  <a:spcPts val="300"/>
                </a:spcAft>
                <a:defRPr sz="1200" b="1">
                  <a:solidFill>
                    <a:srgbClr val="FFFFFF"/>
                  </a:solidFill>
                  <a:latin typeface="Segoe UI"/>
                </a:defRPr>
              </a:pPr>
              <a:r>
                <a:rPr sz="900" dirty="0"/>
                <a:t>How it works:</a:t>
              </a:r>
            </a:p>
            <a:p>
              <a:pPr>
                <a:spcAft>
                  <a:spcPts val="300"/>
                </a:spcAft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 dirty="0"/>
                <a:t>1. Compute attention scores normally (Q × Kᵀ)</a:t>
              </a:r>
            </a:p>
            <a:p>
              <a:pPr>
                <a:spcAft>
                  <a:spcPts val="300"/>
                </a:spcAft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 dirty="0"/>
                <a:t>2. Add a mask: set future positions to −∞</a:t>
              </a:r>
            </a:p>
            <a:p>
              <a:pPr>
                <a:spcAft>
                  <a:spcPts val="300"/>
                </a:spcAft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 dirty="0"/>
                <a:t>3. Apply </a:t>
              </a:r>
              <a:r>
                <a:rPr sz="825" dirty="0" err="1"/>
                <a:t>softmax</a:t>
              </a:r>
              <a:r>
                <a:rPr sz="825" dirty="0"/>
                <a:t> → future positions become 0</a:t>
              </a:r>
            </a:p>
            <a:p>
              <a:pPr>
                <a:spcAft>
                  <a:spcPts val="300"/>
                </a:spcAft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 dirty="0"/>
                <a:t>4. Result: each token only attends to past tokens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89F18CF2-4C38-2563-4355-7AB6023FD0D1}"/>
              </a:ext>
            </a:extLst>
          </p:cNvPr>
          <p:cNvGrpSpPr/>
          <p:nvPr/>
        </p:nvGrpSpPr>
        <p:grpSpPr>
          <a:xfrm>
            <a:off x="99907" y="4604180"/>
            <a:ext cx="3977640" cy="445770"/>
            <a:chOff x="99907" y="4604180"/>
            <a:chExt cx="3977640" cy="445770"/>
          </a:xfrm>
        </p:grpSpPr>
        <p:sp>
          <p:nvSpPr>
            <p:cNvPr id="50" name="Rounded Rectangle 49"/>
            <p:cNvSpPr/>
            <p:nvPr/>
          </p:nvSpPr>
          <p:spPr>
            <a:xfrm>
              <a:off x="99907" y="4604180"/>
              <a:ext cx="3977640" cy="445770"/>
            </a:xfrm>
            <a:prstGeom prst="roundRect">
              <a:avLst>
                <a:gd name="adj" fmla="val 4000"/>
              </a:avLst>
            </a:prstGeom>
            <a:solidFill>
              <a:srgbClr val="162033"/>
            </a:solidFill>
            <a:ln w="19050">
              <a:solidFill>
                <a:srgbClr val="EF444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237067" y="4659044"/>
              <a:ext cx="377190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/>
                <a:t>💡 Like writing an exam — you answer question 3 based only on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237067" y="4823636"/>
              <a:ext cx="377190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 dirty="0"/>
                <a:t>what you've written for questions 1 and 2, not what comes after.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EC4F86C3-E96E-6B1F-BBB7-9AA771B7ECB2}"/>
              </a:ext>
            </a:extLst>
          </p:cNvPr>
          <p:cNvGrpSpPr/>
          <p:nvPr/>
        </p:nvGrpSpPr>
        <p:grpSpPr>
          <a:xfrm>
            <a:off x="4135121" y="756075"/>
            <a:ext cx="4869180" cy="1645919"/>
            <a:chOff x="4135121" y="756075"/>
            <a:chExt cx="4869180" cy="1645919"/>
          </a:xfrm>
        </p:grpSpPr>
        <p:sp>
          <p:nvSpPr>
            <p:cNvPr id="53" name="TextBox 52"/>
            <p:cNvSpPr txBox="1"/>
            <p:nvPr/>
          </p:nvSpPr>
          <p:spPr>
            <a:xfrm>
              <a:off x="4135121" y="756075"/>
              <a:ext cx="418338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600" b="1">
                  <a:solidFill>
                    <a:srgbClr val="F59E0B"/>
                  </a:solidFill>
                  <a:latin typeface="Segoe UI"/>
                </a:defRPr>
              </a:pPr>
              <a:r>
                <a:rPr sz="1200"/>
                <a:t>🌉 Cross-Attention – The Bridge</a:t>
              </a:r>
            </a:p>
          </p:txBody>
        </p:sp>
        <p:sp>
          <p:nvSpPr>
            <p:cNvPr id="54" name="Rounded Rectangle 53"/>
            <p:cNvSpPr/>
            <p:nvPr/>
          </p:nvSpPr>
          <p:spPr>
            <a:xfrm>
              <a:off x="4272281" y="1167554"/>
              <a:ext cx="1508760" cy="1234440"/>
            </a:xfrm>
            <a:prstGeom prst="roundRect">
              <a:avLst>
                <a:gd name="adj" fmla="val 6000"/>
              </a:avLst>
            </a:prstGeom>
            <a:solidFill>
              <a:srgbClr val="1E293B"/>
            </a:solidFill>
            <a:ln w="19050">
              <a:solidFill>
                <a:srgbClr val="3B82F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4375151" y="1270424"/>
              <a:ext cx="1303020" cy="8233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300"/>
                </a:spcAft>
                <a:defRPr sz="1300" b="1">
                  <a:solidFill>
                    <a:srgbClr val="3B82F6"/>
                  </a:solidFill>
                  <a:latin typeface="Segoe UI"/>
                </a:defRPr>
              </a:pPr>
              <a:r>
                <a:rPr sz="975"/>
                <a:t>ENCODER</a:t>
              </a:r>
            </a:p>
            <a:p>
              <a:pPr algn="ctr">
                <a:spcAft>
                  <a:spcPts val="300"/>
                </a:spcAft>
                <a:defRPr sz="1100" b="0">
                  <a:solidFill>
                    <a:srgbClr val="94A3B8"/>
                  </a:solidFill>
                  <a:latin typeface="Segoe UI"/>
                </a:defRPr>
              </a:pPr>
              <a:r>
                <a:rPr sz="825"/>
                <a:t>Output</a:t>
              </a:r>
            </a:p>
            <a:p>
              <a:pPr algn="ctr">
                <a:spcAft>
                  <a:spcPts val="300"/>
                </a:spcAft>
                <a:defRPr sz="600" b="0">
                  <a:solidFill>
                    <a:srgbClr val="94A3B8"/>
                  </a:solidFill>
                  <a:latin typeface="Segoe UI"/>
                </a:defRPr>
              </a:pPr>
              <a:endParaRPr sz="450"/>
            </a:p>
            <a:p>
              <a:pPr algn="ctr">
                <a:spcAft>
                  <a:spcPts val="300"/>
                </a:spcAft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/>
                <a:t>"The cat sat"</a:t>
              </a:r>
            </a:p>
            <a:p>
              <a:pPr algn="ctr">
                <a:spcAft>
                  <a:spcPts val="300"/>
                </a:spcAft>
                <a:defRPr sz="900" b="0">
                  <a:solidFill>
                    <a:srgbClr val="94A3B8"/>
                  </a:solidFill>
                  <a:latin typeface="Segoe UI"/>
                </a:defRPr>
              </a:pPr>
              <a:r>
                <a:rPr sz="675"/>
                <a:t>(source sentence)</a:t>
              </a:r>
            </a:p>
          </p:txBody>
        </p:sp>
        <p:sp>
          <p:nvSpPr>
            <p:cNvPr id="56" name="Rounded Rectangle 55"/>
            <p:cNvSpPr/>
            <p:nvPr/>
          </p:nvSpPr>
          <p:spPr>
            <a:xfrm>
              <a:off x="6123941" y="1304714"/>
              <a:ext cx="1028700" cy="960120"/>
            </a:xfrm>
            <a:prstGeom prst="roundRect">
              <a:avLst>
                <a:gd name="adj" fmla="val 6000"/>
              </a:avLst>
            </a:prstGeom>
            <a:solidFill>
              <a:srgbClr val="162033"/>
            </a:solidFill>
            <a:ln w="19050">
              <a:solidFill>
                <a:srgbClr val="F59E0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6192521" y="1407585"/>
              <a:ext cx="89154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300"/>
                </a:spcAft>
                <a:defRPr sz="1200" b="1">
                  <a:solidFill>
                    <a:srgbClr val="F59E0B"/>
                  </a:solidFill>
                  <a:latin typeface="Segoe UI"/>
                </a:defRPr>
              </a:pPr>
              <a:r>
                <a:rPr sz="900"/>
                <a:t>Cross</a:t>
              </a:r>
            </a:p>
            <a:p>
              <a:pPr algn="ctr">
                <a:spcAft>
                  <a:spcPts val="300"/>
                </a:spcAft>
                <a:defRPr sz="1200" b="1">
                  <a:solidFill>
                    <a:srgbClr val="F59E0B"/>
                  </a:solidFill>
                  <a:latin typeface="Segoe UI"/>
                </a:defRPr>
              </a:pPr>
              <a:r>
                <a:rPr sz="900"/>
                <a:t>Attention</a:t>
              </a:r>
            </a:p>
            <a:p>
              <a:pPr algn="ctr">
                <a:spcAft>
                  <a:spcPts val="300"/>
                </a:spcAft>
                <a:defRPr sz="400" b="0">
                  <a:solidFill>
                    <a:srgbClr val="F59E0B"/>
                  </a:solidFill>
                  <a:latin typeface="Segoe UI"/>
                </a:defRPr>
              </a:pPr>
              <a:endParaRPr sz="300"/>
            </a:p>
            <a:p>
              <a:pPr algn="ctr">
                <a:spcAft>
                  <a:spcPts val="300"/>
                </a:spcAft>
                <a:defRPr sz="1000" b="0">
                  <a:solidFill>
                    <a:srgbClr val="94A3B8"/>
                  </a:solidFill>
                  <a:latin typeface="Segoe UI"/>
                </a:defRPr>
              </a:pPr>
              <a:r>
                <a:rPr sz="750"/>
                <a:t>Q × Kᵀ → V</a:t>
              </a:r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7495541" y="1167554"/>
              <a:ext cx="1508760" cy="1234440"/>
            </a:xfrm>
            <a:prstGeom prst="roundRect">
              <a:avLst>
                <a:gd name="adj" fmla="val 6000"/>
              </a:avLst>
            </a:prstGeom>
            <a:solidFill>
              <a:srgbClr val="1E293B"/>
            </a:solidFill>
            <a:ln w="19050">
              <a:solidFill>
                <a:srgbClr val="EC489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7598411" y="1270424"/>
              <a:ext cx="1303020" cy="8233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300"/>
                </a:spcAft>
                <a:defRPr sz="1300" b="1">
                  <a:solidFill>
                    <a:srgbClr val="EC4899"/>
                  </a:solidFill>
                  <a:latin typeface="Segoe UI"/>
                </a:defRPr>
              </a:pPr>
              <a:r>
                <a:rPr sz="975"/>
                <a:t>DECODER</a:t>
              </a:r>
            </a:p>
            <a:p>
              <a:pPr algn="ctr">
                <a:spcAft>
                  <a:spcPts val="300"/>
                </a:spcAft>
                <a:defRPr sz="1100" b="0">
                  <a:solidFill>
                    <a:srgbClr val="94A3B8"/>
                  </a:solidFill>
                  <a:latin typeface="Segoe UI"/>
                </a:defRPr>
              </a:pPr>
              <a:r>
                <a:rPr sz="825"/>
                <a:t>(so far)</a:t>
              </a:r>
            </a:p>
            <a:p>
              <a:pPr algn="ctr">
                <a:spcAft>
                  <a:spcPts val="300"/>
                </a:spcAft>
                <a:defRPr sz="600" b="0">
                  <a:solidFill>
                    <a:srgbClr val="94A3B8"/>
                  </a:solidFill>
                  <a:latin typeface="Segoe UI"/>
                </a:defRPr>
              </a:pPr>
              <a:endParaRPr sz="450"/>
            </a:p>
            <a:p>
              <a:pPr algn="ctr">
                <a:spcAft>
                  <a:spcPts val="300"/>
                </a:spcAft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/>
                <a:t>"Le chat"</a:t>
              </a:r>
            </a:p>
            <a:p>
              <a:pPr algn="ctr">
                <a:spcAft>
                  <a:spcPts val="300"/>
                </a:spcAft>
                <a:defRPr sz="900" b="0">
                  <a:solidFill>
                    <a:srgbClr val="94A3B8"/>
                  </a:solidFill>
                  <a:latin typeface="Segoe UI"/>
                </a:defRPr>
              </a:pPr>
              <a:r>
                <a:rPr sz="675"/>
                <a:t>(generating…)</a:t>
              </a:r>
            </a:p>
          </p:txBody>
        </p:sp>
        <p:cxnSp>
          <p:nvCxnSpPr>
            <p:cNvPr id="60" name="Connector 59"/>
            <p:cNvCxnSpPr/>
            <p:nvPr/>
          </p:nvCxnSpPr>
          <p:spPr>
            <a:xfrm>
              <a:off x="5781041" y="1579034"/>
              <a:ext cx="342900" cy="0"/>
            </a:xfrm>
            <a:prstGeom prst="line">
              <a:avLst/>
            </a:prstGeom>
            <a:ln w="25400">
              <a:solidFill>
                <a:srgbClr val="3B82F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60"/>
            <p:cNvSpPr txBox="1"/>
            <p:nvPr/>
          </p:nvSpPr>
          <p:spPr>
            <a:xfrm>
              <a:off x="5746751" y="1395421"/>
              <a:ext cx="463549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1">
                  <a:solidFill>
                    <a:srgbClr val="3B82F6"/>
                  </a:solidFill>
                  <a:latin typeface="Consolas"/>
                </a:defRPr>
              </a:pPr>
              <a:r>
                <a:rPr sz="750" dirty="0"/>
                <a:t>K, V</a:t>
              </a:r>
            </a:p>
          </p:txBody>
        </p:sp>
        <p:cxnSp>
          <p:nvCxnSpPr>
            <p:cNvPr id="62" name="Connector 61"/>
            <p:cNvCxnSpPr/>
            <p:nvPr/>
          </p:nvCxnSpPr>
          <p:spPr>
            <a:xfrm flipH="1">
              <a:off x="7152641" y="1990514"/>
              <a:ext cx="342900" cy="0"/>
            </a:xfrm>
            <a:prstGeom prst="line">
              <a:avLst/>
            </a:prstGeom>
            <a:ln w="25400">
              <a:solidFill>
                <a:srgbClr val="EC489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/>
            <p:cNvSpPr txBox="1"/>
            <p:nvPr/>
          </p:nvSpPr>
          <p:spPr>
            <a:xfrm>
              <a:off x="7186931" y="1803824"/>
              <a:ext cx="27432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1">
                  <a:solidFill>
                    <a:srgbClr val="EC4899"/>
                  </a:solidFill>
                  <a:latin typeface="Consolas"/>
                </a:defRPr>
              </a:pPr>
              <a:r>
                <a:rPr sz="750" dirty="0"/>
                <a:t>Q</a:t>
              </a: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760BC4E2-1ADF-F6A1-100C-1AA378C6D592}"/>
              </a:ext>
            </a:extLst>
          </p:cNvPr>
          <p:cNvGrpSpPr/>
          <p:nvPr/>
        </p:nvGrpSpPr>
        <p:grpSpPr>
          <a:xfrm>
            <a:off x="4203701" y="2607734"/>
            <a:ext cx="4046220" cy="1099797"/>
            <a:chOff x="4203701" y="2607734"/>
            <a:chExt cx="4046220" cy="1099797"/>
          </a:xfrm>
        </p:grpSpPr>
        <p:sp>
          <p:nvSpPr>
            <p:cNvPr id="64" name="Rounded Rectangle 63"/>
            <p:cNvSpPr/>
            <p:nvPr/>
          </p:nvSpPr>
          <p:spPr>
            <a:xfrm>
              <a:off x="4203701" y="2607734"/>
              <a:ext cx="4046220" cy="1097280"/>
            </a:xfrm>
            <a:prstGeom prst="roundRect">
              <a:avLst>
                <a:gd name="adj" fmla="val 4000"/>
              </a:avLst>
            </a:prstGeom>
            <a:solidFill>
              <a:srgbClr val="1E293B"/>
            </a:solidFill>
            <a:ln w="19050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4340861" y="2676314"/>
              <a:ext cx="384048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400" b="1">
                  <a:solidFill>
                    <a:srgbClr val="FFFFFF"/>
                  </a:solidFill>
                  <a:latin typeface="Segoe UI"/>
                </a:defRPr>
              </a:pPr>
              <a:r>
                <a:rPr sz="1050"/>
                <a:t>What Flows Where?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4340861" y="2895770"/>
              <a:ext cx="3840480" cy="8117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300"/>
                </a:spcAft>
                <a:defRPr sz="1100" b="1">
                  <a:solidFill>
                    <a:srgbClr val="EC4899"/>
                  </a:solidFill>
                  <a:latin typeface="Segoe UI"/>
                </a:defRPr>
              </a:pPr>
              <a:r>
                <a:rPr sz="825" dirty="0"/>
                <a:t>Q  (Queries)  ← Decoder: "What am I looking for?"</a:t>
              </a:r>
            </a:p>
            <a:p>
              <a:pPr>
                <a:spcAft>
                  <a:spcPts val="300"/>
                </a:spcAft>
                <a:defRPr sz="1100" b="1">
                  <a:solidFill>
                    <a:srgbClr val="3B82F6"/>
                  </a:solidFill>
                  <a:latin typeface="Segoe UI"/>
                </a:defRPr>
              </a:pPr>
              <a:r>
                <a:rPr sz="825" dirty="0"/>
                <a:t>K  (Keys)      ← Encoder: "What information is available?"</a:t>
              </a:r>
            </a:p>
            <a:p>
              <a:pPr>
                <a:spcAft>
                  <a:spcPts val="300"/>
                </a:spcAft>
                <a:defRPr sz="1100" b="1">
                  <a:solidFill>
                    <a:srgbClr val="3B82F6"/>
                  </a:solidFill>
                  <a:latin typeface="Segoe UI"/>
                </a:defRPr>
              </a:pPr>
              <a:r>
                <a:rPr sz="825" dirty="0"/>
                <a:t>V  (Values)   ← Encoder: "Here's the actual content."</a:t>
              </a:r>
            </a:p>
            <a:p>
              <a:pPr>
                <a:spcAft>
                  <a:spcPts val="300"/>
                </a:spcAft>
                <a:defRPr sz="400" b="0">
                  <a:solidFill>
                    <a:srgbClr val="94A3B8"/>
                  </a:solidFill>
                  <a:latin typeface="Segoe UI"/>
                </a:defRPr>
              </a:pPr>
              <a:endParaRPr sz="300" dirty="0"/>
            </a:p>
            <a:p>
              <a:pPr>
                <a:spcAft>
                  <a:spcPts val="300"/>
                </a:spcAft>
                <a:defRPr sz="1200" b="1">
                  <a:solidFill>
                    <a:srgbClr val="FBBF24"/>
                  </a:solidFill>
                  <a:latin typeface="Segoe UI"/>
                </a:defRPr>
              </a:pPr>
              <a:r>
                <a:rPr sz="900" dirty="0"/>
                <a:t>The decoder ASKS questions; the encoder PROVIDES answers.</a:t>
              </a: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C9BCC50A-E7DF-CC03-FD12-1C1C3B97C31A}"/>
              </a:ext>
            </a:extLst>
          </p:cNvPr>
          <p:cNvGrpSpPr/>
          <p:nvPr/>
        </p:nvGrpSpPr>
        <p:grpSpPr>
          <a:xfrm>
            <a:off x="4203701" y="3807884"/>
            <a:ext cx="4046220" cy="1158002"/>
            <a:chOff x="4203701" y="3807884"/>
            <a:chExt cx="4046220" cy="1158002"/>
          </a:xfrm>
        </p:grpSpPr>
        <p:sp>
          <p:nvSpPr>
            <p:cNvPr id="67" name="Rounded Rectangle 66"/>
            <p:cNvSpPr/>
            <p:nvPr/>
          </p:nvSpPr>
          <p:spPr>
            <a:xfrm>
              <a:off x="4203701" y="3807884"/>
              <a:ext cx="4046220" cy="617220"/>
            </a:xfrm>
            <a:prstGeom prst="roundRect">
              <a:avLst>
                <a:gd name="adj" fmla="val 4000"/>
              </a:avLst>
            </a:prstGeom>
            <a:solidFill>
              <a:srgbClr val="162033"/>
            </a:solidFill>
            <a:ln w="19050">
              <a:solidFill>
                <a:srgbClr val="F59E0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4340861" y="3876464"/>
              <a:ext cx="384048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F59E0B"/>
                  </a:solidFill>
                  <a:latin typeface="Segoe UI"/>
                </a:defRPr>
              </a:pPr>
              <a:r>
                <a:rPr sz="900" dirty="0"/>
                <a:t>💡 Translation Analogy: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340861" y="4068488"/>
              <a:ext cx="3840480" cy="3847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300"/>
                </a:spcAft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/>
                <a:t>When translating "The cat sat" → "Le chat s'est assis"</a:t>
              </a:r>
            </a:p>
            <a:p>
              <a:pPr>
                <a:spcAft>
                  <a:spcPts val="300"/>
                </a:spcAft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/>
                <a:t>To generate "s'est", the decoder looks at "sat" in the encoder.</a:t>
              </a:r>
            </a:p>
          </p:txBody>
        </p:sp>
        <p:sp>
          <p:nvSpPr>
            <p:cNvPr id="70" name="Rounded Rectangle 69"/>
            <p:cNvSpPr/>
            <p:nvPr/>
          </p:nvSpPr>
          <p:spPr>
            <a:xfrm>
              <a:off x="4203701" y="4527974"/>
              <a:ext cx="4046220" cy="432218"/>
            </a:xfrm>
            <a:prstGeom prst="roundRect">
              <a:avLst>
                <a:gd name="adj" fmla="val 4000"/>
              </a:avLst>
            </a:prstGeom>
            <a:solidFill>
              <a:srgbClr val="162033"/>
            </a:solidFill>
            <a:ln w="19050">
              <a:solidFill>
                <a:srgbClr val="22C55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4340861" y="4596554"/>
              <a:ext cx="384048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22C55E"/>
                  </a:solidFill>
                  <a:latin typeface="Segoe UI"/>
                </a:defRPr>
              </a:pPr>
              <a:r>
                <a:rPr sz="900" dirty="0"/>
                <a:t>🔑 Without cross-attention, the decoder would have no way to read the source input!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>
            <a:extLst>
              <a:ext uri="{FF2B5EF4-FFF2-40B4-BE49-F238E27FC236}">
                <a16:creationId xmlns:a16="http://schemas.microsoft.com/office/drawing/2014/main" id="{25B73E59-3ECF-A178-B61A-CF8EF78B8CFD}"/>
              </a:ext>
            </a:extLst>
          </p:cNvPr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4" name="TextBox 3"/>
          <p:cNvSpPr txBox="1"/>
          <p:nvPr/>
        </p:nvSpPr>
        <p:spPr>
          <a:xfrm>
            <a:off x="377190" y="1250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sz="2400" dirty="0"/>
              <a:t>The Complete Transformer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378440"/>
            <a:ext cx="75438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rPr sz="1050"/>
              <a:t>Putting it all together: encoder stack + decoder stack + output head.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9758" y="1024167"/>
            <a:ext cx="2674620" cy="3047342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7" name="TextBox 6"/>
          <p:cNvSpPr txBox="1"/>
          <p:nvPr/>
        </p:nvSpPr>
        <p:spPr>
          <a:xfrm>
            <a:off x="452628" y="789656"/>
            <a:ext cx="24688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B82F6"/>
                </a:solidFill>
                <a:latin typeface="Segoe UI"/>
              </a:defRPr>
            </a:pPr>
            <a:r>
              <a:rPr sz="900" dirty="0"/>
              <a:t>ENCODER  ×6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23511DBB-24FD-A91B-37A0-0E228692D77C}"/>
              </a:ext>
            </a:extLst>
          </p:cNvPr>
          <p:cNvGrpSpPr/>
          <p:nvPr/>
        </p:nvGrpSpPr>
        <p:grpSpPr>
          <a:xfrm>
            <a:off x="658368" y="3479055"/>
            <a:ext cx="2057400" cy="480060"/>
            <a:chOff x="658368" y="3479055"/>
            <a:chExt cx="2057400" cy="480060"/>
          </a:xfrm>
        </p:grpSpPr>
        <p:sp>
          <p:nvSpPr>
            <p:cNvPr id="8" name="Rounded Rectangle 7"/>
            <p:cNvSpPr/>
            <p:nvPr/>
          </p:nvSpPr>
          <p:spPr>
            <a:xfrm>
              <a:off x="658368" y="3684795"/>
              <a:ext cx="2057400" cy="274320"/>
            </a:xfrm>
            <a:prstGeom prst="roundRect">
              <a:avLst>
                <a:gd name="adj" fmla="val 8000"/>
              </a:avLst>
            </a:prstGeom>
            <a:solidFill>
              <a:srgbClr val="162033"/>
            </a:solidFill>
            <a:ln w="19050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000" b="1">
                  <a:solidFill>
                    <a:srgbClr val="B0B8C8"/>
                  </a:solidFill>
                  <a:latin typeface="Segoe UI"/>
                </a:defRPr>
              </a:pPr>
              <a:r>
                <a:rPr sz="750" dirty="0"/>
                <a:t>Input Embedding + Pos. Encoding</a:t>
              </a:r>
            </a:p>
          </p:txBody>
        </p:sp>
        <p:sp>
          <p:nvSpPr>
            <p:cNvPr id="10" name="Isosceles Triangle 9"/>
            <p:cNvSpPr/>
            <p:nvPr/>
          </p:nvSpPr>
          <p:spPr>
            <a:xfrm>
              <a:off x="1639062" y="3479055"/>
              <a:ext cx="96012" cy="82296"/>
            </a:xfrm>
            <a:prstGeom prst="triangle">
              <a:avLst/>
            </a:prstGeom>
            <a:solidFill>
              <a:srgbClr val="94A3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ABD75053-7989-1763-012C-F67992A41C28}"/>
              </a:ext>
            </a:extLst>
          </p:cNvPr>
          <p:cNvGrpSpPr/>
          <p:nvPr/>
        </p:nvGrpSpPr>
        <p:grpSpPr>
          <a:xfrm>
            <a:off x="486918" y="2932700"/>
            <a:ext cx="2400300" cy="477774"/>
            <a:chOff x="486918" y="2932700"/>
            <a:chExt cx="2400300" cy="477774"/>
          </a:xfrm>
        </p:grpSpPr>
        <p:sp>
          <p:nvSpPr>
            <p:cNvPr id="11" name="Rounded Rectangle 10"/>
            <p:cNvSpPr/>
            <p:nvPr/>
          </p:nvSpPr>
          <p:spPr>
            <a:xfrm>
              <a:off x="486918" y="3081290"/>
              <a:ext cx="2400300" cy="329184"/>
            </a:xfrm>
            <a:prstGeom prst="roundRect">
              <a:avLst>
                <a:gd name="adj" fmla="val 8000"/>
              </a:avLst>
            </a:prstGeom>
            <a:solidFill>
              <a:srgbClr val="1E293B"/>
            </a:solidFill>
            <a:ln w="19050">
              <a:solidFill>
                <a:srgbClr val="3B82F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100" b="1">
                  <a:solidFill>
                    <a:srgbClr val="3B82F6"/>
                  </a:solidFill>
                  <a:latin typeface="Segoe UI"/>
                </a:defRPr>
              </a:pPr>
              <a:r>
                <a:rPr sz="825" dirty="0"/>
                <a:t>Multi-Head Self-Attention</a:t>
              </a:r>
            </a:p>
          </p:txBody>
        </p:sp>
        <p:sp>
          <p:nvSpPr>
            <p:cNvPr id="13" name="Isosceles Triangle 12"/>
            <p:cNvSpPr/>
            <p:nvPr/>
          </p:nvSpPr>
          <p:spPr>
            <a:xfrm>
              <a:off x="1639062" y="2932700"/>
              <a:ext cx="96012" cy="82296"/>
            </a:xfrm>
            <a:prstGeom prst="triangle">
              <a:avLst/>
            </a:prstGeom>
            <a:solidFill>
              <a:srgbClr val="3B8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773AD633-24BC-7B3A-F312-2B655CDB36E5}"/>
              </a:ext>
            </a:extLst>
          </p:cNvPr>
          <p:cNvGrpSpPr/>
          <p:nvPr/>
        </p:nvGrpSpPr>
        <p:grpSpPr>
          <a:xfrm>
            <a:off x="486918" y="2480072"/>
            <a:ext cx="2400300" cy="409194"/>
            <a:chOff x="486918" y="2480072"/>
            <a:chExt cx="2400300" cy="409194"/>
          </a:xfrm>
        </p:grpSpPr>
        <p:sp>
          <p:nvSpPr>
            <p:cNvPr id="14" name="Rounded Rectangle 13"/>
            <p:cNvSpPr/>
            <p:nvPr/>
          </p:nvSpPr>
          <p:spPr>
            <a:xfrm>
              <a:off x="486918" y="2628662"/>
              <a:ext cx="2400300" cy="260604"/>
            </a:xfrm>
            <a:prstGeom prst="roundRect">
              <a:avLst>
                <a:gd name="adj" fmla="val 8000"/>
              </a:avLst>
            </a:prstGeom>
            <a:solidFill>
              <a:srgbClr val="1E293B"/>
            </a:solidFill>
            <a:ln w="19050">
              <a:solidFill>
                <a:srgbClr val="14B8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000" b="1">
                  <a:solidFill>
                    <a:srgbClr val="14B8A6"/>
                  </a:solidFill>
                  <a:latin typeface="Segoe UI"/>
                </a:defRPr>
              </a:pPr>
              <a:r>
                <a:rPr sz="750"/>
                <a:t>Add &amp; Norm</a:t>
              </a:r>
            </a:p>
          </p:txBody>
        </p:sp>
        <p:sp>
          <p:nvSpPr>
            <p:cNvPr id="16" name="Isosceles Triangle 15"/>
            <p:cNvSpPr/>
            <p:nvPr/>
          </p:nvSpPr>
          <p:spPr>
            <a:xfrm>
              <a:off x="1639062" y="2480072"/>
              <a:ext cx="96012" cy="82296"/>
            </a:xfrm>
            <a:prstGeom prst="triangle">
              <a:avLst/>
            </a:prstGeom>
            <a:solidFill>
              <a:srgbClr val="14B8A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4A962FE8-11E0-D294-8DC9-7120769F85BF}"/>
              </a:ext>
            </a:extLst>
          </p:cNvPr>
          <p:cNvGrpSpPr/>
          <p:nvPr/>
        </p:nvGrpSpPr>
        <p:grpSpPr>
          <a:xfrm>
            <a:off x="486918" y="1949339"/>
            <a:ext cx="2400300" cy="487299"/>
            <a:chOff x="486918" y="1949339"/>
            <a:chExt cx="2400300" cy="487299"/>
          </a:xfrm>
        </p:grpSpPr>
        <p:sp>
          <p:nvSpPr>
            <p:cNvPr id="17" name="Rounded Rectangle 16"/>
            <p:cNvSpPr/>
            <p:nvPr/>
          </p:nvSpPr>
          <p:spPr>
            <a:xfrm>
              <a:off x="486918" y="2107454"/>
              <a:ext cx="2400300" cy="329184"/>
            </a:xfrm>
            <a:prstGeom prst="roundRect">
              <a:avLst>
                <a:gd name="adj" fmla="val 8000"/>
              </a:avLst>
            </a:prstGeom>
            <a:solidFill>
              <a:srgbClr val="1E293B"/>
            </a:solidFill>
            <a:ln w="19050">
              <a:solidFill>
                <a:srgbClr val="F59E0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100" b="1">
                  <a:solidFill>
                    <a:srgbClr val="F59E0B"/>
                  </a:solidFill>
                  <a:latin typeface="Segoe UI"/>
                </a:defRPr>
              </a:pPr>
              <a:r>
                <a:rPr sz="825" dirty="0"/>
                <a:t>Feed-Forward Network</a:t>
              </a:r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1639062" y="1949339"/>
              <a:ext cx="96012" cy="82296"/>
            </a:xfrm>
            <a:prstGeom prst="triangle">
              <a:avLst/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500634" y="1231916"/>
            <a:ext cx="2468880" cy="171450"/>
          </a:xfrm>
          <a:prstGeom prst="rect">
            <a:avLst/>
          </a:prstGeom>
          <a:solidFill>
            <a:srgbClr val="1E293B"/>
          </a:solidFill>
          <a:ln w="190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algn="ctr">
              <a:defRPr sz="1000" b="1">
                <a:solidFill>
                  <a:srgbClr val="14B8A6"/>
                </a:solidFill>
                <a:latin typeface="Segoe UI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sz="750" dirty="0">
                <a:solidFill>
                  <a:srgbClr val="FF0000"/>
                </a:solidFill>
              </a:rPr>
              <a:t>Encoder Output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88080" y="953965"/>
            <a:ext cx="2674620" cy="3669849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 w="1905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23" name="TextBox 22"/>
          <p:cNvSpPr txBox="1"/>
          <p:nvPr/>
        </p:nvSpPr>
        <p:spPr>
          <a:xfrm>
            <a:off x="3874770" y="736566"/>
            <a:ext cx="24688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C4899"/>
                </a:solidFill>
                <a:latin typeface="Segoe UI"/>
              </a:defRPr>
            </a:pPr>
            <a:r>
              <a:rPr sz="900" dirty="0"/>
              <a:t>DECODER  ×6</a:t>
            </a: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B8A7ED9E-5122-2C9F-4DA3-5F9FDFDEF324}"/>
              </a:ext>
            </a:extLst>
          </p:cNvPr>
          <p:cNvGrpSpPr/>
          <p:nvPr/>
        </p:nvGrpSpPr>
        <p:grpSpPr>
          <a:xfrm>
            <a:off x="3806190" y="3955160"/>
            <a:ext cx="2400300" cy="619126"/>
            <a:chOff x="3806190" y="3955160"/>
            <a:chExt cx="2400300" cy="619126"/>
          </a:xfrm>
        </p:grpSpPr>
        <p:sp>
          <p:nvSpPr>
            <p:cNvPr id="26" name="Isosceles Triangle 25"/>
            <p:cNvSpPr/>
            <p:nvPr/>
          </p:nvSpPr>
          <p:spPr>
            <a:xfrm>
              <a:off x="4958334" y="4491990"/>
              <a:ext cx="96012" cy="82296"/>
            </a:xfrm>
            <a:prstGeom prst="triangle">
              <a:avLst/>
            </a:prstGeom>
            <a:solidFill>
              <a:srgbClr val="94A3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3806190" y="4094225"/>
              <a:ext cx="2400300" cy="329184"/>
            </a:xfrm>
            <a:prstGeom prst="roundRect">
              <a:avLst>
                <a:gd name="adj" fmla="val 8000"/>
              </a:avLst>
            </a:prstGeom>
            <a:solidFill>
              <a:srgbClr val="1E293B"/>
            </a:solidFill>
            <a:ln w="19050">
              <a:solidFill>
                <a:srgbClr val="EF444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100" b="1">
                  <a:solidFill>
                    <a:srgbClr val="EF4444"/>
                  </a:solidFill>
                  <a:latin typeface="Segoe UI"/>
                </a:defRPr>
              </a:pPr>
              <a:r>
                <a:rPr sz="825" dirty="0"/>
                <a:t>Masked Self-Attention</a:t>
              </a:r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4958334" y="3955160"/>
              <a:ext cx="96012" cy="82296"/>
            </a:xfrm>
            <a:prstGeom prst="triangle">
              <a:avLst/>
            </a:prstGeom>
            <a:solidFill>
              <a:srgbClr val="EF444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4235DC8C-D93F-DDBD-19B2-5B0A3BAC5491}"/>
              </a:ext>
            </a:extLst>
          </p:cNvPr>
          <p:cNvGrpSpPr/>
          <p:nvPr/>
        </p:nvGrpSpPr>
        <p:grpSpPr>
          <a:xfrm>
            <a:off x="3806190" y="3493007"/>
            <a:ext cx="2400300" cy="409194"/>
            <a:chOff x="3806190" y="3493007"/>
            <a:chExt cx="2400300" cy="409194"/>
          </a:xfrm>
        </p:grpSpPr>
        <p:sp>
          <p:nvSpPr>
            <p:cNvPr id="30" name="Rounded Rectangle 29"/>
            <p:cNvSpPr/>
            <p:nvPr/>
          </p:nvSpPr>
          <p:spPr>
            <a:xfrm>
              <a:off x="3806190" y="3641597"/>
              <a:ext cx="2400300" cy="260604"/>
            </a:xfrm>
            <a:prstGeom prst="roundRect">
              <a:avLst>
                <a:gd name="adj" fmla="val 8000"/>
              </a:avLst>
            </a:prstGeom>
            <a:solidFill>
              <a:srgbClr val="1E293B"/>
            </a:solidFill>
            <a:ln w="19050">
              <a:solidFill>
                <a:srgbClr val="14B8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000" b="1">
                  <a:solidFill>
                    <a:srgbClr val="14B8A6"/>
                  </a:solidFill>
                  <a:latin typeface="Segoe UI"/>
                </a:defRPr>
              </a:pPr>
              <a:r>
                <a:rPr sz="750" dirty="0"/>
                <a:t>Add &amp; Norm</a:t>
              </a:r>
            </a:p>
          </p:txBody>
        </p:sp>
        <p:sp>
          <p:nvSpPr>
            <p:cNvPr id="32" name="Isosceles Triangle 31"/>
            <p:cNvSpPr/>
            <p:nvPr/>
          </p:nvSpPr>
          <p:spPr>
            <a:xfrm>
              <a:off x="4958334" y="3493007"/>
              <a:ext cx="96012" cy="82296"/>
            </a:xfrm>
            <a:prstGeom prst="triangle">
              <a:avLst/>
            </a:prstGeom>
            <a:solidFill>
              <a:srgbClr val="14B8A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578DC1AE-FFBD-32DB-01CA-476CE3193E70}"/>
              </a:ext>
            </a:extLst>
          </p:cNvPr>
          <p:cNvGrpSpPr/>
          <p:nvPr/>
        </p:nvGrpSpPr>
        <p:grpSpPr>
          <a:xfrm>
            <a:off x="2996946" y="3092958"/>
            <a:ext cx="3038094" cy="1879092"/>
            <a:chOff x="2996946" y="3092958"/>
            <a:chExt cx="3038094" cy="1879092"/>
          </a:xfrm>
        </p:grpSpPr>
        <p:sp>
          <p:nvSpPr>
            <p:cNvPr id="24" name="Rounded Rectangle 23"/>
            <p:cNvSpPr/>
            <p:nvPr/>
          </p:nvSpPr>
          <p:spPr>
            <a:xfrm>
              <a:off x="3977640" y="4697730"/>
              <a:ext cx="2057400" cy="274320"/>
            </a:xfrm>
            <a:prstGeom prst="roundRect">
              <a:avLst>
                <a:gd name="adj" fmla="val 8000"/>
              </a:avLst>
            </a:prstGeom>
            <a:solidFill>
              <a:srgbClr val="162033"/>
            </a:solidFill>
            <a:ln w="19050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000" b="1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Output Embedding + Pos. Encoding</a:t>
              </a:r>
            </a:p>
          </p:txBody>
        </p:sp>
        <p:cxnSp>
          <p:nvCxnSpPr>
            <p:cNvPr id="34" name="Connector 33"/>
            <p:cNvCxnSpPr>
              <a:cxnSpLocks/>
            </p:cNvCxnSpPr>
            <p:nvPr/>
          </p:nvCxnSpPr>
          <p:spPr>
            <a:xfrm>
              <a:off x="2996946" y="3300707"/>
              <a:ext cx="672084" cy="0"/>
            </a:xfrm>
            <a:prstGeom prst="line">
              <a:avLst/>
            </a:prstGeom>
            <a:ln w="31750">
              <a:solidFill>
                <a:srgbClr val="3B82F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3188970" y="3092958"/>
              <a:ext cx="4800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1">
                  <a:solidFill>
                    <a:srgbClr val="3B82F6"/>
                  </a:solidFill>
                  <a:latin typeface="Consolas"/>
                </a:defRPr>
              </a:pPr>
              <a:r>
                <a:rPr sz="750"/>
                <a:t>K, V</a:t>
              </a: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3AF421FC-B58B-1974-5113-0BE871E05B8D}"/>
              </a:ext>
            </a:extLst>
          </p:cNvPr>
          <p:cNvGrpSpPr/>
          <p:nvPr/>
        </p:nvGrpSpPr>
        <p:grpSpPr>
          <a:xfrm>
            <a:off x="3806190" y="2981324"/>
            <a:ext cx="2400300" cy="468249"/>
            <a:chOff x="3806190" y="2981324"/>
            <a:chExt cx="2400300" cy="468249"/>
          </a:xfrm>
        </p:grpSpPr>
        <p:sp>
          <p:nvSpPr>
            <p:cNvPr id="33" name="Rounded Rectangle 32"/>
            <p:cNvSpPr/>
            <p:nvPr/>
          </p:nvSpPr>
          <p:spPr>
            <a:xfrm>
              <a:off x="3806190" y="3120389"/>
              <a:ext cx="2400300" cy="329184"/>
            </a:xfrm>
            <a:prstGeom prst="roundRect">
              <a:avLst>
                <a:gd name="adj" fmla="val 8000"/>
              </a:avLst>
            </a:prstGeom>
            <a:solidFill>
              <a:srgbClr val="1E293B"/>
            </a:solidFill>
            <a:ln w="19050">
              <a:solidFill>
                <a:srgbClr val="F59E0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100" b="1">
                  <a:solidFill>
                    <a:srgbClr val="F59E0B"/>
                  </a:solidFill>
                  <a:latin typeface="Segoe UI"/>
                </a:defRPr>
              </a:pPr>
              <a:r>
                <a:rPr sz="825" dirty="0"/>
                <a:t>Cross-Attention</a:t>
              </a:r>
            </a:p>
          </p:txBody>
        </p:sp>
        <p:sp>
          <p:nvSpPr>
            <p:cNvPr id="37" name="Isosceles Triangle 36"/>
            <p:cNvSpPr/>
            <p:nvPr/>
          </p:nvSpPr>
          <p:spPr>
            <a:xfrm>
              <a:off x="4958334" y="2981324"/>
              <a:ext cx="96012" cy="82296"/>
            </a:xfrm>
            <a:prstGeom prst="triangle">
              <a:avLst/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F8847B4B-FE9A-FF89-5B92-1ECC7F166D2D}"/>
              </a:ext>
            </a:extLst>
          </p:cNvPr>
          <p:cNvGrpSpPr/>
          <p:nvPr/>
        </p:nvGrpSpPr>
        <p:grpSpPr>
          <a:xfrm>
            <a:off x="3806190" y="2519171"/>
            <a:ext cx="2400300" cy="409194"/>
            <a:chOff x="3806190" y="2519171"/>
            <a:chExt cx="2400300" cy="409194"/>
          </a:xfrm>
        </p:grpSpPr>
        <p:sp>
          <p:nvSpPr>
            <p:cNvPr id="38" name="Rounded Rectangle 37"/>
            <p:cNvSpPr/>
            <p:nvPr/>
          </p:nvSpPr>
          <p:spPr>
            <a:xfrm>
              <a:off x="3806190" y="2667761"/>
              <a:ext cx="2400300" cy="260604"/>
            </a:xfrm>
            <a:prstGeom prst="roundRect">
              <a:avLst>
                <a:gd name="adj" fmla="val 8000"/>
              </a:avLst>
            </a:prstGeom>
            <a:solidFill>
              <a:srgbClr val="1E293B"/>
            </a:solidFill>
            <a:ln w="19050">
              <a:solidFill>
                <a:srgbClr val="14B8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000" b="1">
                  <a:solidFill>
                    <a:srgbClr val="14B8A6"/>
                  </a:solidFill>
                  <a:latin typeface="Segoe UI"/>
                </a:defRPr>
              </a:pPr>
              <a:r>
                <a:rPr sz="750"/>
                <a:t>Add &amp; Norm</a:t>
              </a:r>
            </a:p>
          </p:txBody>
        </p:sp>
        <p:sp>
          <p:nvSpPr>
            <p:cNvPr id="40" name="Isosceles Triangle 39"/>
            <p:cNvSpPr/>
            <p:nvPr/>
          </p:nvSpPr>
          <p:spPr>
            <a:xfrm>
              <a:off x="4958334" y="2519171"/>
              <a:ext cx="96012" cy="82296"/>
            </a:xfrm>
            <a:prstGeom prst="triangle">
              <a:avLst/>
            </a:prstGeom>
            <a:solidFill>
              <a:srgbClr val="14B8A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D8F722C0-1F05-7AF2-5F72-B0852CD683B8}"/>
              </a:ext>
            </a:extLst>
          </p:cNvPr>
          <p:cNvGrpSpPr/>
          <p:nvPr/>
        </p:nvGrpSpPr>
        <p:grpSpPr>
          <a:xfrm>
            <a:off x="3806190" y="1978913"/>
            <a:ext cx="2400300" cy="496824"/>
            <a:chOff x="3806190" y="1978913"/>
            <a:chExt cx="2400300" cy="496824"/>
          </a:xfrm>
        </p:grpSpPr>
        <p:sp>
          <p:nvSpPr>
            <p:cNvPr id="41" name="Rounded Rectangle 40"/>
            <p:cNvSpPr/>
            <p:nvPr/>
          </p:nvSpPr>
          <p:spPr>
            <a:xfrm>
              <a:off x="3806190" y="2146553"/>
              <a:ext cx="2400300" cy="329184"/>
            </a:xfrm>
            <a:prstGeom prst="roundRect">
              <a:avLst>
                <a:gd name="adj" fmla="val 8000"/>
              </a:avLst>
            </a:prstGeom>
            <a:solidFill>
              <a:srgbClr val="1E293B"/>
            </a:solidFill>
            <a:ln w="19050">
              <a:solidFill>
                <a:srgbClr val="F59E0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100" b="1">
                  <a:solidFill>
                    <a:srgbClr val="F59E0B"/>
                  </a:solidFill>
                  <a:latin typeface="Segoe UI"/>
                </a:defRPr>
              </a:pPr>
              <a:r>
                <a:rPr sz="825" dirty="0"/>
                <a:t>Feed-Forward Network</a:t>
              </a:r>
            </a:p>
          </p:txBody>
        </p:sp>
        <p:sp>
          <p:nvSpPr>
            <p:cNvPr id="43" name="Isosceles Triangle 42"/>
            <p:cNvSpPr/>
            <p:nvPr/>
          </p:nvSpPr>
          <p:spPr>
            <a:xfrm>
              <a:off x="4958334" y="1978913"/>
              <a:ext cx="96012" cy="82296"/>
            </a:xfrm>
            <a:prstGeom prst="triangle">
              <a:avLst/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8E9B3699-4F03-FC87-F4E0-6D6B1EB70139}"/>
              </a:ext>
            </a:extLst>
          </p:cNvPr>
          <p:cNvGrpSpPr/>
          <p:nvPr/>
        </p:nvGrpSpPr>
        <p:grpSpPr>
          <a:xfrm>
            <a:off x="3806190" y="1536191"/>
            <a:ext cx="2400300" cy="418338"/>
            <a:chOff x="3806190" y="1536191"/>
            <a:chExt cx="2400300" cy="418338"/>
          </a:xfrm>
        </p:grpSpPr>
        <p:sp>
          <p:nvSpPr>
            <p:cNvPr id="44" name="Rounded Rectangle 43"/>
            <p:cNvSpPr/>
            <p:nvPr/>
          </p:nvSpPr>
          <p:spPr>
            <a:xfrm>
              <a:off x="3806190" y="1693925"/>
              <a:ext cx="2400300" cy="260604"/>
            </a:xfrm>
            <a:prstGeom prst="roundRect">
              <a:avLst>
                <a:gd name="adj" fmla="val 8000"/>
              </a:avLst>
            </a:prstGeom>
            <a:solidFill>
              <a:srgbClr val="1E293B"/>
            </a:solidFill>
            <a:ln w="19050">
              <a:solidFill>
                <a:srgbClr val="14B8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000" b="1">
                  <a:solidFill>
                    <a:srgbClr val="14B8A6"/>
                  </a:solidFill>
                  <a:latin typeface="Segoe UI"/>
                </a:defRPr>
              </a:pPr>
              <a:r>
                <a:rPr sz="750"/>
                <a:t>Add &amp; Norm</a:t>
              </a:r>
            </a:p>
          </p:txBody>
        </p:sp>
        <p:sp>
          <p:nvSpPr>
            <p:cNvPr id="46" name="Isosceles Triangle 45"/>
            <p:cNvSpPr/>
            <p:nvPr/>
          </p:nvSpPr>
          <p:spPr>
            <a:xfrm>
              <a:off x="4958334" y="1536191"/>
              <a:ext cx="96012" cy="82296"/>
            </a:xfrm>
            <a:prstGeom prst="triangle">
              <a:avLst/>
            </a:prstGeom>
            <a:solidFill>
              <a:srgbClr val="94A3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22AF28A4-4998-8FAF-B79B-99F966995664}"/>
              </a:ext>
            </a:extLst>
          </p:cNvPr>
          <p:cNvGrpSpPr/>
          <p:nvPr/>
        </p:nvGrpSpPr>
        <p:grpSpPr>
          <a:xfrm>
            <a:off x="3771900" y="1024167"/>
            <a:ext cx="2468880" cy="483681"/>
            <a:chOff x="3771900" y="1024167"/>
            <a:chExt cx="2468880" cy="483681"/>
          </a:xfrm>
        </p:grpSpPr>
        <p:sp>
          <p:nvSpPr>
            <p:cNvPr id="47" name="Rounded Rectangle 46"/>
            <p:cNvSpPr/>
            <p:nvPr/>
          </p:nvSpPr>
          <p:spPr>
            <a:xfrm>
              <a:off x="3874770" y="1233528"/>
              <a:ext cx="2263140" cy="274320"/>
            </a:xfrm>
            <a:prstGeom prst="roundRect">
              <a:avLst>
                <a:gd name="adj" fmla="val 8000"/>
              </a:avLst>
            </a:prstGeom>
            <a:solidFill>
              <a:srgbClr val="162033"/>
            </a:solidFill>
            <a:ln w="19050">
              <a:solidFill>
                <a:srgbClr val="A78BF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100" b="1">
                  <a:solidFill>
                    <a:srgbClr val="A78BFA"/>
                  </a:solidFill>
                  <a:latin typeface="Segoe UI"/>
                </a:defRPr>
              </a:pPr>
              <a:r>
                <a:rPr sz="825"/>
                <a:t>Linear  →  Softmax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3771900" y="1024167"/>
              <a:ext cx="246888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1">
                  <a:solidFill>
                    <a:srgbClr val="A78BFA"/>
                  </a:solidFill>
                  <a:latin typeface="Segoe UI"/>
                </a:defRPr>
              </a:pPr>
              <a:r>
                <a:rPr sz="750" dirty="0"/>
                <a:t>Output Probabilities (next token)</a:t>
              </a: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4C53DC46-C45F-F3E7-6D6A-53B7CF73B06A}"/>
              </a:ext>
            </a:extLst>
          </p:cNvPr>
          <p:cNvGrpSpPr/>
          <p:nvPr/>
        </p:nvGrpSpPr>
        <p:grpSpPr>
          <a:xfrm>
            <a:off x="6617970" y="743203"/>
            <a:ext cx="2400300" cy="2194560"/>
            <a:chOff x="6583680" y="1474470"/>
            <a:chExt cx="2400300" cy="2194560"/>
          </a:xfrm>
        </p:grpSpPr>
        <p:sp>
          <p:nvSpPr>
            <p:cNvPr id="49" name="TextBox 48"/>
            <p:cNvSpPr txBox="1"/>
            <p:nvPr/>
          </p:nvSpPr>
          <p:spPr>
            <a:xfrm>
              <a:off x="6583680" y="1474470"/>
              <a:ext cx="240030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400" b="1">
                  <a:solidFill>
                    <a:srgbClr val="FFFFFF"/>
                  </a:solidFill>
                  <a:latin typeface="Segoe UI"/>
                </a:defRPr>
              </a:pPr>
              <a:r>
                <a:rPr sz="1050"/>
                <a:t>📄 "Attention Is All You Need"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583680" y="1714501"/>
              <a:ext cx="240030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0">
                  <a:solidFill>
                    <a:srgbClr val="94A3B8"/>
                  </a:solidFill>
                  <a:latin typeface="Segoe UI"/>
                </a:defRPr>
              </a:pPr>
              <a:r>
                <a:rPr sz="825" dirty="0"/>
                <a:t>Vaswani et al., </a:t>
              </a:r>
              <a:r>
                <a:rPr sz="825" dirty="0" err="1"/>
                <a:t>NeurIPS</a:t>
              </a:r>
              <a:r>
                <a:rPr sz="825" dirty="0"/>
                <a:t> 2017</a:t>
              </a:r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6583680" y="2023110"/>
              <a:ext cx="2400300" cy="1645920"/>
            </a:xfrm>
            <a:prstGeom prst="roundRect">
              <a:avLst>
                <a:gd name="adj" fmla="val 4000"/>
              </a:avLst>
            </a:prstGeom>
            <a:solidFill>
              <a:srgbClr val="1E293B"/>
            </a:solidFill>
            <a:ln w="19050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6686550" y="2091690"/>
              <a:ext cx="2194560" cy="2423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300" b="1">
                  <a:solidFill>
                    <a:srgbClr val="FBBF24"/>
                  </a:solidFill>
                  <a:latin typeface="Segoe UI"/>
                </a:defRPr>
              </a:pPr>
              <a:r>
                <a:rPr sz="975"/>
                <a:t>📊 Key Numbers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720840" y="2331720"/>
              <a:ext cx="96012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94A3B8"/>
                  </a:solidFill>
                  <a:latin typeface="Consolas"/>
                </a:defRPr>
              </a:pPr>
              <a:r>
                <a:rPr sz="750"/>
                <a:t>d_model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7749540" y="2331721"/>
              <a:ext cx="102870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3B82F6"/>
                  </a:solidFill>
                  <a:latin typeface="Consolas"/>
                </a:defRPr>
              </a:pPr>
              <a:r>
                <a:rPr sz="825"/>
                <a:t>512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6720840" y="2537460"/>
              <a:ext cx="96012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94A3B8"/>
                  </a:solidFill>
                  <a:latin typeface="Consolas"/>
                </a:defRPr>
              </a:pPr>
              <a:r>
                <a:rPr sz="750"/>
                <a:t>Heads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7749540" y="2537461"/>
              <a:ext cx="102870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F59E0B"/>
                  </a:solidFill>
                  <a:latin typeface="Consolas"/>
                </a:defRPr>
              </a:pPr>
              <a:r>
                <a:rPr sz="825"/>
                <a:t>8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6720840" y="2743200"/>
              <a:ext cx="96012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94A3B8"/>
                  </a:solidFill>
                  <a:latin typeface="Consolas"/>
                </a:defRPr>
              </a:pPr>
              <a:r>
                <a:rPr sz="750"/>
                <a:t>Layers (N)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7749540" y="2743201"/>
              <a:ext cx="102870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14B8A6"/>
                  </a:solidFill>
                  <a:latin typeface="Consolas"/>
                </a:defRPr>
              </a:pPr>
              <a:r>
                <a:rPr sz="825"/>
                <a:t>6 enc + 6 dec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6720840" y="2948940"/>
              <a:ext cx="960120" cy="2296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200"/>
                </a:lnSpc>
              </a:pPr>
              <a:r>
                <a:rPr lang="en-IN" sz="750" dirty="0" err="1">
                  <a:solidFill>
                    <a:srgbClr val="B0B8C8"/>
                  </a:solidFill>
                </a:rPr>
                <a:t>d_k</a:t>
              </a:r>
              <a:r>
                <a:rPr lang="en-IN" sz="750" dirty="0">
                  <a:solidFill>
                    <a:srgbClr val="B0B8C8"/>
                  </a:solidFill>
                </a:rPr>
                <a:t> = </a:t>
              </a:r>
              <a:r>
                <a:rPr lang="en-IN" sz="750" dirty="0" err="1">
                  <a:solidFill>
                    <a:srgbClr val="B0B8C8"/>
                  </a:solidFill>
                </a:rPr>
                <a:t>d_v</a:t>
              </a:r>
              <a:r>
                <a:rPr lang="en-IN" sz="750" dirty="0">
                  <a:solidFill>
                    <a:srgbClr val="B0B8C8"/>
                  </a:solidFill>
                </a:rPr>
                <a:t> = 64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7749540" y="2948941"/>
              <a:ext cx="102870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F59E0B"/>
                  </a:solidFill>
                  <a:latin typeface="Consolas"/>
                </a:defRPr>
              </a:pPr>
              <a:r>
                <a:rPr lang="en-IN" sz="825" dirty="0"/>
                <a:t>64</a:t>
              </a:r>
              <a:endParaRPr sz="825" dirty="0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6720840" y="3154680"/>
              <a:ext cx="96012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94A3B8"/>
                  </a:solidFill>
                  <a:latin typeface="Consolas"/>
                </a:defRPr>
              </a:pPr>
              <a:r>
                <a:rPr sz="750"/>
                <a:t>Params (base)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7749540" y="3154681"/>
              <a:ext cx="102870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A78BFA"/>
                  </a:solidFill>
                  <a:latin typeface="Consolas"/>
                </a:defRPr>
              </a:pPr>
              <a:r>
                <a:rPr sz="825"/>
                <a:t>65 M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6720840" y="3360420"/>
              <a:ext cx="96012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94A3B8"/>
                  </a:solidFill>
                  <a:latin typeface="Consolas"/>
                </a:defRPr>
              </a:pPr>
              <a:r>
                <a:rPr sz="750"/>
                <a:t>Params (big)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7749540" y="3360421"/>
              <a:ext cx="102870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EC4899"/>
                  </a:solidFill>
                  <a:latin typeface="Consolas"/>
                </a:defRPr>
              </a:pPr>
              <a:r>
                <a:rPr sz="825"/>
                <a:t>213 M</a:t>
              </a: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C250A1B4-5EE3-8A0C-35FD-497060031465}"/>
              </a:ext>
            </a:extLst>
          </p:cNvPr>
          <p:cNvGrpSpPr/>
          <p:nvPr/>
        </p:nvGrpSpPr>
        <p:grpSpPr>
          <a:xfrm>
            <a:off x="6621780" y="3072061"/>
            <a:ext cx="2400300" cy="994410"/>
            <a:chOff x="6583680" y="3806190"/>
            <a:chExt cx="2400300" cy="994410"/>
          </a:xfrm>
        </p:grpSpPr>
        <p:sp>
          <p:nvSpPr>
            <p:cNvPr id="65" name="Rounded Rectangle 64"/>
            <p:cNvSpPr/>
            <p:nvPr/>
          </p:nvSpPr>
          <p:spPr>
            <a:xfrm>
              <a:off x="6583680" y="3806190"/>
              <a:ext cx="2400300" cy="994410"/>
            </a:xfrm>
            <a:prstGeom prst="roundRect">
              <a:avLst>
                <a:gd name="adj" fmla="val 4000"/>
              </a:avLst>
            </a:prstGeom>
            <a:solidFill>
              <a:srgbClr val="162033"/>
            </a:solidFill>
            <a:ln w="19050">
              <a:solidFill>
                <a:srgbClr val="22C55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6686550" y="3861054"/>
              <a:ext cx="2194560" cy="2423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300" b="1">
                  <a:solidFill>
                    <a:srgbClr val="22C55E"/>
                  </a:solidFill>
                  <a:latin typeface="Segoe UI"/>
                </a:defRPr>
              </a:pPr>
              <a:r>
                <a:rPr sz="975"/>
                <a:t>🔄 Data Flow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6686550" y="4066794"/>
              <a:ext cx="2194560" cy="6694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300"/>
                </a:spcAft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 dirty="0"/>
                <a:t>1. Tokenize → Embed → Add PE</a:t>
              </a:r>
            </a:p>
            <a:p>
              <a:pPr>
                <a:spcAft>
                  <a:spcPts val="300"/>
                </a:spcAft>
                <a:defRPr sz="1000" b="0">
                  <a:solidFill>
                    <a:srgbClr val="3B82F6"/>
                  </a:solidFill>
                  <a:latin typeface="Segoe UI"/>
                </a:defRPr>
              </a:pPr>
              <a:r>
                <a:rPr sz="750" dirty="0"/>
                <a:t>2. Encoder: Self-Attn → FFN ×6</a:t>
              </a:r>
            </a:p>
            <a:p>
              <a:pPr>
                <a:spcAft>
                  <a:spcPts val="300"/>
                </a:spcAft>
                <a:defRPr sz="1000" b="0">
                  <a:solidFill>
                    <a:srgbClr val="EC4899"/>
                  </a:solidFill>
                  <a:latin typeface="Segoe UI"/>
                </a:defRPr>
              </a:pPr>
              <a:r>
                <a:rPr sz="750" dirty="0"/>
                <a:t>3. Decoder: Masked + Cross ×6</a:t>
              </a:r>
            </a:p>
            <a:p>
              <a:pPr>
                <a:spcAft>
                  <a:spcPts val="300"/>
                </a:spcAft>
                <a:defRPr sz="1000" b="0">
                  <a:solidFill>
                    <a:srgbClr val="A78BFA"/>
                  </a:solidFill>
                  <a:latin typeface="Segoe UI"/>
                </a:defRPr>
              </a:pPr>
              <a:r>
                <a:rPr sz="750" dirty="0"/>
                <a:t>4. Linear → </a:t>
              </a:r>
              <a:r>
                <a:rPr sz="750" dirty="0" err="1"/>
                <a:t>Softmax</a:t>
              </a:r>
              <a:r>
                <a:rPr sz="750" dirty="0"/>
                <a:t> → Token</a:t>
              </a: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16111061-38B3-CAF7-86D9-35708D546CB5}"/>
              </a:ext>
            </a:extLst>
          </p:cNvPr>
          <p:cNvGrpSpPr/>
          <p:nvPr/>
        </p:nvGrpSpPr>
        <p:grpSpPr>
          <a:xfrm>
            <a:off x="486918" y="1518047"/>
            <a:ext cx="2400300" cy="397383"/>
            <a:chOff x="486918" y="1518047"/>
            <a:chExt cx="2400300" cy="397383"/>
          </a:xfrm>
        </p:grpSpPr>
        <p:sp>
          <p:nvSpPr>
            <p:cNvPr id="20" name="Rounded Rectangle 19"/>
            <p:cNvSpPr/>
            <p:nvPr/>
          </p:nvSpPr>
          <p:spPr>
            <a:xfrm>
              <a:off x="486918" y="1654826"/>
              <a:ext cx="2400300" cy="260604"/>
            </a:xfrm>
            <a:prstGeom prst="roundRect">
              <a:avLst>
                <a:gd name="adj" fmla="val 8000"/>
              </a:avLst>
            </a:prstGeom>
            <a:solidFill>
              <a:srgbClr val="1E293B"/>
            </a:solidFill>
            <a:ln w="19050">
              <a:solidFill>
                <a:srgbClr val="14B8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000" b="1">
                  <a:solidFill>
                    <a:srgbClr val="14B8A6"/>
                  </a:solidFill>
                  <a:latin typeface="Segoe UI"/>
                </a:defRPr>
              </a:pPr>
              <a:r>
                <a:rPr sz="750"/>
                <a:t>Add &amp; Norm</a:t>
              </a:r>
            </a:p>
          </p:txBody>
        </p:sp>
        <p:sp>
          <p:nvSpPr>
            <p:cNvPr id="72" name="Isosceles Triangle 71">
              <a:extLst>
                <a:ext uri="{FF2B5EF4-FFF2-40B4-BE49-F238E27FC236}">
                  <a16:creationId xmlns:a16="http://schemas.microsoft.com/office/drawing/2014/main" id="{6ACA894E-07E3-08CD-3328-660590D8285B}"/>
                </a:ext>
              </a:extLst>
            </p:cNvPr>
            <p:cNvSpPr/>
            <p:nvPr/>
          </p:nvSpPr>
          <p:spPr>
            <a:xfrm>
              <a:off x="1639062" y="1518047"/>
              <a:ext cx="96012" cy="82296"/>
            </a:xfrm>
            <a:prstGeom prst="triangle">
              <a:avLst/>
            </a:prstGeom>
            <a:solidFill>
              <a:srgbClr val="14B8A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21" grpId="0" animBg="1"/>
      <p:bldP spid="22" grpId="0" animBg="1"/>
      <p:bldP spid="2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C4B7DE-8294-BED7-7A16-96FF4529E1C8}"/>
              </a:ext>
            </a:extLst>
          </p:cNvPr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4" name="TextBox 3"/>
          <p:cNvSpPr txBox="1"/>
          <p:nvPr/>
        </p:nvSpPr>
        <p:spPr>
          <a:xfrm>
            <a:off x="411480" y="9525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sz="2400" dirty="0"/>
              <a:t>The Transformer Family 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6715"/>
            <a:ext cx="75438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rPr sz="1050" dirty="0"/>
              <a:t>One architecture, three flavors — each optimized for different tasks.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ECCBC31-3C95-17D1-4FD5-4AF483C6B0A2}"/>
              </a:ext>
            </a:extLst>
          </p:cNvPr>
          <p:cNvGrpSpPr/>
          <p:nvPr/>
        </p:nvGrpSpPr>
        <p:grpSpPr>
          <a:xfrm>
            <a:off x="377190" y="1009650"/>
            <a:ext cx="2606040" cy="2962656"/>
            <a:chOff x="377190" y="1009650"/>
            <a:chExt cx="2606040" cy="2962656"/>
          </a:xfrm>
        </p:grpSpPr>
        <p:sp>
          <p:nvSpPr>
            <p:cNvPr id="6" name="Rounded Rectangle 5"/>
            <p:cNvSpPr/>
            <p:nvPr/>
          </p:nvSpPr>
          <p:spPr>
            <a:xfrm>
              <a:off x="377190" y="1009650"/>
              <a:ext cx="2606040" cy="2962656"/>
            </a:xfrm>
            <a:prstGeom prst="roundRect">
              <a:avLst>
                <a:gd name="adj" fmla="val 4000"/>
              </a:avLst>
            </a:prstGeom>
            <a:solidFill>
              <a:srgbClr val="1E293B"/>
            </a:solidFill>
            <a:ln w="19050">
              <a:solidFill>
                <a:srgbClr val="3B82F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77190" y="1064514"/>
              <a:ext cx="2606040" cy="34290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994410" y="1181100"/>
              <a:ext cx="1371600" cy="342900"/>
            </a:xfrm>
            <a:prstGeom prst="roundRect">
              <a:avLst>
                <a:gd name="adj" fmla="val 8000"/>
              </a:avLst>
            </a:prstGeom>
            <a:solidFill>
              <a:srgbClr val="162033"/>
            </a:solidFill>
            <a:ln w="19050">
              <a:solidFill>
                <a:srgbClr val="3B82F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200" b="1">
                  <a:solidFill>
                    <a:srgbClr val="3B82F6"/>
                  </a:solidFill>
                  <a:latin typeface="Segoe UI"/>
                </a:defRPr>
              </a:pPr>
              <a:r>
                <a:rPr sz="900"/>
                <a:t>ENCODER ONLY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14350" y="1626870"/>
              <a:ext cx="2331720" cy="2654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500" b="1">
                  <a:solidFill>
                    <a:srgbClr val="FFFFFF"/>
                  </a:solidFill>
                  <a:latin typeface="Segoe UI"/>
                </a:defRPr>
              </a:pPr>
              <a:r>
                <a:rPr sz="1125"/>
                <a:t>Bidirectional Understanding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14350" y="1901190"/>
              <a:ext cx="2331720" cy="13080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300"/>
                </a:spcAft>
                <a:defRPr sz="1100" b="1">
                  <a:solidFill>
                    <a:srgbClr val="94A3B8"/>
                  </a:solidFill>
                  <a:latin typeface="Segoe UI"/>
                </a:defRPr>
              </a:pPr>
              <a:r>
                <a:rPr sz="825" dirty="0"/>
                <a:t>How it works:</a:t>
              </a:r>
            </a:p>
            <a:p>
              <a:pPr>
                <a:spcAft>
                  <a:spcPts val="300"/>
                </a:spcAft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 dirty="0"/>
                <a:t>• Sees ALL tokens at once (bidirectional)</a:t>
              </a:r>
            </a:p>
            <a:p>
              <a:pPr>
                <a:spcAft>
                  <a:spcPts val="300"/>
                </a:spcAft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 dirty="0"/>
                <a:t>• Great at UNDERSTANDING text</a:t>
              </a:r>
            </a:p>
            <a:p>
              <a:pPr>
                <a:spcAft>
                  <a:spcPts val="300"/>
                </a:spcAft>
                <a:defRPr sz="500" b="0">
                  <a:solidFill>
                    <a:srgbClr val="B0B8C8"/>
                  </a:solidFill>
                  <a:latin typeface="Segoe UI"/>
                </a:defRPr>
              </a:pPr>
              <a:endParaRPr sz="375" dirty="0"/>
            </a:p>
            <a:p>
              <a:pPr>
                <a:spcAft>
                  <a:spcPts val="300"/>
                </a:spcAft>
                <a:defRPr sz="1100" b="1">
                  <a:solidFill>
                    <a:srgbClr val="94A3B8"/>
                  </a:solidFill>
                  <a:latin typeface="Segoe UI"/>
                </a:defRPr>
              </a:pPr>
              <a:r>
                <a:rPr sz="825" dirty="0"/>
                <a:t>Best for:</a:t>
              </a:r>
            </a:p>
            <a:p>
              <a:pPr>
                <a:spcAft>
                  <a:spcPts val="300"/>
                </a:spcAft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 dirty="0"/>
                <a:t>• Text classification &amp; sentiment</a:t>
              </a:r>
            </a:p>
            <a:p>
              <a:pPr>
                <a:spcAft>
                  <a:spcPts val="300"/>
                </a:spcAft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 dirty="0"/>
                <a:t>• Named entity recognition (NER)</a:t>
              </a:r>
            </a:p>
            <a:p>
              <a:pPr>
                <a:spcAft>
                  <a:spcPts val="300"/>
                </a:spcAft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 dirty="0"/>
                <a:t>• Question answering (extractive)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14350" y="3238500"/>
              <a:ext cx="233172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94A3B8"/>
                  </a:solidFill>
                  <a:latin typeface="Segoe UI"/>
                </a:defRPr>
              </a:pPr>
              <a:r>
                <a:rPr sz="750"/>
                <a:t>Key Models: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514350" y="3409950"/>
              <a:ext cx="720090" cy="219456"/>
            </a:xfrm>
            <a:prstGeom prst="roundRect">
              <a:avLst>
                <a:gd name="adj" fmla="val 40000"/>
              </a:avLst>
            </a:prstGeom>
            <a:solidFill>
              <a:srgbClr val="3B8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BERT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303020" y="3409950"/>
              <a:ext cx="720090" cy="219456"/>
            </a:xfrm>
            <a:prstGeom prst="roundRect">
              <a:avLst>
                <a:gd name="adj" fmla="val 40000"/>
              </a:avLst>
            </a:prstGeom>
            <a:solidFill>
              <a:srgbClr val="14B8A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RoBERTa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2091690" y="3409950"/>
              <a:ext cx="720090" cy="219456"/>
            </a:xfrm>
            <a:prstGeom prst="roundRect">
              <a:avLst>
                <a:gd name="adj" fmla="val 40000"/>
              </a:avLst>
            </a:prstGeom>
            <a:solidFill>
              <a:srgbClr val="22C55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DistilBERT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14350" y="3684270"/>
              <a:ext cx="233172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94A3B8"/>
                  </a:solidFill>
                  <a:latin typeface="Consolas"/>
                </a:defRPr>
              </a:pPr>
              <a:r>
                <a:rPr sz="675"/>
                <a:t>BERT-base: 110M params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32C3CC2-1604-068D-79B2-051E044BEC6D}"/>
              </a:ext>
            </a:extLst>
          </p:cNvPr>
          <p:cNvGrpSpPr/>
          <p:nvPr/>
        </p:nvGrpSpPr>
        <p:grpSpPr>
          <a:xfrm>
            <a:off x="3188970" y="1009650"/>
            <a:ext cx="2606040" cy="2962656"/>
            <a:chOff x="3188970" y="1009650"/>
            <a:chExt cx="2606040" cy="2962656"/>
          </a:xfrm>
        </p:grpSpPr>
        <p:sp>
          <p:nvSpPr>
            <p:cNvPr id="16" name="Rounded Rectangle 15"/>
            <p:cNvSpPr/>
            <p:nvPr/>
          </p:nvSpPr>
          <p:spPr>
            <a:xfrm>
              <a:off x="3188970" y="1009650"/>
              <a:ext cx="2606040" cy="2962656"/>
            </a:xfrm>
            <a:prstGeom prst="roundRect">
              <a:avLst>
                <a:gd name="adj" fmla="val 4000"/>
              </a:avLst>
            </a:prstGeom>
            <a:solidFill>
              <a:srgbClr val="1E293B"/>
            </a:solidFill>
            <a:ln w="19050">
              <a:solidFill>
                <a:srgbClr val="EC489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188970" y="1064514"/>
              <a:ext cx="2606040" cy="34290"/>
            </a:xfrm>
            <a:prstGeom prst="rect">
              <a:avLst/>
            </a:prstGeom>
            <a:solidFill>
              <a:srgbClr val="EC48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3806190" y="1181100"/>
              <a:ext cx="1371600" cy="342900"/>
            </a:xfrm>
            <a:prstGeom prst="roundRect">
              <a:avLst>
                <a:gd name="adj" fmla="val 8000"/>
              </a:avLst>
            </a:prstGeom>
            <a:solidFill>
              <a:srgbClr val="162033"/>
            </a:solidFill>
            <a:ln w="19050">
              <a:solidFill>
                <a:srgbClr val="EC489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200" b="1">
                  <a:solidFill>
                    <a:srgbClr val="EC4899"/>
                  </a:solidFill>
                  <a:latin typeface="Segoe UI"/>
                </a:defRPr>
              </a:pPr>
              <a:r>
                <a:rPr sz="900"/>
                <a:t>DECODER ONLY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326130" y="1626870"/>
              <a:ext cx="2331720" cy="2654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500" b="1">
                  <a:solidFill>
                    <a:srgbClr val="FFFFFF"/>
                  </a:solidFill>
                  <a:latin typeface="Segoe UI"/>
                </a:defRPr>
              </a:pPr>
              <a:r>
                <a:rPr sz="1125"/>
                <a:t>Autoregressive Generation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326130" y="1901190"/>
              <a:ext cx="2331720" cy="13080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300"/>
                </a:spcAft>
                <a:defRPr sz="1100" b="1">
                  <a:solidFill>
                    <a:srgbClr val="94A3B8"/>
                  </a:solidFill>
                  <a:latin typeface="Segoe UI"/>
                </a:defRPr>
              </a:pPr>
              <a:r>
                <a:rPr sz="825" dirty="0"/>
                <a:t>How it works:</a:t>
              </a:r>
            </a:p>
            <a:p>
              <a:pPr>
                <a:spcAft>
                  <a:spcPts val="300"/>
                </a:spcAft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 dirty="0"/>
                <a:t>• Left-to-right, one token at a time</a:t>
              </a:r>
            </a:p>
            <a:p>
              <a:pPr>
                <a:spcAft>
                  <a:spcPts val="300"/>
                </a:spcAft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 dirty="0"/>
                <a:t>• Great at GENERATING text</a:t>
              </a:r>
            </a:p>
            <a:p>
              <a:pPr>
                <a:spcAft>
                  <a:spcPts val="300"/>
                </a:spcAft>
                <a:defRPr sz="500" b="0">
                  <a:solidFill>
                    <a:srgbClr val="B0B8C8"/>
                  </a:solidFill>
                  <a:latin typeface="Segoe UI"/>
                </a:defRPr>
              </a:pPr>
              <a:endParaRPr sz="375" dirty="0"/>
            </a:p>
            <a:p>
              <a:pPr>
                <a:spcAft>
                  <a:spcPts val="300"/>
                </a:spcAft>
                <a:defRPr sz="1100" b="1">
                  <a:solidFill>
                    <a:srgbClr val="94A3B8"/>
                  </a:solidFill>
                  <a:latin typeface="Segoe UI"/>
                </a:defRPr>
              </a:pPr>
              <a:r>
                <a:rPr sz="825" dirty="0"/>
                <a:t>Best for:</a:t>
              </a:r>
            </a:p>
            <a:p>
              <a:pPr>
                <a:spcAft>
                  <a:spcPts val="300"/>
                </a:spcAft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 dirty="0"/>
                <a:t>• Text generation &amp; chatbots</a:t>
              </a:r>
            </a:p>
            <a:p>
              <a:pPr>
                <a:spcAft>
                  <a:spcPts val="300"/>
                </a:spcAft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 dirty="0"/>
                <a:t>• Code generation</a:t>
              </a:r>
            </a:p>
            <a:p>
              <a:pPr>
                <a:spcAft>
                  <a:spcPts val="300"/>
                </a:spcAft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 dirty="0"/>
                <a:t>• Reasoning &amp; general-purpose AI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326130" y="3238500"/>
              <a:ext cx="233172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94A3B8"/>
                  </a:solidFill>
                  <a:latin typeface="Segoe UI"/>
                </a:defRPr>
              </a:pPr>
              <a:r>
                <a:rPr sz="750"/>
                <a:t>Key Models: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3326130" y="3409950"/>
              <a:ext cx="720090" cy="219456"/>
            </a:xfrm>
            <a:prstGeom prst="roundRect">
              <a:avLst>
                <a:gd name="adj" fmla="val 40000"/>
              </a:avLst>
            </a:prstGeom>
            <a:solidFill>
              <a:srgbClr val="EC48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GPT-4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4114800" y="3409950"/>
              <a:ext cx="720090" cy="219456"/>
            </a:xfrm>
            <a:prstGeom prst="roundRect">
              <a:avLst>
                <a:gd name="adj" fmla="val 40000"/>
              </a:avLst>
            </a:prstGeom>
            <a:solidFill>
              <a:srgbClr val="A78B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LLaMA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4903470" y="3409950"/>
              <a:ext cx="720090" cy="219456"/>
            </a:xfrm>
            <a:prstGeom prst="roundRect">
              <a:avLst>
                <a:gd name="adj" fmla="val 40000"/>
              </a:avLst>
            </a:prstGeom>
            <a:solidFill>
              <a:srgbClr val="EF444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Mistral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326130" y="3684270"/>
              <a:ext cx="233172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94A3B8"/>
                  </a:solidFill>
                  <a:latin typeface="Consolas"/>
                </a:defRPr>
              </a:pPr>
              <a:r>
                <a:rPr sz="675"/>
                <a:t>GPT-3: 175B  •  LLaMA-2: 70B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74D31F5-495E-B017-4C6D-2784C7D6D105}"/>
              </a:ext>
            </a:extLst>
          </p:cNvPr>
          <p:cNvGrpSpPr/>
          <p:nvPr/>
        </p:nvGrpSpPr>
        <p:grpSpPr>
          <a:xfrm>
            <a:off x="6000750" y="1009650"/>
            <a:ext cx="2606040" cy="2962656"/>
            <a:chOff x="6000750" y="1009650"/>
            <a:chExt cx="2606040" cy="2962656"/>
          </a:xfrm>
        </p:grpSpPr>
        <p:sp>
          <p:nvSpPr>
            <p:cNvPr id="26" name="Rounded Rectangle 25"/>
            <p:cNvSpPr/>
            <p:nvPr/>
          </p:nvSpPr>
          <p:spPr>
            <a:xfrm>
              <a:off x="6000750" y="1009650"/>
              <a:ext cx="2606040" cy="2962656"/>
            </a:xfrm>
            <a:prstGeom prst="roundRect">
              <a:avLst>
                <a:gd name="adj" fmla="val 4000"/>
              </a:avLst>
            </a:prstGeom>
            <a:solidFill>
              <a:srgbClr val="1E293B"/>
            </a:solidFill>
            <a:ln w="19050">
              <a:solidFill>
                <a:srgbClr val="F59E0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000750" y="1064514"/>
              <a:ext cx="2606040" cy="3429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6412230" y="1181100"/>
              <a:ext cx="1783080" cy="342900"/>
            </a:xfrm>
            <a:prstGeom prst="roundRect">
              <a:avLst>
                <a:gd name="adj" fmla="val 8000"/>
              </a:avLst>
            </a:prstGeom>
            <a:solidFill>
              <a:srgbClr val="162033"/>
            </a:solidFill>
            <a:ln w="19050">
              <a:solidFill>
                <a:srgbClr val="F59E0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200" b="1">
                  <a:solidFill>
                    <a:srgbClr val="F59E0B"/>
                  </a:solidFill>
                  <a:latin typeface="Segoe UI"/>
                </a:defRPr>
              </a:pPr>
              <a:r>
                <a:rPr sz="900"/>
                <a:t>ENCODER + DECODER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137910" y="1626870"/>
              <a:ext cx="2331720" cy="2654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500" b="1">
                  <a:solidFill>
                    <a:srgbClr val="FFFFFF"/>
                  </a:solidFill>
                  <a:latin typeface="Segoe UI"/>
                </a:defRPr>
              </a:pPr>
              <a:r>
                <a:rPr sz="1125"/>
                <a:t>Sequence-to-Sequence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137910" y="1901190"/>
              <a:ext cx="2331720" cy="13080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300"/>
                </a:spcAft>
                <a:defRPr sz="1100" b="1">
                  <a:solidFill>
                    <a:srgbClr val="94A3B8"/>
                  </a:solidFill>
                  <a:latin typeface="Segoe UI"/>
                </a:defRPr>
              </a:pPr>
              <a:r>
                <a:rPr sz="825" dirty="0"/>
                <a:t>How it works:</a:t>
              </a:r>
            </a:p>
            <a:p>
              <a:pPr>
                <a:spcAft>
                  <a:spcPts val="300"/>
                </a:spcAft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 dirty="0"/>
                <a:t>• Encoder reads input; decoder writes output</a:t>
              </a:r>
            </a:p>
            <a:p>
              <a:pPr>
                <a:spcAft>
                  <a:spcPts val="300"/>
                </a:spcAft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 dirty="0"/>
                <a:t>• Best of both worlds</a:t>
              </a:r>
            </a:p>
            <a:p>
              <a:pPr>
                <a:spcAft>
                  <a:spcPts val="300"/>
                </a:spcAft>
                <a:defRPr sz="500" b="0">
                  <a:solidFill>
                    <a:srgbClr val="B0B8C8"/>
                  </a:solidFill>
                  <a:latin typeface="Segoe UI"/>
                </a:defRPr>
              </a:pPr>
              <a:endParaRPr sz="375" dirty="0"/>
            </a:p>
            <a:p>
              <a:pPr>
                <a:spcAft>
                  <a:spcPts val="300"/>
                </a:spcAft>
                <a:defRPr sz="1100" b="1">
                  <a:solidFill>
                    <a:srgbClr val="94A3B8"/>
                  </a:solidFill>
                  <a:latin typeface="Segoe UI"/>
                </a:defRPr>
              </a:pPr>
              <a:r>
                <a:rPr sz="825" dirty="0"/>
                <a:t>Best for:</a:t>
              </a:r>
            </a:p>
            <a:p>
              <a:pPr>
                <a:spcAft>
                  <a:spcPts val="300"/>
                </a:spcAft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 dirty="0"/>
                <a:t>• Translation (Eng → French)</a:t>
              </a:r>
            </a:p>
            <a:p>
              <a:pPr>
                <a:spcAft>
                  <a:spcPts val="300"/>
                </a:spcAft>
                <a:defRPr sz="1100" b="1">
                  <a:solidFill>
                    <a:srgbClr val="FBBF24"/>
                  </a:solidFill>
                  <a:latin typeface="Segoe UI"/>
                </a:defRPr>
              </a:pPr>
              <a:r>
                <a:rPr sz="825" dirty="0"/>
                <a:t>• Text Summarization  ⬅ Our Lab!</a:t>
              </a:r>
            </a:p>
            <a:p>
              <a:pPr>
                <a:spcAft>
                  <a:spcPts val="300"/>
                </a:spcAft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 dirty="0"/>
                <a:t>• Question answering (generative)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137910" y="3238500"/>
              <a:ext cx="233172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94A3B8"/>
                  </a:solidFill>
                  <a:latin typeface="Segoe UI"/>
                </a:defRPr>
              </a:pPr>
              <a:r>
                <a:rPr sz="750"/>
                <a:t>Key Models: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6137910" y="3409950"/>
              <a:ext cx="720090" cy="219456"/>
            </a:xfrm>
            <a:prstGeom prst="roundRect">
              <a:avLst>
                <a:gd name="adj" fmla="val 40000"/>
              </a:avLst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T5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6926580" y="3409950"/>
              <a:ext cx="720090" cy="219456"/>
            </a:xfrm>
            <a:prstGeom prst="roundRect">
              <a:avLst>
                <a:gd name="adj" fmla="val 40000"/>
              </a:avLst>
            </a:prstGeom>
            <a:solidFill>
              <a:srgbClr val="22C55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BART</a:t>
              </a:r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7715250" y="3409950"/>
              <a:ext cx="720090" cy="219456"/>
            </a:xfrm>
            <a:prstGeom prst="roundRect">
              <a:avLst>
                <a:gd name="adj" fmla="val 40000"/>
              </a:avLst>
            </a:prstGeom>
            <a:solidFill>
              <a:srgbClr val="14B8A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mBART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137910" y="3684270"/>
              <a:ext cx="233172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94A3B8"/>
                  </a:solidFill>
                  <a:latin typeface="Consolas"/>
                </a:defRPr>
              </a:pPr>
              <a:r>
                <a:rPr sz="675"/>
                <a:t>T5-base: 220M  •  T5-large: 770M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E2EBF99-819D-9F28-5D75-2DF6551798C3}"/>
              </a:ext>
            </a:extLst>
          </p:cNvPr>
          <p:cNvGrpSpPr/>
          <p:nvPr/>
        </p:nvGrpSpPr>
        <p:grpSpPr>
          <a:xfrm>
            <a:off x="377190" y="4389120"/>
            <a:ext cx="8366760" cy="460995"/>
            <a:chOff x="377190" y="4389120"/>
            <a:chExt cx="8366760" cy="460995"/>
          </a:xfrm>
        </p:grpSpPr>
        <p:sp>
          <p:nvSpPr>
            <p:cNvPr id="36" name="Rounded Rectangle 35"/>
            <p:cNvSpPr/>
            <p:nvPr/>
          </p:nvSpPr>
          <p:spPr>
            <a:xfrm>
              <a:off x="377190" y="4389120"/>
              <a:ext cx="8366760" cy="411480"/>
            </a:xfrm>
            <a:prstGeom prst="roundRect">
              <a:avLst>
                <a:gd name="adj" fmla="val 4000"/>
              </a:avLst>
            </a:prstGeom>
            <a:solidFill>
              <a:srgbClr val="162033"/>
            </a:solidFill>
            <a:ln w="19050">
              <a:solidFill>
                <a:srgbClr val="FBBF2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48640" y="4457700"/>
              <a:ext cx="8023860" cy="3924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300" b="1">
                  <a:solidFill>
                    <a:srgbClr val="FBBF24"/>
                  </a:solidFill>
                  <a:latin typeface="Segoe UI"/>
                </a:defRPr>
              </a:pPr>
              <a:r>
                <a:rPr sz="975" dirty="0"/>
                <a:t>🎯  In our hands-on labs, we'll use T5 (encoder-decoder) for Text Summarization — the encoder reads the article, the decoder writes the summary.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9A5CD0FC-FB2F-4DE9-B25E-BABF05FB8188}"/>
              </a:ext>
            </a:extLst>
          </p:cNvPr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4" name="TextBox 3"/>
          <p:cNvSpPr txBox="1"/>
          <p:nvPr/>
        </p:nvSpPr>
        <p:spPr>
          <a:xfrm>
            <a:off x="354215" y="13631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sz="2400" dirty="0"/>
              <a:t>When to Use What?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4215" y="390821"/>
            <a:ext cx="6858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rPr sz="1050" dirty="0"/>
              <a:t>Every NLP task falls into one of three buckets </a:t>
            </a:r>
            <a:r>
              <a:rPr lang="en-IN" sz="1050" dirty="0"/>
              <a:t>- </a:t>
            </a:r>
            <a:r>
              <a:rPr sz="1050" dirty="0"/>
              <a:t>the bucket determines which architecture to choose.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5ECF2AA-6455-1656-0E77-E84CD646929A}"/>
              </a:ext>
            </a:extLst>
          </p:cNvPr>
          <p:cNvGrpSpPr/>
          <p:nvPr/>
        </p:nvGrpSpPr>
        <p:grpSpPr>
          <a:xfrm>
            <a:off x="2971570" y="756177"/>
            <a:ext cx="3086100" cy="356616"/>
            <a:chOff x="2971570" y="756177"/>
            <a:chExt cx="3086100" cy="356616"/>
          </a:xfrm>
        </p:grpSpPr>
        <p:sp>
          <p:nvSpPr>
            <p:cNvPr id="6" name="Rounded Rectangle 5"/>
            <p:cNvSpPr/>
            <p:nvPr/>
          </p:nvSpPr>
          <p:spPr>
            <a:xfrm>
              <a:off x="2971570" y="756177"/>
              <a:ext cx="3086100" cy="356616"/>
            </a:xfrm>
            <a:prstGeom prst="roundRect">
              <a:avLst>
                <a:gd name="adj" fmla="val 15000"/>
              </a:avLst>
            </a:prstGeom>
            <a:solidFill>
              <a:srgbClr val="162033"/>
            </a:solidFill>
            <a:ln w="19050">
              <a:solidFill>
                <a:srgbClr val="FBBF2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971570" y="756178"/>
              <a:ext cx="30861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600" b="1">
                  <a:solidFill>
                    <a:srgbClr val="FBBF24"/>
                  </a:solidFill>
                  <a:latin typeface="Segoe UI"/>
                </a:defRPr>
              </a:pPr>
              <a:r>
                <a:rPr sz="1200"/>
                <a:t>What does your task need?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1967514-0137-043F-A22E-6D82BFE3335E}"/>
              </a:ext>
            </a:extLst>
          </p:cNvPr>
          <p:cNvGrpSpPr/>
          <p:nvPr/>
        </p:nvGrpSpPr>
        <p:grpSpPr>
          <a:xfrm>
            <a:off x="399820" y="1387113"/>
            <a:ext cx="2468880" cy="3134106"/>
            <a:chOff x="399820" y="1387113"/>
            <a:chExt cx="2468880" cy="3134106"/>
          </a:xfrm>
        </p:grpSpPr>
        <p:sp>
          <p:nvSpPr>
            <p:cNvPr id="11" name="Rounded Rectangle 10"/>
            <p:cNvSpPr/>
            <p:nvPr/>
          </p:nvSpPr>
          <p:spPr>
            <a:xfrm>
              <a:off x="605560" y="1387113"/>
              <a:ext cx="2057400" cy="329184"/>
            </a:xfrm>
            <a:prstGeom prst="roundRect">
              <a:avLst>
                <a:gd name="adj" fmla="val 40000"/>
              </a:avLst>
            </a:prstGeom>
            <a:solidFill>
              <a:srgbClr val="3B8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400" b="1">
                  <a:solidFill>
                    <a:srgbClr val="FFFFFF"/>
                  </a:solidFill>
                  <a:latin typeface="Segoe UI"/>
                </a:defRPr>
              </a:pPr>
              <a:r>
                <a:rPr sz="1050"/>
                <a:t>UNDERSTAND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05560" y="1730013"/>
              <a:ext cx="205740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94A3B8"/>
                  </a:solidFill>
                  <a:latin typeface="Segoe UI"/>
                </a:defRPr>
              </a:pPr>
              <a:r>
                <a:rPr sz="750"/>
                <a:t>Read text, tell me about it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620544" y="1949469"/>
              <a:ext cx="27432" cy="240030"/>
            </a:xfrm>
            <a:prstGeom prst="rect">
              <a:avLst/>
            </a:prstGeom>
            <a:solidFill>
              <a:srgbClr val="94A3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399820" y="2223789"/>
              <a:ext cx="2468880" cy="2297430"/>
            </a:xfrm>
            <a:prstGeom prst="roundRect">
              <a:avLst>
                <a:gd name="adj" fmla="val 4000"/>
              </a:avLst>
            </a:prstGeom>
            <a:solidFill>
              <a:srgbClr val="1E293B"/>
            </a:solidFill>
            <a:ln w="19050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399820" y="2223789"/>
              <a:ext cx="2468880" cy="34290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36980" y="2326660"/>
              <a:ext cx="219456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600" b="1">
                  <a:solidFill>
                    <a:srgbClr val="3B82F6"/>
                  </a:solidFill>
                  <a:latin typeface="Segoe UI"/>
                </a:defRPr>
              </a:pPr>
              <a:r>
                <a:rPr sz="1200"/>
                <a:t>Encoder-Only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36980" y="2552973"/>
              <a:ext cx="219456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94A3B8"/>
                  </a:solidFill>
                  <a:latin typeface="Segoe UI"/>
                </a:defRPr>
              </a:pPr>
              <a:r>
                <a:rPr sz="675"/>
                <a:t>READER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36980" y="2717565"/>
              <a:ext cx="2194560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BERT  |  RoBERTa  |  DeBERTa</a:t>
              </a:r>
              <a:br>
                <a:rPr sz="750"/>
              </a:br>
              <a:r>
                <a:rPr sz="750"/>
                <a:t>DistilBERT  |  ALBERT  |  E5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536980" y="3101613"/>
              <a:ext cx="2194560" cy="10287"/>
            </a:xfrm>
            <a:prstGeom prst="rect">
              <a:avLst/>
            </a:prstGeom>
            <a:solidFill>
              <a:srgbClr val="33445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02690" y="3170193"/>
              <a:ext cx="2263140" cy="6309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225"/>
                </a:spcAft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  Bidirectional context (sees all words)</a:t>
              </a:r>
            </a:p>
            <a:p>
              <a:pPr>
                <a:spcAft>
                  <a:spcPts val="225"/>
                </a:spcAft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  Fast inference, small models</a:t>
              </a:r>
            </a:p>
            <a:p>
              <a:pPr>
                <a:spcAft>
                  <a:spcPts val="225"/>
                </a:spcAft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  Great embeddings for search/RAG</a:t>
              </a:r>
            </a:p>
            <a:p>
              <a:pPr>
                <a:spcAft>
                  <a:spcPts val="225"/>
                </a:spcAft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  Cheap to deploy in production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1D586A6-4159-2E0C-1BC6-2E965B0EF730}"/>
              </a:ext>
            </a:extLst>
          </p:cNvPr>
          <p:cNvGrpSpPr/>
          <p:nvPr/>
        </p:nvGrpSpPr>
        <p:grpSpPr>
          <a:xfrm>
            <a:off x="3280180" y="1387113"/>
            <a:ext cx="2468880" cy="3134106"/>
            <a:chOff x="3280180" y="1387113"/>
            <a:chExt cx="2468880" cy="3134106"/>
          </a:xfrm>
        </p:grpSpPr>
        <p:sp>
          <p:nvSpPr>
            <p:cNvPr id="13" name="Rounded Rectangle 12"/>
            <p:cNvSpPr/>
            <p:nvPr/>
          </p:nvSpPr>
          <p:spPr>
            <a:xfrm>
              <a:off x="3485920" y="1387113"/>
              <a:ext cx="2057400" cy="329184"/>
            </a:xfrm>
            <a:prstGeom prst="roundRect">
              <a:avLst>
                <a:gd name="adj" fmla="val 40000"/>
              </a:avLst>
            </a:prstGeom>
            <a:solidFill>
              <a:srgbClr val="A78B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400" b="1">
                  <a:solidFill>
                    <a:srgbClr val="FFFFFF"/>
                  </a:solidFill>
                  <a:latin typeface="Segoe UI"/>
                </a:defRPr>
              </a:pPr>
              <a:r>
                <a:rPr sz="1050"/>
                <a:t>GENERATE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485920" y="1730013"/>
              <a:ext cx="205740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94A3B8"/>
                  </a:solidFill>
                  <a:latin typeface="Segoe UI"/>
                </a:defRPr>
              </a:pPr>
              <a:r>
                <a:rPr sz="750"/>
                <a:t>Create new text from scratch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500904" y="1949469"/>
              <a:ext cx="27432" cy="240030"/>
            </a:xfrm>
            <a:prstGeom prst="rect">
              <a:avLst/>
            </a:prstGeom>
            <a:solidFill>
              <a:srgbClr val="94A3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3280180" y="2223789"/>
              <a:ext cx="2468880" cy="2297430"/>
            </a:xfrm>
            <a:prstGeom prst="roundRect">
              <a:avLst>
                <a:gd name="adj" fmla="val 4000"/>
              </a:avLst>
            </a:prstGeom>
            <a:solidFill>
              <a:srgbClr val="1E293B"/>
            </a:solidFill>
            <a:ln w="19050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280180" y="2223789"/>
              <a:ext cx="2468880" cy="34290"/>
            </a:xfrm>
            <a:prstGeom prst="rect">
              <a:avLst/>
            </a:prstGeom>
            <a:solidFill>
              <a:srgbClr val="A78B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417340" y="2326660"/>
              <a:ext cx="219456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600" b="1">
                  <a:solidFill>
                    <a:srgbClr val="A78BFA"/>
                  </a:solidFill>
                  <a:latin typeface="Segoe UI"/>
                </a:defRPr>
              </a:pPr>
              <a:r>
                <a:rPr sz="1200"/>
                <a:t>Decoder-Only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417340" y="2552973"/>
              <a:ext cx="219456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94A3B8"/>
                  </a:solidFill>
                  <a:latin typeface="Segoe UI"/>
                </a:defRPr>
              </a:pPr>
              <a:r>
                <a:rPr sz="675" dirty="0"/>
                <a:t>WRITER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417340" y="2717565"/>
              <a:ext cx="2194560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GPT-4  |  LLaMA 3  |  Mistral</a:t>
              </a:r>
              <a:br>
                <a:rPr sz="750"/>
              </a:br>
              <a:r>
                <a:rPr sz="750"/>
                <a:t>Falcon  |  Phi-3  |  Claude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3417340" y="3101613"/>
              <a:ext cx="2194560" cy="10287"/>
            </a:xfrm>
            <a:prstGeom prst="rect">
              <a:avLst/>
            </a:prstGeom>
            <a:solidFill>
              <a:srgbClr val="33445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383050" y="3170193"/>
              <a:ext cx="2263140" cy="6309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225"/>
                </a:spcAft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  Best generation quality</a:t>
              </a:r>
            </a:p>
            <a:p>
              <a:pPr>
                <a:spcAft>
                  <a:spcPts val="225"/>
                </a:spcAft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  Longest context windows</a:t>
              </a:r>
            </a:p>
            <a:p>
              <a:pPr>
                <a:spcAft>
                  <a:spcPts val="225"/>
                </a:spcAft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  Most flexible (any task via prompting)</a:t>
              </a:r>
            </a:p>
            <a:p>
              <a:pPr>
                <a:spcAft>
                  <a:spcPts val="225"/>
                </a:spcAft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  Dominant in chatbots &amp; agents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6E134DAF-53E0-633F-CCA4-A056C61ACC2D}"/>
              </a:ext>
            </a:extLst>
          </p:cNvPr>
          <p:cNvGrpSpPr/>
          <p:nvPr/>
        </p:nvGrpSpPr>
        <p:grpSpPr>
          <a:xfrm>
            <a:off x="6160540" y="1387113"/>
            <a:ext cx="2468880" cy="3134106"/>
            <a:chOff x="6160540" y="1387113"/>
            <a:chExt cx="2468880" cy="3134106"/>
          </a:xfrm>
        </p:grpSpPr>
        <p:sp>
          <p:nvSpPr>
            <p:cNvPr id="15" name="Rounded Rectangle 14"/>
            <p:cNvSpPr/>
            <p:nvPr/>
          </p:nvSpPr>
          <p:spPr>
            <a:xfrm>
              <a:off x="6366280" y="1387113"/>
              <a:ext cx="2057400" cy="329184"/>
            </a:xfrm>
            <a:prstGeom prst="roundRect">
              <a:avLst>
                <a:gd name="adj" fmla="val 40000"/>
              </a:avLst>
            </a:prstGeom>
            <a:solidFill>
              <a:srgbClr val="14B8A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400" b="1">
                  <a:solidFill>
                    <a:srgbClr val="FFFFFF"/>
                  </a:solidFill>
                  <a:latin typeface="Segoe UI"/>
                </a:defRPr>
              </a:pPr>
              <a:r>
                <a:rPr sz="1050"/>
                <a:t>TRANSFORM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366280" y="1730013"/>
              <a:ext cx="205740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94A3B8"/>
                  </a:solidFill>
                  <a:latin typeface="Segoe UI"/>
                </a:defRPr>
              </a:pPr>
              <a:r>
                <a:rPr sz="750"/>
                <a:t>Read input, produce output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7381264" y="1949469"/>
              <a:ext cx="27432" cy="240030"/>
            </a:xfrm>
            <a:prstGeom prst="rect">
              <a:avLst/>
            </a:prstGeom>
            <a:solidFill>
              <a:srgbClr val="94A3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6160540" y="2223789"/>
              <a:ext cx="2468880" cy="2297430"/>
            </a:xfrm>
            <a:prstGeom prst="roundRect">
              <a:avLst>
                <a:gd name="adj" fmla="val 4000"/>
              </a:avLst>
            </a:prstGeom>
            <a:solidFill>
              <a:srgbClr val="1E293B"/>
            </a:solidFill>
            <a:ln w="19050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6160540" y="2223789"/>
              <a:ext cx="2468880" cy="34290"/>
            </a:xfrm>
            <a:prstGeom prst="rect">
              <a:avLst/>
            </a:prstGeom>
            <a:solidFill>
              <a:srgbClr val="14B8A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297700" y="2326660"/>
              <a:ext cx="219456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600" b="1">
                  <a:solidFill>
                    <a:srgbClr val="14B8A6"/>
                  </a:solidFill>
                  <a:latin typeface="Segoe UI"/>
                </a:defRPr>
              </a:pPr>
              <a:r>
                <a:rPr sz="1200" dirty="0"/>
                <a:t>Encoder-Decoder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297700" y="2552973"/>
              <a:ext cx="219456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94A3B8"/>
                  </a:solidFill>
                  <a:latin typeface="Segoe UI"/>
                </a:defRPr>
              </a:pPr>
              <a:r>
                <a:rPr sz="675"/>
                <a:t>TRANSLATOR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297700" y="2717565"/>
              <a:ext cx="2194560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T5  |  BART  |  Pegasus</a:t>
              </a:r>
              <a:br>
                <a:rPr sz="750"/>
              </a:br>
              <a:r>
                <a:rPr sz="750"/>
                <a:t>mBART  |  MarianMT  |  Flan-T5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6297700" y="3101613"/>
              <a:ext cx="2194560" cy="10287"/>
            </a:xfrm>
            <a:prstGeom prst="rect">
              <a:avLst/>
            </a:prstGeom>
            <a:solidFill>
              <a:srgbClr val="33445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263410" y="3170193"/>
              <a:ext cx="2263140" cy="6309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225"/>
                </a:spcAft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  Best for input-to-output tasks</a:t>
              </a:r>
            </a:p>
            <a:p>
              <a:pPr>
                <a:spcAft>
                  <a:spcPts val="225"/>
                </a:spcAft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  Parameter efficient for transforms</a:t>
              </a:r>
            </a:p>
            <a:p>
              <a:pPr>
                <a:spcAft>
                  <a:spcPts val="225"/>
                </a:spcAft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  Clean text-to-text API</a:t>
              </a:r>
            </a:p>
            <a:p>
              <a:pPr>
                <a:spcAft>
                  <a:spcPts val="225"/>
                </a:spcAft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  Our lab model! (T5-small)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96BB304-4407-CD44-410B-36F9A60F500E}"/>
              </a:ext>
            </a:extLst>
          </p:cNvPr>
          <p:cNvGrpSpPr/>
          <p:nvPr/>
        </p:nvGrpSpPr>
        <p:grpSpPr>
          <a:xfrm>
            <a:off x="354215" y="4644663"/>
            <a:ext cx="8298180" cy="387397"/>
            <a:chOff x="354215" y="4644663"/>
            <a:chExt cx="8298180" cy="387397"/>
          </a:xfrm>
        </p:grpSpPr>
        <p:sp>
          <p:nvSpPr>
            <p:cNvPr id="41" name="Rounded Rectangle 40"/>
            <p:cNvSpPr/>
            <p:nvPr/>
          </p:nvSpPr>
          <p:spPr>
            <a:xfrm>
              <a:off x="354215" y="4644663"/>
              <a:ext cx="8298180" cy="342900"/>
            </a:xfrm>
            <a:prstGeom prst="roundRect">
              <a:avLst>
                <a:gd name="adj" fmla="val 4000"/>
              </a:avLst>
            </a:prstGeom>
            <a:solidFill>
              <a:srgbClr val="162033"/>
            </a:solidFill>
            <a:ln w="19050">
              <a:solidFill>
                <a:srgbClr val="F59E0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25665" y="4685811"/>
              <a:ext cx="7955280" cy="3462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/>
                <a:t>Real-world tip:  Modern decoder-only models (GPT-4, LLaMA) can do ALL tasks via prompting  but specialised architectures are faster, cheaper, and often better for their niche.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75">
            <a:extLst>
              <a:ext uri="{FF2B5EF4-FFF2-40B4-BE49-F238E27FC236}">
                <a16:creationId xmlns:a16="http://schemas.microsoft.com/office/drawing/2014/main" id="{070CB0C4-F808-CF1A-DF11-D159A7644BD8}"/>
              </a:ext>
            </a:extLst>
          </p:cNvPr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4" name="TextBox 3"/>
          <p:cNvSpPr txBox="1"/>
          <p:nvPr/>
        </p:nvSpPr>
        <p:spPr>
          <a:xfrm>
            <a:off x="411480" y="13439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sz="2400" dirty="0"/>
              <a:t>Task-to-Architecture Cheat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90629"/>
            <a:ext cx="6858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rPr sz="1050"/>
              <a:t>A quick reference for choosing the right Transformer variant for your NLP task.</a:t>
            </a: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344518D4-C107-F09B-13D3-C3E23A6D3D93}"/>
              </a:ext>
            </a:extLst>
          </p:cNvPr>
          <p:cNvGrpSpPr/>
          <p:nvPr/>
        </p:nvGrpSpPr>
        <p:grpSpPr>
          <a:xfrm>
            <a:off x="411480" y="900566"/>
            <a:ext cx="8298180" cy="1453896"/>
            <a:chOff x="411480" y="900566"/>
            <a:chExt cx="8298180" cy="1453896"/>
          </a:xfrm>
        </p:grpSpPr>
        <p:sp>
          <p:nvSpPr>
            <p:cNvPr id="6" name="Rectangle 5"/>
            <p:cNvSpPr/>
            <p:nvPr/>
          </p:nvSpPr>
          <p:spPr>
            <a:xfrm>
              <a:off x="411480" y="900566"/>
              <a:ext cx="8298180" cy="301752"/>
            </a:xfrm>
            <a:prstGeom prst="rect">
              <a:avLst/>
            </a:prstGeom>
            <a:solidFill>
              <a:srgbClr val="1A25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93776" y="941715"/>
              <a:ext cx="178308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FBBF24"/>
                  </a:solidFill>
                  <a:latin typeface="Segoe UI"/>
                </a:defRPr>
              </a:pPr>
              <a:r>
                <a:rPr sz="825"/>
                <a:t>Task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414016" y="941715"/>
              <a:ext cx="89154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FBBF24"/>
                  </a:solidFill>
                  <a:latin typeface="Segoe UI"/>
                </a:defRPr>
              </a:pPr>
              <a:r>
                <a:rPr sz="825"/>
                <a:t>Bucket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442716" y="941715"/>
              <a:ext cx="150876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FBBF24"/>
                  </a:solidFill>
                  <a:latin typeface="Segoe UI"/>
                </a:defRPr>
              </a:pPr>
              <a:r>
                <a:rPr sz="825"/>
                <a:t>Architecture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088636" y="941715"/>
              <a:ext cx="356616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FBBF24"/>
                  </a:solidFill>
                  <a:latin typeface="Segoe UI"/>
                </a:defRPr>
              </a:pPr>
              <a:r>
                <a:rPr sz="825"/>
                <a:t>Why This Works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11480" y="1202318"/>
              <a:ext cx="8298180" cy="288036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11480" y="1202318"/>
              <a:ext cx="27432" cy="288036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14350" y="1243467"/>
              <a:ext cx="174879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FFFFFF"/>
                  </a:solidFill>
                  <a:latin typeface="Segoe UI"/>
                </a:defRPr>
              </a:pPr>
              <a:r>
                <a:rPr sz="750"/>
                <a:t>Sentiment Analysis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414016" y="1243467"/>
              <a:ext cx="89154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3B82F6"/>
                  </a:solidFill>
                  <a:latin typeface="Segoe UI"/>
                </a:defRPr>
              </a:pPr>
              <a:r>
                <a:rPr sz="750"/>
                <a:t>Understand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442716" y="1243467"/>
              <a:ext cx="15087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3B82F6"/>
                  </a:solidFill>
                  <a:latin typeface="Segoe UI"/>
                </a:defRPr>
              </a:pPr>
              <a:r>
                <a:rPr sz="750"/>
                <a:t>Encoder-Only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088636" y="1243467"/>
              <a:ext cx="35661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Needs full bidirectional context to classify tone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411480" y="1490354"/>
              <a:ext cx="8298180" cy="288036"/>
            </a:xfrm>
            <a:prstGeom prst="rect">
              <a:avLst/>
            </a:prstGeom>
            <a:solidFill>
              <a:srgbClr val="1620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11480" y="1490354"/>
              <a:ext cx="27432" cy="288036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14350" y="1531503"/>
              <a:ext cx="174879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FFFFFF"/>
                  </a:solidFill>
                  <a:latin typeface="Segoe UI"/>
                </a:defRPr>
              </a:pPr>
              <a:r>
                <a:rPr sz="750"/>
                <a:t>Named Entity Recognition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414016" y="1531503"/>
              <a:ext cx="89154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3B82F6"/>
                  </a:solidFill>
                  <a:latin typeface="Segoe UI"/>
                </a:defRPr>
              </a:pPr>
              <a:r>
                <a:rPr sz="750"/>
                <a:t>Understand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442716" y="1531503"/>
              <a:ext cx="15087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3B82F6"/>
                  </a:solidFill>
                  <a:latin typeface="Segoe UI"/>
                </a:defRPr>
              </a:pPr>
              <a:r>
                <a:rPr sz="750"/>
                <a:t>Encoder-Only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088636" y="1531503"/>
              <a:ext cx="35661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Each token needs context from both left and right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11480" y="1778390"/>
              <a:ext cx="8298180" cy="288036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411480" y="1778390"/>
              <a:ext cx="27432" cy="288036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14350" y="1819539"/>
              <a:ext cx="174879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FFFFFF"/>
                  </a:solidFill>
                  <a:latin typeface="Segoe UI"/>
                </a:defRPr>
              </a:pPr>
              <a:r>
                <a:rPr sz="750"/>
                <a:t>Semantic Search / RAG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414016" y="1819539"/>
              <a:ext cx="89154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3B82F6"/>
                  </a:solidFill>
                  <a:latin typeface="Segoe UI"/>
                </a:defRPr>
              </a:pPr>
              <a:r>
                <a:rPr sz="750"/>
                <a:t>Understand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442716" y="1819539"/>
              <a:ext cx="15087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3B82F6"/>
                  </a:solidFill>
                  <a:latin typeface="Segoe UI"/>
                </a:defRPr>
              </a:pPr>
              <a:r>
                <a:rPr sz="750"/>
                <a:t>Encoder-Only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088636" y="1819539"/>
              <a:ext cx="35661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Produces dense embeddings for similarity matching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411480" y="2066426"/>
              <a:ext cx="8298180" cy="288036"/>
            </a:xfrm>
            <a:prstGeom prst="rect">
              <a:avLst/>
            </a:prstGeom>
            <a:solidFill>
              <a:srgbClr val="1620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411480" y="2066426"/>
              <a:ext cx="27432" cy="288036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14350" y="2107575"/>
              <a:ext cx="174879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FFFFFF"/>
                  </a:solidFill>
                  <a:latin typeface="Segoe UI"/>
                </a:defRPr>
              </a:pPr>
              <a:r>
                <a:rPr sz="750"/>
                <a:t>Sentence Similarity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2414016" y="2107575"/>
              <a:ext cx="89154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3B82F6"/>
                  </a:solidFill>
                  <a:latin typeface="Segoe UI"/>
                </a:defRPr>
              </a:pPr>
              <a:r>
                <a:rPr sz="750"/>
                <a:t>Understand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442716" y="2107575"/>
              <a:ext cx="15087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3B82F6"/>
                  </a:solidFill>
                  <a:latin typeface="Segoe UI"/>
                </a:defRPr>
              </a:pPr>
              <a:r>
                <a:rPr sz="750"/>
                <a:t>Encoder-Only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088636" y="2107575"/>
              <a:ext cx="35661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Encode both sentences, compare vector distances</a:t>
              </a: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25B938D8-40B3-9746-DBE9-8D048520C2BD}"/>
              </a:ext>
            </a:extLst>
          </p:cNvPr>
          <p:cNvGrpSpPr/>
          <p:nvPr/>
        </p:nvGrpSpPr>
        <p:grpSpPr>
          <a:xfrm>
            <a:off x="411480" y="2354462"/>
            <a:ext cx="8298180" cy="864108"/>
            <a:chOff x="411480" y="2354462"/>
            <a:chExt cx="8298180" cy="864108"/>
          </a:xfrm>
        </p:grpSpPr>
        <p:sp>
          <p:nvSpPr>
            <p:cNvPr id="35" name="Rectangle 34"/>
            <p:cNvSpPr/>
            <p:nvPr/>
          </p:nvSpPr>
          <p:spPr>
            <a:xfrm>
              <a:off x="411480" y="2354462"/>
              <a:ext cx="8298180" cy="288036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411480" y="2354462"/>
              <a:ext cx="27432" cy="288036"/>
            </a:xfrm>
            <a:prstGeom prst="rect">
              <a:avLst/>
            </a:prstGeom>
            <a:solidFill>
              <a:srgbClr val="A78B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14350" y="2395611"/>
              <a:ext cx="174879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FFFFFF"/>
                  </a:solidFill>
                  <a:latin typeface="Segoe UI"/>
                </a:defRPr>
              </a:pPr>
              <a:r>
                <a:rPr sz="750"/>
                <a:t>Chatbot / Conversational AI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2414016" y="2395611"/>
              <a:ext cx="89154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A78BFA"/>
                  </a:solidFill>
                  <a:latin typeface="Segoe UI"/>
                </a:defRPr>
              </a:pPr>
              <a:r>
                <a:rPr sz="750"/>
                <a:t>Generate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442716" y="2395611"/>
              <a:ext cx="15087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A78BFA"/>
                  </a:solidFill>
                  <a:latin typeface="Segoe UI"/>
                </a:defRPr>
              </a:pPr>
              <a:r>
                <a:rPr sz="750"/>
                <a:t>Decoder-Only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088636" y="2395611"/>
              <a:ext cx="35661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Autoregressive generation with long context windows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411480" y="2642498"/>
              <a:ext cx="8298180" cy="288036"/>
            </a:xfrm>
            <a:prstGeom prst="rect">
              <a:avLst/>
            </a:prstGeom>
            <a:solidFill>
              <a:srgbClr val="1620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411480" y="2642498"/>
              <a:ext cx="27432" cy="288036"/>
            </a:xfrm>
            <a:prstGeom prst="rect">
              <a:avLst/>
            </a:prstGeom>
            <a:solidFill>
              <a:srgbClr val="A78B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14350" y="2683647"/>
              <a:ext cx="174879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FFFFFF"/>
                  </a:solidFill>
                  <a:latin typeface="Segoe UI"/>
                </a:defRPr>
              </a:pPr>
              <a:r>
                <a:rPr sz="750" dirty="0"/>
                <a:t>Code Generation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2414016" y="2683647"/>
              <a:ext cx="89154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A78BFA"/>
                  </a:solidFill>
                  <a:latin typeface="Segoe UI"/>
                </a:defRPr>
              </a:pPr>
              <a:r>
                <a:rPr sz="750"/>
                <a:t>Generate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3442716" y="2683647"/>
              <a:ext cx="15087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A78BFA"/>
                  </a:solidFill>
                  <a:latin typeface="Segoe UI"/>
                </a:defRPr>
              </a:pPr>
              <a:r>
                <a:rPr sz="750"/>
                <a:t>Decoder-Only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5088636" y="2683647"/>
              <a:ext cx="35661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Code is sequential; predict next token naturally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411480" y="2930534"/>
              <a:ext cx="8298180" cy="288036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411480" y="2930534"/>
              <a:ext cx="27432" cy="288036"/>
            </a:xfrm>
            <a:prstGeom prst="rect">
              <a:avLst/>
            </a:prstGeom>
            <a:solidFill>
              <a:srgbClr val="A78B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14350" y="2971683"/>
              <a:ext cx="174879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FFFFFF"/>
                  </a:solidFill>
                  <a:latin typeface="Segoe UI"/>
                </a:defRPr>
              </a:pPr>
              <a:r>
                <a:rPr sz="750"/>
                <a:t>Reasoning / Chain-of-Thought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2414016" y="2971683"/>
              <a:ext cx="89154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A78BFA"/>
                  </a:solidFill>
                  <a:latin typeface="Segoe UI"/>
                </a:defRPr>
              </a:pPr>
              <a:r>
                <a:rPr sz="750"/>
                <a:t>Generate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442716" y="2971683"/>
              <a:ext cx="15087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A78BFA"/>
                  </a:solidFill>
                  <a:latin typeface="Segoe UI"/>
                </a:defRPr>
              </a:pPr>
              <a:r>
                <a:rPr sz="750"/>
                <a:t>Decoder-Only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5088636" y="2971683"/>
              <a:ext cx="35661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Step-by-step token generation for logical chains</a:t>
              </a: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DB7C7654-6E3C-8509-81BA-1C5E4D4DD14B}"/>
              </a:ext>
            </a:extLst>
          </p:cNvPr>
          <p:cNvGrpSpPr/>
          <p:nvPr/>
        </p:nvGrpSpPr>
        <p:grpSpPr>
          <a:xfrm>
            <a:off x="411480" y="3218570"/>
            <a:ext cx="8298180" cy="864108"/>
            <a:chOff x="411480" y="3218570"/>
            <a:chExt cx="8298180" cy="864108"/>
          </a:xfrm>
        </p:grpSpPr>
        <p:sp>
          <p:nvSpPr>
            <p:cNvPr id="53" name="Rectangle 52"/>
            <p:cNvSpPr/>
            <p:nvPr/>
          </p:nvSpPr>
          <p:spPr>
            <a:xfrm>
              <a:off x="411480" y="3218570"/>
              <a:ext cx="8298180" cy="288036"/>
            </a:xfrm>
            <a:prstGeom prst="rect">
              <a:avLst/>
            </a:prstGeom>
            <a:solidFill>
              <a:srgbClr val="1620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411480" y="3218570"/>
              <a:ext cx="27432" cy="288036"/>
            </a:xfrm>
            <a:prstGeom prst="rect">
              <a:avLst/>
            </a:prstGeom>
            <a:solidFill>
              <a:srgbClr val="14B8A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514350" y="3259719"/>
              <a:ext cx="174879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FFFFFF"/>
                  </a:solidFill>
                  <a:latin typeface="Segoe UI"/>
                </a:defRPr>
              </a:pPr>
              <a:r>
                <a:rPr sz="750"/>
                <a:t>Translation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2414016" y="3259719"/>
              <a:ext cx="89154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14B8A6"/>
                  </a:solidFill>
                  <a:latin typeface="Segoe UI"/>
                </a:defRPr>
              </a:pPr>
              <a:r>
                <a:rPr sz="750"/>
                <a:t>Transform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3442716" y="3259719"/>
              <a:ext cx="15087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14B8A6"/>
                  </a:solidFill>
                  <a:latin typeface="Segoe UI"/>
                </a:defRPr>
              </a:pPr>
              <a:r>
                <a:rPr sz="750"/>
                <a:t>Encoder-Decoder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5088636" y="3259719"/>
              <a:ext cx="35661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Read full source, then generate in target language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411480" y="3506606"/>
              <a:ext cx="8298180" cy="288036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411480" y="3506606"/>
              <a:ext cx="27432" cy="288036"/>
            </a:xfrm>
            <a:prstGeom prst="rect">
              <a:avLst/>
            </a:prstGeom>
            <a:solidFill>
              <a:srgbClr val="14B8A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514350" y="3547755"/>
              <a:ext cx="174879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FFFFFF"/>
                  </a:solidFill>
                  <a:latin typeface="Segoe UI"/>
                </a:defRPr>
              </a:pPr>
              <a:r>
                <a:rPr sz="750"/>
                <a:t>Summarization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2414016" y="3547755"/>
              <a:ext cx="89154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14B8A6"/>
                  </a:solidFill>
                  <a:latin typeface="Segoe UI"/>
                </a:defRPr>
              </a:pPr>
              <a:r>
                <a:rPr sz="750"/>
                <a:t>Transform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3442716" y="3547755"/>
              <a:ext cx="15087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14B8A6"/>
                  </a:solidFill>
                  <a:latin typeface="Segoe UI"/>
                </a:defRPr>
              </a:pPr>
              <a:r>
                <a:rPr sz="750"/>
                <a:t>Encoder-Decoder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5088636" y="3547755"/>
              <a:ext cx="35661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FBBF24"/>
                  </a:solidFill>
                  <a:latin typeface="Segoe UI"/>
                </a:defRPr>
              </a:pPr>
              <a:r>
                <a:rPr sz="750" dirty="0"/>
                <a:t>Read full article, generate concise summary </a:t>
              </a: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411480" y="3794642"/>
              <a:ext cx="8298180" cy="288036"/>
            </a:xfrm>
            <a:prstGeom prst="rect">
              <a:avLst/>
            </a:prstGeom>
            <a:solidFill>
              <a:srgbClr val="1620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411480" y="3794642"/>
              <a:ext cx="27432" cy="288036"/>
            </a:xfrm>
            <a:prstGeom prst="rect">
              <a:avLst/>
            </a:prstGeom>
            <a:solidFill>
              <a:srgbClr val="14B8A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514350" y="3835791"/>
              <a:ext cx="174879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FFFFFF"/>
                  </a:solidFill>
                  <a:latin typeface="Segoe UI"/>
                </a:defRPr>
              </a:pPr>
              <a:r>
                <a:rPr sz="750"/>
                <a:t>Question Answering (gen.)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2414016" y="3835791"/>
              <a:ext cx="89154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14B8A6"/>
                  </a:solidFill>
                  <a:latin typeface="Segoe UI"/>
                </a:defRPr>
              </a:pPr>
              <a:r>
                <a:rPr sz="750"/>
                <a:t>Transform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3442716" y="3835791"/>
              <a:ext cx="15087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14B8A6"/>
                  </a:solidFill>
                  <a:latin typeface="Segoe UI"/>
                </a:defRPr>
              </a:pPr>
              <a:r>
                <a:rPr sz="750"/>
                <a:t>Encoder-Decoder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5088636" y="3835791"/>
              <a:ext cx="35661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Read context + question, generate answer text</a:t>
              </a:r>
            </a:p>
          </p:txBody>
        </p:sp>
        <p:sp>
          <p:nvSpPr>
            <p:cNvPr id="71" name="Rounded Rectangle 70"/>
            <p:cNvSpPr/>
            <p:nvPr/>
          </p:nvSpPr>
          <p:spPr>
            <a:xfrm>
              <a:off x="7669530" y="3546711"/>
              <a:ext cx="960120" cy="205740"/>
            </a:xfrm>
            <a:prstGeom prst="roundRect">
              <a:avLst>
                <a:gd name="adj" fmla="val 40000"/>
              </a:avLst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FFFFFF"/>
                  </a:solidFill>
                  <a:latin typeface="Segoe UI"/>
                </a:defRPr>
              </a:pPr>
              <a:r>
                <a:rPr sz="675" dirty="0"/>
                <a:t>OUR LAB!</a:t>
              </a: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D9473556-FCAA-E2F7-632D-BC425E2A8520}"/>
              </a:ext>
            </a:extLst>
          </p:cNvPr>
          <p:cNvGrpSpPr/>
          <p:nvPr/>
        </p:nvGrpSpPr>
        <p:grpSpPr>
          <a:xfrm>
            <a:off x="411480" y="4254128"/>
            <a:ext cx="8298180" cy="562356"/>
            <a:chOff x="411480" y="4254128"/>
            <a:chExt cx="8298180" cy="562356"/>
          </a:xfrm>
        </p:grpSpPr>
        <p:sp>
          <p:nvSpPr>
            <p:cNvPr id="72" name="Rounded Rectangle 71"/>
            <p:cNvSpPr/>
            <p:nvPr/>
          </p:nvSpPr>
          <p:spPr>
            <a:xfrm>
              <a:off x="411480" y="4254128"/>
              <a:ext cx="8298180" cy="562356"/>
            </a:xfrm>
            <a:prstGeom prst="roundRect">
              <a:avLst>
                <a:gd name="adj" fmla="val 4000"/>
              </a:avLst>
            </a:prstGeom>
            <a:solidFill>
              <a:srgbClr val="162033"/>
            </a:solidFill>
            <a:ln w="19050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582930" y="4295276"/>
              <a:ext cx="795528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FBBF24"/>
                  </a:solidFill>
                  <a:latin typeface="Segoe UI"/>
                </a:defRPr>
              </a:pPr>
              <a:r>
                <a:rPr sz="900"/>
                <a:t>Production Rules of Thumb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582930" y="4473585"/>
              <a:ext cx="7955280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225"/>
                </a:spcAft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 dirty="0"/>
                <a:t>Classification / Search / Embeddings  &gt;  Encoder-only (fast, cheap)     Chatbot / Generation  &gt;  Decoder-only (best quality)     Structured Transformation  &gt;  Encoder-decoder (best cost/quality ratio)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46E8A2-471B-7966-D694-75D0B768FE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AF96C3-8C33-4D15-15C4-77F58BBD42A3}"/>
              </a:ext>
            </a:extLst>
          </p:cNvPr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D566F9-22BB-D3D3-B150-360A69EE9E7C}"/>
              </a:ext>
            </a:extLst>
          </p:cNvPr>
          <p:cNvSpPr txBox="1"/>
          <p:nvPr/>
        </p:nvSpPr>
        <p:spPr>
          <a:xfrm>
            <a:off x="2510617" y="1097281"/>
            <a:ext cx="412253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lang="en-IN" sz="4000" dirty="0"/>
              <a:t>It`s BREAK time!</a:t>
            </a:r>
            <a:endParaRPr sz="4000" dirty="0"/>
          </a:p>
        </p:txBody>
      </p:sp>
      <p:pic>
        <p:nvPicPr>
          <p:cNvPr id="6" name="Graphic 5" descr="Ringing alarm clock">
            <a:extLst>
              <a:ext uri="{FF2B5EF4-FFF2-40B4-BE49-F238E27FC236}">
                <a16:creationId xmlns:a16="http://schemas.microsoft.com/office/drawing/2014/main" id="{C3B92098-B7FA-046B-2956-6C3B8A158C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71354" y="1961259"/>
            <a:ext cx="1801292" cy="2084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968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25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1125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66">
            <a:extLst>
              <a:ext uri="{FF2B5EF4-FFF2-40B4-BE49-F238E27FC236}">
                <a16:creationId xmlns:a16="http://schemas.microsoft.com/office/drawing/2014/main" id="{0C02C940-7948-3E53-CB2C-1984BACFABE2}"/>
              </a:ext>
            </a:extLst>
          </p:cNvPr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4" name="TextBox 3"/>
          <p:cNvSpPr txBox="1"/>
          <p:nvPr/>
        </p:nvSpPr>
        <p:spPr>
          <a:xfrm>
            <a:off x="411480" y="37502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sz="2400"/>
              <a:t>How Models See 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14692"/>
            <a:ext cx="6858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rPr sz="1050"/>
              <a:t>Models can only process numbers. Tokenization converts raw text into integer IDs that the model understands.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9A88B849-DEAA-51EF-0397-0E07A9E42A26}"/>
              </a:ext>
            </a:extLst>
          </p:cNvPr>
          <p:cNvGrpSpPr/>
          <p:nvPr/>
        </p:nvGrpSpPr>
        <p:grpSpPr>
          <a:xfrm>
            <a:off x="411480" y="972755"/>
            <a:ext cx="8298180" cy="582930"/>
            <a:chOff x="411480" y="972755"/>
            <a:chExt cx="8298180" cy="582930"/>
          </a:xfrm>
        </p:grpSpPr>
        <p:sp>
          <p:nvSpPr>
            <p:cNvPr id="6" name="Rounded Rectangle 5"/>
            <p:cNvSpPr/>
            <p:nvPr/>
          </p:nvSpPr>
          <p:spPr>
            <a:xfrm>
              <a:off x="411480" y="972755"/>
              <a:ext cx="8298180" cy="582930"/>
            </a:xfrm>
            <a:prstGeom prst="roundRect">
              <a:avLst>
                <a:gd name="adj" fmla="val 4000"/>
              </a:avLst>
            </a:prstGeom>
            <a:solidFill>
              <a:srgbClr val="162033"/>
            </a:solidFill>
            <a:ln w="19050">
              <a:solidFill>
                <a:srgbClr val="EF444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82930" y="1013904"/>
              <a:ext cx="137160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EF4444"/>
                  </a:solidFill>
                  <a:latin typeface="Segoe UI"/>
                </a:defRPr>
              </a:pPr>
              <a:r>
                <a:rPr sz="825"/>
                <a:t>THE PROBLEM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82930" y="1178496"/>
              <a:ext cx="781812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225"/>
                </a:spcAft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 dirty="0"/>
                <a:t>"I love transformers"   </a:t>
              </a:r>
              <a:r>
                <a:rPr lang="en-IN" sz="825" dirty="0"/>
                <a:t>:</a:t>
              </a:r>
              <a:r>
                <a:rPr sz="825" dirty="0"/>
                <a:t> Model needs numbers, not letters.  How do we convert text </a:t>
              </a:r>
              <a:r>
                <a:rPr lang="en-IN" sz="825" dirty="0">
                  <a:sym typeface="Wingdings" panose="05000000000000000000" pitchFamily="2" charset="2"/>
                </a:rPr>
                <a:t> </a:t>
              </a:r>
              <a:r>
                <a:rPr sz="825" dirty="0"/>
                <a:t>integers?    Three approaches, each with trade-offs.</a:t>
              </a: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E85133D2-8506-6E72-AA4A-5652CE8B8C89}"/>
              </a:ext>
            </a:extLst>
          </p:cNvPr>
          <p:cNvGrpSpPr/>
          <p:nvPr/>
        </p:nvGrpSpPr>
        <p:grpSpPr>
          <a:xfrm>
            <a:off x="411480" y="1727136"/>
            <a:ext cx="2640330" cy="2792264"/>
            <a:chOff x="411480" y="1727136"/>
            <a:chExt cx="2640330" cy="2792264"/>
          </a:xfrm>
        </p:grpSpPr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9C79B54E-515D-25D3-5B4D-D7960CB259AC}"/>
                </a:ext>
              </a:extLst>
            </p:cNvPr>
            <p:cNvGrpSpPr/>
            <p:nvPr/>
          </p:nvGrpSpPr>
          <p:grpSpPr>
            <a:xfrm>
              <a:off x="411480" y="1727136"/>
              <a:ext cx="2640330" cy="2503170"/>
              <a:chOff x="411480" y="1727136"/>
              <a:chExt cx="2640330" cy="2503170"/>
            </a:xfrm>
          </p:grpSpPr>
          <p:sp>
            <p:nvSpPr>
              <p:cNvPr id="9" name="Rounded Rectangle 8"/>
              <p:cNvSpPr/>
              <p:nvPr/>
            </p:nvSpPr>
            <p:spPr>
              <a:xfrm>
                <a:off x="411480" y="1727136"/>
                <a:ext cx="2640330" cy="2503170"/>
              </a:xfrm>
              <a:prstGeom prst="roundRect">
                <a:avLst>
                  <a:gd name="adj" fmla="val 4000"/>
                </a:avLst>
              </a:prstGeom>
              <a:solidFill>
                <a:srgbClr val="1E293B"/>
              </a:solidFill>
              <a:ln w="19050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411480" y="1727136"/>
                <a:ext cx="2640330" cy="34290"/>
              </a:xfrm>
              <a:prstGeom prst="rect">
                <a:avLst/>
              </a:prstGeom>
              <a:solidFill>
                <a:srgbClr val="EF444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548640" y="1809432"/>
                <a:ext cx="2366010" cy="1962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900" b="1">
                    <a:solidFill>
                      <a:srgbClr val="EF4444"/>
                    </a:solidFill>
                    <a:latin typeface="Segoe UI"/>
                  </a:defRPr>
                </a:pPr>
                <a:r>
                  <a:rPr sz="675"/>
                  <a:t>LEVEL 1</a:t>
                </a: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548640" y="1946592"/>
                <a:ext cx="236601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1600" b="1">
                    <a:solidFill>
                      <a:srgbClr val="FFFFFF"/>
                    </a:solidFill>
                    <a:latin typeface="Segoe UI"/>
                  </a:defRPr>
                </a:pPr>
                <a:r>
                  <a:rPr sz="1200"/>
                  <a:t>Character-Level</a:t>
                </a:r>
              </a:p>
            </p:txBody>
          </p:sp>
          <p:sp>
            <p:nvSpPr>
              <p:cNvPr id="13" name="Rounded Rectangle 12"/>
              <p:cNvSpPr/>
              <p:nvPr/>
            </p:nvSpPr>
            <p:spPr>
              <a:xfrm>
                <a:off x="514350" y="2193480"/>
                <a:ext cx="2434590" cy="377190"/>
              </a:xfrm>
              <a:prstGeom prst="roundRect">
                <a:avLst>
                  <a:gd name="adj" fmla="val 4000"/>
                </a:avLst>
              </a:prstGeom>
              <a:solidFill>
                <a:srgbClr val="162033"/>
              </a:solidFill>
              <a:ln w="19050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582930" y="2220912"/>
                <a:ext cx="2297430" cy="3231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1000" b="0">
                    <a:solidFill>
                      <a:srgbClr val="B0B8C8"/>
                    </a:solidFill>
                    <a:latin typeface="Consolas"/>
                  </a:defRPr>
                </a:pPr>
                <a:r>
                  <a:rPr sz="750" dirty="0"/>
                  <a:t>"transformers"</a:t>
                </a:r>
                <a:br>
                  <a:rPr sz="750" dirty="0"/>
                </a:br>
                <a:r>
                  <a:rPr sz="750" dirty="0"/>
                  <a:t> t, r, a, n, s, f, o, r, m, e, r, s</a:t>
                </a: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548640" y="2632392"/>
                <a:ext cx="960120" cy="1962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900" b="1">
                    <a:solidFill>
                      <a:srgbClr val="94A3B8"/>
                    </a:solidFill>
                    <a:latin typeface="Segoe UI"/>
                  </a:defRPr>
                </a:pPr>
                <a:r>
                  <a:rPr sz="675"/>
                  <a:t>Vocab Size:</a:t>
                </a:r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1508760" y="2632392"/>
                <a:ext cx="1234440" cy="1962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900" b="0">
                    <a:solidFill>
                      <a:srgbClr val="FFFFFF"/>
                    </a:solidFill>
                    <a:latin typeface="Segoe UI"/>
                  </a:defRPr>
                </a:pPr>
                <a:r>
                  <a:rPr sz="675"/>
                  <a:t>~100  300</a:t>
                </a:r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548640" y="2810700"/>
                <a:ext cx="960120" cy="1962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900" b="1">
                    <a:solidFill>
                      <a:srgbClr val="94A3B8"/>
                    </a:solidFill>
                    <a:latin typeface="Segoe UI"/>
                  </a:defRPr>
                </a:pPr>
                <a:r>
                  <a:rPr sz="675"/>
                  <a:t>Seq Length:</a:t>
                </a:r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1508760" y="2810700"/>
                <a:ext cx="1234440" cy="1962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900" b="0">
                    <a:solidFill>
                      <a:srgbClr val="FFFFFF"/>
                    </a:solidFill>
                    <a:latin typeface="Segoe UI"/>
                  </a:defRPr>
                </a:pPr>
                <a:r>
                  <a:rPr sz="675"/>
                  <a:t>Very Long</a:t>
                </a: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548640" y="2989008"/>
                <a:ext cx="960120" cy="1962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900" b="1">
                    <a:solidFill>
                      <a:srgbClr val="94A3B8"/>
                    </a:solidFill>
                    <a:latin typeface="Segoe UI"/>
                  </a:defRPr>
                </a:pPr>
                <a:r>
                  <a:rPr sz="675"/>
                  <a:t>OOV Issue:</a:t>
                </a: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1508760" y="2989008"/>
                <a:ext cx="1234440" cy="1962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900" b="0">
                    <a:solidFill>
                      <a:srgbClr val="FFFFFF"/>
                    </a:solidFill>
                    <a:latin typeface="Segoe UI"/>
                  </a:defRPr>
                </a:pPr>
                <a:r>
                  <a:rPr sz="675"/>
                  <a:t>None</a:t>
                </a:r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514350" y="3208464"/>
                <a:ext cx="2434590" cy="10287"/>
              </a:xfrm>
              <a:prstGeom prst="rect">
                <a:avLst/>
              </a:prstGeom>
              <a:solidFill>
                <a:srgbClr val="33445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548640" y="3263328"/>
                <a:ext cx="1097280" cy="1962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900" b="1">
                    <a:solidFill>
                      <a:srgbClr val="22C55E"/>
                    </a:solidFill>
                    <a:latin typeface="Segoe UI"/>
                  </a:defRPr>
                </a:pPr>
                <a:r>
                  <a:rPr sz="675"/>
                  <a:t>Pros</a:t>
                </a: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548640" y="3386772"/>
                <a:ext cx="2366010" cy="3000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900" b="0">
                    <a:solidFill>
                      <a:srgbClr val="B0B8C8"/>
                    </a:solidFill>
                    <a:latin typeface="Segoe UI"/>
                  </a:defRPr>
                </a:pPr>
                <a:r>
                  <a:rPr sz="675"/>
                  <a:t>No unknown words ever</a:t>
                </a:r>
                <a:br>
                  <a:rPr sz="675"/>
                </a:br>
                <a:r>
                  <a:rPr sz="675"/>
                  <a:t>Works for any language</a:t>
                </a: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548640" y="3688524"/>
                <a:ext cx="1097280" cy="1962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900" b="1">
                    <a:solidFill>
                      <a:srgbClr val="EF4444"/>
                    </a:solidFill>
                    <a:latin typeface="Segoe UI"/>
                  </a:defRPr>
                </a:pPr>
                <a:r>
                  <a:rPr sz="675"/>
                  <a:t>Cons</a:t>
                </a: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548640" y="3811968"/>
                <a:ext cx="2366010" cy="3000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900" b="0">
                    <a:solidFill>
                      <a:srgbClr val="B0B8C8"/>
                    </a:solidFill>
                    <a:latin typeface="Segoe UI"/>
                  </a:defRPr>
                </a:pPr>
                <a:r>
                  <a:rPr sz="675"/>
                  <a:t>Sequences are very long</a:t>
                </a:r>
                <a:br>
                  <a:rPr sz="675"/>
                </a:br>
                <a:r>
                  <a:rPr sz="675"/>
                  <a:t>Hard to learn word meaning</a:t>
                </a:r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44DB0652-BB97-1877-12D1-60AF985EAA9F}"/>
                </a:ext>
              </a:extLst>
            </p:cNvPr>
            <p:cNvGrpSpPr/>
            <p:nvPr/>
          </p:nvGrpSpPr>
          <p:grpSpPr>
            <a:xfrm>
              <a:off x="418198" y="4288291"/>
              <a:ext cx="2530742" cy="231109"/>
              <a:chOff x="0" y="4149679"/>
              <a:chExt cx="2530742" cy="231109"/>
            </a:xfrm>
          </p:grpSpPr>
          <p:sp>
            <p:nvSpPr>
              <p:cNvPr id="26" name="Rounded Rectangle 25"/>
              <p:cNvSpPr/>
              <p:nvPr/>
            </p:nvSpPr>
            <p:spPr>
              <a:xfrm>
                <a:off x="96152" y="4161332"/>
                <a:ext cx="2434590" cy="219456"/>
              </a:xfrm>
              <a:prstGeom prst="roundRect">
                <a:avLst>
                  <a:gd name="adj" fmla="val 15000"/>
                </a:avLst>
              </a:prstGeom>
              <a:solidFill>
                <a:srgbClr val="162033"/>
              </a:solidFill>
              <a:ln w="19050">
                <a:solidFill>
                  <a:srgbClr val="EF444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0" y="4149679"/>
                <a:ext cx="2434590" cy="2077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000" b="1">
                    <a:solidFill>
                      <a:srgbClr val="EF4444"/>
                    </a:solidFill>
                    <a:latin typeface="Segoe UI"/>
                  </a:defRPr>
                </a:pPr>
                <a:r>
                  <a:rPr sz="750" dirty="0"/>
                  <a:t>Too granular</a:t>
                </a:r>
              </a:p>
            </p:txBody>
          </p:sp>
        </p:grp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6DB2125B-5F3A-548D-87C8-1B2DEB17168F}"/>
              </a:ext>
            </a:extLst>
          </p:cNvPr>
          <p:cNvGrpSpPr/>
          <p:nvPr/>
        </p:nvGrpSpPr>
        <p:grpSpPr>
          <a:xfrm>
            <a:off x="3257550" y="1727136"/>
            <a:ext cx="2640330" cy="2779493"/>
            <a:chOff x="3257550" y="1727136"/>
            <a:chExt cx="2640330" cy="2779493"/>
          </a:xfrm>
        </p:grpSpPr>
        <p:sp>
          <p:nvSpPr>
            <p:cNvPr id="28" name="Rounded Rectangle 27"/>
            <p:cNvSpPr/>
            <p:nvPr/>
          </p:nvSpPr>
          <p:spPr>
            <a:xfrm>
              <a:off x="3257550" y="1727136"/>
              <a:ext cx="2640330" cy="2503170"/>
            </a:xfrm>
            <a:prstGeom prst="roundRect">
              <a:avLst>
                <a:gd name="adj" fmla="val 4000"/>
              </a:avLst>
            </a:prstGeom>
            <a:solidFill>
              <a:srgbClr val="1E293B"/>
            </a:solidFill>
            <a:ln w="19050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257550" y="1727136"/>
              <a:ext cx="2640330" cy="34290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394710" y="1809432"/>
              <a:ext cx="236601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3B82F6"/>
                  </a:solidFill>
                  <a:latin typeface="Segoe UI"/>
                </a:defRPr>
              </a:pPr>
              <a:r>
                <a:rPr sz="675"/>
                <a:t>LEVEL 2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394710" y="1946592"/>
              <a:ext cx="236601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600" b="1">
                  <a:solidFill>
                    <a:srgbClr val="FFFFFF"/>
                  </a:solidFill>
                  <a:latin typeface="Segoe UI"/>
                </a:defRPr>
              </a:pPr>
              <a:r>
                <a:rPr sz="1200" dirty="0"/>
                <a:t>Word-Level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3360420" y="2193480"/>
              <a:ext cx="2434590" cy="377190"/>
            </a:xfrm>
            <a:prstGeom prst="roundRect">
              <a:avLst>
                <a:gd name="adj" fmla="val 4000"/>
              </a:avLst>
            </a:prstGeom>
            <a:solidFill>
              <a:srgbClr val="162033"/>
            </a:solidFill>
            <a:ln w="19050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429000" y="2220912"/>
              <a:ext cx="2297430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Consolas"/>
                </a:defRPr>
              </a:pPr>
              <a:r>
                <a:rPr sz="750"/>
                <a:t>"transformers"</a:t>
              </a:r>
              <a:br>
                <a:rPr sz="750"/>
              </a:br>
              <a:r>
                <a:rPr sz="750"/>
                <a:t> transformers  (1 token)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394710" y="2632392"/>
              <a:ext cx="96012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94A3B8"/>
                  </a:solidFill>
                  <a:latin typeface="Segoe UI"/>
                </a:defRPr>
              </a:pPr>
              <a:r>
                <a:rPr sz="675"/>
                <a:t>Vocab Size: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354830" y="2632392"/>
              <a:ext cx="123444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100K  500K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394710" y="2810700"/>
              <a:ext cx="96012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94A3B8"/>
                  </a:solidFill>
                  <a:latin typeface="Segoe UI"/>
                </a:defRPr>
              </a:pPr>
              <a:r>
                <a:rPr sz="675"/>
                <a:t>Seq Length: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354830" y="2810700"/>
              <a:ext cx="123444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Short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394710" y="2989008"/>
              <a:ext cx="96012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94A3B8"/>
                  </a:solidFill>
                  <a:latin typeface="Segoe UI"/>
                </a:defRPr>
              </a:pPr>
              <a:r>
                <a:rPr sz="675"/>
                <a:t>OOV Issue: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354830" y="2989008"/>
              <a:ext cx="123444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Many [UNK]s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360420" y="3208464"/>
              <a:ext cx="2434590" cy="10287"/>
            </a:xfrm>
            <a:prstGeom prst="rect">
              <a:avLst/>
            </a:prstGeom>
            <a:solidFill>
              <a:srgbClr val="33445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394710" y="3263328"/>
              <a:ext cx="109728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22C55E"/>
                  </a:solidFill>
                  <a:latin typeface="Segoe UI"/>
                </a:defRPr>
              </a:pPr>
              <a:r>
                <a:rPr sz="675"/>
                <a:t>Pros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3394710" y="3386772"/>
              <a:ext cx="2366010" cy="3000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Tokens have clear meaning</a:t>
              </a:r>
              <a:br>
                <a:rPr sz="675"/>
              </a:br>
              <a:r>
                <a:rPr sz="675"/>
                <a:t>Short sequences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3394710" y="3688524"/>
              <a:ext cx="109728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EF4444"/>
                  </a:solidFill>
                  <a:latin typeface="Segoe UI"/>
                </a:defRPr>
              </a:pPr>
              <a:r>
                <a:rPr sz="675"/>
                <a:t>Cons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3394710" y="3811968"/>
              <a:ext cx="2366010" cy="3000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Huge vocabulary needed</a:t>
              </a:r>
              <a:br>
                <a:rPr sz="675"/>
              </a:br>
              <a:r>
                <a:rPr sz="675"/>
                <a:t>Can't handle unseen words</a:t>
              </a:r>
            </a:p>
          </p:txBody>
        </p: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68895FED-A37D-DE1F-BFF0-32319A8A7D6E}"/>
                </a:ext>
              </a:extLst>
            </p:cNvPr>
            <p:cNvGrpSpPr/>
            <p:nvPr/>
          </p:nvGrpSpPr>
          <p:grpSpPr>
            <a:xfrm>
              <a:off x="3360420" y="4287173"/>
              <a:ext cx="2434590" cy="219456"/>
              <a:chOff x="3360420" y="4287173"/>
              <a:chExt cx="2434590" cy="219456"/>
            </a:xfrm>
          </p:grpSpPr>
          <p:sp>
            <p:nvSpPr>
              <p:cNvPr id="45" name="Rounded Rectangle 44"/>
              <p:cNvSpPr/>
              <p:nvPr/>
            </p:nvSpPr>
            <p:spPr>
              <a:xfrm>
                <a:off x="3360420" y="4287173"/>
                <a:ext cx="2434590" cy="219456"/>
              </a:xfrm>
              <a:prstGeom prst="roundRect">
                <a:avLst>
                  <a:gd name="adj" fmla="val 15000"/>
                </a:avLst>
              </a:prstGeom>
              <a:solidFill>
                <a:srgbClr val="162033"/>
              </a:solidFill>
              <a:ln w="19050">
                <a:solidFill>
                  <a:srgbClr val="EF444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46" name="TextBox 45"/>
              <p:cNvSpPr txBox="1"/>
              <p:nvPr/>
            </p:nvSpPr>
            <p:spPr>
              <a:xfrm>
                <a:off x="3360420" y="4287173"/>
                <a:ext cx="2434590" cy="2077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000" b="1">
                    <a:solidFill>
                      <a:srgbClr val="EF4444"/>
                    </a:solidFill>
                    <a:latin typeface="Segoe UI"/>
                  </a:defRPr>
                </a:pPr>
                <a:r>
                  <a:rPr sz="750"/>
                  <a:t>Too rigid</a:t>
                </a:r>
              </a:p>
            </p:txBody>
          </p:sp>
        </p:grp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3D8A366F-3341-DF44-89DC-72F6264BF120}"/>
              </a:ext>
            </a:extLst>
          </p:cNvPr>
          <p:cNvGrpSpPr/>
          <p:nvPr/>
        </p:nvGrpSpPr>
        <p:grpSpPr>
          <a:xfrm>
            <a:off x="6103620" y="1727136"/>
            <a:ext cx="2640330" cy="2787514"/>
            <a:chOff x="6103620" y="1727136"/>
            <a:chExt cx="2640330" cy="2787514"/>
          </a:xfrm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7E17B09C-9571-375B-6DCC-C5EEDB9FF5BE}"/>
                </a:ext>
              </a:extLst>
            </p:cNvPr>
            <p:cNvGrpSpPr/>
            <p:nvPr/>
          </p:nvGrpSpPr>
          <p:grpSpPr>
            <a:xfrm>
              <a:off x="6103620" y="1727136"/>
              <a:ext cx="2640330" cy="2503170"/>
              <a:chOff x="6103620" y="1727136"/>
              <a:chExt cx="2640330" cy="2503170"/>
            </a:xfrm>
          </p:grpSpPr>
          <p:sp>
            <p:nvSpPr>
              <p:cNvPr id="47" name="Rounded Rectangle 46"/>
              <p:cNvSpPr/>
              <p:nvPr/>
            </p:nvSpPr>
            <p:spPr>
              <a:xfrm>
                <a:off x="6103620" y="1727136"/>
                <a:ext cx="2640330" cy="2503170"/>
              </a:xfrm>
              <a:prstGeom prst="roundRect">
                <a:avLst>
                  <a:gd name="adj" fmla="val 4000"/>
                </a:avLst>
              </a:prstGeom>
              <a:solidFill>
                <a:srgbClr val="1E293B"/>
              </a:solidFill>
              <a:ln w="19050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48" name="Rectangle 47"/>
              <p:cNvSpPr/>
              <p:nvPr/>
            </p:nvSpPr>
            <p:spPr>
              <a:xfrm>
                <a:off x="6103620" y="1727136"/>
                <a:ext cx="2640330" cy="34290"/>
              </a:xfrm>
              <a:prstGeom prst="rect">
                <a:avLst/>
              </a:prstGeom>
              <a:solidFill>
                <a:srgbClr val="22C55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49" name="TextBox 48"/>
              <p:cNvSpPr txBox="1"/>
              <p:nvPr/>
            </p:nvSpPr>
            <p:spPr>
              <a:xfrm>
                <a:off x="6240780" y="1809432"/>
                <a:ext cx="2366010" cy="1962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900" b="1">
                    <a:solidFill>
                      <a:srgbClr val="22C55E"/>
                    </a:solidFill>
                    <a:latin typeface="Segoe UI"/>
                  </a:defRPr>
                </a:pPr>
                <a:r>
                  <a:rPr sz="675"/>
                  <a:t>LEVEL 3</a:t>
                </a:r>
              </a:p>
            </p:txBody>
          </p:sp>
          <p:sp>
            <p:nvSpPr>
              <p:cNvPr id="50" name="TextBox 49"/>
              <p:cNvSpPr txBox="1"/>
              <p:nvPr/>
            </p:nvSpPr>
            <p:spPr>
              <a:xfrm>
                <a:off x="6240780" y="1946592"/>
                <a:ext cx="236601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1600" b="1">
                    <a:solidFill>
                      <a:srgbClr val="FFFFFF"/>
                    </a:solidFill>
                    <a:latin typeface="Segoe UI"/>
                  </a:defRPr>
                </a:pPr>
                <a:r>
                  <a:rPr sz="1200"/>
                  <a:t>Subword-Level</a:t>
                </a:r>
              </a:p>
            </p:txBody>
          </p:sp>
          <p:sp>
            <p:nvSpPr>
              <p:cNvPr id="51" name="Rounded Rectangle 50"/>
              <p:cNvSpPr/>
              <p:nvPr/>
            </p:nvSpPr>
            <p:spPr>
              <a:xfrm>
                <a:off x="6206490" y="2193480"/>
                <a:ext cx="2434590" cy="377190"/>
              </a:xfrm>
              <a:prstGeom prst="roundRect">
                <a:avLst>
                  <a:gd name="adj" fmla="val 4000"/>
                </a:avLst>
              </a:prstGeom>
              <a:solidFill>
                <a:srgbClr val="162033"/>
              </a:solidFill>
              <a:ln w="19050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6275070" y="2220912"/>
                <a:ext cx="2297430" cy="3231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1000" b="0">
                    <a:solidFill>
                      <a:srgbClr val="B0B8C8"/>
                    </a:solidFill>
                    <a:latin typeface="Consolas"/>
                  </a:defRPr>
                </a:pPr>
                <a:r>
                  <a:rPr sz="750"/>
                  <a:t>"transformers"</a:t>
                </a:r>
                <a:br>
                  <a:rPr sz="750"/>
                </a:br>
                <a:r>
                  <a:rPr sz="750"/>
                  <a:t> transform, ##ers  (2 tokens)</a:t>
                </a: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6240780" y="2632392"/>
                <a:ext cx="960120" cy="1962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900" b="1">
                    <a:solidFill>
                      <a:srgbClr val="94A3B8"/>
                    </a:solidFill>
                    <a:latin typeface="Segoe UI"/>
                  </a:defRPr>
                </a:pPr>
                <a:r>
                  <a:rPr sz="675"/>
                  <a:t>Vocab Size:</a:t>
                </a:r>
              </a:p>
            </p:txBody>
          </p:sp>
          <p:sp>
            <p:nvSpPr>
              <p:cNvPr id="54" name="TextBox 53"/>
              <p:cNvSpPr txBox="1"/>
              <p:nvPr/>
            </p:nvSpPr>
            <p:spPr>
              <a:xfrm>
                <a:off x="7200900" y="2632392"/>
                <a:ext cx="1234440" cy="1962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900" b="0">
                    <a:solidFill>
                      <a:srgbClr val="FFFFFF"/>
                    </a:solidFill>
                    <a:latin typeface="Segoe UI"/>
                  </a:defRPr>
                </a:pPr>
                <a:r>
                  <a:rPr sz="675"/>
                  <a:t>30K  50K</a:t>
                </a:r>
              </a:p>
            </p:txBody>
          </p:sp>
          <p:sp>
            <p:nvSpPr>
              <p:cNvPr id="55" name="TextBox 54"/>
              <p:cNvSpPr txBox="1"/>
              <p:nvPr/>
            </p:nvSpPr>
            <p:spPr>
              <a:xfrm>
                <a:off x="6240780" y="2810700"/>
                <a:ext cx="960120" cy="1962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900" b="1">
                    <a:solidFill>
                      <a:srgbClr val="94A3B8"/>
                    </a:solidFill>
                    <a:latin typeface="Segoe UI"/>
                  </a:defRPr>
                </a:pPr>
                <a:r>
                  <a:rPr sz="675"/>
                  <a:t>Seq Length:</a:t>
                </a:r>
              </a:p>
            </p:txBody>
          </p:sp>
          <p:sp>
            <p:nvSpPr>
              <p:cNvPr id="56" name="TextBox 55"/>
              <p:cNvSpPr txBox="1"/>
              <p:nvPr/>
            </p:nvSpPr>
            <p:spPr>
              <a:xfrm>
                <a:off x="7200900" y="2810700"/>
                <a:ext cx="1234440" cy="1962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900" b="0">
                    <a:solidFill>
                      <a:srgbClr val="FFFFFF"/>
                    </a:solidFill>
                    <a:latin typeface="Segoe UI"/>
                  </a:defRPr>
                </a:pPr>
                <a:r>
                  <a:rPr sz="675"/>
                  <a:t>Moderate</a:t>
                </a:r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6240780" y="2989008"/>
                <a:ext cx="960120" cy="1962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900" b="1">
                    <a:solidFill>
                      <a:srgbClr val="94A3B8"/>
                    </a:solidFill>
                    <a:latin typeface="Segoe UI"/>
                  </a:defRPr>
                </a:pPr>
                <a:r>
                  <a:rPr sz="675"/>
                  <a:t>OOV Issue:</a:t>
                </a: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7200900" y="2989008"/>
                <a:ext cx="1234440" cy="1962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900" b="0">
                    <a:solidFill>
                      <a:srgbClr val="FFFFFF"/>
                    </a:solidFill>
                    <a:latin typeface="Segoe UI"/>
                  </a:defRPr>
                </a:pPr>
                <a:r>
                  <a:rPr sz="675"/>
                  <a:t>None</a:t>
                </a:r>
              </a:p>
            </p:txBody>
          </p:sp>
          <p:sp>
            <p:nvSpPr>
              <p:cNvPr id="59" name="Rectangle 58"/>
              <p:cNvSpPr/>
              <p:nvPr/>
            </p:nvSpPr>
            <p:spPr>
              <a:xfrm>
                <a:off x="6206490" y="3208464"/>
                <a:ext cx="2434590" cy="10287"/>
              </a:xfrm>
              <a:prstGeom prst="rect">
                <a:avLst/>
              </a:prstGeom>
              <a:solidFill>
                <a:srgbClr val="33445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60" name="TextBox 59"/>
              <p:cNvSpPr txBox="1"/>
              <p:nvPr/>
            </p:nvSpPr>
            <p:spPr>
              <a:xfrm>
                <a:off x="6240780" y="3263328"/>
                <a:ext cx="1097280" cy="1962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900" b="1">
                    <a:solidFill>
                      <a:srgbClr val="22C55E"/>
                    </a:solidFill>
                    <a:latin typeface="Segoe UI"/>
                  </a:defRPr>
                </a:pPr>
                <a:r>
                  <a:rPr sz="675"/>
                  <a:t>Pros</a:t>
                </a:r>
              </a:p>
            </p:txBody>
          </p:sp>
          <p:sp>
            <p:nvSpPr>
              <p:cNvPr id="61" name="TextBox 60"/>
              <p:cNvSpPr txBox="1"/>
              <p:nvPr/>
            </p:nvSpPr>
            <p:spPr>
              <a:xfrm>
                <a:off x="6240780" y="3386772"/>
                <a:ext cx="2366010" cy="3000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900" b="0">
                    <a:solidFill>
                      <a:srgbClr val="B0B8C8"/>
                    </a:solidFill>
                    <a:latin typeface="Segoe UI"/>
                  </a:defRPr>
                </a:pPr>
                <a:r>
                  <a:rPr sz="675"/>
                  <a:t>Best of both worlds</a:t>
                </a:r>
                <a:br>
                  <a:rPr sz="675"/>
                </a:br>
                <a:r>
                  <a:rPr sz="675"/>
                  <a:t>Handles new words gracefully</a:t>
                </a:r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6240780" y="3688524"/>
                <a:ext cx="1097280" cy="1962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900" b="1">
                    <a:solidFill>
                      <a:srgbClr val="EF4444"/>
                    </a:solidFill>
                    <a:latin typeface="Segoe UI"/>
                  </a:defRPr>
                </a:pPr>
                <a:r>
                  <a:rPr sz="675"/>
                  <a:t>Cons</a:t>
                </a:r>
              </a:p>
            </p:txBody>
          </p:sp>
          <p:sp>
            <p:nvSpPr>
              <p:cNvPr id="63" name="TextBox 62"/>
              <p:cNvSpPr txBox="1"/>
              <p:nvPr/>
            </p:nvSpPr>
            <p:spPr>
              <a:xfrm>
                <a:off x="6240780" y="3811968"/>
                <a:ext cx="2366010" cy="3000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900" b="0">
                    <a:solidFill>
                      <a:srgbClr val="B0B8C8"/>
                    </a:solidFill>
                    <a:latin typeface="Segoe UI"/>
                  </a:defRPr>
                </a:pPr>
                <a:r>
                  <a:rPr sz="675"/>
                  <a:t>Tokens like ##ers need learning</a:t>
                </a:r>
                <a:br>
                  <a:rPr sz="675"/>
                </a:br>
                <a:r>
                  <a:rPr sz="675"/>
                  <a:t>Slightly longer than word-level</a:t>
                </a:r>
              </a:p>
            </p:txBody>
          </p: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8A809AC0-065F-D77A-EFCE-E1F55B2FA7BC}"/>
                </a:ext>
              </a:extLst>
            </p:cNvPr>
            <p:cNvGrpSpPr/>
            <p:nvPr/>
          </p:nvGrpSpPr>
          <p:grpSpPr>
            <a:xfrm>
              <a:off x="6206490" y="4295194"/>
              <a:ext cx="2434590" cy="219456"/>
              <a:chOff x="6206490" y="3942270"/>
              <a:chExt cx="2434590" cy="219456"/>
            </a:xfrm>
          </p:grpSpPr>
          <p:sp>
            <p:nvSpPr>
              <p:cNvPr id="64" name="Rounded Rectangle 63"/>
              <p:cNvSpPr/>
              <p:nvPr/>
            </p:nvSpPr>
            <p:spPr>
              <a:xfrm>
                <a:off x="6206490" y="3942270"/>
                <a:ext cx="2434590" cy="219456"/>
              </a:xfrm>
              <a:prstGeom prst="roundRect">
                <a:avLst>
                  <a:gd name="adj" fmla="val 15000"/>
                </a:avLst>
              </a:prstGeom>
              <a:solidFill>
                <a:srgbClr val="162033"/>
              </a:solidFill>
              <a:ln w="19050">
                <a:solidFill>
                  <a:srgbClr val="22C55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65" name="TextBox 64"/>
              <p:cNvSpPr txBox="1"/>
              <p:nvPr/>
            </p:nvSpPr>
            <p:spPr>
              <a:xfrm>
                <a:off x="6206490" y="3942270"/>
                <a:ext cx="2434590" cy="2077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000" b="1">
                    <a:solidFill>
                      <a:srgbClr val="22C55E"/>
                    </a:solidFill>
                    <a:latin typeface="Segoe UI"/>
                  </a:defRPr>
                </a:pPr>
                <a:r>
                  <a:rPr sz="750"/>
                  <a:t>WINNER! Used by all modern Transformers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0E14E23A-839F-0A7C-5056-231D1116E220}"/>
              </a:ext>
            </a:extLst>
          </p:cNvPr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4" name="TextBox 3"/>
          <p:cNvSpPr txBox="1"/>
          <p:nvPr/>
        </p:nvSpPr>
        <p:spPr>
          <a:xfrm>
            <a:off x="411480" y="-2603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sz="2400" dirty="0"/>
              <a:t>How </a:t>
            </a:r>
            <a:r>
              <a:rPr sz="2400" dirty="0" err="1"/>
              <a:t>Subword</a:t>
            </a:r>
            <a:r>
              <a:rPr sz="2400" dirty="0"/>
              <a:t> Tokenizers Are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74587"/>
            <a:ext cx="68580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rPr sz="1050"/>
              <a:t>Three algorithms dominate modern NLP. All build a subword vocabulary from training data, but they differ in strategy.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A972055-F771-A0DC-FA97-685D7A1E2D07}"/>
              </a:ext>
            </a:extLst>
          </p:cNvPr>
          <p:cNvGrpSpPr/>
          <p:nvPr/>
        </p:nvGrpSpPr>
        <p:grpSpPr>
          <a:xfrm>
            <a:off x="411480" y="932650"/>
            <a:ext cx="5760720" cy="857250"/>
            <a:chOff x="411480" y="932650"/>
            <a:chExt cx="5760720" cy="857250"/>
          </a:xfrm>
        </p:grpSpPr>
        <p:sp>
          <p:nvSpPr>
            <p:cNvPr id="6" name="Rounded Rectangle 5"/>
            <p:cNvSpPr/>
            <p:nvPr/>
          </p:nvSpPr>
          <p:spPr>
            <a:xfrm>
              <a:off x="411480" y="932650"/>
              <a:ext cx="5760720" cy="857250"/>
            </a:xfrm>
            <a:prstGeom prst="roundRect">
              <a:avLst>
                <a:gd name="adj" fmla="val 4000"/>
              </a:avLst>
            </a:prstGeom>
            <a:solidFill>
              <a:srgbClr val="1E293B"/>
            </a:solidFill>
            <a:ln w="19050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11480" y="932650"/>
              <a:ext cx="34290" cy="857250"/>
            </a:xfrm>
            <a:prstGeom prst="rect">
              <a:avLst/>
            </a:prstGeom>
            <a:solidFill>
              <a:srgbClr val="A78B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48640" y="987514"/>
              <a:ext cx="342900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400" b="1">
                  <a:solidFill>
                    <a:srgbClr val="A78BFA"/>
                  </a:solidFill>
                  <a:latin typeface="Segoe UI"/>
                </a:defRPr>
              </a:pPr>
              <a:r>
                <a:rPr sz="1050"/>
                <a:t>Byte-Pair Encoding (BPE)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114800" y="1001230"/>
              <a:ext cx="1920240" cy="3000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defRPr sz="900" b="0">
                  <a:solidFill>
                    <a:srgbClr val="94A3B8"/>
                  </a:solidFill>
                  <a:latin typeface="Segoe UI"/>
                </a:defRPr>
              </a:pPr>
              <a:r>
                <a:rPr sz="675"/>
                <a:t>GPT-2  |  GPT-3/4  |  RoBERTa  |  LLaMA  |  CodeLlama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48640" y="1193255"/>
              <a:ext cx="534924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Start with characters. Repeatedly merge the most FREQUENT adjacent pair. Bottom-up, frequency-based.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548640" y="1467574"/>
              <a:ext cx="5349240" cy="246888"/>
            </a:xfrm>
            <a:prstGeom prst="roundRect">
              <a:avLst>
                <a:gd name="adj" fmla="val 4000"/>
              </a:avLst>
            </a:prstGeom>
            <a:solidFill>
              <a:srgbClr val="162033"/>
            </a:solidFill>
            <a:ln w="19050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51510" y="1495007"/>
              <a:ext cx="514350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FBBF24"/>
                  </a:solidFill>
                  <a:latin typeface="Consolas"/>
                </a:defRPr>
              </a:pPr>
              <a:r>
                <a:rPr sz="750"/>
                <a:t>"lower"    l, o, w, e, r    lo, w, er    low, er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3C50167-B7B6-C099-3C9D-1CF541665A4C}"/>
              </a:ext>
            </a:extLst>
          </p:cNvPr>
          <p:cNvGrpSpPr/>
          <p:nvPr/>
        </p:nvGrpSpPr>
        <p:grpSpPr>
          <a:xfrm>
            <a:off x="411480" y="1913344"/>
            <a:ext cx="5760720" cy="857250"/>
            <a:chOff x="411480" y="1913344"/>
            <a:chExt cx="5760720" cy="857250"/>
          </a:xfrm>
        </p:grpSpPr>
        <p:sp>
          <p:nvSpPr>
            <p:cNvPr id="13" name="Rounded Rectangle 12"/>
            <p:cNvSpPr/>
            <p:nvPr/>
          </p:nvSpPr>
          <p:spPr>
            <a:xfrm>
              <a:off x="411480" y="1913344"/>
              <a:ext cx="5760720" cy="857250"/>
            </a:xfrm>
            <a:prstGeom prst="roundRect">
              <a:avLst>
                <a:gd name="adj" fmla="val 4000"/>
              </a:avLst>
            </a:prstGeom>
            <a:solidFill>
              <a:srgbClr val="1E293B"/>
            </a:solidFill>
            <a:ln w="19050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11480" y="1913344"/>
              <a:ext cx="34290" cy="857250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48640" y="1968208"/>
              <a:ext cx="342900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400" b="1">
                  <a:solidFill>
                    <a:srgbClr val="3B82F6"/>
                  </a:solidFill>
                  <a:latin typeface="Segoe UI"/>
                </a:defRPr>
              </a:pPr>
              <a:r>
                <a:rPr sz="1050" dirty="0" err="1"/>
                <a:t>WordPiece</a:t>
              </a:r>
              <a:endParaRPr sz="1050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114800" y="1981924"/>
              <a:ext cx="192024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defRPr sz="900" b="0">
                  <a:solidFill>
                    <a:srgbClr val="94A3B8"/>
                  </a:solidFill>
                  <a:latin typeface="Segoe UI"/>
                </a:defRPr>
              </a:pPr>
              <a:r>
                <a:rPr sz="675"/>
                <a:t>BERT  |  DistilBERT  |  ALBERT  |  ELECTRA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48640" y="2173949"/>
              <a:ext cx="534924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Like BPE, but merges maximize likelihood of the training corpus. Uses ## prefix for sub-tokens.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548640" y="2448268"/>
              <a:ext cx="5349240" cy="246888"/>
            </a:xfrm>
            <a:prstGeom prst="roundRect">
              <a:avLst>
                <a:gd name="adj" fmla="val 4000"/>
              </a:avLst>
            </a:prstGeom>
            <a:solidFill>
              <a:srgbClr val="162033"/>
            </a:solidFill>
            <a:ln w="19050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51510" y="2475701"/>
              <a:ext cx="514350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FBBF24"/>
                  </a:solidFill>
                  <a:latin typeface="Consolas"/>
                </a:defRPr>
              </a:pPr>
              <a:r>
                <a:rPr sz="750"/>
                <a:t>"playing"    play, ##ing      "unhappy"    un, ##happy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7997430-BE33-46CA-5F08-370A3D839572}"/>
              </a:ext>
            </a:extLst>
          </p:cNvPr>
          <p:cNvGrpSpPr/>
          <p:nvPr/>
        </p:nvGrpSpPr>
        <p:grpSpPr>
          <a:xfrm>
            <a:off x="411480" y="2894038"/>
            <a:ext cx="5760720" cy="857250"/>
            <a:chOff x="411480" y="2894038"/>
            <a:chExt cx="5760720" cy="857250"/>
          </a:xfrm>
        </p:grpSpPr>
        <p:sp>
          <p:nvSpPr>
            <p:cNvPr id="20" name="Rounded Rectangle 19"/>
            <p:cNvSpPr/>
            <p:nvPr/>
          </p:nvSpPr>
          <p:spPr>
            <a:xfrm>
              <a:off x="411480" y="2894038"/>
              <a:ext cx="5760720" cy="857250"/>
            </a:xfrm>
            <a:prstGeom prst="roundRect">
              <a:avLst>
                <a:gd name="adj" fmla="val 4000"/>
              </a:avLst>
            </a:prstGeom>
            <a:solidFill>
              <a:srgbClr val="1E293B"/>
            </a:solidFill>
            <a:ln w="19050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11480" y="2894038"/>
              <a:ext cx="34290" cy="857250"/>
            </a:xfrm>
            <a:prstGeom prst="rect">
              <a:avLst/>
            </a:prstGeom>
            <a:solidFill>
              <a:srgbClr val="14B8A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48640" y="2948902"/>
              <a:ext cx="342900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400" b="1">
                  <a:solidFill>
                    <a:srgbClr val="14B8A6"/>
                  </a:solidFill>
                  <a:latin typeface="Segoe UI"/>
                </a:defRPr>
              </a:pPr>
              <a:r>
                <a:rPr sz="1050"/>
                <a:t>SentencePiece (Unigram)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114800" y="2962618"/>
              <a:ext cx="192024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defRPr sz="900" b="0">
                  <a:solidFill>
                    <a:srgbClr val="94A3B8"/>
                  </a:solidFill>
                  <a:latin typeface="Segoe UI"/>
                </a:defRPr>
              </a:pPr>
              <a:r>
                <a:rPr sz="675"/>
                <a:t>T5  |  Flan-T5  |  LLaMA  |  mBART  |  XLNet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48640" y="3154643"/>
              <a:ext cx="534924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Start with a LARGE vocab, prune least-useful tokens. Language-agnostic (no pre-tokenization). Uses _ marker.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548640" y="3428962"/>
              <a:ext cx="5349240" cy="246888"/>
            </a:xfrm>
            <a:prstGeom prst="roundRect">
              <a:avLst>
                <a:gd name="adj" fmla="val 4000"/>
              </a:avLst>
            </a:prstGeom>
            <a:solidFill>
              <a:srgbClr val="162033"/>
            </a:solidFill>
            <a:ln w="19050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51510" y="3456395"/>
              <a:ext cx="514350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FBBF24"/>
                  </a:solidFill>
                  <a:latin typeface="Consolas"/>
                </a:defRPr>
              </a:pPr>
              <a:r>
                <a:rPr sz="750"/>
                <a:t>"I love NLP"    _I, _love, _NL, P   (raw text in, IDs out)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C33F5041-20CB-689D-A419-C60A07C23BCB}"/>
              </a:ext>
            </a:extLst>
          </p:cNvPr>
          <p:cNvGrpSpPr/>
          <p:nvPr/>
        </p:nvGrpSpPr>
        <p:grpSpPr>
          <a:xfrm>
            <a:off x="6343650" y="932650"/>
            <a:ext cx="2708910" cy="2880360"/>
            <a:chOff x="6343650" y="932650"/>
            <a:chExt cx="2708910" cy="2880360"/>
          </a:xfrm>
        </p:grpSpPr>
        <p:sp>
          <p:nvSpPr>
            <p:cNvPr id="27" name="Rounded Rectangle 26"/>
            <p:cNvSpPr/>
            <p:nvPr/>
          </p:nvSpPr>
          <p:spPr>
            <a:xfrm>
              <a:off x="6343650" y="932650"/>
              <a:ext cx="2708910" cy="2880360"/>
            </a:xfrm>
            <a:prstGeom prst="roundRect">
              <a:avLst>
                <a:gd name="adj" fmla="val 4000"/>
              </a:avLst>
            </a:prstGeom>
            <a:solidFill>
              <a:srgbClr val="1E293B"/>
            </a:solidFill>
            <a:ln w="19050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343650" y="932650"/>
              <a:ext cx="2708910" cy="34290"/>
            </a:xfrm>
            <a:prstGeom prst="rect">
              <a:avLst/>
            </a:prstGeom>
            <a:solidFill>
              <a:srgbClr val="FBBF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480810" y="1014946"/>
              <a:ext cx="243459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400" b="1">
                  <a:solidFill>
                    <a:srgbClr val="FBBF24"/>
                  </a:solidFill>
                  <a:latin typeface="Segoe UI"/>
                </a:defRPr>
              </a:pPr>
              <a:r>
                <a:rPr sz="1050"/>
                <a:t>Special Tokens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480810" y="1206971"/>
              <a:ext cx="243459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94A3B8"/>
                  </a:solidFill>
                  <a:latin typeface="Segoe UI"/>
                </a:defRPr>
              </a:pPr>
              <a:r>
                <a:rPr sz="750"/>
                <a:t>Reserved tokens with special meaning: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6446520" y="1426426"/>
              <a:ext cx="822960" cy="219456"/>
            </a:xfrm>
            <a:prstGeom prst="roundRect">
              <a:avLst>
                <a:gd name="adj" fmla="val 40000"/>
              </a:avLst>
            </a:prstGeom>
            <a:solidFill>
              <a:srgbClr val="1620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000" b="1">
                  <a:solidFill>
                    <a:srgbClr val="3B82F6"/>
                  </a:solidFill>
                  <a:latin typeface="Segoe UI"/>
                </a:defRPr>
              </a:pPr>
              <a:r>
                <a:rPr sz="750"/>
                <a:t>[CLS]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372350" y="1453858"/>
              <a:ext cx="150876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Start of sequence (BERT)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6446520" y="1741894"/>
              <a:ext cx="822960" cy="219456"/>
            </a:xfrm>
            <a:prstGeom prst="roundRect">
              <a:avLst>
                <a:gd name="adj" fmla="val 40000"/>
              </a:avLst>
            </a:prstGeom>
            <a:solidFill>
              <a:srgbClr val="1620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000" b="1">
                  <a:solidFill>
                    <a:srgbClr val="3B82F6"/>
                  </a:solidFill>
                  <a:latin typeface="Segoe UI"/>
                </a:defRPr>
              </a:pPr>
              <a:r>
                <a:rPr sz="750"/>
                <a:t>[SEP]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372350" y="1769326"/>
              <a:ext cx="150876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Separator between segments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6446520" y="2057362"/>
              <a:ext cx="822960" cy="219456"/>
            </a:xfrm>
            <a:prstGeom prst="roundRect">
              <a:avLst>
                <a:gd name="adj" fmla="val 40000"/>
              </a:avLst>
            </a:prstGeom>
            <a:solidFill>
              <a:srgbClr val="1620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000" b="1">
                  <a:solidFill>
                    <a:srgbClr val="94A3B8"/>
                  </a:solidFill>
                  <a:latin typeface="Segoe UI"/>
                </a:defRPr>
              </a:pPr>
              <a:r>
                <a:rPr sz="750"/>
                <a:t>[PAD]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372350" y="2084794"/>
              <a:ext cx="150876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Padding to equal length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6446520" y="2372830"/>
              <a:ext cx="822960" cy="219456"/>
            </a:xfrm>
            <a:prstGeom prst="roundRect">
              <a:avLst>
                <a:gd name="adj" fmla="val 40000"/>
              </a:avLst>
            </a:prstGeom>
            <a:solidFill>
              <a:srgbClr val="1620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000" b="1">
                  <a:solidFill>
                    <a:srgbClr val="EC4899"/>
                  </a:solidFill>
                  <a:latin typeface="Segoe UI"/>
                </a:defRPr>
              </a:pPr>
              <a:r>
                <a:rPr sz="750"/>
                <a:t>[MASK]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7372350" y="2400262"/>
              <a:ext cx="150876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Hidden token for pre-training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6446520" y="2688298"/>
              <a:ext cx="822960" cy="219456"/>
            </a:xfrm>
            <a:prstGeom prst="roundRect">
              <a:avLst>
                <a:gd name="adj" fmla="val 40000"/>
              </a:avLst>
            </a:prstGeom>
            <a:solidFill>
              <a:srgbClr val="1620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000" b="1">
                  <a:solidFill>
                    <a:srgbClr val="EF4444"/>
                  </a:solidFill>
                  <a:latin typeface="Segoe UI"/>
                </a:defRPr>
              </a:pPr>
              <a:r>
                <a:rPr sz="750"/>
                <a:t>[UNK]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7372350" y="2715730"/>
              <a:ext cx="150876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Unknown / unseen token</a:t>
              </a: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6446520" y="3003766"/>
              <a:ext cx="822960" cy="219456"/>
            </a:xfrm>
            <a:prstGeom prst="roundRect">
              <a:avLst>
                <a:gd name="adj" fmla="val 40000"/>
              </a:avLst>
            </a:prstGeom>
            <a:solidFill>
              <a:srgbClr val="1620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000" b="1">
                  <a:solidFill>
                    <a:srgbClr val="14B8A6"/>
                  </a:solidFill>
                  <a:latin typeface="Segoe UI"/>
                </a:defRPr>
              </a:pPr>
              <a:r>
                <a:rPr sz="750"/>
                <a:t>&lt;s&gt; / &lt;/s&gt;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7372350" y="3031198"/>
              <a:ext cx="150876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Sentence boundaries (T5/GPT)</a:t>
              </a: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6446520" y="3319234"/>
              <a:ext cx="822960" cy="219456"/>
            </a:xfrm>
            <a:prstGeom prst="roundRect">
              <a:avLst>
                <a:gd name="adj" fmla="val 40000"/>
              </a:avLst>
            </a:prstGeom>
            <a:solidFill>
              <a:srgbClr val="1620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000" b="1">
                  <a:solidFill>
                    <a:srgbClr val="94A3B8"/>
                  </a:solidFill>
                  <a:latin typeface="Segoe UI"/>
                </a:defRPr>
              </a:pPr>
              <a:r>
                <a:rPr sz="750"/>
                <a:t>&lt;pad&gt;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7372350" y="3346666"/>
              <a:ext cx="150876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Padding (T5 / BART)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09EA1DEF-8C6D-C151-AAAB-9B9142B48878}"/>
              </a:ext>
            </a:extLst>
          </p:cNvPr>
          <p:cNvGrpSpPr/>
          <p:nvPr/>
        </p:nvGrpSpPr>
        <p:grpSpPr>
          <a:xfrm>
            <a:off x="411480" y="4154184"/>
            <a:ext cx="8298180" cy="399774"/>
            <a:chOff x="411480" y="4154184"/>
            <a:chExt cx="8298180" cy="399774"/>
          </a:xfrm>
        </p:grpSpPr>
        <p:sp>
          <p:nvSpPr>
            <p:cNvPr id="45" name="Rounded Rectangle 44"/>
            <p:cNvSpPr/>
            <p:nvPr/>
          </p:nvSpPr>
          <p:spPr>
            <a:xfrm>
              <a:off x="411480" y="4154184"/>
              <a:ext cx="8298180" cy="377190"/>
            </a:xfrm>
            <a:prstGeom prst="roundRect">
              <a:avLst>
                <a:gd name="adj" fmla="val 4000"/>
              </a:avLst>
            </a:prstGeom>
            <a:solidFill>
              <a:srgbClr val="162033"/>
            </a:solidFill>
            <a:ln w="19050">
              <a:solidFill>
                <a:srgbClr val="F59E0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582930" y="4188474"/>
              <a:ext cx="788670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F59E0B"/>
                  </a:solidFill>
                  <a:latin typeface="Segoe UI"/>
                </a:defRPr>
              </a:pPr>
              <a:r>
                <a:rPr sz="900"/>
                <a:t>Key Insight for Our Workshop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582930" y="4346209"/>
              <a:ext cx="788670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 dirty="0"/>
                <a:t>T5 uses </a:t>
              </a:r>
              <a:r>
                <a:rPr sz="750" dirty="0" err="1"/>
                <a:t>SentencePiece</a:t>
              </a:r>
              <a:r>
                <a:rPr sz="750" dirty="0"/>
                <a:t> with a 32,000-token vocabulary. When we call tokenizer("summarize: ...") in Lab 1, </a:t>
              </a:r>
              <a:r>
                <a:rPr sz="750" dirty="0" err="1"/>
                <a:t>SentencePiece</a:t>
              </a:r>
              <a:r>
                <a:rPr sz="750" dirty="0"/>
                <a:t> converts our text into ~32K-dimensional IDs.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523384CC-2BE8-4340-3D6C-A8E1C4DCB393}"/>
              </a:ext>
            </a:extLst>
          </p:cNvPr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4" name="TextBox 3"/>
          <p:cNvSpPr txBox="1"/>
          <p:nvPr/>
        </p:nvSpPr>
        <p:spPr>
          <a:xfrm>
            <a:off x="411480" y="61565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sz="2400"/>
              <a:t>BPE in Action: Building a Vocabulary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755"/>
            <a:ext cx="6858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rPr sz="1050"/>
              <a:t>Watch BPE build a subword vocabulary from scratch. Each step merges the most frequent pair.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91D4F66-B846-1FD8-DB10-CC1FBD9A2D53}"/>
              </a:ext>
            </a:extLst>
          </p:cNvPr>
          <p:cNvGrpSpPr/>
          <p:nvPr/>
        </p:nvGrpSpPr>
        <p:grpSpPr>
          <a:xfrm>
            <a:off x="411480" y="958920"/>
            <a:ext cx="8298180" cy="548640"/>
            <a:chOff x="411480" y="958920"/>
            <a:chExt cx="8298180" cy="548640"/>
          </a:xfrm>
        </p:grpSpPr>
        <p:sp>
          <p:nvSpPr>
            <p:cNvPr id="6" name="Rounded Rectangle 5"/>
            <p:cNvSpPr/>
            <p:nvPr/>
          </p:nvSpPr>
          <p:spPr>
            <a:xfrm>
              <a:off x="411480" y="958920"/>
              <a:ext cx="8298180" cy="548640"/>
            </a:xfrm>
            <a:prstGeom prst="roundRect">
              <a:avLst>
                <a:gd name="adj" fmla="val 4000"/>
              </a:avLst>
            </a:prstGeom>
            <a:solidFill>
              <a:srgbClr val="162033"/>
            </a:solidFill>
            <a:ln w="19050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514350" y="1013784"/>
              <a:ext cx="1645920" cy="192024"/>
            </a:xfrm>
            <a:prstGeom prst="roundRect">
              <a:avLst>
                <a:gd name="adj" fmla="val 40000"/>
              </a:avLst>
            </a:prstGeom>
            <a:solidFill>
              <a:srgbClr val="A78B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STEP 0: TRAINING CORPUS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82930" y="1246956"/>
              <a:ext cx="788670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0">
                  <a:solidFill>
                    <a:srgbClr val="FBBF24"/>
                  </a:solidFill>
                  <a:latin typeface="Consolas"/>
                </a:defRPr>
              </a:pPr>
              <a:r>
                <a:rPr sz="900"/>
                <a:t>Corpus:   "low"  5x    "lower"  2x    "newest"  6x    "widest"  3x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684529A-1B30-9F6C-36AC-5F266A23EB32}"/>
              </a:ext>
            </a:extLst>
          </p:cNvPr>
          <p:cNvGrpSpPr/>
          <p:nvPr/>
        </p:nvGrpSpPr>
        <p:grpSpPr>
          <a:xfrm>
            <a:off x="411480" y="1610430"/>
            <a:ext cx="8298180" cy="548640"/>
            <a:chOff x="411480" y="1610430"/>
            <a:chExt cx="8298180" cy="548640"/>
          </a:xfrm>
        </p:grpSpPr>
        <p:sp>
          <p:nvSpPr>
            <p:cNvPr id="9" name="Rounded Rectangle 8"/>
            <p:cNvSpPr/>
            <p:nvPr/>
          </p:nvSpPr>
          <p:spPr>
            <a:xfrm>
              <a:off x="411480" y="1610430"/>
              <a:ext cx="8298180" cy="548640"/>
            </a:xfrm>
            <a:prstGeom prst="roundRect">
              <a:avLst>
                <a:gd name="adj" fmla="val 4000"/>
              </a:avLst>
            </a:prstGeom>
            <a:solidFill>
              <a:srgbClr val="162033"/>
            </a:solidFill>
            <a:ln w="19050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14350" y="1665294"/>
              <a:ext cx="1920240" cy="192024"/>
            </a:xfrm>
            <a:prstGeom prst="roundRect">
              <a:avLst>
                <a:gd name="adj" fmla="val 40000"/>
              </a:avLst>
            </a:prstGeom>
            <a:solidFill>
              <a:srgbClr val="3B8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FFFFFF"/>
                  </a:solidFill>
                  <a:latin typeface="Segoe UI"/>
                </a:defRPr>
              </a:pPr>
              <a:r>
                <a:rPr sz="675" dirty="0"/>
                <a:t>STEP 1: CHARACTER SPLIT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82930" y="1898467"/>
              <a:ext cx="788670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0">
                  <a:solidFill>
                    <a:srgbClr val="B0B8C8"/>
                  </a:solidFill>
                  <a:latin typeface="Consolas"/>
                </a:defRPr>
              </a:pPr>
              <a:r>
                <a:rPr sz="825" dirty="0"/>
                <a:t>l o w &lt;/w&gt;: 5    l o w e r &lt;/w&gt;: 2    n e w e s t &lt;/w&gt;: 6    w </a:t>
              </a:r>
              <a:r>
                <a:rPr sz="825" dirty="0" err="1"/>
                <a:t>i</a:t>
              </a:r>
              <a:r>
                <a:rPr sz="825" dirty="0"/>
                <a:t> d e s t &lt;/w&gt;: 3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4508D8F1-DFA1-6DF0-957C-0F21182BE803}"/>
              </a:ext>
            </a:extLst>
          </p:cNvPr>
          <p:cNvGrpSpPr/>
          <p:nvPr/>
        </p:nvGrpSpPr>
        <p:grpSpPr>
          <a:xfrm>
            <a:off x="411480" y="2374234"/>
            <a:ext cx="8298180" cy="1755648"/>
            <a:chOff x="411480" y="2743200"/>
            <a:chExt cx="8298180" cy="1755648"/>
          </a:xfrm>
        </p:grpSpPr>
        <p:sp>
          <p:nvSpPr>
            <p:cNvPr id="12" name="Rectangle 11"/>
            <p:cNvSpPr/>
            <p:nvPr/>
          </p:nvSpPr>
          <p:spPr>
            <a:xfrm>
              <a:off x="411480" y="2743200"/>
              <a:ext cx="8298180" cy="274320"/>
            </a:xfrm>
            <a:prstGeom prst="rect">
              <a:avLst/>
            </a:prstGeom>
            <a:solidFill>
              <a:srgbClr val="1A25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66344" y="2784348"/>
              <a:ext cx="61722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FBBF24"/>
                  </a:solidFill>
                  <a:latin typeface="Segoe UI"/>
                </a:defRPr>
              </a:pPr>
              <a:r>
                <a:rPr sz="750"/>
                <a:t>Step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152144" y="2784348"/>
              <a:ext cx="11658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FBBF24"/>
                  </a:solidFill>
                  <a:latin typeface="Segoe UI"/>
                </a:defRPr>
              </a:pPr>
              <a:r>
                <a:rPr sz="750"/>
                <a:t>Most Freq Pair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386584" y="2784348"/>
              <a:ext cx="157734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FBBF24"/>
                  </a:solidFill>
                  <a:latin typeface="Segoe UI"/>
                </a:defRPr>
              </a:pPr>
              <a:r>
                <a:rPr sz="750"/>
                <a:t>New Token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032504" y="2784348"/>
              <a:ext cx="198882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FBBF24"/>
                  </a:solidFill>
                  <a:latin typeface="Segoe UI"/>
                </a:defRPr>
              </a:pPr>
              <a:r>
                <a:rPr sz="750"/>
                <a:t>Frequency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089904" y="2784348"/>
              <a:ext cx="260604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FBBF24"/>
                  </a:solidFill>
                  <a:latin typeface="Segoe UI"/>
                </a:defRPr>
              </a:pPr>
              <a:r>
                <a:rPr sz="750"/>
                <a:t>Result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11480" y="3017520"/>
              <a:ext cx="8298180" cy="370332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11480" y="3017520"/>
              <a:ext cx="27432" cy="370332"/>
            </a:xfrm>
            <a:prstGeom prst="rect">
              <a:avLst/>
            </a:prstGeom>
            <a:solidFill>
              <a:srgbClr val="A78B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93776" y="3044952"/>
              <a:ext cx="58293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200" b="1">
                  <a:solidFill>
                    <a:srgbClr val="A78BFA"/>
                  </a:solidFill>
                  <a:latin typeface="Segoe UI"/>
                </a:defRPr>
              </a:pPr>
              <a:r>
                <a:rPr sz="900"/>
                <a:t>2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152144" y="3044953"/>
              <a:ext cx="116586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FFFFFF"/>
                  </a:solidFill>
                  <a:latin typeface="Consolas"/>
                </a:defRPr>
              </a:pPr>
              <a:r>
                <a:rPr sz="825"/>
                <a:t>e + s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2386584" y="3044952"/>
              <a:ext cx="891540" cy="178308"/>
            </a:xfrm>
            <a:prstGeom prst="roundRect">
              <a:avLst>
                <a:gd name="adj" fmla="val 40000"/>
              </a:avLst>
            </a:prstGeom>
            <a:solidFill>
              <a:srgbClr val="22C55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000" b="1">
                  <a:solidFill>
                    <a:srgbClr val="FFFFFF"/>
                  </a:solidFill>
                  <a:latin typeface="Segoe UI"/>
                </a:defRPr>
              </a:pPr>
              <a:r>
                <a:rPr sz="750"/>
                <a:t>es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032504" y="3044952"/>
              <a:ext cx="198882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Consolas"/>
                </a:defRPr>
              </a:pPr>
              <a:r>
                <a:rPr sz="750"/>
                <a:t>6+3 = 9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966460" y="3085430"/>
              <a:ext cx="260604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800" b="0">
                  <a:solidFill>
                    <a:srgbClr val="94A3B8"/>
                  </a:solidFill>
                  <a:latin typeface="Consolas"/>
                </a:defRPr>
              </a:pPr>
              <a:r>
                <a:rPr sz="600"/>
                <a:t>l o w &lt;/w&gt;: 5   l o w e r &lt;/w&gt;: 2   n e w es t &lt;/w&gt;: 6   w i d es t &lt;/w&gt;: 3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11480" y="3387852"/>
              <a:ext cx="8298180" cy="370332"/>
            </a:xfrm>
            <a:prstGeom prst="rect">
              <a:avLst/>
            </a:prstGeom>
            <a:solidFill>
              <a:srgbClr val="1620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411480" y="3387852"/>
              <a:ext cx="27432" cy="370332"/>
            </a:xfrm>
            <a:prstGeom prst="rect">
              <a:avLst/>
            </a:prstGeom>
            <a:solidFill>
              <a:srgbClr val="A78B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93776" y="3415284"/>
              <a:ext cx="58293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200" b="1">
                  <a:solidFill>
                    <a:srgbClr val="A78BFA"/>
                  </a:solidFill>
                  <a:latin typeface="Segoe UI"/>
                </a:defRPr>
              </a:pPr>
              <a:r>
                <a:rPr sz="900"/>
                <a:t>3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152144" y="3415285"/>
              <a:ext cx="116586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FFFFFF"/>
                  </a:solidFill>
                  <a:latin typeface="Consolas"/>
                </a:defRPr>
              </a:pPr>
              <a:r>
                <a:rPr sz="825"/>
                <a:t>es + t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2386584" y="3415284"/>
              <a:ext cx="891540" cy="178308"/>
            </a:xfrm>
            <a:prstGeom prst="roundRect">
              <a:avLst>
                <a:gd name="adj" fmla="val 40000"/>
              </a:avLst>
            </a:prstGeom>
            <a:solidFill>
              <a:srgbClr val="22C55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000" b="1">
                  <a:solidFill>
                    <a:srgbClr val="FFFFFF"/>
                  </a:solidFill>
                  <a:latin typeface="Segoe UI"/>
                </a:defRPr>
              </a:pPr>
              <a:r>
                <a:rPr sz="750"/>
                <a:t>est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032504" y="3415284"/>
              <a:ext cx="198882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Consolas"/>
                </a:defRPr>
              </a:pPr>
              <a:r>
                <a:rPr sz="750"/>
                <a:t>6+3 = 9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021324" y="3449370"/>
              <a:ext cx="260604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800" b="0">
                  <a:solidFill>
                    <a:srgbClr val="94A3B8"/>
                  </a:solidFill>
                  <a:latin typeface="Consolas"/>
                </a:defRPr>
              </a:pPr>
              <a:r>
                <a:rPr sz="600" dirty="0"/>
                <a:t>l o w &lt;/w&gt;: 5   l o w e r &lt;/w&gt;: 2   n e w est &lt;/w&gt;: 6   w </a:t>
              </a:r>
              <a:r>
                <a:rPr sz="600" dirty="0" err="1"/>
                <a:t>i</a:t>
              </a:r>
              <a:r>
                <a:rPr sz="600" dirty="0"/>
                <a:t> d est &lt;/w&gt;: 3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411480" y="3758184"/>
              <a:ext cx="8298180" cy="370332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411480" y="3758184"/>
              <a:ext cx="27432" cy="370332"/>
            </a:xfrm>
            <a:prstGeom prst="rect">
              <a:avLst/>
            </a:prstGeom>
            <a:solidFill>
              <a:srgbClr val="A78B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93776" y="3785616"/>
              <a:ext cx="58293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200" b="1">
                  <a:solidFill>
                    <a:srgbClr val="A78BFA"/>
                  </a:solidFill>
                  <a:latin typeface="Segoe UI"/>
                </a:defRPr>
              </a:pPr>
              <a:r>
                <a:rPr sz="900"/>
                <a:t>4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152144" y="3785617"/>
              <a:ext cx="116586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FFFFFF"/>
                  </a:solidFill>
                  <a:latin typeface="Consolas"/>
                </a:defRPr>
              </a:pPr>
              <a:r>
                <a:rPr sz="825"/>
                <a:t>est + &lt;/w&gt;</a:t>
              </a: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2386584" y="3785616"/>
              <a:ext cx="891540" cy="178308"/>
            </a:xfrm>
            <a:prstGeom prst="roundRect">
              <a:avLst>
                <a:gd name="adj" fmla="val 40000"/>
              </a:avLst>
            </a:prstGeom>
            <a:solidFill>
              <a:srgbClr val="22C55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000" b="1">
                  <a:solidFill>
                    <a:srgbClr val="FFFFFF"/>
                  </a:solidFill>
                  <a:latin typeface="Segoe UI"/>
                </a:defRPr>
              </a:pPr>
              <a:r>
                <a:rPr sz="750"/>
                <a:t>est&lt;/w&gt;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032504" y="3785616"/>
              <a:ext cx="198882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Consolas"/>
                </a:defRPr>
              </a:pPr>
              <a:r>
                <a:rPr sz="750"/>
                <a:t>6+3 = 9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021324" y="3780593"/>
              <a:ext cx="260604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800" b="0">
                  <a:solidFill>
                    <a:srgbClr val="94A3B8"/>
                  </a:solidFill>
                  <a:latin typeface="Consolas"/>
                </a:defRPr>
              </a:pPr>
              <a:r>
                <a:rPr sz="600" dirty="0"/>
                <a:t>l o w &lt;/w&gt;: 5   l o w e r &lt;/w&gt;: 2   n e w est&lt;/w&gt;: 6   w </a:t>
              </a:r>
              <a:r>
                <a:rPr sz="600" dirty="0" err="1"/>
                <a:t>i</a:t>
              </a:r>
              <a:r>
                <a:rPr sz="600" dirty="0"/>
                <a:t> d est&lt;/w&gt;: 3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411480" y="4128516"/>
              <a:ext cx="8298180" cy="370332"/>
            </a:xfrm>
            <a:prstGeom prst="rect">
              <a:avLst/>
            </a:prstGeom>
            <a:solidFill>
              <a:srgbClr val="1620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411480" y="4128516"/>
              <a:ext cx="27432" cy="370332"/>
            </a:xfrm>
            <a:prstGeom prst="rect">
              <a:avLst/>
            </a:prstGeom>
            <a:solidFill>
              <a:srgbClr val="A78B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93776" y="4155948"/>
              <a:ext cx="58293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200" b="1">
                  <a:solidFill>
                    <a:srgbClr val="A78BFA"/>
                  </a:solidFill>
                  <a:latin typeface="Segoe UI"/>
                </a:defRPr>
              </a:pPr>
              <a:r>
                <a:rPr sz="900"/>
                <a:t>5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152144" y="4155949"/>
              <a:ext cx="116586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FFFFFF"/>
                  </a:solidFill>
                  <a:latin typeface="Consolas"/>
                </a:defRPr>
              </a:pPr>
              <a:r>
                <a:rPr sz="825"/>
                <a:t>l + o</a:t>
              </a: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2386584" y="4155948"/>
              <a:ext cx="891540" cy="178308"/>
            </a:xfrm>
            <a:prstGeom prst="roundRect">
              <a:avLst>
                <a:gd name="adj" fmla="val 40000"/>
              </a:avLst>
            </a:prstGeom>
            <a:solidFill>
              <a:srgbClr val="22C55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000" b="1">
                  <a:solidFill>
                    <a:srgbClr val="FFFFFF"/>
                  </a:solidFill>
                  <a:latin typeface="Segoe UI"/>
                </a:defRPr>
              </a:pPr>
              <a:r>
                <a:rPr sz="750"/>
                <a:t>lo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4032504" y="4155948"/>
              <a:ext cx="198882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Consolas"/>
                </a:defRPr>
              </a:pPr>
              <a:r>
                <a:rPr sz="750"/>
                <a:t>5+2 = 7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6089904" y="4172504"/>
              <a:ext cx="260604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800" b="0">
                  <a:solidFill>
                    <a:srgbClr val="94A3B8"/>
                  </a:solidFill>
                  <a:latin typeface="Consolas"/>
                </a:defRPr>
              </a:pPr>
              <a:r>
                <a:rPr sz="600" dirty="0"/>
                <a:t>lo w &lt;/w&gt;: 5   lo w e r &lt;/w&gt;: 2   n e w est&lt;/w&gt;: 6   w </a:t>
              </a:r>
              <a:r>
                <a:rPr sz="600" dirty="0" err="1"/>
                <a:t>i</a:t>
              </a:r>
              <a:r>
                <a:rPr sz="600" dirty="0"/>
                <a:t> d est&lt;/w&gt;: 3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4188BA1B-9263-19F7-6369-38F2884F43FA}"/>
              </a:ext>
            </a:extLst>
          </p:cNvPr>
          <p:cNvGrpSpPr/>
          <p:nvPr/>
        </p:nvGrpSpPr>
        <p:grpSpPr>
          <a:xfrm>
            <a:off x="411480" y="4436706"/>
            <a:ext cx="8298180" cy="377190"/>
            <a:chOff x="411480" y="4622292"/>
            <a:chExt cx="8298180" cy="342900"/>
          </a:xfrm>
        </p:grpSpPr>
        <p:sp>
          <p:nvSpPr>
            <p:cNvPr id="46" name="Rounded Rectangle 45"/>
            <p:cNvSpPr/>
            <p:nvPr/>
          </p:nvSpPr>
          <p:spPr>
            <a:xfrm>
              <a:off x="411480" y="4622292"/>
              <a:ext cx="8298180" cy="342900"/>
            </a:xfrm>
            <a:prstGeom prst="roundRect">
              <a:avLst>
                <a:gd name="adj" fmla="val 4000"/>
              </a:avLst>
            </a:prstGeom>
            <a:solidFill>
              <a:srgbClr val="162033"/>
            </a:solidFill>
            <a:ln w="19050">
              <a:solidFill>
                <a:srgbClr val="22C55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582930" y="4663441"/>
              <a:ext cx="788670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 dirty="0"/>
                <a:t>After thousands of merges, you get a vocabulary of ~30K-50K tokens. Common words stay whole. Rare words split into known </a:t>
              </a:r>
              <a:r>
                <a:rPr sz="825" dirty="0" err="1"/>
                <a:t>subwords</a:t>
              </a:r>
              <a:r>
                <a:rPr sz="825" dirty="0"/>
                <a:t>. No word is ever unknown!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82">
            <a:extLst>
              <a:ext uri="{FF2B5EF4-FFF2-40B4-BE49-F238E27FC236}">
                <a16:creationId xmlns:a16="http://schemas.microsoft.com/office/drawing/2014/main" id="{A22F33CD-4530-5019-403D-90057014BD07}"/>
              </a:ext>
            </a:extLst>
          </p:cNvPr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4" name="TextBox 3"/>
          <p:cNvSpPr txBox="1"/>
          <p:nvPr/>
        </p:nvSpPr>
        <p:spPr>
          <a:xfrm>
            <a:off x="411480" y="5418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sz="2400" dirty="0"/>
              <a:t>T5 Tokenizer: From Text to Token</a:t>
            </a:r>
            <a:r>
              <a:rPr lang="en-IN" sz="2400" dirty="0"/>
              <a:t>s</a:t>
            </a:r>
            <a:endParaRPr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411480" y="382608"/>
            <a:ext cx="6858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rPr sz="1050"/>
              <a:t>This is exactly the code you will run in Lab 1. Three lines  from text to model-ready integers.</a:t>
            </a: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7257C93F-8E69-8CB4-4EE5-CBD73373D702}"/>
              </a:ext>
            </a:extLst>
          </p:cNvPr>
          <p:cNvGrpSpPr/>
          <p:nvPr/>
        </p:nvGrpSpPr>
        <p:grpSpPr>
          <a:xfrm>
            <a:off x="411480" y="926836"/>
            <a:ext cx="5212080" cy="3051810"/>
            <a:chOff x="411480" y="1440180"/>
            <a:chExt cx="5212080" cy="3051810"/>
          </a:xfrm>
        </p:grpSpPr>
        <p:sp>
          <p:nvSpPr>
            <p:cNvPr id="6" name="Rounded Rectangle 5"/>
            <p:cNvSpPr/>
            <p:nvPr/>
          </p:nvSpPr>
          <p:spPr>
            <a:xfrm>
              <a:off x="411480" y="1440180"/>
              <a:ext cx="5212080" cy="3051810"/>
            </a:xfrm>
            <a:prstGeom prst="roundRect">
              <a:avLst>
                <a:gd name="adj" fmla="val 4000"/>
              </a:avLst>
            </a:prstGeom>
            <a:solidFill>
              <a:srgbClr val="162033"/>
            </a:solidFill>
            <a:ln w="19050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11480" y="1440180"/>
              <a:ext cx="5212080" cy="288036"/>
            </a:xfrm>
            <a:prstGeom prst="rect">
              <a:avLst/>
            </a:prstGeom>
            <a:solidFill>
              <a:srgbClr val="1A25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48640" y="1481329"/>
              <a:ext cx="205740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FBBF24"/>
                  </a:solidFill>
                  <a:latin typeface="Segoe UI"/>
                </a:defRPr>
              </a:pPr>
              <a:r>
                <a:rPr sz="825"/>
                <a:t>Python  T5 Tokenizer Example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82930" y="1783081"/>
              <a:ext cx="486918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0">
                  <a:solidFill>
                    <a:srgbClr val="EC4899"/>
                  </a:solidFill>
                  <a:latin typeface="Consolas"/>
                </a:defRPr>
              </a:pPr>
              <a:r>
                <a:rPr sz="825"/>
                <a:t>from transformers import T5Tokenizer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82930" y="1933957"/>
              <a:ext cx="486918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0">
                  <a:solidFill>
                    <a:srgbClr val="B0B8C8"/>
                  </a:solidFill>
                  <a:latin typeface="Consolas"/>
                </a:defRPr>
              </a:pPr>
              <a:endParaRPr sz="825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82930" y="2084833"/>
              <a:ext cx="486918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0">
                  <a:solidFill>
                    <a:srgbClr val="94A3B8"/>
                  </a:solidFill>
                  <a:latin typeface="Consolas"/>
                </a:defRPr>
              </a:pPr>
              <a:r>
                <a:rPr sz="825"/>
                <a:t># Load the T5 tokenizer (SentencePiece under the hood)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82930" y="2235709"/>
              <a:ext cx="486918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0">
                  <a:solidFill>
                    <a:srgbClr val="B0B8C8"/>
                  </a:solidFill>
                  <a:latin typeface="Consolas"/>
                </a:defRPr>
              </a:pPr>
              <a:r>
                <a:rPr sz="825"/>
                <a:t>tokenizer = T5Tokenizer.from_pretrained("t5-small")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82930" y="2386585"/>
              <a:ext cx="486918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0">
                  <a:solidFill>
                    <a:srgbClr val="B0B8C8"/>
                  </a:solidFill>
                  <a:latin typeface="Consolas"/>
                </a:defRPr>
              </a:pPr>
              <a:endParaRPr sz="825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82930" y="2537461"/>
              <a:ext cx="486918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0">
                  <a:solidFill>
                    <a:srgbClr val="94A3B8"/>
                  </a:solidFill>
                  <a:latin typeface="Consolas"/>
                </a:defRPr>
              </a:pPr>
              <a:r>
                <a:rPr sz="825"/>
                <a:t># Input text with task prefix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82930" y="2688337"/>
              <a:ext cx="486918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0">
                  <a:solidFill>
                    <a:srgbClr val="22C55E"/>
                  </a:solidFill>
                  <a:latin typeface="Consolas"/>
                </a:defRPr>
              </a:pPr>
              <a:r>
                <a:rPr sz="825"/>
                <a:t>text = "summarize: The transformer architecture..."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82930" y="2839213"/>
              <a:ext cx="486918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0">
                  <a:solidFill>
                    <a:srgbClr val="B0B8C8"/>
                  </a:solidFill>
                  <a:latin typeface="Consolas"/>
                </a:defRPr>
              </a:pPr>
              <a:endParaRPr sz="825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82930" y="2990089"/>
              <a:ext cx="486918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0">
                  <a:solidFill>
                    <a:srgbClr val="94A3B8"/>
                  </a:solidFill>
                  <a:latin typeface="Consolas"/>
                </a:defRPr>
              </a:pPr>
              <a:r>
                <a:rPr sz="825"/>
                <a:t># Tokenize!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82930" y="3140965"/>
              <a:ext cx="486918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0">
                  <a:solidFill>
                    <a:srgbClr val="B0B8C8"/>
                  </a:solidFill>
                  <a:latin typeface="Consolas"/>
                </a:defRPr>
              </a:pPr>
              <a:r>
                <a:rPr sz="825"/>
                <a:t>tokens  = tokenizer.tokenize(text)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82930" y="3291841"/>
              <a:ext cx="486918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0">
                  <a:solidFill>
                    <a:srgbClr val="B0B8C8"/>
                  </a:solidFill>
                  <a:latin typeface="Consolas"/>
                </a:defRPr>
              </a:pPr>
              <a:r>
                <a:rPr sz="825"/>
                <a:t>ids     = tokenizer.encode(text)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82930" y="3442717"/>
              <a:ext cx="486918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0">
                  <a:solidFill>
                    <a:srgbClr val="B0B8C8"/>
                  </a:solidFill>
                  <a:latin typeface="Consolas"/>
                </a:defRPr>
              </a:pPr>
              <a:r>
                <a:rPr sz="825"/>
                <a:t>decoded = tokenizer.decode(ids)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82930" y="3593593"/>
              <a:ext cx="486918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0">
                  <a:solidFill>
                    <a:srgbClr val="B0B8C8"/>
                  </a:solidFill>
                  <a:latin typeface="Consolas"/>
                </a:defRPr>
              </a:pPr>
              <a:endParaRPr sz="825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82930" y="3744469"/>
              <a:ext cx="486918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0">
                  <a:solidFill>
                    <a:srgbClr val="94A3B8"/>
                  </a:solidFill>
                  <a:latin typeface="Consolas"/>
                </a:defRPr>
              </a:pPr>
              <a:r>
                <a:rPr sz="825"/>
                <a:t># What you get: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82930" y="3895345"/>
              <a:ext cx="486918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0">
                  <a:solidFill>
                    <a:srgbClr val="14B8A6"/>
                  </a:solidFill>
                  <a:latin typeface="Consolas"/>
                </a:defRPr>
              </a:pPr>
              <a:r>
                <a:rPr sz="825"/>
                <a:t># tokens  = ["_summar", "ize", ":", "_The", ...]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82930" y="4046221"/>
              <a:ext cx="486918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0">
                  <a:solidFill>
                    <a:srgbClr val="14B8A6"/>
                  </a:solidFill>
                  <a:latin typeface="Consolas"/>
                </a:defRPr>
              </a:pPr>
              <a:r>
                <a:rPr sz="825"/>
                <a:t># ids     = [21603, 10, 31, 37, ...]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82930" y="4197097"/>
              <a:ext cx="486918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0">
                  <a:solidFill>
                    <a:srgbClr val="14B8A6"/>
                  </a:solidFill>
                  <a:latin typeface="Consolas"/>
                </a:defRPr>
              </a:pPr>
              <a:r>
                <a:rPr sz="825"/>
                <a:t># decoded = "summarize: The transformer..."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514350" y="4114800"/>
              <a:ext cx="5006340" cy="308610"/>
            </a:xfrm>
            <a:prstGeom prst="roundRect">
              <a:avLst>
                <a:gd name="adj" fmla="val 4000"/>
              </a:avLst>
            </a:prstGeom>
            <a:solidFill>
              <a:srgbClr val="1E293B"/>
            </a:solidFill>
            <a:ln w="19050">
              <a:solidFill>
                <a:srgbClr val="F59E0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17220" y="4142232"/>
              <a:ext cx="486918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"summarize"  becomes  ["_summar", "ize"]  because SentencePiece splits it at the most likely subword boundary.</a:t>
              </a: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CE4E93E1-46AA-F829-2CBD-F7F7FBFF49FD}"/>
              </a:ext>
            </a:extLst>
          </p:cNvPr>
          <p:cNvGrpSpPr/>
          <p:nvPr/>
        </p:nvGrpSpPr>
        <p:grpSpPr>
          <a:xfrm>
            <a:off x="5795010" y="902773"/>
            <a:ext cx="3086100" cy="3337954"/>
            <a:chOff x="5795010" y="902773"/>
            <a:chExt cx="3086100" cy="3337954"/>
          </a:xfrm>
        </p:grpSpPr>
        <p:sp>
          <p:nvSpPr>
            <p:cNvPr id="28" name="Rounded Rectangle 27"/>
            <p:cNvSpPr/>
            <p:nvPr/>
          </p:nvSpPr>
          <p:spPr>
            <a:xfrm>
              <a:off x="5795010" y="902773"/>
              <a:ext cx="3086100" cy="3337954"/>
            </a:xfrm>
            <a:prstGeom prst="roundRect">
              <a:avLst>
                <a:gd name="adj" fmla="val 4000"/>
              </a:avLst>
            </a:prstGeom>
            <a:solidFill>
              <a:srgbClr val="1E293B"/>
            </a:solidFill>
            <a:ln w="19050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5795010" y="902773"/>
              <a:ext cx="3086100" cy="34290"/>
            </a:xfrm>
            <a:prstGeom prst="rect">
              <a:avLst/>
            </a:prstGeom>
            <a:solidFill>
              <a:srgbClr val="FBBF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932170" y="985069"/>
              <a:ext cx="281178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400" b="1">
                  <a:solidFill>
                    <a:srgbClr val="FBBF24"/>
                  </a:solidFill>
                  <a:latin typeface="Segoe UI"/>
                </a:defRPr>
              </a:pPr>
              <a:r>
                <a:rPr sz="1050"/>
                <a:t>Vocabulary Sizes Compared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5863590" y="1259389"/>
              <a:ext cx="2948940" cy="233172"/>
            </a:xfrm>
            <a:prstGeom prst="rect">
              <a:avLst/>
            </a:prstGeom>
            <a:solidFill>
              <a:srgbClr val="1A25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932170" y="1286821"/>
              <a:ext cx="61722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FBBF24"/>
                  </a:solidFill>
                  <a:latin typeface="Segoe UI"/>
                </a:defRPr>
              </a:pPr>
              <a:r>
                <a:rPr sz="675"/>
                <a:t>Model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926580" y="1286821"/>
              <a:ext cx="61722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FBBF24"/>
                  </a:solidFill>
                  <a:latin typeface="Segoe UI"/>
                </a:defRPr>
              </a:pPr>
              <a:r>
                <a:rPr sz="675"/>
                <a:t>Algorithm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578090" y="1286821"/>
              <a:ext cx="61722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FBBF24"/>
                  </a:solidFill>
                  <a:latin typeface="Segoe UI"/>
                </a:defRPr>
              </a:pPr>
              <a:r>
                <a:rPr sz="675"/>
                <a:t>Vocab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195310" y="1286821"/>
              <a:ext cx="61722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FBBF24"/>
                  </a:solidFill>
                  <a:latin typeface="Segoe UI"/>
                </a:defRPr>
              </a:pPr>
              <a:r>
                <a:rPr sz="675"/>
                <a:t>Year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5863590" y="1492561"/>
              <a:ext cx="2948940" cy="246888"/>
            </a:xfrm>
            <a:prstGeom prst="rect">
              <a:avLst/>
            </a:prstGeom>
            <a:solidFill>
              <a:srgbClr val="1620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932170" y="1526851"/>
              <a:ext cx="61722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3B82F6"/>
                  </a:solidFill>
                  <a:latin typeface="Segoe UI"/>
                </a:defRPr>
              </a:pPr>
              <a:r>
                <a:rPr sz="675"/>
                <a:t>BERT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926580" y="1526851"/>
              <a:ext cx="61722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WordPiece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7578090" y="1526851"/>
              <a:ext cx="61722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30,522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8195310" y="1526851"/>
              <a:ext cx="61722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2018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5863590" y="1739449"/>
              <a:ext cx="2948940" cy="246888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932170" y="1773739"/>
              <a:ext cx="61722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A78BFA"/>
                  </a:solidFill>
                  <a:latin typeface="Segoe UI"/>
                </a:defRPr>
              </a:pPr>
              <a:r>
                <a:rPr sz="675" dirty="0"/>
                <a:t>GPT-2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926580" y="1773739"/>
              <a:ext cx="61722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BPE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7578090" y="1773739"/>
              <a:ext cx="61722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50,257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8195310" y="1773739"/>
              <a:ext cx="61722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2019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5863590" y="1986337"/>
              <a:ext cx="2948940" cy="246888"/>
            </a:xfrm>
            <a:prstGeom prst="rect">
              <a:avLst/>
            </a:prstGeom>
            <a:solidFill>
              <a:srgbClr val="1620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5863590" y="1986337"/>
              <a:ext cx="27432" cy="246888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932170" y="2020627"/>
              <a:ext cx="61722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14B8A6"/>
                  </a:solidFill>
                  <a:latin typeface="Segoe UI"/>
                </a:defRPr>
              </a:pPr>
              <a:r>
                <a:rPr sz="675"/>
                <a:t>T5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929791" y="2020627"/>
              <a:ext cx="742478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 dirty="0" err="1"/>
                <a:t>SentencePiece</a:t>
              </a:r>
              <a:endParaRPr sz="675" dirty="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578090" y="2020627"/>
              <a:ext cx="61722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32,100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8195310" y="2020627"/>
              <a:ext cx="61722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2019</a:t>
              </a: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5863590" y="2233225"/>
              <a:ext cx="2948940" cy="246888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5932170" y="2267515"/>
              <a:ext cx="61722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3B82F6"/>
                  </a:solidFill>
                  <a:latin typeface="Segoe UI"/>
                </a:defRPr>
              </a:pPr>
              <a:r>
                <a:rPr sz="675"/>
                <a:t>RoBERTa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6926580" y="2267515"/>
              <a:ext cx="61722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BPE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7578090" y="2267515"/>
              <a:ext cx="61722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50,265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8195310" y="2267515"/>
              <a:ext cx="61722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2019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5863590" y="2480113"/>
              <a:ext cx="2948940" cy="246888"/>
            </a:xfrm>
            <a:prstGeom prst="rect">
              <a:avLst/>
            </a:prstGeom>
            <a:solidFill>
              <a:srgbClr val="1620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5932170" y="2514403"/>
              <a:ext cx="61722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22C55E"/>
                  </a:solidFill>
                  <a:latin typeface="Segoe UI"/>
                </a:defRPr>
              </a:pPr>
              <a:r>
                <a:rPr sz="675"/>
                <a:t>LLaMA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6922234" y="2514403"/>
              <a:ext cx="772706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 dirty="0" err="1"/>
                <a:t>SentencePiece</a:t>
              </a:r>
              <a:endParaRPr sz="675" dirty="0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7578090" y="2514403"/>
              <a:ext cx="61722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32,000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8195310" y="2514403"/>
              <a:ext cx="61722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2023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5863590" y="2727001"/>
              <a:ext cx="2948940" cy="246888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5932170" y="2761291"/>
              <a:ext cx="61722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22C55E"/>
                  </a:solidFill>
                  <a:latin typeface="Segoe UI"/>
                </a:defRPr>
              </a:pPr>
              <a:r>
                <a:rPr sz="675"/>
                <a:t>LLaMA 3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6926580" y="2761291"/>
              <a:ext cx="61722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BPE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7578090" y="2761291"/>
              <a:ext cx="61722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128,256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8195310" y="2761291"/>
              <a:ext cx="61722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2024</a:t>
              </a: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5863590" y="2973889"/>
              <a:ext cx="2948940" cy="246888"/>
            </a:xfrm>
            <a:prstGeom prst="rect">
              <a:avLst/>
            </a:prstGeom>
            <a:solidFill>
              <a:srgbClr val="1620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5932170" y="3008179"/>
              <a:ext cx="61722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A78BFA"/>
                  </a:solidFill>
                  <a:latin typeface="Segoe UI"/>
                </a:defRPr>
              </a:pPr>
              <a:r>
                <a:rPr sz="675"/>
                <a:t>GPT-4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6926580" y="3008179"/>
              <a:ext cx="61722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BPE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7578090" y="3008179"/>
              <a:ext cx="61722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~100K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8195310" y="3008179"/>
              <a:ext cx="61722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2023</a:t>
              </a: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5863590" y="3220777"/>
              <a:ext cx="2948940" cy="246888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5932170" y="3255067"/>
              <a:ext cx="61722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F59E0B"/>
                  </a:solidFill>
                  <a:latin typeface="Segoe UI"/>
                </a:defRPr>
              </a:pPr>
              <a:r>
                <a:rPr sz="675"/>
                <a:t>Mistral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6926580" y="3255067"/>
              <a:ext cx="61722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BPE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7578090" y="3255067"/>
              <a:ext cx="61722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32,000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8195310" y="3255067"/>
              <a:ext cx="61722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2023</a:t>
              </a:r>
            </a:p>
          </p:txBody>
        </p:sp>
        <p:sp>
          <p:nvSpPr>
            <p:cNvPr id="77" name="Rounded Rectangle 76"/>
            <p:cNvSpPr/>
            <p:nvPr/>
          </p:nvSpPr>
          <p:spPr>
            <a:xfrm>
              <a:off x="5863590" y="3549961"/>
              <a:ext cx="2948940" cy="292411"/>
            </a:xfrm>
            <a:prstGeom prst="roundRect">
              <a:avLst>
                <a:gd name="adj" fmla="val 4000"/>
              </a:avLst>
            </a:prstGeom>
            <a:solidFill>
              <a:srgbClr val="162033"/>
            </a:solidFill>
            <a:ln w="19050">
              <a:solidFill>
                <a:srgbClr val="14B8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5863590" y="3612043"/>
              <a:ext cx="2811780" cy="6078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225"/>
                </a:spcAft>
                <a:defRPr sz="1000" b="1">
                  <a:solidFill>
                    <a:srgbClr val="14B8A6"/>
                  </a:solidFill>
                  <a:latin typeface="Segoe UI"/>
                </a:defRPr>
              </a:pPr>
              <a:r>
                <a:rPr sz="750" dirty="0"/>
                <a:t>T5-small = 32,100 tokens</a:t>
              </a:r>
              <a:endParaRPr lang="en-IN" sz="750" dirty="0"/>
            </a:p>
            <a:p>
              <a:pPr algn="ctr">
                <a:spcAft>
                  <a:spcPts val="225"/>
                </a:spcAft>
                <a:defRPr sz="1000" b="1">
                  <a:solidFill>
                    <a:srgbClr val="14B8A6"/>
                  </a:solidFill>
                  <a:latin typeface="Segoe UI"/>
                </a:defRPr>
              </a:pPr>
              <a:endParaRPr sz="750" dirty="0"/>
            </a:p>
            <a:p>
              <a:pPr algn="ctr">
                <a:spcAft>
                  <a:spcPts val="225"/>
                </a:spcAft>
                <a:defRPr sz="900" b="0">
                  <a:solidFill>
                    <a:srgbClr val="94A3B8"/>
                  </a:solidFill>
                  <a:latin typeface="Segoe UI"/>
                </a:defRPr>
              </a:pPr>
              <a:r>
                <a:rPr sz="675" dirty="0"/>
                <a:t>Perfect balance of coverage</a:t>
              </a:r>
            </a:p>
            <a:p>
              <a:pPr algn="ctr">
                <a:spcAft>
                  <a:spcPts val="225"/>
                </a:spcAft>
                <a:defRPr sz="900" b="0">
                  <a:solidFill>
                    <a:srgbClr val="94A3B8"/>
                  </a:solidFill>
                  <a:latin typeface="Segoe UI"/>
                </a:defRPr>
              </a:pPr>
              <a:r>
                <a:rPr sz="675" dirty="0"/>
                <a:t>and efficiency for our lab</a:t>
              </a: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3DA78D1E-57C1-87CD-461A-666B07404D90}"/>
              </a:ext>
            </a:extLst>
          </p:cNvPr>
          <p:cNvGrpSpPr/>
          <p:nvPr/>
        </p:nvGrpSpPr>
        <p:grpSpPr>
          <a:xfrm>
            <a:off x="411480" y="4471056"/>
            <a:ext cx="8298180" cy="399773"/>
            <a:chOff x="411480" y="4615434"/>
            <a:chExt cx="8298180" cy="399773"/>
          </a:xfrm>
        </p:grpSpPr>
        <p:sp>
          <p:nvSpPr>
            <p:cNvPr id="79" name="Rounded Rectangle 78"/>
            <p:cNvSpPr/>
            <p:nvPr/>
          </p:nvSpPr>
          <p:spPr>
            <a:xfrm>
              <a:off x="411480" y="4615434"/>
              <a:ext cx="8298180" cy="377190"/>
            </a:xfrm>
            <a:prstGeom prst="roundRect">
              <a:avLst>
                <a:gd name="adj" fmla="val 4000"/>
              </a:avLst>
            </a:prstGeom>
            <a:solidFill>
              <a:srgbClr val="162033"/>
            </a:solidFill>
            <a:ln w="19050">
              <a:solidFill>
                <a:srgbClr val="22C55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582930" y="4649724"/>
              <a:ext cx="788670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22C55E"/>
                  </a:solidFill>
                  <a:latin typeface="Segoe UI"/>
                </a:defRPr>
              </a:pPr>
              <a:r>
                <a:rPr sz="900" dirty="0"/>
                <a:t>Lab 1 Preview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582930" y="4807458"/>
              <a:ext cx="788670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In Lab 1, you will run this exact code on real articles. You will see how T5's SentencePiece tokenizer splits your text, and then the model generates a summary from those token IDs.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ABE3C0A4-23C6-E02D-FF75-ABB5F7E8783B}"/>
              </a:ext>
            </a:extLst>
          </p:cNvPr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4" name="TextBox 3"/>
          <p:cNvSpPr txBox="1"/>
          <p:nvPr/>
        </p:nvSpPr>
        <p:spPr>
          <a:xfrm>
            <a:off x="411480" y="165838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sz="2400"/>
              <a:t>Why Summarization?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43028"/>
            <a:ext cx="6858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rPr sz="1050"/>
              <a:t>We are drowning in text. Summarization is one of the most valuable real-world NLP applications.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CD61CC2-3CA9-013E-CEB6-6F363CEDE83B}"/>
              </a:ext>
            </a:extLst>
          </p:cNvPr>
          <p:cNvGrpSpPr/>
          <p:nvPr/>
        </p:nvGrpSpPr>
        <p:grpSpPr>
          <a:xfrm>
            <a:off x="411480" y="1188534"/>
            <a:ext cx="8270748" cy="3106674"/>
            <a:chOff x="411480" y="1188534"/>
            <a:chExt cx="8270748" cy="3106674"/>
          </a:xfrm>
        </p:grpSpPr>
        <p:sp>
          <p:nvSpPr>
            <p:cNvPr id="6" name="Rounded Rectangle 5"/>
            <p:cNvSpPr/>
            <p:nvPr/>
          </p:nvSpPr>
          <p:spPr>
            <a:xfrm>
              <a:off x="411480" y="1188534"/>
              <a:ext cx="1954530" cy="788670"/>
            </a:xfrm>
            <a:prstGeom prst="roundRect">
              <a:avLst>
                <a:gd name="adj" fmla="val 4000"/>
              </a:avLst>
            </a:prstGeom>
            <a:solidFill>
              <a:srgbClr val="1E293B"/>
            </a:solidFill>
            <a:ln w="19050">
              <a:solidFill>
                <a:srgbClr val="EF444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11480" y="1188534"/>
              <a:ext cx="1954530" cy="27432"/>
            </a:xfrm>
            <a:prstGeom prst="rect">
              <a:avLst/>
            </a:prstGeom>
            <a:solidFill>
              <a:srgbClr val="EF444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48640" y="1291404"/>
              <a:ext cx="1680210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2800" b="1">
                  <a:solidFill>
                    <a:srgbClr val="EF4444"/>
                  </a:solidFill>
                  <a:latin typeface="Segoe UI"/>
                </a:defRPr>
              </a:pPr>
              <a:r>
                <a:rPr sz="2100"/>
                <a:t>328 TB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14350" y="1654879"/>
              <a:ext cx="174879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94A3B8"/>
                  </a:solidFill>
                  <a:latin typeface="Segoe UI"/>
                </a:defRPr>
              </a:pPr>
              <a:r>
                <a:rPr sz="750"/>
                <a:t>of data created every day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2516886" y="1188534"/>
              <a:ext cx="1954530" cy="788670"/>
            </a:xfrm>
            <a:prstGeom prst="roundRect">
              <a:avLst>
                <a:gd name="adj" fmla="val 4000"/>
              </a:avLst>
            </a:prstGeom>
            <a:solidFill>
              <a:srgbClr val="1E293B"/>
            </a:solidFill>
            <a:ln w="19050">
              <a:solidFill>
                <a:srgbClr val="3B82F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516886" y="1188534"/>
              <a:ext cx="1954530" cy="27432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654046" y="1291404"/>
              <a:ext cx="1680210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2800" b="1">
                  <a:solidFill>
                    <a:srgbClr val="3B82F6"/>
                  </a:solidFill>
                  <a:latin typeface="Segoe UI"/>
                </a:defRPr>
              </a:pPr>
              <a:r>
                <a:rPr sz="2100"/>
                <a:t>500 M+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619756" y="1654879"/>
              <a:ext cx="174879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94A3B8"/>
                  </a:solidFill>
                  <a:latin typeface="Segoe UI"/>
                </a:defRPr>
              </a:pPr>
              <a:r>
                <a:rPr sz="750"/>
                <a:t>tweets posted per day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4622292" y="1188534"/>
              <a:ext cx="1954530" cy="788670"/>
            </a:xfrm>
            <a:prstGeom prst="roundRect">
              <a:avLst>
                <a:gd name="adj" fmla="val 4000"/>
              </a:avLst>
            </a:prstGeom>
            <a:solidFill>
              <a:srgbClr val="1E293B"/>
            </a:solidFill>
            <a:ln w="19050">
              <a:solidFill>
                <a:srgbClr val="A78BF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4622292" y="1188534"/>
              <a:ext cx="1954530" cy="27432"/>
            </a:xfrm>
            <a:prstGeom prst="rect">
              <a:avLst/>
            </a:prstGeom>
            <a:solidFill>
              <a:srgbClr val="A78B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759452" y="1291404"/>
              <a:ext cx="1680210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2800" b="1">
                  <a:solidFill>
                    <a:srgbClr val="A78BFA"/>
                  </a:solidFill>
                  <a:latin typeface="Segoe UI"/>
                </a:defRPr>
              </a:pPr>
              <a:r>
                <a:rPr sz="2100"/>
                <a:t>300 B+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725162" y="1654879"/>
              <a:ext cx="174879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94A3B8"/>
                  </a:solidFill>
                  <a:latin typeface="Segoe UI"/>
                </a:defRPr>
              </a:pPr>
              <a:r>
                <a:rPr sz="750"/>
                <a:t>emails sent per day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6727698" y="1188534"/>
              <a:ext cx="1954530" cy="788670"/>
            </a:xfrm>
            <a:prstGeom prst="roundRect">
              <a:avLst>
                <a:gd name="adj" fmla="val 4000"/>
              </a:avLst>
            </a:prstGeom>
            <a:solidFill>
              <a:srgbClr val="1E293B"/>
            </a:solidFill>
            <a:ln w="19050">
              <a:solidFill>
                <a:srgbClr val="F59E0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727698" y="1188534"/>
              <a:ext cx="1954530" cy="27432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864858" y="1291404"/>
              <a:ext cx="1680210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2800" b="1">
                  <a:solidFill>
                    <a:srgbClr val="F59E0B"/>
                  </a:solidFill>
                  <a:latin typeface="Segoe UI"/>
                </a:defRPr>
              </a:pPr>
              <a:r>
                <a:rPr sz="2100"/>
                <a:t>28%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830568" y="1654879"/>
              <a:ext cx="174879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94A3B8"/>
                  </a:solidFill>
                  <a:latin typeface="Segoe UI"/>
                </a:defRPr>
              </a:pPr>
              <a:r>
                <a:rPr sz="750"/>
                <a:t>of workday spent reading emails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411480" y="2182944"/>
              <a:ext cx="1954530" cy="994410"/>
            </a:xfrm>
            <a:prstGeom prst="roundRect">
              <a:avLst>
                <a:gd name="adj" fmla="val 4000"/>
              </a:avLst>
            </a:prstGeom>
            <a:solidFill>
              <a:srgbClr val="162033"/>
            </a:solidFill>
            <a:ln w="19050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11480" y="2182944"/>
              <a:ext cx="34290" cy="994410"/>
            </a:xfrm>
            <a:prstGeom prst="rect">
              <a:avLst/>
            </a:prstGeom>
            <a:solidFill>
              <a:srgbClr val="EF444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34924" y="2251524"/>
              <a:ext cx="174879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EF4444"/>
                  </a:solidFill>
                  <a:latin typeface="Segoe UI"/>
                </a:defRPr>
              </a:pPr>
              <a:r>
                <a:rPr sz="900"/>
                <a:t>News &amp; Media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34924" y="2443549"/>
              <a:ext cx="174879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FFFFFF"/>
                  </a:solidFill>
                  <a:latin typeface="Segoe UI"/>
                </a:defRPr>
              </a:pPr>
              <a:r>
                <a:rPr sz="750"/>
                <a:t>Article briefs, headline gen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34924" y="2621856"/>
              <a:ext cx="174879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94A3B8"/>
                  </a:solidFill>
                  <a:latin typeface="Segoe UI"/>
                </a:defRPr>
              </a:pPr>
              <a:r>
                <a:rPr sz="675"/>
                <a:t>Articles → 2-3 sentence summaries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2516886" y="2182944"/>
              <a:ext cx="1954530" cy="994410"/>
            </a:xfrm>
            <a:prstGeom prst="roundRect">
              <a:avLst>
                <a:gd name="adj" fmla="val 4000"/>
              </a:avLst>
            </a:prstGeom>
            <a:solidFill>
              <a:srgbClr val="162033"/>
            </a:solidFill>
            <a:ln w="19050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2516886" y="2182944"/>
              <a:ext cx="34290" cy="994410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640330" y="2251524"/>
              <a:ext cx="174879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3B82F6"/>
                  </a:solidFill>
                  <a:latin typeface="Segoe UI"/>
                </a:defRPr>
              </a:pPr>
              <a:r>
                <a:rPr sz="900"/>
                <a:t>Legal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640330" y="2443549"/>
              <a:ext cx="174879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FFFFFF"/>
                  </a:solidFill>
                  <a:latin typeface="Segoe UI"/>
                </a:defRPr>
              </a:pPr>
              <a:r>
                <a:rPr sz="750"/>
                <a:t>Contract &amp; case review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640330" y="2621856"/>
              <a:ext cx="174879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94A3B8"/>
                  </a:solidFill>
                  <a:latin typeface="Segoe UI"/>
                </a:defRPr>
              </a:pPr>
              <a:r>
                <a:rPr sz="675"/>
                <a:t>100-page contracts → key clauses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4622292" y="2182944"/>
              <a:ext cx="1954530" cy="994410"/>
            </a:xfrm>
            <a:prstGeom prst="roundRect">
              <a:avLst>
                <a:gd name="adj" fmla="val 4000"/>
              </a:avLst>
            </a:prstGeom>
            <a:solidFill>
              <a:srgbClr val="162033"/>
            </a:solidFill>
            <a:ln w="19050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4622292" y="2182944"/>
              <a:ext cx="34290" cy="994410"/>
            </a:xfrm>
            <a:prstGeom prst="rect">
              <a:avLst/>
            </a:prstGeom>
            <a:solidFill>
              <a:srgbClr val="22C55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745736" y="2251524"/>
              <a:ext cx="174879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22C55E"/>
                  </a:solidFill>
                  <a:latin typeface="Segoe UI"/>
                </a:defRPr>
              </a:pPr>
              <a:r>
                <a:rPr sz="900"/>
                <a:t>Healthcare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745736" y="2443549"/>
              <a:ext cx="174879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FFFFFF"/>
                  </a:solidFill>
                  <a:latin typeface="Segoe UI"/>
                </a:defRPr>
              </a:pPr>
              <a:r>
                <a:rPr sz="750"/>
                <a:t>Clinical notes, research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745736" y="2621856"/>
              <a:ext cx="174879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94A3B8"/>
                  </a:solidFill>
                  <a:latin typeface="Segoe UI"/>
                </a:defRPr>
              </a:pPr>
              <a:r>
                <a:rPr sz="675"/>
                <a:t>Patient records → quick summaries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6727698" y="2182944"/>
              <a:ext cx="1954530" cy="994410"/>
            </a:xfrm>
            <a:prstGeom prst="roundRect">
              <a:avLst>
                <a:gd name="adj" fmla="val 4000"/>
              </a:avLst>
            </a:prstGeom>
            <a:solidFill>
              <a:srgbClr val="162033"/>
            </a:solidFill>
            <a:ln w="19050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6727698" y="2182944"/>
              <a:ext cx="34290" cy="994410"/>
            </a:xfrm>
            <a:prstGeom prst="rect">
              <a:avLst/>
            </a:prstGeom>
            <a:solidFill>
              <a:srgbClr val="A78B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851142" y="2251524"/>
              <a:ext cx="174879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A78BFA"/>
                  </a:solidFill>
                  <a:latin typeface="Segoe UI"/>
                </a:defRPr>
              </a:pPr>
              <a:r>
                <a:rPr sz="900"/>
                <a:t>Finance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851142" y="2443549"/>
              <a:ext cx="174879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FFFFFF"/>
                  </a:solidFill>
                  <a:latin typeface="Segoe UI"/>
                </a:defRPr>
              </a:pPr>
              <a:r>
                <a:rPr sz="750"/>
                <a:t>Earnings calls, reports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851142" y="2621856"/>
              <a:ext cx="174879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94A3B8"/>
                  </a:solidFill>
                  <a:latin typeface="Segoe UI"/>
                </a:defRPr>
              </a:pPr>
              <a:r>
                <a:rPr sz="675"/>
                <a:t>Quarterly reports → real-time digests</a:t>
              </a:r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411480" y="3300798"/>
              <a:ext cx="1954530" cy="994410"/>
            </a:xfrm>
            <a:prstGeom prst="roundRect">
              <a:avLst>
                <a:gd name="adj" fmla="val 4000"/>
              </a:avLst>
            </a:prstGeom>
            <a:solidFill>
              <a:srgbClr val="162033"/>
            </a:solidFill>
            <a:ln w="19050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411480" y="3300798"/>
              <a:ext cx="34290" cy="994410"/>
            </a:xfrm>
            <a:prstGeom prst="rect">
              <a:avLst/>
            </a:prstGeom>
            <a:solidFill>
              <a:srgbClr val="EC48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534924" y="3369378"/>
              <a:ext cx="174879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EC4899"/>
                  </a:solidFill>
                  <a:latin typeface="Segoe UI"/>
                </a:defRPr>
              </a:pPr>
              <a:r>
                <a:rPr sz="900"/>
                <a:t>Customer Support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34924" y="3561403"/>
              <a:ext cx="174879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FFFFFF"/>
                  </a:solidFill>
                  <a:latin typeface="Segoe UI"/>
                </a:defRPr>
              </a:pPr>
              <a:r>
                <a:rPr sz="750"/>
                <a:t>Ticket &amp; call summaries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534924" y="3739710"/>
              <a:ext cx="174879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94A3B8"/>
                  </a:solidFill>
                  <a:latin typeface="Segoe UI"/>
                </a:defRPr>
              </a:pPr>
              <a:r>
                <a:rPr sz="675"/>
                <a:t>Long interactions → action items</a:t>
              </a:r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2516886" y="3300798"/>
              <a:ext cx="1954530" cy="994410"/>
            </a:xfrm>
            <a:prstGeom prst="roundRect">
              <a:avLst>
                <a:gd name="adj" fmla="val 4000"/>
              </a:avLst>
            </a:prstGeom>
            <a:solidFill>
              <a:srgbClr val="162033"/>
            </a:solidFill>
            <a:ln w="19050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2516886" y="3300798"/>
              <a:ext cx="34290" cy="994410"/>
            </a:xfrm>
            <a:prstGeom prst="rect">
              <a:avLst/>
            </a:prstGeom>
            <a:solidFill>
              <a:srgbClr val="14B8A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640330" y="3369378"/>
              <a:ext cx="174879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14B8A6"/>
                  </a:solidFill>
                  <a:latin typeface="Segoe UI"/>
                </a:defRPr>
              </a:pPr>
              <a:r>
                <a:rPr sz="900"/>
                <a:t>Research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2640330" y="3561403"/>
              <a:ext cx="174879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FFFFFF"/>
                  </a:solidFill>
                  <a:latin typeface="Segoe UI"/>
                </a:defRPr>
              </a:pPr>
              <a:r>
                <a:rPr sz="750"/>
                <a:t>Paper abstracts, lit reviews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2640330" y="3739710"/>
              <a:ext cx="174879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94A3B8"/>
                  </a:solidFill>
                  <a:latin typeface="Segoe UI"/>
                </a:defRPr>
              </a:pPr>
              <a:r>
                <a:rPr sz="675"/>
                <a:t>Academic papers → key findings</a:t>
              </a:r>
            </a:p>
          </p:txBody>
        </p:sp>
        <p:sp>
          <p:nvSpPr>
            <p:cNvPr id="52" name="Rounded Rectangle 51"/>
            <p:cNvSpPr/>
            <p:nvPr/>
          </p:nvSpPr>
          <p:spPr>
            <a:xfrm>
              <a:off x="4622292" y="3300798"/>
              <a:ext cx="1954530" cy="994410"/>
            </a:xfrm>
            <a:prstGeom prst="roundRect">
              <a:avLst>
                <a:gd name="adj" fmla="val 4000"/>
              </a:avLst>
            </a:prstGeom>
            <a:solidFill>
              <a:srgbClr val="162033"/>
            </a:solidFill>
            <a:ln w="19050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4622292" y="3300798"/>
              <a:ext cx="34290" cy="99441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4745736" y="3369378"/>
              <a:ext cx="174879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F59E0B"/>
                  </a:solidFill>
                  <a:latin typeface="Segoe UI"/>
                </a:defRPr>
              </a:pPr>
              <a:r>
                <a:rPr sz="900"/>
                <a:t>Enterprise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4745736" y="3561403"/>
              <a:ext cx="174879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FFFFFF"/>
                  </a:solidFill>
                  <a:latin typeface="Segoe UI"/>
                </a:defRPr>
              </a:pPr>
              <a:r>
                <a:rPr sz="750"/>
                <a:t>Meeting &amp; email summaries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4745736" y="3739710"/>
              <a:ext cx="174879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94A3B8"/>
                  </a:solidFill>
                  <a:latin typeface="Segoe UI"/>
                </a:defRPr>
              </a:pPr>
              <a:r>
                <a:rPr sz="675"/>
                <a:t>Hour-long meetings → bullet points</a:t>
              </a:r>
            </a:p>
          </p:txBody>
        </p:sp>
        <p:sp>
          <p:nvSpPr>
            <p:cNvPr id="57" name="Rounded Rectangle 56"/>
            <p:cNvSpPr/>
            <p:nvPr/>
          </p:nvSpPr>
          <p:spPr>
            <a:xfrm>
              <a:off x="6727698" y="3300798"/>
              <a:ext cx="1954530" cy="994410"/>
            </a:xfrm>
            <a:prstGeom prst="roundRect">
              <a:avLst>
                <a:gd name="adj" fmla="val 4000"/>
              </a:avLst>
            </a:prstGeom>
            <a:solidFill>
              <a:srgbClr val="162033"/>
            </a:solidFill>
            <a:ln w="19050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6727698" y="3300798"/>
              <a:ext cx="34290" cy="994410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6851142" y="3369378"/>
              <a:ext cx="174879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3B82F6"/>
                  </a:solidFill>
                  <a:latin typeface="Segoe UI"/>
                </a:defRPr>
              </a:pPr>
              <a:r>
                <a:rPr sz="900"/>
                <a:t>Social Media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6851142" y="3561403"/>
              <a:ext cx="174879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FFFFFF"/>
                  </a:solidFill>
                  <a:latin typeface="Segoe UI"/>
                </a:defRPr>
              </a:pPr>
              <a:r>
                <a:rPr sz="750"/>
                <a:t>Thread &amp; trend digests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6851142" y="3739710"/>
              <a:ext cx="174879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94A3B8"/>
                  </a:solidFill>
                  <a:latin typeface="Segoe UI"/>
                </a:defRPr>
              </a:pPr>
              <a:r>
                <a:rPr sz="675"/>
                <a:t>Long threads → key takeaways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38F57144-5FBB-A396-45A9-7F49D3AB9442}"/>
              </a:ext>
            </a:extLst>
          </p:cNvPr>
          <p:cNvGrpSpPr/>
          <p:nvPr/>
        </p:nvGrpSpPr>
        <p:grpSpPr>
          <a:xfrm>
            <a:off x="411480" y="4599657"/>
            <a:ext cx="8298180" cy="364314"/>
            <a:chOff x="411480" y="4599657"/>
            <a:chExt cx="8298180" cy="364314"/>
          </a:xfrm>
        </p:grpSpPr>
        <p:sp>
          <p:nvSpPr>
            <p:cNvPr id="62" name="Rounded Rectangle 61"/>
            <p:cNvSpPr/>
            <p:nvPr/>
          </p:nvSpPr>
          <p:spPr>
            <a:xfrm>
              <a:off x="411480" y="4599657"/>
              <a:ext cx="8298180" cy="329184"/>
            </a:xfrm>
            <a:prstGeom prst="roundRect">
              <a:avLst>
                <a:gd name="adj" fmla="val 4000"/>
              </a:avLst>
            </a:prstGeom>
            <a:solidFill>
              <a:srgbClr val="162033"/>
            </a:solidFill>
            <a:ln w="19050">
              <a:solidFill>
                <a:srgbClr val="22C55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582930" y="4640806"/>
              <a:ext cx="7886700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Why summarization is perfect for learning Transformers:  It's sequence-to-sequence (uses full Encoder-Decoder)  •  Input &amp; output are plain text  •  Results are immediately readable  •  Pre-trained models work well even with small data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5A79FE22-1A7A-A8C5-19F1-E3837EBC4F1B}"/>
              </a:ext>
            </a:extLst>
          </p:cNvPr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4" name="TextBox 3"/>
          <p:cNvSpPr txBox="1"/>
          <p:nvPr/>
        </p:nvSpPr>
        <p:spPr>
          <a:xfrm>
            <a:off x="411480" y="12478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sz="2400"/>
              <a:t>Extractive vs. Abstractive Summarization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9668"/>
            <a:ext cx="6858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rPr sz="1050"/>
              <a:t>Two fundamentally different ways to summarize text. One selects. The other generates.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3676B3A-D34B-2E7E-1341-1FBD712C579F}"/>
              </a:ext>
            </a:extLst>
          </p:cNvPr>
          <p:cNvGrpSpPr/>
          <p:nvPr/>
        </p:nvGrpSpPr>
        <p:grpSpPr>
          <a:xfrm>
            <a:off x="411480" y="843826"/>
            <a:ext cx="8298180" cy="1018894"/>
            <a:chOff x="411480" y="843826"/>
            <a:chExt cx="8298180" cy="1018894"/>
          </a:xfrm>
        </p:grpSpPr>
        <p:sp>
          <p:nvSpPr>
            <p:cNvPr id="6" name="Rounded Rectangle 5"/>
            <p:cNvSpPr/>
            <p:nvPr/>
          </p:nvSpPr>
          <p:spPr>
            <a:xfrm>
              <a:off x="411480" y="843826"/>
              <a:ext cx="8298180" cy="1013330"/>
            </a:xfrm>
            <a:prstGeom prst="roundRect">
              <a:avLst>
                <a:gd name="adj" fmla="val 4000"/>
              </a:avLst>
            </a:prstGeom>
            <a:solidFill>
              <a:srgbClr val="162033"/>
            </a:solidFill>
            <a:ln w="19050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11480" y="843826"/>
              <a:ext cx="8298180" cy="27432"/>
            </a:xfrm>
            <a:prstGeom prst="rect">
              <a:avLst/>
            </a:prstGeom>
            <a:solidFill>
              <a:srgbClr val="FBBF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82930" y="912407"/>
              <a:ext cx="205740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FBBF24"/>
                  </a:solidFill>
                  <a:latin typeface="Segoe UI"/>
                </a:defRPr>
              </a:pPr>
              <a:r>
                <a:rPr sz="750"/>
                <a:t>ORIGINAL ARTICLE (5 sentences)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82930" y="1090714"/>
              <a:ext cx="7886700" cy="7720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225"/>
                </a:spcAft>
                <a:defRPr sz="1000" b="0">
                  <a:solidFill>
                    <a:srgbClr val="B0B8C8"/>
                  </a:solidFill>
                  <a:latin typeface="Consolas"/>
                </a:defRPr>
              </a:pPr>
              <a:r>
                <a:rPr sz="750"/>
                <a:t>[1]  The global economy showed signs of recovery in Q3 2025.</a:t>
              </a:r>
            </a:p>
            <a:p>
              <a:pPr>
                <a:spcAft>
                  <a:spcPts val="225"/>
                </a:spcAft>
                <a:defRPr sz="1000" b="0">
                  <a:solidFill>
                    <a:srgbClr val="B0B8C8"/>
                  </a:solidFill>
                  <a:latin typeface="Consolas"/>
                </a:defRPr>
              </a:pPr>
              <a:r>
                <a:rPr sz="750"/>
                <a:t>[2]  Stock markets rose by 12% across major indices.</a:t>
              </a:r>
            </a:p>
            <a:p>
              <a:pPr>
                <a:spcAft>
                  <a:spcPts val="225"/>
                </a:spcAft>
                <a:defRPr sz="1000" b="0">
                  <a:solidFill>
                    <a:srgbClr val="B0B8C8"/>
                  </a:solidFill>
                  <a:latin typeface="Consolas"/>
                </a:defRPr>
              </a:pPr>
              <a:r>
                <a:rPr sz="750"/>
                <a:t>[3]  Analysts attribute the growth to easing inflation.</a:t>
              </a:r>
            </a:p>
            <a:p>
              <a:pPr>
                <a:spcAft>
                  <a:spcPts val="225"/>
                </a:spcAft>
                <a:defRPr sz="1000" b="0">
                  <a:solidFill>
                    <a:srgbClr val="B0B8C8"/>
                  </a:solidFill>
                  <a:latin typeface="Consolas"/>
                </a:defRPr>
              </a:pPr>
              <a:r>
                <a:rPr sz="750"/>
                <a:t>[4]  The Federal Reserve held interest rates steady.</a:t>
              </a:r>
            </a:p>
            <a:p>
              <a:pPr>
                <a:spcAft>
                  <a:spcPts val="225"/>
                </a:spcAft>
                <a:defRPr sz="1000" b="0">
                  <a:solidFill>
                    <a:srgbClr val="B0B8C8"/>
                  </a:solidFill>
                  <a:latin typeface="Consolas"/>
                </a:defRPr>
              </a:pPr>
              <a:r>
                <a:rPr sz="750"/>
                <a:t>[5]  Consumer spending increased by 3.2% compared to Q2.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EF062AB-DF05-99E6-D942-5C87F9E33733}"/>
              </a:ext>
            </a:extLst>
          </p:cNvPr>
          <p:cNvGrpSpPr/>
          <p:nvPr/>
        </p:nvGrpSpPr>
        <p:grpSpPr>
          <a:xfrm>
            <a:off x="411480" y="2083719"/>
            <a:ext cx="4032504" cy="2215954"/>
            <a:chOff x="411480" y="2083719"/>
            <a:chExt cx="4032504" cy="2215954"/>
          </a:xfrm>
        </p:grpSpPr>
        <p:sp>
          <p:nvSpPr>
            <p:cNvPr id="10" name="Rounded Rectangle 9"/>
            <p:cNvSpPr/>
            <p:nvPr/>
          </p:nvSpPr>
          <p:spPr>
            <a:xfrm>
              <a:off x="411480" y="2083719"/>
              <a:ext cx="4032504" cy="2215954"/>
            </a:xfrm>
            <a:prstGeom prst="roundRect">
              <a:avLst>
                <a:gd name="adj" fmla="val 4000"/>
              </a:avLst>
            </a:prstGeom>
            <a:solidFill>
              <a:srgbClr val="1E293B"/>
            </a:solidFill>
            <a:ln w="19050">
              <a:solidFill>
                <a:srgbClr val="FACC1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11480" y="2083719"/>
              <a:ext cx="4032504" cy="34290"/>
            </a:xfrm>
            <a:prstGeom prst="rect">
              <a:avLst/>
            </a:prstGeom>
            <a:solidFill>
              <a:srgbClr val="FACC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48640" y="2166015"/>
              <a:ext cx="2614010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2000" b="1">
                  <a:solidFill>
                    <a:srgbClr val="FACC15"/>
                  </a:solidFill>
                  <a:latin typeface="Segoe UI"/>
                </a:defRPr>
              </a:pPr>
              <a:r>
                <a:rPr sz="1500" dirty="0"/>
                <a:t>HIGHLIGHTER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48640" y="2385471"/>
              <a:ext cx="30861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600" b="1">
                  <a:solidFill>
                    <a:srgbClr val="FFFFFF"/>
                  </a:solidFill>
                  <a:latin typeface="Segoe UI"/>
                </a:defRPr>
              </a:pPr>
              <a:r>
                <a:rPr sz="1200"/>
                <a:t>Extractive Summarization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48640" y="2591212"/>
              <a:ext cx="35661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94A3B8"/>
                  </a:solidFill>
                  <a:latin typeface="Segoe UI"/>
                </a:defRPr>
              </a:pPr>
              <a:r>
                <a:rPr sz="750" dirty="0"/>
                <a:t>Selects the most important sentences verbatim from the original.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514350" y="2824383"/>
              <a:ext cx="3826764" cy="493776"/>
            </a:xfrm>
            <a:prstGeom prst="roundRect">
              <a:avLst>
                <a:gd name="adj" fmla="val 4000"/>
              </a:avLst>
            </a:prstGeom>
            <a:solidFill>
              <a:srgbClr val="162033"/>
            </a:solidFill>
            <a:ln w="19050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82930" y="2851815"/>
              <a:ext cx="68580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FACC15"/>
                  </a:solidFill>
                  <a:latin typeface="Segoe UI"/>
                </a:defRPr>
              </a:pPr>
              <a:r>
                <a:rPr sz="675"/>
                <a:t>OUTPUT: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82930" y="2988976"/>
              <a:ext cx="3689604" cy="3488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225"/>
                </a:spcAft>
                <a:defRPr sz="1000" b="0">
                  <a:solidFill>
                    <a:srgbClr val="FACC15"/>
                  </a:solidFill>
                  <a:latin typeface="Consolas"/>
                </a:defRPr>
              </a:pPr>
              <a:r>
                <a:rPr sz="750"/>
                <a:t>[1] The global economy showed signs of recovery in Q3 2025.</a:t>
              </a:r>
            </a:p>
            <a:p>
              <a:pPr>
                <a:spcAft>
                  <a:spcPts val="225"/>
                </a:spcAft>
                <a:defRPr sz="1000" b="0">
                  <a:solidFill>
                    <a:srgbClr val="FACC15"/>
                  </a:solidFill>
                  <a:latin typeface="Consolas"/>
                </a:defRPr>
              </a:pPr>
              <a:r>
                <a:rPr sz="750"/>
                <a:t>[3] Analysts attribute the growth to easing inflation.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48640" y="3386740"/>
              <a:ext cx="68580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22C55E"/>
                  </a:solidFill>
                  <a:latin typeface="Segoe UI"/>
                </a:defRPr>
              </a:pPr>
              <a:r>
                <a:rPr sz="750"/>
                <a:t>Pros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48640" y="3523899"/>
              <a:ext cx="3758184" cy="3257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225"/>
                </a:spcAft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  Factually faithful — no hallucination</a:t>
              </a:r>
            </a:p>
            <a:p>
              <a:pPr>
                <a:spcAft>
                  <a:spcPts val="225"/>
                </a:spcAft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  Simple, fast, no generation needed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48640" y="3798220"/>
              <a:ext cx="68580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EF4444"/>
                  </a:solidFill>
                  <a:latin typeface="Segoe UI"/>
                </a:defRPr>
              </a:pPr>
              <a:r>
                <a:rPr sz="750"/>
                <a:t>Cons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48640" y="3935379"/>
              <a:ext cx="3758184" cy="3257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225"/>
                </a:spcAft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  Reads awkwardly — sentences weren't written to be together</a:t>
              </a:r>
            </a:p>
            <a:p>
              <a:pPr>
                <a:spcAft>
                  <a:spcPts val="225"/>
                </a:spcAft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  Can't paraphrase, combine ideas, or rephrase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07AA053-1332-6B4A-EBDC-1939F671CFA4}"/>
              </a:ext>
            </a:extLst>
          </p:cNvPr>
          <p:cNvGrpSpPr/>
          <p:nvPr/>
        </p:nvGrpSpPr>
        <p:grpSpPr>
          <a:xfrm>
            <a:off x="4677156" y="2083718"/>
            <a:ext cx="4032504" cy="2219336"/>
            <a:chOff x="4677156" y="2083718"/>
            <a:chExt cx="4032504" cy="2219336"/>
          </a:xfrm>
        </p:grpSpPr>
        <p:sp>
          <p:nvSpPr>
            <p:cNvPr id="22" name="Rounded Rectangle 21"/>
            <p:cNvSpPr/>
            <p:nvPr/>
          </p:nvSpPr>
          <p:spPr>
            <a:xfrm>
              <a:off x="4677156" y="2083718"/>
              <a:ext cx="4032504" cy="2215955"/>
            </a:xfrm>
            <a:prstGeom prst="roundRect">
              <a:avLst>
                <a:gd name="adj" fmla="val 4000"/>
              </a:avLst>
            </a:prstGeom>
            <a:solidFill>
              <a:srgbClr val="1E293B"/>
            </a:solidFill>
            <a:ln w="19050">
              <a:solidFill>
                <a:srgbClr val="22C55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677156" y="2083719"/>
              <a:ext cx="4032504" cy="34290"/>
            </a:xfrm>
            <a:prstGeom prst="rect">
              <a:avLst/>
            </a:prstGeom>
            <a:solidFill>
              <a:srgbClr val="22C55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814316" y="2166016"/>
              <a:ext cx="2064656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2000" b="1">
                  <a:solidFill>
                    <a:srgbClr val="22C55E"/>
                  </a:solidFill>
                  <a:latin typeface="Segoe UI"/>
                </a:defRPr>
              </a:pPr>
              <a:r>
                <a:rPr sz="1500" dirty="0"/>
                <a:t>WRITER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814316" y="2385471"/>
              <a:ext cx="30861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600" b="1">
                  <a:solidFill>
                    <a:srgbClr val="FFFFFF"/>
                  </a:solidFill>
                  <a:latin typeface="Segoe UI"/>
                </a:defRPr>
              </a:pPr>
              <a:r>
                <a:rPr sz="1200" dirty="0"/>
                <a:t>Abstractive Summarization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814316" y="2591212"/>
              <a:ext cx="35661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94A3B8"/>
                  </a:solidFill>
                  <a:latin typeface="Segoe UI"/>
                </a:defRPr>
              </a:pPr>
              <a:r>
                <a:rPr sz="750"/>
                <a:t>Generates entirely new sentences that capture the key ideas.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4780026" y="2824383"/>
              <a:ext cx="3826764" cy="605796"/>
            </a:xfrm>
            <a:prstGeom prst="roundRect">
              <a:avLst>
                <a:gd name="adj" fmla="val 4000"/>
              </a:avLst>
            </a:prstGeom>
            <a:solidFill>
              <a:srgbClr val="162033"/>
            </a:solidFill>
            <a:ln w="19050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848606" y="2851815"/>
              <a:ext cx="68580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22C55E"/>
                  </a:solidFill>
                  <a:latin typeface="Segoe UI"/>
                </a:defRPr>
              </a:pPr>
              <a:r>
                <a:rPr sz="675"/>
                <a:t>OUTPUT: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848606" y="2963808"/>
              <a:ext cx="3689604" cy="4898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225"/>
                </a:spcAft>
                <a:defRPr sz="1000" b="0">
                  <a:solidFill>
                    <a:srgbClr val="22C55E"/>
                  </a:solidFill>
                  <a:latin typeface="Consolas"/>
                </a:defRPr>
              </a:pPr>
              <a:r>
                <a:rPr sz="750" dirty="0"/>
                <a:t>The Q3 2025 global economic recovery, driven by easing</a:t>
              </a:r>
            </a:p>
            <a:p>
              <a:pPr>
                <a:spcAft>
                  <a:spcPts val="225"/>
                </a:spcAft>
                <a:defRPr sz="1000" b="0">
                  <a:solidFill>
                    <a:srgbClr val="22C55E"/>
                  </a:solidFill>
                  <a:latin typeface="Consolas"/>
                </a:defRPr>
              </a:pPr>
              <a:r>
                <a:rPr sz="750" dirty="0"/>
                <a:t>inflation and stable rates, saw 12% market gains and</a:t>
              </a:r>
            </a:p>
            <a:p>
              <a:pPr>
                <a:spcAft>
                  <a:spcPts val="225"/>
                </a:spcAft>
                <a:defRPr sz="1000" b="0">
                  <a:solidFill>
                    <a:srgbClr val="22C55E"/>
                  </a:solidFill>
                  <a:latin typeface="Consolas"/>
                </a:defRPr>
              </a:pPr>
              <a:r>
                <a:rPr sz="750" dirty="0"/>
                <a:t>a 3.2% rise in consumer spending.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814316" y="3428685"/>
              <a:ext cx="68580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22C55E"/>
                  </a:solidFill>
                  <a:latin typeface="Segoe UI"/>
                </a:defRPr>
              </a:pPr>
              <a:r>
                <a:rPr sz="750"/>
                <a:t>Pros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814316" y="3565844"/>
              <a:ext cx="3758184" cy="3257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225"/>
                </a:spcAft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  Fluent, concise — reads like a human wrote it</a:t>
              </a:r>
            </a:p>
            <a:p>
              <a:pPr>
                <a:spcAft>
                  <a:spcPts val="225"/>
                </a:spcAft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  Can combine, paraphrase, and adjust detail level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814316" y="3840165"/>
              <a:ext cx="68580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EF4444"/>
                  </a:solidFill>
                  <a:latin typeface="Segoe UI"/>
                </a:defRPr>
              </a:pPr>
              <a:r>
                <a:rPr sz="750"/>
                <a:t>Cons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814316" y="3977324"/>
              <a:ext cx="3758184" cy="3257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225"/>
                </a:spcAft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  Risk of hallucination — may generate false facts</a:t>
              </a:r>
            </a:p>
            <a:p>
              <a:pPr>
                <a:spcAft>
                  <a:spcPts val="225"/>
                </a:spcAft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  Requires powerful seq-to-seq models (Transformers!)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E5E8066-B55F-59E6-9212-2C4D03994EE3}"/>
              </a:ext>
            </a:extLst>
          </p:cNvPr>
          <p:cNvGrpSpPr/>
          <p:nvPr/>
        </p:nvGrpSpPr>
        <p:grpSpPr>
          <a:xfrm>
            <a:off x="411480" y="4623696"/>
            <a:ext cx="8298180" cy="364314"/>
            <a:chOff x="411480" y="4766309"/>
            <a:chExt cx="8298180" cy="364314"/>
          </a:xfrm>
        </p:grpSpPr>
        <p:sp>
          <p:nvSpPr>
            <p:cNvPr id="34" name="Rounded Rectangle 33"/>
            <p:cNvSpPr/>
            <p:nvPr/>
          </p:nvSpPr>
          <p:spPr>
            <a:xfrm>
              <a:off x="411480" y="4766309"/>
              <a:ext cx="8298180" cy="315468"/>
            </a:xfrm>
            <a:prstGeom prst="roundRect">
              <a:avLst>
                <a:gd name="adj" fmla="val 4000"/>
              </a:avLst>
            </a:prstGeom>
            <a:solidFill>
              <a:srgbClr val="162033"/>
            </a:solidFill>
            <a:ln w="19050">
              <a:solidFill>
                <a:srgbClr val="22C55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82930" y="4807458"/>
              <a:ext cx="7886700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 dirty="0"/>
                <a:t>Analogy:  Extractive = a student who copies sentences from the textbook.  Abstractive = a student who reads, closes the book, and writes in their own words.  We are building the second type.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79">
            <a:extLst>
              <a:ext uri="{FF2B5EF4-FFF2-40B4-BE49-F238E27FC236}">
                <a16:creationId xmlns:a16="http://schemas.microsoft.com/office/drawing/2014/main" id="{14C45209-E31D-7EC0-C622-3E1F46C3B533}"/>
              </a:ext>
            </a:extLst>
          </p:cNvPr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4" name="TextBox 3"/>
          <p:cNvSpPr txBox="1"/>
          <p:nvPr/>
        </p:nvSpPr>
        <p:spPr>
          <a:xfrm>
            <a:off x="411480" y="46034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sz="2400" dirty="0"/>
              <a:t>Extractive vs. Abstractive — Full Comparison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8F04F84B-35BF-FC5A-8DA8-052FDE11CB1D}"/>
              </a:ext>
            </a:extLst>
          </p:cNvPr>
          <p:cNvGrpSpPr/>
          <p:nvPr/>
        </p:nvGrpSpPr>
        <p:grpSpPr>
          <a:xfrm>
            <a:off x="411480" y="804399"/>
            <a:ext cx="5486400" cy="3031236"/>
            <a:chOff x="411480" y="804399"/>
            <a:chExt cx="5486400" cy="3031236"/>
          </a:xfrm>
        </p:grpSpPr>
        <p:sp>
          <p:nvSpPr>
            <p:cNvPr id="5" name="Rectangle 4"/>
            <p:cNvSpPr/>
            <p:nvPr/>
          </p:nvSpPr>
          <p:spPr>
            <a:xfrm>
              <a:off x="411480" y="804399"/>
              <a:ext cx="5486400" cy="315468"/>
            </a:xfrm>
            <a:prstGeom prst="rect">
              <a:avLst/>
            </a:prstGeom>
            <a:solidFill>
              <a:srgbClr val="1A25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93776" y="859264"/>
              <a:ext cx="137160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FBBF24"/>
                  </a:solidFill>
                  <a:latin typeface="Segoe UI"/>
                </a:defRPr>
              </a:pPr>
              <a:r>
                <a:rPr sz="825"/>
                <a:t>Aspect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002536" y="859264"/>
              <a:ext cx="185166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FACC15"/>
                  </a:solidFill>
                  <a:latin typeface="Segoe UI"/>
                </a:defRPr>
              </a:pPr>
              <a:r>
                <a:rPr sz="825"/>
                <a:t>Extractive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991356" y="859264"/>
              <a:ext cx="185166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22C55E"/>
                  </a:solidFill>
                  <a:latin typeface="Segoe UI"/>
                </a:defRPr>
              </a:pPr>
              <a:r>
                <a:rPr sz="825"/>
                <a:t>Abstractive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11480" y="1119867"/>
              <a:ext cx="5486400" cy="301752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93776" y="1174731"/>
              <a:ext cx="137160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FFFFFF"/>
                  </a:solidFill>
                  <a:latin typeface="Segoe UI"/>
                </a:defRPr>
              </a:pPr>
              <a:r>
                <a:rPr sz="750"/>
                <a:t>Output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002536" y="1174731"/>
              <a:ext cx="18516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Original sentences selected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991356" y="1174731"/>
              <a:ext cx="18516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New sentences generated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11480" y="1421619"/>
              <a:ext cx="5486400" cy="301752"/>
            </a:xfrm>
            <a:prstGeom prst="rect">
              <a:avLst/>
            </a:prstGeom>
            <a:solidFill>
              <a:srgbClr val="1620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93776" y="1476483"/>
              <a:ext cx="137160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FFFFFF"/>
                  </a:solidFill>
                  <a:latin typeface="Segoe UI"/>
                </a:defRPr>
              </a:pPr>
              <a:r>
                <a:rPr sz="750"/>
                <a:t>Faithfulness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002536" y="1476483"/>
              <a:ext cx="18516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High — no hallucination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991356" y="1476483"/>
              <a:ext cx="18516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Risk of hallucination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411480" y="1723371"/>
              <a:ext cx="5486400" cy="301752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93776" y="1778235"/>
              <a:ext cx="137160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FFFFFF"/>
                  </a:solidFill>
                  <a:latin typeface="Segoe UI"/>
                </a:defRPr>
              </a:pPr>
              <a:r>
                <a:rPr sz="750"/>
                <a:t>Fluency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002536" y="1778235"/>
              <a:ext cx="18516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Can be awkward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991356" y="1778235"/>
              <a:ext cx="18516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Natural and fluent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11480" y="2025123"/>
              <a:ext cx="5486400" cy="301752"/>
            </a:xfrm>
            <a:prstGeom prst="rect">
              <a:avLst/>
            </a:prstGeom>
            <a:solidFill>
              <a:srgbClr val="1620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93776" y="2079987"/>
              <a:ext cx="137160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FFFFFF"/>
                  </a:solidFill>
                  <a:latin typeface="Segoe UI"/>
                </a:defRPr>
              </a:pPr>
              <a:r>
                <a:rPr sz="750"/>
                <a:t>Flexibility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002536" y="2079987"/>
              <a:ext cx="18516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Cannot paraphrase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991356" y="2079987"/>
              <a:ext cx="18516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Rephrase, combine, adjust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11480" y="2326875"/>
              <a:ext cx="5486400" cy="301752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93776" y="2381739"/>
              <a:ext cx="137160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FFFFFF"/>
                  </a:solidFill>
                  <a:latin typeface="Segoe UI"/>
                </a:defRPr>
              </a:pPr>
              <a:r>
                <a:rPr sz="750"/>
                <a:t>Architecture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002536" y="2381739"/>
              <a:ext cx="18516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Classifier / Ranker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991356" y="2381739"/>
              <a:ext cx="18516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Encoder-Decoder (Transformer)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411480" y="2628627"/>
              <a:ext cx="5486400" cy="301752"/>
            </a:xfrm>
            <a:prstGeom prst="rect">
              <a:avLst/>
            </a:prstGeom>
            <a:solidFill>
              <a:srgbClr val="1620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93776" y="2683491"/>
              <a:ext cx="137160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FFFFFF"/>
                  </a:solidFill>
                  <a:latin typeface="Segoe UI"/>
                </a:defRPr>
              </a:pPr>
              <a:r>
                <a:rPr sz="750"/>
                <a:t>Speed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002536" y="2683491"/>
              <a:ext cx="18516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Fast — no generation loop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3991356" y="2683491"/>
              <a:ext cx="18516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Slower — autoregressive decode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411480" y="2930379"/>
              <a:ext cx="5486400" cy="301752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93776" y="2985243"/>
              <a:ext cx="137160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FFFFFF"/>
                  </a:solidFill>
                  <a:latin typeface="Segoe UI"/>
                </a:defRPr>
              </a:pPr>
              <a:r>
                <a:rPr sz="750"/>
                <a:t>Training Data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2002536" y="2985243"/>
              <a:ext cx="18516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Just needs document scores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991356" y="2985243"/>
              <a:ext cx="18516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Needs document–summary pairs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411480" y="3232131"/>
              <a:ext cx="5486400" cy="301752"/>
            </a:xfrm>
            <a:prstGeom prst="rect">
              <a:avLst/>
            </a:prstGeom>
            <a:solidFill>
              <a:srgbClr val="1620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93776" y="3286995"/>
              <a:ext cx="137160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FFFFFF"/>
                  </a:solidFill>
                  <a:latin typeface="Segoe UI"/>
                </a:defRPr>
              </a:pPr>
              <a:r>
                <a:rPr sz="750"/>
                <a:t>Analogy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2002536" y="3286995"/>
              <a:ext cx="18516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Highlighter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991356" y="3286995"/>
              <a:ext cx="18516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Writer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411480" y="3533883"/>
              <a:ext cx="5486400" cy="301752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93776" y="3588747"/>
              <a:ext cx="137160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FFFFFF"/>
                  </a:solidFill>
                  <a:latin typeface="Segoe UI"/>
                </a:defRPr>
              </a:pPr>
              <a:r>
                <a:rPr sz="750"/>
                <a:t>Our Focus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2002536" y="3588747"/>
              <a:ext cx="18516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—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3991356" y="3588747"/>
              <a:ext cx="18516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22C55E"/>
                  </a:solidFill>
                  <a:latin typeface="Segoe UI"/>
                </a:defRPr>
              </a:pPr>
              <a:r>
                <a:rPr sz="750"/>
                <a:t>THIS IS WHAT WE BUILD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909060" y="3533883"/>
              <a:ext cx="27432" cy="301752"/>
            </a:xfrm>
            <a:prstGeom prst="rect">
              <a:avLst/>
            </a:prstGeom>
            <a:solidFill>
              <a:srgbClr val="22C55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9A8418AC-7C7F-E365-24E1-B3B1D29208DC}"/>
              </a:ext>
            </a:extLst>
          </p:cNvPr>
          <p:cNvGrpSpPr/>
          <p:nvPr/>
        </p:nvGrpSpPr>
        <p:grpSpPr>
          <a:xfrm>
            <a:off x="6103620" y="569507"/>
            <a:ext cx="2880360" cy="1440180"/>
            <a:chOff x="6103620" y="1131570"/>
            <a:chExt cx="2880360" cy="1440180"/>
          </a:xfrm>
        </p:grpSpPr>
        <p:sp>
          <p:nvSpPr>
            <p:cNvPr id="46" name="Rounded Rectangle 45"/>
            <p:cNvSpPr/>
            <p:nvPr/>
          </p:nvSpPr>
          <p:spPr>
            <a:xfrm>
              <a:off x="6103620" y="1131570"/>
              <a:ext cx="2880360" cy="1440180"/>
            </a:xfrm>
            <a:prstGeom prst="roundRect">
              <a:avLst>
                <a:gd name="adj" fmla="val 4000"/>
              </a:avLst>
            </a:prstGeom>
            <a:solidFill>
              <a:srgbClr val="1E293B"/>
            </a:solidFill>
            <a:ln w="19050">
              <a:solidFill>
                <a:srgbClr val="FACC1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6103620" y="1131570"/>
              <a:ext cx="2880360" cy="27432"/>
            </a:xfrm>
            <a:prstGeom prst="rect">
              <a:avLst/>
            </a:prstGeom>
            <a:solidFill>
              <a:srgbClr val="FACC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240780" y="1213866"/>
              <a:ext cx="2606040" cy="2423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300" b="1">
                  <a:solidFill>
                    <a:srgbClr val="FACC15"/>
                  </a:solidFill>
                  <a:latin typeface="Segoe UI"/>
                </a:defRPr>
              </a:pPr>
              <a:r>
                <a:rPr sz="975"/>
                <a:t>Extractive Models</a:t>
              </a:r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6206490" y="1447038"/>
              <a:ext cx="960120" cy="192024"/>
            </a:xfrm>
            <a:prstGeom prst="roundRect">
              <a:avLst>
                <a:gd name="adj" fmla="val 40000"/>
              </a:avLst>
            </a:prstGeom>
            <a:solidFill>
              <a:srgbClr val="1620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FACC15"/>
                  </a:solidFill>
                  <a:latin typeface="Segoe UI"/>
                </a:defRPr>
              </a:pPr>
              <a:r>
                <a:rPr sz="675"/>
                <a:t>TextRank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235190" y="1460754"/>
              <a:ext cx="1577340" cy="3000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94A3B8"/>
                  </a:solidFill>
                  <a:latin typeface="Segoe UI"/>
                </a:defRPr>
              </a:pPr>
              <a:r>
                <a:rPr sz="675"/>
                <a:t>Graph-based, unsupervised (like PageRank)</a:t>
              </a:r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6206490" y="1707642"/>
              <a:ext cx="960120" cy="192024"/>
            </a:xfrm>
            <a:prstGeom prst="roundRect">
              <a:avLst>
                <a:gd name="adj" fmla="val 40000"/>
              </a:avLst>
            </a:prstGeom>
            <a:solidFill>
              <a:srgbClr val="1620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FACC15"/>
                  </a:solidFill>
                  <a:latin typeface="Segoe UI"/>
                </a:defRPr>
              </a:pPr>
              <a:r>
                <a:rPr sz="675"/>
                <a:t>LexRank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235190" y="1721358"/>
              <a:ext cx="157734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94A3B8"/>
                  </a:solidFill>
                  <a:latin typeface="Segoe UI"/>
                </a:defRPr>
              </a:pPr>
              <a:r>
                <a:rPr sz="675"/>
                <a:t>TF-IDF + cosine similarity graph</a:t>
              </a:r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6206490" y="1968246"/>
              <a:ext cx="960120" cy="192024"/>
            </a:xfrm>
            <a:prstGeom prst="roundRect">
              <a:avLst>
                <a:gd name="adj" fmla="val 40000"/>
              </a:avLst>
            </a:prstGeom>
            <a:solidFill>
              <a:srgbClr val="1620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FACC15"/>
                  </a:solidFill>
                  <a:latin typeface="Segoe UI"/>
                </a:defRPr>
              </a:pPr>
              <a:r>
                <a:rPr sz="675"/>
                <a:t>BertSum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7235190" y="1981962"/>
              <a:ext cx="157734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94A3B8"/>
                  </a:solidFill>
                  <a:latin typeface="Segoe UI"/>
                </a:defRPr>
              </a:pPr>
              <a:r>
                <a:rPr sz="675"/>
                <a:t>BERT + sentence-level classification</a:t>
              </a:r>
            </a:p>
          </p:txBody>
        </p:sp>
        <p:sp>
          <p:nvSpPr>
            <p:cNvPr id="55" name="Rounded Rectangle 54"/>
            <p:cNvSpPr/>
            <p:nvPr/>
          </p:nvSpPr>
          <p:spPr>
            <a:xfrm>
              <a:off x="6206490" y="2228850"/>
              <a:ext cx="960120" cy="192024"/>
            </a:xfrm>
            <a:prstGeom prst="roundRect">
              <a:avLst>
                <a:gd name="adj" fmla="val 40000"/>
              </a:avLst>
            </a:prstGeom>
            <a:solidFill>
              <a:srgbClr val="1620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FACC15"/>
                  </a:solidFill>
                  <a:latin typeface="Segoe UI"/>
                </a:defRPr>
              </a:pPr>
              <a:r>
                <a:rPr sz="675"/>
                <a:t>SummaRuNNer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7235190" y="2242566"/>
              <a:ext cx="157734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94A3B8"/>
                  </a:solidFill>
                  <a:latin typeface="Segoe UI"/>
                </a:defRPr>
              </a:pPr>
              <a:r>
                <a:rPr sz="675"/>
                <a:t>RNN-based sentence extraction</a:t>
              </a: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3E65C844-F05B-354C-4CDB-8C6AF75FF613}"/>
              </a:ext>
            </a:extLst>
          </p:cNvPr>
          <p:cNvGrpSpPr/>
          <p:nvPr/>
        </p:nvGrpSpPr>
        <p:grpSpPr>
          <a:xfrm>
            <a:off x="6080646" y="2104420"/>
            <a:ext cx="2880360" cy="1790964"/>
            <a:chOff x="6103620" y="2708910"/>
            <a:chExt cx="2880360" cy="1790964"/>
          </a:xfrm>
        </p:grpSpPr>
        <p:sp>
          <p:nvSpPr>
            <p:cNvPr id="57" name="Rounded Rectangle 56"/>
            <p:cNvSpPr/>
            <p:nvPr/>
          </p:nvSpPr>
          <p:spPr>
            <a:xfrm>
              <a:off x="6103620" y="2708910"/>
              <a:ext cx="2880360" cy="1790964"/>
            </a:xfrm>
            <a:prstGeom prst="roundRect">
              <a:avLst>
                <a:gd name="adj" fmla="val 4000"/>
              </a:avLst>
            </a:prstGeom>
            <a:solidFill>
              <a:srgbClr val="1E293B"/>
            </a:solidFill>
            <a:ln w="19050">
              <a:solidFill>
                <a:srgbClr val="22C55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6103620" y="2708910"/>
              <a:ext cx="2880360" cy="27432"/>
            </a:xfrm>
            <a:prstGeom prst="rect">
              <a:avLst/>
            </a:prstGeom>
            <a:solidFill>
              <a:srgbClr val="22C55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6240780" y="2791206"/>
              <a:ext cx="2606040" cy="2423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300" b="1">
                  <a:solidFill>
                    <a:srgbClr val="22C55E"/>
                  </a:solidFill>
                  <a:latin typeface="Segoe UI"/>
                </a:defRPr>
              </a:pPr>
              <a:r>
                <a:rPr sz="975"/>
                <a:t>Abstractive Models</a:t>
              </a:r>
            </a:p>
          </p:txBody>
        </p:sp>
        <p:sp>
          <p:nvSpPr>
            <p:cNvPr id="60" name="Rounded Rectangle 59"/>
            <p:cNvSpPr/>
            <p:nvPr/>
          </p:nvSpPr>
          <p:spPr>
            <a:xfrm>
              <a:off x="6206490" y="3024378"/>
              <a:ext cx="960120" cy="192024"/>
            </a:xfrm>
            <a:prstGeom prst="roundRect">
              <a:avLst>
                <a:gd name="adj" fmla="val 40000"/>
              </a:avLst>
            </a:prstGeom>
            <a:solidFill>
              <a:srgbClr val="1620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F59E0B"/>
                  </a:solidFill>
                  <a:latin typeface="Segoe UI"/>
                </a:defRPr>
              </a:pPr>
              <a:r>
                <a:rPr sz="675"/>
                <a:t>T5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7235190" y="3038094"/>
              <a:ext cx="157734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F59E0B"/>
                  </a:solidFill>
                  <a:latin typeface="Segoe UI"/>
                </a:defRPr>
              </a:pPr>
              <a:r>
                <a:rPr sz="675"/>
                <a:t>Text-to-Text — OUR LAB MODEL!</a:t>
              </a:r>
            </a:p>
          </p:txBody>
        </p:sp>
        <p:sp>
          <p:nvSpPr>
            <p:cNvPr id="62" name="Rounded Rectangle 61"/>
            <p:cNvSpPr/>
            <p:nvPr/>
          </p:nvSpPr>
          <p:spPr>
            <a:xfrm>
              <a:off x="6206490" y="3271266"/>
              <a:ext cx="960120" cy="192024"/>
            </a:xfrm>
            <a:prstGeom prst="roundRect">
              <a:avLst>
                <a:gd name="adj" fmla="val 40000"/>
              </a:avLst>
            </a:prstGeom>
            <a:solidFill>
              <a:srgbClr val="1620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22C55E"/>
                  </a:solidFill>
                  <a:latin typeface="Segoe UI"/>
                </a:defRPr>
              </a:pPr>
              <a:r>
                <a:rPr sz="675"/>
                <a:t>BART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7235190" y="3284982"/>
              <a:ext cx="157734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94A3B8"/>
                  </a:solidFill>
                  <a:latin typeface="Segoe UI"/>
                </a:defRPr>
              </a:pPr>
              <a:r>
                <a:rPr sz="675"/>
                <a:t>Denoising seq2seq pre-training</a:t>
              </a:r>
            </a:p>
          </p:txBody>
        </p:sp>
        <p:sp>
          <p:nvSpPr>
            <p:cNvPr id="64" name="Rounded Rectangle 63"/>
            <p:cNvSpPr/>
            <p:nvPr/>
          </p:nvSpPr>
          <p:spPr>
            <a:xfrm>
              <a:off x="6206490" y="3518154"/>
              <a:ext cx="960120" cy="192024"/>
            </a:xfrm>
            <a:prstGeom prst="roundRect">
              <a:avLst>
                <a:gd name="adj" fmla="val 40000"/>
              </a:avLst>
            </a:prstGeom>
            <a:solidFill>
              <a:srgbClr val="1620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14B8A6"/>
                  </a:solidFill>
                  <a:latin typeface="Segoe UI"/>
                </a:defRPr>
              </a:pPr>
              <a:r>
                <a:rPr sz="675" dirty="0"/>
                <a:t>Pegasus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7235190" y="3531870"/>
              <a:ext cx="157734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94A3B8"/>
                  </a:solidFill>
                  <a:latin typeface="Segoe UI"/>
                </a:defRPr>
              </a:pPr>
              <a:r>
                <a:rPr sz="675"/>
                <a:t>Pre-trained for summarization</a:t>
              </a:r>
            </a:p>
          </p:txBody>
        </p:sp>
        <p:sp>
          <p:nvSpPr>
            <p:cNvPr id="66" name="Rounded Rectangle 65"/>
            <p:cNvSpPr/>
            <p:nvPr/>
          </p:nvSpPr>
          <p:spPr>
            <a:xfrm>
              <a:off x="6206490" y="3765042"/>
              <a:ext cx="960120" cy="192024"/>
            </a:xfrm>
            <a:prstGeom prst="roundRect">
              <a:avLst>
                <a:gd name="adj" fmla="val 40000"/>
              </a:avLst>
            </a:prstGeom>
            <a:solidFill>
              <a:srgbClr val="1620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A78BFA"/>
                  </a:solidFill>
                  <a:latin typeface="Segoe UI"/>
                </a:defRPr>
              </a:pPr>
              <a:r>
                <a:rPr sz="675"/>
                <a:t>GPT-4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7235190" y="3778758"/>
              <a:ext cx="157734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94A3B8"/>
                  </a:solidFill>
                  <a:latin typeface="Segoe UI"/>
                </a:defRPr>
              </a:pPr>
              <a:r>
                <a:rPr sz="675"/>
                <a:t>Via prompting (decoder-only)</a:t>
              </a:r>
            </a:p>
          </p:txBody>
        </p:sp>
        <p:sp>
          <p:nvSpPr>
            <p:cNvPr id="68" name="Rounded Rectangle 67"/>
            <p:cNvSpPr/>
            <p:nvPr/>
          </p:nvSpPr>
          <p:spPr>
            <a:xfrm>
              <a:off x="6206490" y="4011930"/>
              <a:ext cx="960120" cy="192024"/>
            </a:xfrm>
            <a:prstGeom prst="roundRect">
              <a:avLst>
                <a:gd name="adj" fmla="val 40000"/>
              </a:avLst>
            </a:prstGeom>
            <a:solidFill>
              <a:srgbClr val="1620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A78BFA"/>
                  </a:solidFill>
                  <a:latin typeface="Segoe UI"/>
                </a:defRPr>
              </a:pPr>
              <a:r>
                <a:rPr sz="675"/>
                <a:t>LLaMA 3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7235190" y="4025646"/>
              <a:ext cx="157734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94A3B8"/>
                  </a:solidFill>
                  <a:latin typeface="Segoe UI"/>
                </a:defRPr>
              </a:pPr>
              <a:r>
                <a:rPr sz="675"/>
                <a:t>Open-source, via prompting</a:t>
              </a:r>
            </a:p>
          </p:txBody>
        </p:sp>
        <p:sp>
          <p:nvSpPr>
            <p:cNvPr id="70" name="Rounded Rectangle 69"/>
            <p:cNvSpPr/>
            <p:nvPr/>
          </p:nvSpPr>
          <p:spPr>
            <a:xfrm>
              <a:off x="6206490" y="4258818"/>
              <a:ext cx="960120" cy="192024"/>
            </a:xfrm>
            <a:prstGeom prst="roundRect">
              <a:avLst>
                <a:gd name="adj" fmla="val 40000"/>
              </a:avLst>
            </a:prstGeom>
            <a:solidFill>
              <a:srgbClr val="1620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14B8A6"/>
                  </a:solidFill>
                  <a:latin typeface="Segoe UI"/>
                </a:defRPr>
              </a:pPr>
              <a:r>
                <a:rPr sz="675"/>
                <a:t>Flan-T5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7235190" y="4272534"/>
              <a:ext cx="157734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94A3B8"/>
                  </a:solidFill>
                  <a:latin typeface="Segoe UI"/>
                </a:defRPr>
              </a:pPr>
              <a:r>
                <a:rPr sz="675"/>
                <a:t>Instruction-tuned T5 variant</a:t>
              </a: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AD9B806F-BCD5-207E-6179-5A31BE995D54}"/>
              </a:ext>
            </a:extLst>
          </p:cNvPr>
          <p:cNvGrpSpPr/>
          <p:nvPr/>
        </p:nvGrpSpPr>
        <p:grpSpPr>
          <a:xfrm>
            <a:off x="6103620" y="3968726"/>
            <a:ext cx="2880360" cy="1064668"/>
            <a:chOff x="6103620" y="4766310"/>
            <a:chExt cx="2880360" cy="831664"/>
          </a:xfrm>
        </p:grpSpPr>
        <p:sp>
          <p:nvSpPr>
            <p:cNvPr id="72" name="Rounded Rectangle 71"/>
            <p:cNvSpPr/>
            <p:nvPr/>
          </p:nvSpPr>
          <p:spPr>
            <a:xfrm>
              <a:off x="6103620" y="4766310"/>
              <a:ext cx="2880360" cy="754380"/>
            </a:xfrm>
            <a:prstGeom prst="roundRect">
              <a:avLst>
                <a:gd name="adj" fmla="val 4000"/>
              </a:avLst>
            </a:prstGeom>
            <a:solidFill>
              <a:srgbClr val="162033"/>
            </a:solidFill>
            <a:ln w="19050">
              <a:solidFill>
                <a:srgbClr val="3B82F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6103620" y="4766310"/>
              <a:ext cx="2880360" cy="27432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6206490" y="4834890"/>
              <a:ext cx="267462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3B82F6"/>
                  </a:solidFill>
                  <a:latin typeface="Segoe UI"/>
                </a:defRPr>
              </a:pPr>
              <a:r>
                <a:rPr sz="825"/>
                <a:t>How Abstractive Works: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6206490" y="5013199"/>
              <a:ext cx="267462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225"/>
                </a:spcAft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 dirty="0"/>
                <a:t>1. Encoder reads full article</a:t>
              </a:r>
            </a:p>
            <a:p>
              <a:pPr>
                <a:spcAft>
                  <a:spcPts val="225"/>
                </a:spcAft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 dirty="0"/>
                <a:t>2. Decoder generates summary token by token</a:t>
              </a:r>
            </a:p>
            <a:p>
              <a:pPr>
                <a:spcAft>
                  <a:spcPts val="225"/>
                </a:spcAft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 dirty="0"/>
                <a:t>3. Cross-attention focuses on relevant parts</a:t>
              </a:r>
            </a:p>
            <a:p>
              <a:pPr>
                <a:spcAft>
                  <a:spcPts val="225"/>
                </a:spcAft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 dirty="0"/>
                <a:t>4. Model can paraphrase &amp; combine ideas</a:t>
              </a: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19B7EEDE-EB8B-185C-6EF4-B38FC0BFCD58}"/>
              </a:ext>
            </a:extLst>
          </p:cNvPr>
          <p:cNvGrpSpPr/>
          <p:nvPr/>
        </p:nvGrpSpPr>
        <p:grpSpPr>
          <a:xfrm>
            <a:off x="411480" y="4265676"/>
            <a:ext cx="5486400" cy="399773"/>
            <a:chOff x="411480" y="4265676"/>
            <a:chExt cx="5486400" cy="399773"/>
          </a:xfrm>
        </p:grpSpPr>
        <p:sp>
          <p:nvSpPr>
            <p:cNvPr id="76" name="Rounded Rectangle 75"/>
            <p:cNvSpPr/>
            <p:nvPr/>
          </p:nvSpPr>
          <p:spPr>
            <a:xfrm>
              <a:off x="411480" y="4265676"/>
              <a:ext cx="5486400" cy="377190"/>
            </a:xfrm>
            <a:prstGeom prst="roundRect">
              <a:avLst>
                <a:gd name="adj" fmla="val 4000"/>
              </a:avLst>
            </a:prstGeom>
            <a:solidFill>
              <a:srgbClr val="162033"/>
            </a:solidFill>
            <a:ln w="19050">
              <a:solidFill>
                <a:srgbClr val="F59E0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582930" y="4293108"/>
              <a:ext cx="514350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F59E0B"/>
                  </a:solidFill>
                  <a:latin typeface="Segoe UI"/>
                </a:defRPr>
              </a:pPr>
              <a:r>
                <a:rPr sz="900"/>
                <a:t>Our Workshop Choice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582930" y="4457700"/>
              <a:ext cx="514350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 dirty="0"/>
                <a:t>Abstractive summarization using T5-small — uses the full Encoder-Decoder architecture we studied</a:t>
              </a:r>
              <a:r>
                <a:rPr lang="en-IN" sz="750" dirty="0"/>
                <a:t>.</a:t>
              </a:r>
              <a:endParaRPr sz="75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78">
            <a:extLst>
              <a:ext uri="{FF2B5EF4-FFF2-40B4-BE49-F238E27FC236}">
                <a16:creationId xmlns:a16="http://schemas.microsoft.com/office/drawing/2014/main" id="{1769B40B-A788-C4E2-9648-DD22AC8F7A44}"/>
              </a:ext>
            </a:extLst>
          </p:cNvPr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4" name="TextBox 3"/>
          <p:cNvSpPr txBox="1"/>
          <p:nvPr/>
        </p:nvSpPr>
        <p:spPr>
          <a:xfrm>
            <a:off x="411480" y="20867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sz="2400" dirty="0"/>
              <a:t>Build an Abstractive News Summarizer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98057"/>
            <a:ext cx="6858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rPr sz="1050"/>
              <a:t>Using T5-small on the CNN/DailyMail dataset — from inference to fine-tuning in two hands-on labs.</a:t>
            </a: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FD094297-198A-A8B8-7E0E-BF9E06EEDC6E}"/>
              </a:ext>
            </a:extLst>
          </p:cNvPr>
          <p:cNvGrpSpPr/>
          <p:nvPr/>
        </p:nvGrpSpPr>
        <p:grpSpPr>
          <a:xfrm>
            <a:off x="411480" y="986439"/>
            <a:ext cx="8298180" cy="648836"/>
            <a:chOff x="411480" y="1405889"/>
            <a:chExt cx="8298180" cy="648836"/>
          </a:xfrm>
        </p:grpSpPr>
        <p:sp>
          <p:nvSpPr>
            <p:cNvPr id="6" name="Rounded Rectangle 5"/>
            <p:cNvSpPr/>
            <p:nvPr/>
          </p:nvSpPr>
          <p:spPr>
            <a:xfrm>
              <a:off x="411480" y="1405889"/>
              <a:ext cx="8298180" cy="617220"/>
            </a:xfrm>
            <a:prstGeom prst="roundRect">
              <a:avLst>
                <a:gd name="adj" fmla="val 4000"/>
              </a:avLst>
            </a:prstGeom>
            <a:solidFill>
              <a:srgbClr val="162033"/>
            </a:solidFill>
            <a:ln w="19050">
              <a:solidFill>
                <a:srgbClr val="F59E0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11480" y="1405889"/>
              <a:ext cx="8298180" cy="3429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82930" y="1488185"/>
              <a:ext cx="411480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400" b="1">
                  <a:solidFill>
                    <a:srgbClr val="F59E0B"/>
                  </a:solidFill>
                  <a:latin typeface="Segoe UI"/>
                </a:defRPr>
              </a:pPr>
              <a:r>
                <a:rPr sz="1050"/>
                <a:t>PROJECT: Abstractive News Summarizer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800600" y="1488185"/>
              <a:ext cx="75438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FBBF24"/>
                  </a:solidFill>
                  <a:latin typeface="Segoe UI"/>
                </a:defRPr>
              </a:pPr>
              <a:r>
                <a:rPr sz="675"/>
                <a:t>Input: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554980" y="1488185"/>
              <a:ext cx="274320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 dirty="0"/>
                <a:t>News article (300–800 words)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800600" y="1611629"/>
              <a:ext cx="75438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FBBF24"/>
                  </a:solidFill>
                  <a:latin typeface="Segoe UI"/>
                </a:defRPr>
              </a:pPr>
              <a:r>
                <a:rPr sz="675"/>
                <a:t>Output: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554980" y="1611629"/>
              <a:ext cx="274320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Concise summary (2–4 sentences)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800600" y="1735073"/>
              <a:ext cx="75438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FBBF24"/>
                  </a:solidFill>
                  <a:latin typeface="Segoe UI"/>
                </a:defRPr>
              </a:pPr>
              <a:r>
                <a:rPr sz="675" dirty="0"/>
                <a:t>Model: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554980" y="1735073"/>
              <a:ext cx="274320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T5-small (60M params)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800600" y="1858517"/>
              <a:ext cx="75438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FBBF24"/>
                  </a:solidFill>
                  <a:latin typeface="Segoe UI"/>
                </a:defRPr>
              </a:pPr>
              <a:r>
                <a:rPr sz="675"/>
                <a:t>Dataset: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554980" y="1858517"/>
              <a:ext cx="274320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CNN/DailyMail subset</a:t>
              </a: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160CCA95-DD95-9021-ACD1-9EF108B16FF1}"/>
              </a:ext>
            </a:extLst>
          </p:cNvPr>
          <p:cNvGrpSpPr/>
          <p:nvPr/>
        </p:nvGrpSpPr>
        <p:grpSpPr>
          <a:xfrm>
            <a:off x="411480" y="1925377"/>
            <a:ext cx="4011930" cy="2606040"/>
            <a:chOff x="411480" y="2160269"/>
            <a:chExt cx="4011930" cy="2606040"/>
          </a:xfrm>
        </p:grpSpPr>
        <p:sp>
          <p:nvSpPr>
            <p:cNvPr id="17" name="Rounded Rectangle 16"/>
            <p:cNvSpPr/>
            <p:nvPr/>
          </p:nvSpPr>
          <p:spPr>
            <a:xfrm>
              <a:off x="411480" y="2160269"/>
              <a:ext cx="4011930" cy="2606040"/>
            </a:xfrm>
            <a:prstGeom prst="roundRect">
              <a:avLst>
                <a:gd name="adj" fmla="val 4000"/>
              </a:avLst>
            </a:prstGeom>
            <a:solidFill>
              <a:srgbClr val="1E293B"/>
            </a:solidFill>
            <a:ln w="19050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11480" y="2160269"/>
              <a:ext cx="4011930" cy="27432"/>
            </a:xfrm>
            <a:prstGeom prst="rect">
              <a:avLst/>
            </a:prstGeom>
            <a:solidFill>
              <a:srgbClr val="14B8A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82930" y="2242565"/>
              <a:ext cx="27432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600" b="1">
                  <a:solidFill>
                    <a:srgbClr val="14B8A6"/>
                  </a:solidFill>
                  <a:latin typeface="Segoe UI"/>
                </a:defRPr>
              </a:pPr>
              <a:r>
                <a:rPr sz="1200"/>
                <a:t>Why T5-small?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514350" y="2503169"/>
              <a:ext cx="1817370" cy="617220"/>
            </a:xfrm>
            <a:prstGeom prst="roundRect">
              <a:avLst>
                <a:gd name="adj" fmla="val 4000"/>
              </a:avLst>
            </a:prstGeom>
            <a:solidFill>
              <a:srgbClr val="162033"/>
            </a:solidFill>
            <a:ln w="19050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514350" y="2503169"/>
              <a:ext cx="27432" cy="617220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17220" y="2558033"/>
              <a:ext cx="157734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3B82F6"/>
                  </a:solidFill>
                  <a:latin typeface="Segoe UI"/>
                </a:defRPr>
              </a:pPr>
              <a:r>
                <a:rPr sz="825"/>
                <a:t>Full Transformer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17220" y="2736341"/>
              <a:ext cx="1577340" cy="3000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94A3B8"/>
                  </a:solidFill>
                  <a:latin typeface="Segoe UI"/>
                </a:defRPr>
              </a:pPr>
              <a:r>
                <a:rPr sz="675"/>
                <a:t>Encoder-Decoder — uses everything we learned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2448306" y="2503169"/>
              <a:ext cx="1817370" cy="617220"/>
            </a:xfrm>
            <a:prstGeom prst="roundRect">
              <a:avLst>
                <a:gd name="adj" fmla="val 4000"/>
              </a:avLst>
            </a:prstGeom>
            <a:solidFill>
              <a:srgbClr val="162033"/>
            </a:solidFill>
            <a:ln w="19050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2448306" y="2503169"/>
              <a:ext cx="27432" cy="617220"/>
            </a:xfrm>
            <a:prstGeom prst="rect">
              <a:avLst/>
            </a:prstGeom>
            <a:solidFill>
              <a:srgbClr val="14B8A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551176" y="2558033"/>
              <a:ext cx="157734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14B8A6"/>
                  </a:solidFill>
                  <a:latin typeface="Segoe UI"/>
                </a:defRPr>
              </a:pPr>
              <a:r>
                <a:rPr sz="825"/>
                <a:t>Text-to-Text API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551176" y="2736341"/>
              <a:ext cx="1577340" cy="3000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94A3B8"/>
                  </a:solidFill>
                  <a:latin typeface="Segoe UI"/>
                </a:defRPr>
              </a:pPr>
              <a:r>
                <a:rPr sz="675"/>
                <a:t>Simple: prefix with "summarize:" and go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514350" y="3223259"/>
              <a:ext cx="1817370" cy="617220"/>
            </a:xfrm>
            <a:prstGeom prst="roundRect">
              <a:avLst>
                <a:gd name="adj" fmla="val 4000"/>
              </a:avLst>
            </a:prstGeom>
            <a:solidFill>
              <a:srgbClr val="162033"/>
            </a:solidFill>
            <a:ln w="19050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514350" y="3223259"/>
              <a:ext cx="27432" cy="617220"/>
            </a:xfrm>
            <a:prstGeom prst="rect">
              <a:avLst/>
            </a:prstGeom>
            <a:solidFill>
              <a:srgbClr val="22C55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17220" y="3278123"/>
              <a:ext cx="157734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22C55E"/>
                  </a:solidFill>
                  <a:latin typeface="Segoe UI"/>
                </a:defRPr>
              </a:pPr>
              <a:r>
                <a:rPr sz="825"/>
                <a:t>Small Enough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17220" y="3456431"/>
              <a:ext cx="1577340" cy="3000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94A3B8"/>
                  </a:solidFill>
                  <a:latin typeface="Segoe UI"/>
                </a:defRPr>
              </a:pPr>
              <a:r>
                <a:rPr sz="675"/>
                <a:t>60M params — fits in free Colab GPU memory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2448306" y="3223259"/>
              <a:ext cx="1817370" cy="617220"/>
            </a:xfrm>
            <a:prstGeom prst="roundRect">
              <a:avLst>
                <a:gd name="adj" fmla="val 4000"/>
              </a:avLst>
            </a:prstGeom>
            <a:solidFill>
              <a:srgbClr val="162033"/>
            </a:solidFill>
            <a:ln w="19050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2448306" y="3223259"/>
              <a:ext cx="27432" cy="617220"/>
            </a:xfrm>
            <a:prstGeom prst="rect">
              <a:avLst/>
            </a:prstGeom>
            <a:solidFill>
              <a:srgbClr val="A78B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2551176" y="3278123"/>
              <a:ext cx="157734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A78BFA"/>
                  </a:solidFill>
                  <a:latin typeface="Segoe UI"/>
                </a:defRPr>
              </a:pPr>
              <a:r>
                <a:rPr sz="825"/>
                <a:t>Good Enough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2551176" y="3456431"/>
              <a:ext cx="1577340" cy="3000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94A3B8"/>
                  </a:solidFill>
                  <a:latin typeface="Segoe UI"/>
                </a:defRPr>
              </a:pPr>
              <a:r>
                <a:rPr sz="675"/>
                <a:t>Produces readable summaries even without fine-tuning</a:t>
              </a: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514350" y="3943349"/>
              <a:ext cx="1817370" cy="617220"/>
            </a:xfrm>
            <a:prstGeom prst="roundRect">
              <a:avLst>
                <a:gd name="adj" fmla="val 4000"/>
              </a:avLst>
            </a:prstGeom>
            <a:solidFill>
              <a:srgbClr val="162033"/>
            </a:solidFill>
            <a:ln w="19050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514350" y="3943349"/>
              <a:ext cx="27432" cy="61722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17220" y="3998213"/>
              <a:ext cx="157734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F59E0B"/>
                  </a:solidFill>
                  <a:latin typeface="Segoe UI"/>
                </a:defRPr>
              </a:pPr>
              <a:r>
                <a:rPr sz="825"/>
                <a:t>Fine-Tunable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17220" y="4176521"/>
              <a:ext cx="1577340" cy="3000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94A3B8"/>
                  </a:solidFill>
                  <a:latin typeface="Segoe UI"/>
                </a:defRPr>
              </a:pPr>
              <a:r>
                <a:rPr sz="675"/>
                <a:t>Can be fine-tuned in ~15 minutes on small data</a:t>
              </a:r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2448306" y="3943349"/>
              <a:ext cx="1817370" cy="617220"/>
            </a:xfrm>
            <a:prstGeom prst="roundRect">
              <a:avLst>
                <a:gd name="adj" fmla="val 4000"/>
              </a:avLst>
            </a:prstGeom>
            <a:solidFill>
              <a:srgbClr val="162033"/>
            </a:solidFill>
            <a:ln w="19050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2448306" y="3943349"/>
              <a:ext cx="27432" cy="617220"/>
            </a:xfrm>
            <a:prstGeom prst="rect">
              <a:avLst/>
            </a:prstGeom>
            <a:solidFill>
              <a:srgbClr val="EC48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2551176" y="3998213"/>
              <a:ext cx="157734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EC4899"/>
                  </a:solidFill>
                  <a:latin typeface="Segoe UI"/>
                </a:defRPr>
              </a:pPr>
              <a:r>
                <a:rPr sz="825"/>
                <a:t>HuggingFace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2551176" y="4176521"/>
              <a:ext cx="1577340" cy="3000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94A3B8"/>
                  </a:solidFill>
                  <a:latin typeface="Segoe UI"/>
                </a:defRPr>
              </a:pPr>
              <a:r>
                <a:rPr sz="675"/>
                <a:t>First-class support in the transformers library</a:t>
              </a: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11A87DF0-B34D-1305-AAE8-4ADA21AEDE69}"/>
              </a:ext>
            </a:extLst>
          </p:cNvPr>
          <p:cNvGrpSpPr/>
          <p:nvPr/>
        </p:nvGrpSpPr>
        <p:grpSpPr>
          <a:xfrm>
            <a:off x="4594860" y="1809880"/>
            <a:ext cx="4128515" cy="2166292"/>
            <a:chOff x="4594860" y="1809880"/>
            <a:chExt cx="4128515" cy="2166292"/>
          </a:xfrm>
        </p:grpSpPr>
        <p:sp>
          <p:nvSpPr>
            <p:cNvPr id="44" name="Rounded Rectangle 43"/>
            <p:cNvSpPr/>
            <p:nvPr/>
          </p:nvSpPr>
          <p:spPr>
            <a:xfrm>
              <a:off x="4642865" y="1809880"/>
              <a:ext cx="4080510" cy="2166292"/>
            </a:xfrm>
            <a:prstGeom prst="roundRect">
              <a:avLst>
                <a:gd name="adj" fmla="val 4000"/>
              </a:avLst>
            </a:prstGeom>
            <a:solidFill>
              <a:srgbClr val="1E293B"/>
            </a:solidFill>
            <a:ln w="19050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4594860" y="1816320"/>
              <a:ext cx="4080510" cy="27432"/>
            </a:xfrm>
            <a:prstGeom prst="rect">
              <a:avLst/>
            </a:prstGeom>
            <a:solidFill>
              <a:srgbClr val="FBBF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4732020" y="1898616"/>
              <a:ext cx="27432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600" b="1">
                  <a:solidFill>
                    <a:srgbClr val="FBBF24"/>
                  </a:solidFill>
                  <a:latin typeface="Segoe UI"/>
                </a:defRPr>
              </a:pPr>
              <a:r>
                <a:rPr sz="1200"/>
                <a:t>CNN/DailyMail Dataset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4732020" y="2104357"/>
              <a:ext cx="380619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94A3B8"/>
                  </a:solidFill>
                  <a:latin typeface="Segoe UI"/>
                </a:defRPr>
              </a:pPr>
              <a:r>
                <a:rPr sz="750" dirty="0"/>
                <a:t>News articles paired with human-written summaries (DeepMind, 2015)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4663440" y="2330670"/>
              <a:ext cx="3943350" cy="233172"/>
            </a:xfrm>
            <a:prstGeom prst="rect">
              <a:avLst/>
            </a:prstGeom>
            <a:solidFill>
              <a:srgbClr val="1A25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4697730" y="2358102"/>
              <a:ext cx="89154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FBBF24"/>
                  </a:solidFill>
                  <a:latin typeface="Segoe UI"/>
                </a:defRPr>
              </a:pPr>
              <a:r>
                <a:rPr sz="675"/>
                <a:t>Split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5623560" y="2358102"/>
              <a:ext cx="89154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FBBF24"/>
                  </a:solidFill>
                  <a:latin typeface="Segoe UI"/>
                </a:defRPr>
              </a:pPr>
              <a:r>
                <a:rPr sz="675"/>
                <a:t>Articles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6652260" y="2358102"/>
              <a:ext cx="89154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FBBF24"/>
                  </a:solidFill>
                  <a:latin typeface="Segoe UI"/>
                </a:defRPr>
              </a:pPr>
              <a:r>
                <a:rPr sz="675"/>
                <a:t>Avg Article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578089" y="2358102"/>
              <a:ext cx="89154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FBBF24"/>
                  </a:solidFill>
                  <a:latin typeface="Segoe UI"/>
                </a:defRPr>
              </a:pPr>
              <a:r>
                <a:rPr sz="675"/>
                <a:t>Avg Summary</a:t>
              </a: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4663440" y="2563842"/>
              <a:ext cx="3943350" cy="219456"/>
            </a:xfrm>
            <a:prstGeom prst="rect">
              <a:avLst/>
            </a:prstGeom>
            <a:solidFill>
              <a:srgbClr val="1620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4697730" y="2591274"/>
              <a:ext cx="89154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Train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5623560" y="2591274"/>
              <a:ext cx="89154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287,113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6652260" y="2591274"/>
              <a:ext cx="89154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~780 words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7578089" y="2591274"/>
              <a:ext cx="89154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~56 words</a:t>
              </a: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4663440" y="2783298"/>
              <a:ext cx="3943350" cy="219456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4697730" y="2810730"/>
              <a:ext cx="89154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Validation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5623560" y="2810730"/>
              <a:ext cx="89154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13,368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6652260" y="2810730"/>
              <a:ext cx="89154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~780 words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7578089" y="2810730"/>
              <a:ext cx="89154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~56 words</a:t>
              </a: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4663440" y="3002754"/>
              <a:ext cx="3943350" cy="219456"/>
            </a:xfrm>
            <a:prstGeom prst="rect">
              <a:avLst/>
            </a:prstGeom>
            <a:solidFill>
              <a:srgbClr val="1620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4697730" y="3030186"/>
              <a:ext cx="89154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Test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5623560" y="3030186"/>
              <a:ext cx="89154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11,490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6652260" y="3030186"/>
              <a:ext cx="89154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~780 words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7578089" y="3030186"/>
              <a:ext cx="89154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~56 words</a:t>
              </a:r>
            </a:p>
          </p:txBody>
        </p:sp>
        <p:sp>
          <p:nvSpPr>
            <p:cNvPr id="68" name="Rectangle 67"/>
            <p:cNvSpPr/>
            <p:nvPr/>
          </p:nvSpPr>
          <p:spPr>
            <a:xfrm>
              <a:off x="4663440" y="3222210"/>
              <a:ext cx="3943350" cy="219456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697730" y="3249642"/>
              <a:ext cx="89154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FBBF24"/>
                  </a:solidFill>
                  <a:latin typeface="Segoe UI"/>
                </a:defRPr>
              </a:pPr>
              <a:r>
                <a:rPr sz="675"/>
                <a:t>Total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5623560" y="3249642"/>
              <a:ext cx="89154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FBBF24"/>
                  </a:solidFill>
                  <a:latin typeface="Segoe UI"/>
                </a:defRPr>
              </a:pPr>
              <a:r>
                <a:rPr sz="675"/>
                <a:t>311,971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6652260" y="3249642"/>
              <a:ext cx="89154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FBBF24"/>
                  </a:solidFill>
                  <a:latin typeface="Segoe UI"/>
                </a:defRPr>
              </a:pPr>
              <a:endParaRPr sz="675"/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7578089" y="3249642"/>
              <a:ext cx="89154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FBBF24"/>
                  </a:solidFill>
                  <a:latin typeface="Segoe UI"/>
                </a:defRPr>
              </a:pPr>
              <a:endParaRPr sz="675"/>
            </a:p>
          </p:txBody>
        </p:sp>
        <p:sp>
          <p:nvSpPr>
            <p:cNvPr id="73" name="Rounded Rectangle 72"/>
            <p:cNvSpPr/>
            <p:nvPr/>
          </p:nvSpPr>
          <p:spPr>
            <a:xfrm>
              <a:off x="4696996" y="3523961"/>
              <a:ext cx="3943350" cy="417667"/>
            </a:xfrm>
            <a:prstGeom prst="roundRect">
              <a:avLst>
                <a:gd name="adj" fmla="val 4000"/>
              </a:avLst>
            </a:prstGeom>
            <a:solidFill>
              <a:srgbClr val="162033"/>
            </a:solidFill>
            <a:ln w="19050">
              <a:solidFill>
                <a:srgbClr val="F59E0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4717863" y="3581780"/>
              <a:ext cx="3806190" cy="3372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225"/>
                </a:spcAft>
                <a:defRPr sz="1000" b="1">
                  <a:solidFill>
                    <a:srgbClr val="F59E0B"/>
                  </a:solidFill>
                  <a:latin typeface="Segoe UI"/>
                </a:defRPr>
              </a:pPr>
              <a:r>
                <a:rPr sz="750" dirty="0"/>
                <a:t>We use a small subset (~1,000–2,000 articles)</a:t>
              </a:r>
            </a:p>
            <a:p>
              <a:pPr>
                <a:spcAft>
                  <a:spcPts val="225"/>
                </a:spcAft>
                <a:defRPr sz="900" b="0">
                  <a:solidFill>
                    <a:srgbClr val="94A3B8"/>
                  </a:solidFill>
                  <a:latin typeface="Segoe UI"/>
                </a:defRPr>
              </a:pPr>
              <a:r>
                <a:rPr sz="675" dirty="0"/>
                <a:t>Lab 1: Just a few samples  |  Lab 2: ~2000 for fine-tuning</a:t>
              </a: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C8575475-EC51-5313-EE8B-5E303E3DD461}"/>
              </a:ext>
            </a:extLst>
          </p:cNvPr>
          <p:cNvGrpSpPr/>
          <p:nvPr/>
        </p:nvGrpSpPr>
        <p:grpSpPr>
          <a:xfrm>
            <a:off x="4663440" y="4092882"/>
            <a:ext cx="3943350" cy="949500"/>
            <a:chOff x="7543800" y="2750096"/>
            <a:chExt cx="3943350" cy="949500"/>
          </a:xfrm>
        </p:grpSpPr>
        <p:sp>
          <p:nvSpPr>
            <p:cNvPr id="75" name="Rounded Rectangle 74"/>
            <p:cNvSpPr/>
            <p:nvPr/>
          </p:nvSpPr>
          <p:spPr>
            <a:xfrm>
              <a:off x="7543800" y="2773766"/>
              <a:ext cx="3943350" cy="925830"/>
            </a:xfrm>
            <a:prstGeom prst="roundRect">
              <a:avLst>
                <a:gd name="adj" fmla="val 4000"/>
              </a:avLst>
            </a:prstGeom>
            <a:solidFill>
              <a:srgbClr val="162033"/>
            </a:solidFill>
            <a:ln w="19050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7646670" y="2750096"/>
              <a:ext cx="205740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3B82F6"/>
                  </a:solidFill>
                  <a:latin typeface="Segoe UI"/>
                </a:defRPr>
              </a:pPr>
              <a:r>
                <a:rPr sz="750" dirty="0"/>
                <a:t>Sample Data Point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7612380" y="2881196"/>
              <a:ext cx="3806190" cy="8091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225"/>
                </a:spcAft>
                <a:defRPr sz="900" b="0">
                  <a:solidFill>
                    <a:srgbClr val="B0B8C8"/>
                  </a:solidFill>
                  <a:latin typeface="Consolas"/>
                </a:defRPr>
              </a:pPr>
              <a:r>
                <a:rPr sz="675" dirty="0"/>
                <a:t>"article": "Washington (CNN) -- The U.S.</a:t>
              </a:r>
            </a:p>
            <a:p>
              <a:pPr>
                <a:spcAft>
                  <a:spcPts val="225"/>
                </a:spcAft>
                <a:defRPr sz="900" b="0">
                  <a:solidFill>
                    <a:srgbClr val="B0B8C8"/>
                  </a:solidFill>
                  <a:latin typeface="Consolas"/>
                </a:defRPr>
              </a:pPr>
              <a:r>
                <a:rPr sz="675" dirty="0"/>
                <a:t>  Senate voted Tuesday to approve a sweeping</a:t>
              </a:r>
            </a:p>
            <a:p>
              <a:pPr>
                <a:spcAft>
                  <a:spcPts val="225"/>
                </a:spcAft>
                <a:defRPr sz="900" b="0">
                  <a:solidFill>
                    <a:srgbClr val="B0B8C8"/>
                  </a:solidFill>
                  <a:latin typeface="Consolas"/>
                </a:defRPr>
              </a:pPr>
              <a:r>
                <a:rPr sz="675" dirty="0"/>
                <a:t>  infrastructure bill worth $1.2 trillion..."</a:t>
              </a:r>
            </a:p>
            <a:p>
              <a:pPr>
                <a:spcAft>
                  <a:spcPts val="225"/>
                </a:spcAft>
                <a:defRPr sz="600" b="0">
                  <a:solidFill>
                    <a:srgbClr val="B0B8C8"/>
                  </a:solidFill>
                  <a:latin typeface="Consolas"/>
                </a:defRPr>
              </a:pPr>
              <a:endParaRPr sz="450" dirty="0"/>
            </a:p>
            <a:p>
              <a:pPr>
                <a:spcAft>
                  <a:spcPts val="225"/>
                </a:spcAft>
                <a:defRPr sz="900" b="0">
                  <a:solidFill>
                    <a:srgbClr val="22C55E"/>
                  </a:solidFill>
                  <a:latin typeface="Consolas"/>
                </a:defRPr>
              </a:pPr>
              <a:r>
                <a:rPr sz="675" dirty="0"/>
                <a:t>"highlights": "Senate approves $1.2T bill.</a:t>
              </a:r>
            </a:p>
            <a:p>
              <a:pPr>
                <a:spcAft>
                  <a:spcPts val="225"/>
                </a:spcAft>
                <a:defRPr sz="900" b="0">
                  <a:solidFill>
                    <a:srgbClr val="22C55E"/>
                  </a:solidFill>
                  <a:latin typeface="Consolas"/>
                </a:defRPr>
              </a:pPr>
              <a:r>
                <a:rPr sz="675" dirty="0"/>
                <a:t>  Bill now heads to the House for a vote."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F20991-E92E-AA8D-F6B1-EC1F588E47A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29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385D89-2F40-DD9D-88A5-1DED4B9A0CF5}"/>
              </a:ext>
            </a:extLst>
          </p:cNvPr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6BF69B-9BD9-1458-DE1A-FEFE08709E27}"/>
              </a:ext>
            </a:extLst>
          </p:cNvPr>
          <p:cNvSpPr txBox="1"/>
          <p:nvPr/>
        </p:nvSpPr>
        <p:spPr>
          <a:xfrm>
            <a:off x="1897380" y="1491527"/>
            <a:ext cx="61645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lang="en-IN" sz="2400" dirty="0"/>
              <a:t>It`s Time to do practical:</a:t>
            </a:r>
          </a:p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lang="en-IN" sz="2400" dirty="0"/>
              <a:t> </a:t>
            </a:r>
          </a:p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lang="en-IN" sz="2400" dirty="0"/>
              <a:t>				LAB 1</a:t>
            </a:r>
          </a:p>
        </p:txBody>
      </p:sp>
      <p:pic>
        <p:nvPicPr>
          <p:cNvPr id="6" name="Graphic 5" descr="Alien with one eye">
            <a:extLst>
              <a:ext uri="{FF2B5EF4-FFF2-40B4-BE49-F238E27FC236}">
                <a16:creationId xmlns:a16="http://schemas.microsoft.com/office/drawing/2014/main" id="{613147AD-5BDA-2F8C-D018-1E132E045E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30967" y="1949439"/>
            <a:ext cx="1647825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9303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>
            <a:extLst>
              <a:ext uri="{FF2B5EF4-FFF2-40B4-BE49-F238E27FC236}">
                <a16:creationId xmlns:a16="http://schemas.microsoft.com/office/drawing/2014/main" id="{79112C4A-6627-0174-9121-AC2834F74ADF}"/>
              </a:ext>
            </a:extLst>
          </p:cNvPr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4" name="TextBox 3"/>
          <p:cNvSpPr txBox="1"/>
          <p:nvPr/>
        </p:nvSpPr>
        <p:spPr>
          <a:xfrm>
            <a:off x="380357" y="32281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sz="2400" dirty="0"/>
              <a:t>Your Two Labs — From Inference to Fine-Tuning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0357" y="409471"/>
            <a:ext cx="6858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rPr sz="1050" dirty="0"/>
              <a:t>Lab 1 uses the model out-of-the-box. Lab 2 makes it better.</a:t>
            </a: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882B9013-FD90-0DE0-F608-7BCFCE2F1FA6}"/>
              </a:ext>
            </a:extLst>
          </p:cNvPr>
          <p:cNvGrpSpPr/>
          <p:nvPr/>
        </p:nvGrpSpPr>
        <p:grpSpPr>
          <a:xfrm>
            <a:off x="411480" y="1490521"/>
            <a:ext cx="4032504" cy="2263140"/>
            <a:chOff x="411480" y="1405889"/>
            <a:chExt cx="4032504" cy="2263140"/>
          </a:xfrm>
        </p:grpSpPr>
        <p:sp>
          <p:nvSpPr>
            <p:cNvPr id="6" name="Rounded Rectangle 5"/>
            <p:cNvSpPr/>
            <p:nvPr/>
          </p:nvSpPr>
          <p:spPr>
            <a:xfrm>
              <a:off x="411480" y="1405889"/>
              <a:ext cx="4032504" cy="2263140"/>
            </a:xfrm>
            <a:prstGeom prst="roundRect">
              <a:avLst>
                <a:gd name="adj" fmla="val 4000"/>
              </a:avLst>
            </a:prstGeom>
            <a:solidFill>
              <a:srgbClr val="1E293B"/>
            </a:solidFill>
            <a:ln w="19050">
              <a:solidFill>
                <a:srgbClr val="3B82F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11480" y="1405889"/>
              <a:ext cx="4032504" cy="34290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14350" y="1488185"/>
              <a:ext cx="685800" cy="192024"/>
            </a:xfrm>
            <a:prstGeom prst="roundRect">
              <a:avLst>
                <a:gd name="adj" fmla="val 40000"/>
              </a:avLst>
            </a:prstGeom>
            <a:solidFill>
              <a:srgbClr val="3B8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000" b="1">
                  <a:solidFill>
                    <a:srgbClr val="FFFFFF"/>
                  </a:solidFill>
                  <a:latin typeface="Segoe UI"/>
                </a:defRPr>
              </a:pPr>
              <a:r>
                <a:rPr sz="750"/>
                <a:t>LAB 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303020" y="1501901"/>
              <a:ext cx="2743200" cy="2423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300" b="1">
                  <a:solidFill>
                    <a:srgbClr val="FFFFFF"/>
                  </a:solidFill>
                  <a:latin typeface="Segoe UI"/>
                </a:defRPr>
              </a:pPr>
              <a:r>
                <a:rPr sz="975" dirty="0"/>
                <a:t>Inference Pipeline 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48640" y="1721358"/>
              <a:ext cx="370332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94A3B8"/>
                  </a:solidFill>
                  <a:latin typeface="Segoe UI"/>
                </a:defRPr>
              </a:pPr>
              <a:r>
                <a:rPr sz="750"/>
                <a:t>Use pre-trained T5-small to summarize news articles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80060" y="1899665"/>
              <a:ext cx="3895344" cy="205740"/>
            </a:xfrm>
            <a:prstGeom prst="rect">
              <a:avLst/>
            </a:prstGeom>
            <a:solidFill>
              <a:srgbClr val="1A25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14350" y="1920239"/>
              <a:ext cx="1577340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800" b="1">
                  <a:solidFill>
                    <a:srgbClr val="3B82F6"/>
                  </a:solidFill>
                  <a:latin typeface="Segoe UI"/>
                </a:defRPr>
              </a:pPr>
              <a:r>
                <a:rPr sz="600"/>
                <a:t>#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20090" y="1920239"/>
              <a:ext cx="1577340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800" b="1">
                  <a:solidFill>
                    <a:srgbClr val="3B82F6"/>
                  </a:solidFill>
                  <a:latin typeface="Segoe UI"/>
                </a:defRPr>
              </a:pPr>
              <a:r>
                <a:rPr sz="600"/>
                <a:t>What You Do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434590" y="1920239"/>
              <a:ext cx="1577340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800" b="1">
                  <a:solidFill>
                    <a:srgbClr val="3B82F6"/>
                  </a:solidFill>
                  <a:latin typeface="Segoe UI"/>
                </a:defRPr>
              </a:pPr>
              <a:r>
                <a:rPr sz="600"/>
                <a:t>What You Learn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480060" y="2105405"/>
              <a:ext cx="3895344" cy="260604"/>
            </a:xfrm>
            <a:prstGeom prst="rect">
              <a:avLst/>
            </a:prstGeom>
            <a:solidFill>
              <a:srgbClr val="1620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34924" y="2146553"/>
              <a:ext cx="17145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3B82F6"/>
                  </a:solidFill>
                  <a:latin typeface="Segoe UI"/>
                </a:defRPr>
              </a:pPr>
              <a:r>
                <a:rPr sz="675"/>
                <a:t>1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40664" y="2146553"/>
              <a:ext cx="164592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Load pre-trained t5-small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455164" y="2146553"/>
              <a:ext cx="178308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94A3B8"/>
                  </a:solidFill>
                  <a:latin typeface="Segoe UI"/>
                </a:defRPr>
              </a:pPr>
              <a:r>
                <a:rPr sz="675"/>
                <a:t>Model loading, tokenizer setup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80060" y="2366009"/>
              <a:ext cx="3895344" cy="260604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34924" y="2407157"/>
              <a:ext cx="17145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3B82F6"/>
                  </a:solidFill>
                  <a:latin typeface="Segoe UI"/>
                </a:defRPr>
              </a:pPr>
              <a:r>
                <a:rPr sz="675"/>
                <a:t>2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40664" y="2407157"/>
              <a:ext cx="164592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Tokenize a news article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455164" y="2407157"/>
              <a:ext cx="178308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94A3B8"/>
                  </a:solidFill>
                  <a:latin typeface="Segoe UI"/>
                </a:defRPr>
              </a:pPr>
              <a:r>
                <a:rPr sz="675"/>
                <a:t>SentencePiece in practice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80060" y="2626613"/>
              <a:ext cx="3895344" cy="260604"/>
            </a:xfrm>
            <a:prstGeom prst="rect">
              <a:avLst/>
            </a:prstGeom>
            <a:solidFill>
              <a:srgbClr val="1620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34924" y="2667761"/>
              <a:ext cx="17145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3B82F6"/>
                  </a:solidFill>
                  <a:latin typeface="Segoe UI"/>
                </a:defRPr>
              </a:pPr>
              <a:r>
                <a:rPr sz="675"/>
                <a:t>3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40664" y="2667761"/>
              <a:ext cx="164592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Run model.generate()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455164" y="2667761"/>
              <a:ext cx="178308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94A3B8"/>
                  </a:solidFill>
                  <a:latin typeface="Segoe UI"/>
                </a:defRPr>
              </a:pPr>
              <a:r>
                <a:rPr sz="675"/>
                <a:t>Encoder-decoder in action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480060" y="2887217"/>
              <a:ext cx="3895344" cy="260604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34924" y="2928365"/>
              <a:ext cx="17145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3B82F6"/>
                  </a:solidFill>
                  <a:latin typeface="Segoe UI"/>
                </a:defRPr>
              </a:pPr>
              <a:r>
                <a:rPr sz="675"/>
                <a:t>4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40664" y="2928365"/>
              <a:ext cx="164592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Experiment with params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455164" y="2928365"/>
              <a:ext cx="178308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94A3B8"/>
                  </a:solidFill>
                  <a:latin typeface="Segoe UI"/>
                </a:defRPr>
              </a:pPr>
              <a:r>
                <a:rPr sz="675" dirty="0" err="1"/>
                <a:t>beam_search</a:t>
              </a:r>
              <a:r>
                <a:rPr sz="675" dirty="0"/>
                <a:t>, temperature 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480060" y="3147821"/>
              <a:ext cx="3895344" cy="260604"/>
            </a:xfrm>
            <a:prstGeom prst="rect">
              <a:avLst/>
            </a:prstGeom>
            <a:solidFill>
              <a:srgbClr val="1620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34924" y="3188969"/>
              <a:ext cx="17145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3B82F6"/>
                  </a:solidFill>
                  <a:latin typeface="Segoe UI"/>
                </a:defRPr>
              </a:pPr>
              <a:r>
                <a:rPr sz="675"/>
                <a:t>5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40664" y="3188969"/>
              <a:ext cx="164592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Compare outputs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2455164" y="3188969"/>
              <a:ext cx="178308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94A3B8"/>
                  </a:solidFill>
                  <a:latin typeface="Segoe UI"/>
                </a:defRPr>
              </a:pPr>
              <a:r>
                <a:rPr sz="675"/>
                <a:t>Understanding model behavior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480060" y="3408425"/>
              <a:ext cx="3895344" cy="260604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534924" y="3449573"/>
              <a:ext cx="17145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3B82F6"/>
                  </a:solidFill>
                  <a:latin typeface="Segoe UI"/>
                </a:defRPr>
              </a:pPr>
              <a:r>
                <a:rPr sz="675"/>
                <a:t>6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40664" y="3449573"/>
              <a:ext cx="164592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Visualize attention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2455164" y="3449573"/>
              <a:ext cx="178308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94A3B8"/>
                  </a:solidFill>
                  <a:latin typeface="Segoe UI"/>
                </a:defRPr>
              </a:pPr>
              <a:r>
                <a:rPr sz="675"/>
                <a:t>See what the model focuses on</a:t>
              </a: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84650E81-7707-D560-4C40-69405524E444}"/>
              </a:ext>
            </a:extLst>
          </p:cNvPr>
          <p:cNvGrpSpPr/>
          <p:nvPr/>
        </p:nvGrpSpPr>
        <p:grpSpPr>
          <a:xfrm>
            <a:off x="4677156" y="1540855"/>
            <a:ext cx="4032504" cy="2263140"/>
            <a:chOff x="4677156" y="1405889"/>
            <a:chExt cx="4032504" cy="2263140"/>
          </a:xfrm>
        </p:grpSpPr>
        <p:sp>
          <p:nvSpPr>
            <p:cNvPr id="39" name="Rounded Rectangle 38"/>
            <p:cNvSpPr/>
            <p:nvPr/>
          </p:nvSpPr>
          <p:spPr>
            <a:xfrm>
              <a:off x="4677156" y="1405889"/>
              <a:ext cx="4032504" cy="2263140"/>
            </a:xfrm>
            <a:prstGeom prst="roundRect">
              <a:avLst>
                <a:gd name="adj" fmla="val 4000"/>
              </a:avLst>
            </a:prstGeom>
            <a:solidFill>
              <a:srgbClr val="1E293B"/>
            </a:solidFill>
            <a:ln w="19050">
              <a:solidFill>
                <a:srgbClr val="22C55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4677156" y="1405889"/>
              <a:ext cx="4032504" cy="34290"/>
            </a:xfrm>
            <a:prstGeom prst="rect">
              <a:avLst/>
            </a:prstGeom>
            <a:solidFill>
              <a:srgbClr val="22C55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4780026" y="1488185"/>
              <a:ext cx="685800" cy="192024"/>
            </a:xfrm>
            <a:prstGeom prst="roundRect">
              <a:avLst>
                <a:gd name="adj" fmla="val 40000"/>
              </a:avLst>
            </a:prstGeom>
            <a:solidFill>
              <a:srgbClr val="22C55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000" b="1">
                  <a:solidFill>
                    <a:srgbClr val="FFFFFF"/>
                  </a:solidFill>
                  <a:latin typeface="Segoe UI"/>
                </a:defRPr>
              </a:pPr>
              <a:r>
                <a:rPr sz="750"/>
                <a:t>LAB 2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568696" y="1501901"/>
              <a:ext cx="2743200" cy="2423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300" b="1">
                  <a:solidFill>
                    <a:srgbClr val="FFFFFF"/>
                  </a:solidFill>
                  <a:latin typeface="Segoe UI"/>
                </a:defRPr>
              </a:pPr>
              <a:r>
                <a:rPr sz="975" dirty="0"/>
                <a:t>Fine-Tuning Pipeline 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814316" y="1721358"/>
              <a:ext cx="370332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94A3B8"/>
                  </a:solidFill>
                  <a:latin typeface="Segoe UI"/>
                </a:defRPr>
              </a:pPr>
              <a:r>
                <a:rPr sz="750"/>
                <a:t>Train T5-small on CNN/DailyMail subset to improve quality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4745736" y="1899665"/>
              <a:ext cx="3895344" cy="205740"/>
            </a:xfrm>
            <a:prstGeom prst="rect">
              <a:avLst/>
            </a:prstGeom>
            <a:solidFill>
              <a:srgbClr val="1A25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780026" y="1920239"/>
              <a:ext cx="1577340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800" b="1">
                  <a:solidFill>
                    <a:srgbClr val="22C55E"/>
                  </a:solidFill>
                  <a:latin typeface="Segoe UI"/>
                </a:defRPr>
              </a:pPr>
              <a:r>
                <a:rPr sz="600"/>
                <a:t>#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4985766" y="1920239"/>
              <a:ext cx="1577340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800" b="1">
                  <a:solidFill>
                    <a:srgbClr val="22C55E"/>
                  </a:solidFill>
                  <a:latin typeface="Segoe UI"/>
                </a:defRPr>
              </a:pPr>
              <a:r>
                <a:rPr sz="600"/>
                <a:t>What You Do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6700266" y="1920239"/>
              <a:ext cx="1577340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800" b="1">
                  <a:solidFill>
                    <a:srgbClr val="22C55E"/>
                  </a:solidFill>
                  <a:latin typeface="Segoe UI"/>
                </a:defRPr>
              </a:pPr>
              <a:r>
                <a:rPr sz="600"/>
                <a:t>What You Learn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4745736" y="2105405"/>
              <a:ext cx="3895344" cy="260604"/>
            </a:xfrm>
            <a:prstGeom prst="rect">
              <a:avLst/>
            </a:prstGeom>
            <a:solidFill>
              <a:srgbClr val="1620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 dirty="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4800600" y="2146553"/>
              <a:ext cx="17145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22C55E"/>
                  </a:solidFill>
                  <a:latin typeface="Segoe UI"/>
                </a:defRPr>
              </a:pPr>
              <a:r>
                <a:rPr sz="675"/>
                <a:t>1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5006340" y="2146553"/>
              <a:ext cx="164592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Load CNN/DailyMail (2K subset)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6720840" y="2146553"/>
              <a:ext cx="178308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94A3B8"/>
                  </a:solidFill>
                  <a:latin typeface="Segoe UI"/>
                </a:defRPr>
              </a:pPr>
              <a:r>
                <a:rPr sz="675"/>
                <a:t>HuggingFace datasets library</a:t>
              </a: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4745736" y="2366009"/>
              <a:ext cx="3895344" cy="260604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4800600" y="2407157"/>
              <a:ext cx="17145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22C55E"/>
                  </a:solidFill>
                  <a:latin typeface="Segoe UI"/>
                </a:defRPr>
              </a:pPr>
              <a:r>
                <a:rPr sz="675"/>
                <a:t>2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5006340" y="2407157"/>
              <a:ext cx="164592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Preprocess &amp; tokenize data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6720840" y="2407157"/>
              <a:ext cx="178308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94A3B8"/>
                  </a:solidFill>
                  <a:latin typeface="Segoe UI"/>
                </a:defRPr>
              </a:pPr>
              <a:r>
                <a:rPr sz="675"/>
                <a:t>Data pipeline for seq2seq</a:t>
              </a: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4745736" y="2626613"/>
              <a:ext cx="3895344" cy="260604"/>
            </a:xfrm>
            <a:prstGeom prst="rect">
              <a:avLst/>
            </a:prstGeom>
            <a:solidFill>
              <a:srgbClr val="1620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4800600" y="2667761"/>
              <a:ext cx="17145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22C55E"/>
                  </a:solidFill>
                  <a:latin typeface="Segoe UI"/>
                </a:defRPr>
              </a:pPr>
              <a:r>
                <a:rPr sz="675"/>
                <a:t>3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5006340" y="2667761"/>
              <a:ext cx="164592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Configure Seq2SeqTrainer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6720840" y="2667761"/>
              <a:ext cx="178308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94A3B8"/>
                  </a:solidFill>
                  <a:latin typeface="Segoe UI"/>
                </a:defRPr>
              </a:pPr>
              <a:r>
                <a:rPr sz="675"/>
                <a:t>Training args, hyperparams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4745736" y="2887217"/>
              <a:ext cx="3895344" cy="260604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4800600" y="2928365"/>
              <a:ext cx="17145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22C55E"/>
                  </a:solidFill>
                  <a:latin typeface="Segoe UI"/>
                </a:defRPr>
              </a:pPr>
              <a:r>
                <a:rPr sz="675"/>
                <a:t>4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5006340" y="2928365"/>
              <a:ext cx="164592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Fine-tune for 2–3 epochs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6720840" y="2928365"/>
              <a:ext cx="178308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94A3B8"/>
                  </a:solidFill>
                  <a:latin typeface="Segoe UI"/>
                </a:defRPr>
              </a:pPr>
              <a:r>
                <a:rPr sz="675"/>
                <a:t>Transfer learning in action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4745736" y="3147821"/>
              <a:ext cx="3895344" cy="260604"/>
            </a:xfrm>
            <a:prstGeom prst="rect">
              <a:avLst/>
            </a:prstGeom>
            <a:solidFill>
              <a:srgbClr val="1620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4800600" y="3188969"/>
              <a:ext cx="17145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22C55E"/>
                  </a:solidFill>
                  <a:latin typeface="Segoe UI"/>
                </a:defRPr>
              </a:pPr>
              <a:r>
                <a:rPr sz="675"/>
                <a:t>5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5006340" y="3188969"/>
              <a:ext cx="164592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Compare base vs. fine-tuned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6720840" y="3188969"/>
              <a:ext cx="178308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94A3B8"/>
                  </a:solidFill>
                  <a:latin typeface="Segoe UI"/>
                </a:defRPr>
              </a:pPr>
              <a:r>
                <a:rPr sz="675"/>
                <a:t>See the improvement</a:t>
              </a:r>
            </a:p>
          </p:txBody>
        </p:sp>
        <p:sp>
          <p:nvSpPr>
            <p:cNvPr id="68" name="Rectangle 67"/>
            <p:cNvSpPr/>
            <p:nvPr/>
          </p:nvSpPr>
          <p:spPr>
            <a:xfrm>
              <a:off x="4745736" y="3408425"/>
              <a:ext cx="3895344" cy="260604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800600" y="3449573"/>
              <a:ext cx="17145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22C55E"/>
                  </a:solidFill>
                  <a:latin typeface="Segoe UI"/>
                </a:defRPr>
              </a:pPr>
              <a:r>
                <a:rPr sz="675"/>
                <a:t>6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5006340" y="3449573"/>
              <a:ext cx="164592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Compute ROUGE scores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6720840" y="3449573"/>
              <a:ext cx="178308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94A3B8"/>
                  </a:solidFill>
                  <a:latin typeface="Segoe UI"/>
                </a:defRPr>
              </a:pPr>
              <a:r>
                <a:rPr sz="675"/>
                <a:t>Evaluation metrics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C0D32D58-50BF-EA3D-B4FC-279FB7C8B3E5}"/>
              </a:ext>
            </a:extLst>
          </p:cNvPr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4" name="TextBox 3"/>
          <p:cNvSpPr txBox="1"/>
          <p:nvPr/>
        </p:nvSpPr>
        <p:spPr>
          <a:xfrm>
            <a:off x="411480" y="10384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sz="2400" dirty="0"/>
              <a:t>Transfer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7574"/>
            <a:ext cx="6858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rPr sz="1050" dirty="0"/>
              <a:t>Pre-training gives the foundation. Fine-tuning makes it yours.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75181"/>
            <a:ext cx="8298180" cy="2057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12B0E42-3D11-7FE2-6929-A847F1EACA63}"/>
              </a:ext>
            </a:extLst>
          </p:cNvPr>
          <p:cNvGrpSpPr/>
          <p:nvPr/>
        </p:nvGrpSpPr>
        <p:grpSpPr>
          <a:xfrm>
            <a:off x="411480" y="1046631"/>
            <a:ext cx="3909060" cy="1817370"/>
            <a:chOff x="411480" y="1046631"/>
            <a:chExt cx="3909060" cy="1817370"/>
          </a:xfrm>
        </p:grpSpPr>
        <p:sp>
          <p:nvSpPr>
            <p:cNvPr id="7" name="TextBox 6"/>
            <p:cNvSpPr txBox="1"/>
            <p:nvPr/>
          </p:nvSpPr>
          <p:spPr>
            <a:xfrm>
              <a:off x="411480" y="1046631"/>
              <a:ext cx="342900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A78BFA"/>
                  </a:solidFill>
                  <a:latin typeface="Segoe UI"/>
                </a:defRPr>
              </a:pPr>
              <a:r>
                <a:rPr sz="900"/>
                <a:t>THE TWO PHASES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11480" y="1389531"/>
              <a:ext cx="3909060" cy="1474470"/>
            </a:xfrm>
            <a:prstGeom prst="roundRect">
              <a:avLst>
                <a:gd name="adj" fmla="val 3000"/>
              </a:avLst>
            </a:prstGeom>
            <a:solidFill>
              <a:srgbClr val="1E293B"/>
            </a:solidFill>
            <a:ln w="19050">
              <a:solidFill>
                <a:srgbClr val="3B82F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411480" y="1389531"/>
              <a:ext cx="3909060" cy="27432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617220" y="1512975"/>
              <a:ext cx="1783080" cy="205740"/>
            </a:xfrm>
            <a:prstGeom prst="roundRect">
              <a:avLst>
                <a:gd name="adj" fmla="val 40000"/>
              </a:avLst>
            </a:prstGeom>
            <a:solidFill>
              <a:srgbClr val="3B8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PHASE 1: PRE-TRAINING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17220" y="1801011"/>
              <a:ext cx="3497580" cy="9361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225"/>
                </a:spcAft>
                <a:defRPr sz="1200" b="0">
                  <a:solidFill>
                    <a:srgbClr val="B0B8C8"/>
                  </a:solidFill>
                  <a:latin typeface="Segoe UI"/>
                </a:defRPr>
              </a:pPr>
              <a:r>
                <a:rPr sz="900"/>
                <a:t>Done by Google / Meta / OpenAI</a:t>
              </a:r>
            </a:p>
            <a:p>
              <a:pPr>
                <a:spcAft>
                  <a:spcPts val="225"/>
                </a:spcAft>
                <a:defRPr sz="600" b="0">
                  <a:solidFill>
                    <a:srgbClr val="B0B8C8"/>
                  </a:solidFill>
                  <a:latin typeface="Segoe UI"/>
                </a:defRPr>
              </a:pPr>
              <a:endParaRPr sz="450"/>
            </a:p>
            <a:p>
              <a:pPr>
                <a:spcAft>
                  <a:spcPts val="225"/>
                </a:spcAft>
                <a:defRPr sz="1100" b="0">
                  <a:solidFill>
                    <a:srgbClr val="FFFFFF"/>
                  </a:solidFill>
                  <a:latin typeface="Segoe UI"/>
                </a:defRPr>
              </a:pPr>
              <a:r>
                <a:rPr sz="825"/>
                <a:t>📚  800 GB of web text (C4 corpus)</a:t>
              </a:r>
            </a:p>
            <a:p>
              <a:pPr>
                <a:spcAft>
                  <a:spcPts val="225"/>
                </a:spcAft>
                <a:defRPr sz="1100" b="0">
                  <a:solidFill>
                    <a:srgbClr val="FFFFFF"/>
                  </a:solidFill>
                  <a:latin typeface="Segoe UI"/>
                </a:defRPr>
              </a:pPr>
              <a:r>
                <a:rPr sz="825"/>
                <a:t>⏱️  Weeks of training on 1,000+ GPUs</a:t>
              </a:r>
            </a:p>
            <a:p>
              <a:pPr>
                <a:spcAft>
                  <a:spcPts val="225"/>
                </a:spcAft>
                <a:defRPr sz="1100" b="0">
                  <a:solidFill>
                    <a:srgbClr val="FFFFFF"/>
                  </a:solidFill>
                  <a:latin typeface="Segoe UI"/>
                </a:defRPr>
              </a:pPr>
              <a:r>
                <a:rPr sz="825"/>
                <a:t>💰  Costs millions of dollars</a:t>
              </a:r>
            </a:p>
            <a:p>
              <a:pPr>
                <a:spcAft>
                  <a:spcPts val="225"/>
                </a:spcAft>
                <a:defRPr sz="1100" b="1">
                  <a:solidFill>
                    <a:srgbClr val="3B82F6"/>
                  </a:solidFill>
                  <a:latin typeface="Segoe UI"/>
                </a:defRPr>
              </a:pPr>
              <a:r>
                <a:rPr sz="825"/>
                <a:t>🎯  Result: General language understanding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FA677B1-51DE-EB6B-F0B3-DBB18761E105}"/>
              </a:ext>
            </a:extLst>
          </p:cNvPr>
          <p:cNvGrpSpPr/>
          <p:nvPr/>
        </p:nvGrpSpPr>
        <p:grpSpPr>
          <a:xfrm>
            <a:off x="411480" y="2966871"/>
            <a:ext cx="3909060" cy="1900526"/>
            <a:chOff x="411480" y="2966871"/>
            <a:chExt cx="3909060" cy="1900526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2E061FC5-7DF8-D31E-5BE1-8A3844F21BB6}"/>
                </a:ext>
              </a:extLst>
            </p:cNvPr>
            <p:cNvGrpSpPr/>
            <p:nvPr/>
          </p:nvGrpSpPr>
          <p:grpSpPr>
            <a:xfrm>
              <a:off x="1497330" y="2966871"/>
              <a:ext cx="1440180" cy="390906"/>
              <a:chOff x="1577340" y="3084317"/>
              <a:chExt cx="1440180" cy="390906"/>
            </a:xfrm>
          </p:grpSpPr>
          <p:sp>
            <p:nvSpPr>
              <p:cNvPr id="12" name="Rectangle 11"/>
              <p:cNvSpPr/>
              <p:nvPr/>
            </p:nvSpPr>
            <p:spPr>
              <a:xfrm>
                <a:off x="2125980" y="3084317"/>
                <a:ext cx="342900" cy="205740"/>
              </a:xfrm>
              <a:prstGeom prst="rect">
                <a:avLst/>
              </a:prstGeom>
              <a:solidFill>
                <a:srgbClr val="A78B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1577340" y="3152058"/>
                <a:ext cx="1440180" cy="3231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2000" b="1">
                    <a:solidFill>
                      <a:srgbClr val="A78BFA"/>
                    </a:solidFill>
                    <a:latin typeface="Segoe UI"/>
                  </a:defRPr>
                </a:pPr>
                <a:r>
                  <a:rPr sz="1500" dirty="0"/>
                  <a:t>▼</a:t>
                </a:r>
              </a:p>
            </p:txBody>
          </p:sp>
        </p:grpSp>
        <p:sp>
          <p:nvSpPr>
            <p:cNvPr id="14" name="Rounded Rectangle 13"/>
            <p:cNvSpPr/>
            <p:nvPr/>
          </p:nvSpPr>
          <p:spPr>
            <a:xfrm>
              <a:off x="411480" y="3392927"/>
              <a:ext cx="3909060" cy="1474470"/>
            </a:xfrm>
            <a:prstGeom prst="roundRect">
              <a:avLst>
                <a:gd name="adj" fmla="val 3000"/>
              </a:avLst>
            </a:prstGeom>
            <a:solidFill>
              <a:srgbClr val="1E293B"/>
            </a:solidFill>
            <a:ln w="19050">
              <a:solidFill>
                <a:srgbClr val="22C55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411480" y="3392927"/>
              <a:ext cx="3909060" cy="27432"/>
            </a:xfrm>
            <a:prstGeom prst="rect">
              <a:avLst/>
            </a:prstGeom>
            <a:solidFill>
              <a:srgbClr val="22C55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617220" y="3516371"/>
              <a:ext cx="1783080" cy="205740"/>
            </a:xfrm>
            <a:prstGeom prst="roundRect">
              <a:avLst>
                <a:gd name="adj" fmla="val 40000"/>
              </a:avLst>
            </a:prstGeom>
            <a:solidFill>
              <a:srgbClr val="22C55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PHASE 2: FINE-TUNING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17220" y="3804407"/>
              <a:ext cx="3497580" cy="9361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225"/>
                </a:spcAft>
                <a:defRPr sz="1200" b="0">
                  <a:solidFill>
                    <a:srgbClr val="B0B8C8"/>
                  </a:solidFill>
                  <a:latin typeface="Segoe UI"/>
                </a:defRPr>
              </a:pPr>
              <a:r>
                <a:rPr sz="900" dirty="0"/>
                <a:t>Done by YOU, today in Lab 2!</a:t>
              </a:r>
            </a:p>
            <a:p>
              <a:pPr>
                <a:spcAft>
                  <a:spcPts val="225"/>
                </a:spcAft>
                <a:defRPr sz="600" b="0">
                  <a:solidFill>
                    <a:srgbClr val="B0B8C8"/>
                  </a:solidFill>
                  <a:latin typeface="Segoe UI"/>
                </a:defRPr>
              </a:pPr>
              <a:endParaRPr sz="450" dirty="0"/>
            </a:p>
            <a:p>
              <a:pPr>
                <a:spcAft>
                  <a:spcPts val="225"/>
                </a:spcAft>
                <a:defRPr sz="1100" b="0">
                  <a:solidFill>
                    <a:srgbClr val="FFFFFF"/>
                  </a:solidFill>
                  <a:latin typeface="Segoe UI"/>
                </a:defRPr>
              </a:pPr>
              <a:r>
                <a:rPr sz="825" dirty="0"/>
                <a:t>📄  2,000 examples from CNN/</a:t>
              </a:r>
              <a:r>
                <a:rPr sz="825" dirty="0" err="1"/>
                <a:t>DailyMail</a:t>
              </a:r>
              <a:endParaRPr sz="825" dirty="0"/>
            </a:p>
            <a:p>
              <a:pPr>
                <a:spcAft>
                  <a:spcPts val="225"/>
                </a:spcAft>
                <a:defRPr sz="1100" b="0">
                  <a:solidFill>
                    <a:srgbClr val="FFFFFF"/>
                  </a:solidFill>
                  <a:latin typeface="Segoe UI"/>
                </a:defRPr>
              </a:pPr>
              <a:r>
                <a:rPr sz="825" dirty="0"/>
                <a:t>⏱️  ~15 minutes on 1 free </a:t>
              </a:r>
              <a:r>
                <a:rPr sz="825" dirty="0" err="1"/>
                <a:t>Colab</a:t>
              </a:r>
              <a:r>
                <a:rPr sz="825" dirty="0"/>
                <a:t> GPU</a:t>
              </a:r>
            </a:p>
            <a:p>
              <a:pPr>
                <a:spcAft>
                  <a:spcPts val="225"/>
                </a:spcAft>
                <a:defRPr sz="1100" b="0">
                  <a:solidFill>
                    <a:srgbClr val="FFFFFF"/>
                  </a:solidFill>
                  <a:latin typeface="Segoe UI"/>
                </a:defRPr>
              </a:pPr>
              <a:r>
                <a:rPr sz="825" dirty="0"/>
                <a:t>💰  Costs $0 (</a:t>
              </a:r>
              <a:r>
                <a:rPr sz="825" dirty="0" err="1"/>
                <a:t>Colab</a:t>
              </a:r>
              <a:r>
                <a:rPr sz="825" dirty="0"/>
                <a:t> is free!)</a:t>
              </a:r>
            </a:p>
            <a:p>
              <a:pPr>
                <a:spcAft>
                  <a:spcPts val="225"/>
                </a:spcAft>
                <a:defRPr sz="1100" b="1">
                  <a:solidFill>
                    <a:srgbClr val="22C55E"/>
                  </a:solidFill>
                  <a:latin typeface="Segoe UI"/>
                </a:defRPr>
              </a:pPr>
              <a:r>
                <a:rPr sz="825" dirty="0"/>
                <a:t>🎯  Result: Task-specific summarizer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8B3C2516-7D7B-F56B-4620-BC1B6416A095}"/>
              </a:ext>
            </a:extLst>
          </p:cNvPr>
          <p:cNvGrpSpPr/>
          <p:nvPr/>
        </p:nvGrpSpPr>
        <p:grpSpPr>
          <a:xfrm>
            <a:off x="4594860" y="1389531"/>
            <a:ext cx="4046220" cy="1190952"/>
            <a:chOff x="4594860" y="1389531"/>
            <a:chExt cx="4046220" cy="1190952"/>
          </a:xfrm>
        </p:grpSpPr>
        <p:sp>
          <p:nvSpPr>
            <p:cNvPr id="18" name="Rounded Rectangle 17"/>
            <p:cNvSpPr/>
            <p:nvPr/>
          </p:nvSpPr>
          <p:spPr>
            <a:xfrm>
              <a:off x="4594860" y="1389531"/>
              <a:ext cx="4046220" cy="1190952"/>
            </a:xfrm>
            <a:prstGeom prst="roundRect">
              <a:avLst>
                <a:gd name="adj" fmla="val 3000"/>
              </a:avLst>
            </a:prstGeom>
            <a:solidFill>
              <a:srgbClr val="162033"/>
            </a:solidFill>
            <a:ln w="19050">
              <a:solidFill>
                <a:srgbClr val="F59E0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594860" y="1389531"/>
              <a:ext cx="4046220" cy="27432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4800600" y="1492401"/>
              <a:ext cx="1028700" cy="192024"/>
            </a:xfrm>
            <a:prstGeom prst="roundRect">
              <a:avLst>
                <a:gd name="adj" fmla="val 40000"/>
              </a:avLst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💡 ANALOGY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800600" y="1766721"/>
              <a:ext cx="3634740" cy="79508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225"/>
                </a:spcAft>
                <a:defRPr sz="1200" b="1">
                  <a:solidFill>
                    <a:srgbClr val="FFFFFF"/>
                  </a:solidFill>
                  <a:latin typeface="Segoe UI"/>
                </a:defRPr>
              </a:pPr>
              <a:r>
                <a:rPr sz="900" dirty="0"/>
                <a:t>Pre-training = Going to university for 4 years</a:t>
              </a:r>
            </a:p>
            <a:p>
              <a:pPr>
                <a:spcAft>
                  <a:spcPts val="225"/>
                </a:spcAft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 dirty="0"/>
                <a:t>You learn to read, write, reason, understand the world.</a:t>
              </a:r>
            </a:p>
            <a:p>
              <a:pPr>
                <a:spcAft>
                  <a:spcPts val="225"/>
                </a:spcAft>
                <a:defRPr sz="600" b="0">
                  <a:solidFill>
                    <a:srgbClr val="B0B8C8"/>
                  </a:solidFill>
                  <a:latin typeface="Segoe UI"/>
                </a:defRPr>
              </a:pPr>
              <a:endParaRPr sz="450" dirty="0"/>
            </a:p>
            <a:p>
              <a:pPr>
                <a:spcAft>
                  <a:spcPts val="225"/>
                </a:spcAft>
                <a:defRPr sz="1200" b="1">
                  <a:solidFill>
                    <a:srgbClr val="FFFFFF"/>
                  </a:solidFill>
                  <a:latin typeface="Segoe UI"/>
                </a:defRPr>
              </a:pPr>
              <a:r>
                <a:rPr sz="900" dirty="0"/>
                <a:t>Fine-tuning = A 2-week job orientation</a:t>
              </a:r>
            </a:p>
            <a:p>
              <a:pPr>
                <a:spcAft>
                  <a:spcPts val="225"/>
                </a:spcAft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 dirty="0"/>
                <a:t>You learn the specific skills and style for YOUR job.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8FDED6F3-A45E-13AD-0420-CB20F861F6DD}"/>
              </a:ext>
            </a:extLst>
          </p:cNvPr>
          <p:cNvGrpSpPr/>
          <p:nvPr/>
        </p:nvGrpSpPr>
        <p:grpSpPr>
          <a:xfrm>
            <a:off x="4594860" y="3100062"/>
            <a:ext cx="4046220" cy="1774691"/>
            <a:chOff x="4594860" y="2623971"/>
            <a:chExt cx="4046220" cy="1774691"/>
          </a:xfrm>
        </p:grpSpPr>
        <p:sp>
          <p:nvSpPr>
            <p:cNvPr id="22" name="TextBox 21"/>
            <p:cNvSpPr txBox="1"/>
            <p:nvPr/>
          </p:nvSpPr>
          <p:spPr>
            <a:xfrm>
              <a:off x="4594860" y="2623971"/>
              <a:ext cx="404622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A78BFA"/>
                  </a:solidFill>
                  <a:latin typeface="Segoe UI"/>
                </a:defRPr>
              </a:pPr>
              <a:r>
                <a:rPr sz="900"/>
                <a:t>THE NUMBERS — Why Transfer Learning Wins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4594860" y="2889902"/>
              <a:ext cx="4046220" cy="274320"/>
            </a:xfrm>
            <a:prstGeom prst="roundRect">
              <a:avLst>
                <a:gd name="adj" fmla="val 2000"/>
              </a:avLst>
            </a:prstGeom>
            <a:solidFill>
              <a:srgbClr val="A78B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697730" y="2924192"/>
              <a:ext cx="130302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1">
                  <a:solidFill>
                    <a:srgbClr val="FFFFFF"/>
                  </a:solidFill>
                  <a:latin typeface="Segoe UI"/>
                </a:defRPr>
              </a:pPr>
              <a:r>
                <a:rPr sz="750"/>
                <a:t>Scenario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035040" y="2924192"/>
              <a:ext cx="78867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1">
                  <a:solidFill>
                    <a:srgbClr val="FFFFFF"/>
                  </a:solidFill>
                  <a:latin typeface="Segoe UI"/>
                </a:defRPr>
              </a:pPr>
              <a:r>
                <a:rPr sz="750"/>
                <a:t>Data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858000" y="2924192"/>
              <a:ext cx="78867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1">
                  <a:solidFill>
                    <a:srgbClr val="FFFFFF"/>
                  </a:solidFill>
                  <a:latin typeface="Segoe UI"/>
                </a:defRPr>
              </a:pPr>
              <a:r>
                <a:rPr sz="750"/>
                <a:t>Time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680960" y="2924192"/>
              <a:ext cx="8229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1">
                  <a:solidFill>
                    <a:srgbClr val="FFFFFF"/>
                  </a:solidFill>
                  <a:latin typeface="Segoe UI"/>
                </a:defRPr>
              </a:pPr>
              <a:r>
                <a:rPr sz="750"/>
                <a:t>Quality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4594860" y="3198512"/>
              <a:ext cx="4046220" cy="377190"/>
            </a:xfrm>
            <a:prstGeom prst="roundRect">
              <a:avLst>
                <a:gd name="adj" fmla="val 2000"/>
              </a:avLst>
            </a:prstGeom>
            <a:solidFill>
              <a:srgbClr val="1620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697730" y="3253376"/>
              <a:ext cx="130302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FFFFFF"/>
                  </a:solidFill>
                  <a:latin typeface="Segoe UI"/>
                </a:defRPr>
              </a:pPr>
              <a:r>
                <a:rPr sz="750"/>
                <a:t>Train from Scratch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035040" y="3253376"/>
              <a:ext cx="78867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FFFFFF"/>
                  </a:solidFill>
                  <a:latin typeface="Segoe UI"/>
                </a:defRPr>
              </a:pPr>
              <a:r>
                <a:rPr sz="750"/>
                <a:t>287K articles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858000" y="3253376"/>
              <a:ext cx="788670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FFFFFF"/>
                  </a:solidFill>
                  <a:latin typeface="Segoe UI"/>
                </a:defRPr>
              </a:pPr>
              <a:r>
                <a:rPr sz="750"/>
                <a:t>3 days / 8 GPUs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680960" y="3253376"/>
              <a:ext cx="8229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3B82F6"/>
                  </a:solidFill>
                  <a:latin typeface="Segoe UI"/>
                </a:defRPr>
              </a:pPr>
              <a:r>
                <a:rPr sz="750"/>
                <a:t>Good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4594860" y="3609992"/>
              <a:ext cx="4046220" cy="377190"/>
            </a:xfrm>
            <a:prstGeom prst="roundRect">
              <a:avLst>
                <a:gd name="adj" fmla="val 2000"/>
              </a:avLst>
            </a:prstGeom>
            <a:solidFill>
              <a:srgbClr val="1E293B"/>
            </a:solidFill>
            <a:ln w="19050">
              <a:solidFill>
                <a:srgbClr val="22C55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697730" y="3664856"/>
              <a:ext cx="130302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1">
                  <a:solidFill>
                    <a:srgbClr val="22C55E"/>
                  </a:solidFill>
                  <a:latin typeface="Segoe UI"/>
                </a:defRPr>
              </a:pPr>
              <a:r>
                <a:rPr sz="750"/>
                <a:t>Fine-tune Pre-trained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035040" y="3664856"/>
              <a:ext cx="78867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1">
                  <a:solidFill>
                    <a:srgbClr val="22C55E"/>
                  </a:solidFill>
                  <a:latin typeface="Segoe UI"/>
                </a:defRPr>
              </a:pPr>
              <a:r>
                <a:rPr sz="750"/>
                <a:t>2K articles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858000" y="3664856"/>
              <a:ext cx="788670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1">
                  <a:solidFill>
                    <a:srgbClr val="22C55E"/>
                  </a:solidFill>
                  <a:latin typeface="Segoe UI"/>
                </a:defRPr>
              </a:pPr>
              <a:r>
                <a:rPr sz="750"/>
                <a:t>15 min / 1 GPU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680960" y="3664856"/>
              <a:ext cx="822960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1">
                  <a:solidFill>
                    <a:srgbClr val="22C55E"/>
                  </a:solidFill>
                  <a:latin typeface="Segoe UI"/>
                </a:defRPr>
              </a:pPr>
              <a:r>
                <a:rPr sz="750"/>
                <a:t>Nearly as good!</a:t>
              </a: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4594860" y="4021472"/>
              <a:ext cx="4046220" cy="377190"/>
            </a:xfrm>
            <a:prstGeom prst="roundRect">
              <a:avLst>
                <a:gd name="adj" fmla="val 2000"/>
              </a:avLst>
            </a:prstGeom>
            <a:solidFill>
              <a:srgbClr val="1620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697730" y="4076336"/>
              <a:ext cx="130302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FFFFFF"/>
                  </a:solidFill>
                  <a:latin typeface="Segoe UI"/>
                </a:defRPr>
              </a:pPr>
              <a:r>
                <a:rPr sz="750"/>
                <a:t>Pre-trained Only (Lab 1)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035040" y="4076336"/>
              <a:ext cx="78867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FFFFFF"/>
                  </a:solidFill>
                  <a:latin typeface="Segoe UI"/>
                </a:defRPr>
              </a:pPr>
              <a:r>
                <a:rPr sz="750"/>
                <a:t>0 articles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858000" y="4076336"/>
              <a:ext cx="78867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FFFFFF"/>
                  </a:solidFill>
                  <a:latin typeface="Segoe UI"/>
                </a:defRPr>
              </a:pPr>
              <a:r>
                <a:rPr sz="750"/>
                <a:t>0 minutes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7680960" y="4076336"/>
              <a:ext cx="8229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F59E0B"/>
                  </a:solidFill>
                  <a:latin typeface="Segoe UI"/>
                </a:defRPr>
              </a:pPr>
              <a:r>
                <a:rPr sz="750"/>
                <a:t>OK, not great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F9FA12F9-93BE-C8DA-2A2E-4C2B8A8BB99C}"/>
              </a:ext>
            </a:extLst>
          </p:cNvPr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4" name="TextBox 3"/>
          <p:cNvSpPr txBox="1"/>
          <p:nvPr/>
        </p:nvSpPr>
        <p:spPr>
          <a:xfrm>
            <a:off x="411480" y="9197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sz="2400" dirty="0"/>
              <a:t>What the Pre-trained Model Already Knows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6387"/>
            <a:ext cx="6858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rPr sz="1050" dirty="0"/>
              <a:t>T5 was trained on </a:t>
            </a:r>
            <a:r>
              <a:rPr lang="en-IN" sz="1050" dirty="0"/>
              <a:t>80</a:t>
            </a:r>
            <a:r>
              <a:rPr sz="1050" dirty="0"/>
              <a:t>0 GB of text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33529B45-338A-FF50-ACFE-FCCA1AD67C1E}"/>
              </a:ext>
            </a:extLst>
          </p:cNvPr>
          <p:cNvGrpSpPr/>
          <p:nvPr/>
        </p:nvGrpSpPr>
        <p:grpSpPr>
          <a:xfrm>
            <a:off x="411480" y="1080187"/>
            <a:ext cx="3909060" cy="3188970"/>
            <a:chOff x="411480" y="1080187"/>
            <a:chExt cx="3909060" cy="3188970"/>
          </a:xfrm>
        </p:grpSpPr>
        <p:sp>
          <p:nvSpPr>
            <p:cNvPr id="7" name="TextBox 6"/>
            <p:cNvSpPr txBox="1"/>
            <p:nvPr/>
          </p:nvSpPr>
          <p:spPr>
            <a:xfrm>
              <a:off x="411480" y="1080187"/>
              <a:ext cx="377190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A78BFA"/>
                  </a:solidFill>
                  <a:latin typeface="Segoe UI"/>
                </a:defRPr>
              </a:pPr>
              <a:r>
                <a:rPr sz="900"/>
                <a:t>WHAT EACH LAYER LEARNED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11480" y="1388797"/>
              <a:ext cx="3909060" cy="891540"/>
            </a:xfrm>
            <a:prstGeom prst="roundRect">
              <a:avLst>
                <a:gd name="adj" fmla="val 3000"/>
              </a:avLst>
            </a:prstGeom>
            <a:solidFill>
              <a:srgbClr val="1E293B"/>
            </a:solidFill>
            <a:ln w="19050">
              <a:solidFill>
                <a:srgbClr val="A78BF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411480" y="1388797"/>
              <a:ext cx="41148" cy="891540"/>
            </a:xfrm>
            <a:prstGeom prst="rect">
              <a:avLst/>
            </a:prstGeom>
            <a:solidFill>
              <a:srgbClr val="A78B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82930" y="1471093"/>
              <a:ext cx="356616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400" b="1">
                  <a:solidFill>
                    <a:srgbClr val="A78BFA"/>
                  </a:solidFill>
                  <a:latin typeface="Segoe UI"/>
                </a:defRPr>
              </a:pPr>
              <a:r>
                <a:rPr sz="1050"/>
                <a:t>🧠  Upper Layers (5-6)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82930" y="1697407"/>
              <a:ext cx="356616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0">
                  <a:solidFill>
                    <a:srgbClr val="FFFFFF"/>
                  </a:solidFill>
                  <a:latin typeface="Segoe UI"/>
                </a:defRPr>
              </a:pPr>
              <a:r>
                <a:rPr sz="900"/>
                <a:t>Task patterns, reasoning, abstraction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82930" y="1923722"/>
              <a:ext cx="356616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0">
                  <a:solidFill>
                    <a:srgbClr val="94A3B8"/>
                  </a:solidFill>
                  <a:latin typeface="Segoe UI"/>
                </a:defRPr>
              </a:pPr>
              <a:r>
                <a:rPr sz="825"/>
                <a:t>Example: How to summarize, paraphrase, answer questions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411480" y="2383207"/>
              <a:ext cx="3909060" cy="891540"/>
            </a:xfrm>
            <a:prstGeom prst="roundRect">
              <a:avLst>
                <a:gd name="adj" fmla="val 3000"/>
              </a:avLst>
            </a:prstGeom>
            <a:solidFill>
              <a:srgbClr val="1E293B"/>
            </a:solidFill>
            <a:ln w="19050">
              <a:solidFill>
                <a:srgbClr val="3B82F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11480" y="2383207"/>
              <a:ext cx="41148" cy="891540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82930" y="2465503"/>
              <a:ext cx="356616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400" b="1">
                  <a:solidFill>
                    <a:srgbClr val="3B82F6"/>
                  </a:solidFill>
                  <a:latin typeface="Segoe UI"/>
                </a:defRPr>
              </a:pPr>
              <a:r>
                <a:rPr sz="1050"/>
                <a:t>💡  Middle Layers (3-4)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82930" y="2691817"/>
              <a:ext cx="356616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0">
                  <a:solidFill>
                    <a:srgbClr val="FFFFFF"/>
                  </a:solidFill>
                  <a:latin typeface="Segoe UI"/>
                </a:defRPr>
              </a:pPr>
              <a:r>
                <a:rPr sz="900"/>
                <a:t>Semantics, meaning, relationships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82930" y="2918132"/>
              <a:ext cx="356616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0">
                  <a:solidFill>
                    <a:srgbClr val="94A3B8"/>
                  </a:solidFill>
                  <a:latin typeface="Segoe UI"/>
                </a:defRPr>
              </a:pPr>
              <a:r>
                <a:rPr sz="825"/>
                <a:t>Example: "bank" near "river" ≠ "bank" near "money"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411480" y="3377617"/>
              <a:ext cx="3909060" cy="891540"/>
            </a:xfrm>
            <a:prstGeom prst="roundRect">
              <a:avLst>
                <a:gd name="adj" fmla="val 3000"/>
              </a:avLst>
            </a:prstGeom>
            <a:solidFill>
              <a:srgbClr val="1E293B"/>
            </a:solidFill>
            <a:ln w="19050">
              <a:solidFill>
                <a:srgbClr val="14B8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11480" y="3377617"/>
              <a:ext cx="41148" cy="891540"/>
            </a:xfrm>
            <a:prstGeom prst="rect">
              <a:avLst/>
            </a:prstGeom>
            <a:solidFill>
              <a:srgbClr val="14B8A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82930" y="3459913"/>
              <a:ext cx="356616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400" b="1">
                  <a:solidFill>
                    <a:srgbClr val="14B8A6"/>
                  </a:solidFill>
                  <a:latin typeface="Segoe UI"/>
                </a:defRPr>
              </a:pPr>
              <a:r>
                <a:rPr sz="1050"/>
                <a:t>📝  Lower Layers (1-2)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82930" y="3686227"/>
              <a:ext cx="356616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0">
                  <a:solidFill>
                    <a:srgbClr val="FFFFFF"/>
                  </a:solidFill>
                  <a:latin typeface="Segoe UI"/>
                </a:defRPr>
              </a:pPr>
              <a:r>
                <a:rPr sz="900"/>
                <a:t>Syntax, grammar, word order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82930" y="3912542"/>
              <a:ext cx="356616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0">
                  <a:solidFill>
                    <a:srgbClr val="94A3B8"/>
                  </a:solidFill>
                  <a:latin typeface="Segoe UI"/>
                </a:defRPr>
              </a:pPr>
              <a:r>
                <a:rPr sz="825"/>
                <a:t>Example: Subject-verb agreement, sentence structure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4A2F2833-BFC9-E3D4-F509-57772DC322A5}"/>
              </a:ext>
            </a:extLst>
          </p:cNvPr>
          <p:cNvGrpSpPr/>
          <p:nvPr/>
        </p:nvGrpSpPr>
        <p:grpSpPr>
          <a:xfrm>
            <a:off x="4594860" y="669126"/>
            <a:ext cx="4046220" cy="1680210"/>
            <a:chOff x="4594860" y="669126"/>
            <a:chExt cx="4046220" cy="1680210"/>
          </a:xfrm>
        </p:grpSpPr>
        <p:sp>
          <p:nvSpPr>
            <p:cNvPr id="23" name="TextBox 22"/>
            <p:cNvSpPr txBox="1"/>
            <p:nvPr/>
          </p:nvSpPr>
          <p:spPr>
            <a:xfrm>
              <a:off x="4594860" y="669126"/>
              <a:ext cx="377190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A78BFA"/>
                  </a:solidFill>
                  <a:latin typeface="Segoe UI"/>
                </a:defRPr>
              </a:pPr>
              <a:r>
                <a:rPr sz="900"/>
                <a:t>BEFORE vs AFTER FINE-TUNING</a:t>
              </a:r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965289AA-3BDE-BED1-4E45-520E57DEA524}"/>
                </a:ext>
              </a:extLst>
            </p:cNvPr>
            <p:cNvGrpSpPr/>
            <p:nvPr/>
          </p:nvGrpSpPr>
          <p:grpSpPr>
            <a:xfrm>
              <a:off x="4594860" y="977736"/>
              <a:ext cx="4046220" cy="1371600"/>
              <a:chOff x="4594860" y="977736"/>
              <a:chExt cx="4046220" cy="1371600"/>
            </a:xfrm>
          </p:grpSpPr>
          <p:sp>
            <p:nvSpPr>
              <p:cNvPr id="24" name="Rounded Rectangle 23"/>
              <p:cNvSpPr/>
              <p:nvPr/>
            </p:nvSpPr>
            <p:spPr>
              <a:xfrm>
                <a:off x="4594860" y="977736"/>
                <a:ext cx="4046220" cy="1371600"/>
              </a:xfrm>
              <a:prstGeom prst="roundRect">
                <a:avLst>
                  <a:gd name="adj" fmla="val 3000"/>
                </a:avLst>
              </a:prstGeom>
              <a:solidFill>
                <a:srgbClr val="1E293B"/>
              </a:solidFill>
              <a:ln w="19050">
                <a:solidFill>
                  <a:srgbClr val="22C55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25" name="Rectangle 24"/>
              <p:cNvSpPr/>
              <p:nvPr/>
            </p:nvSpPr>
            <p:spPr>
              <a:xfrm>
                <a:off x="4594860" y="977736"/>
                <a:ext cx="4046220" cy="27432"/>
              </a:xfrm>
              <a:prstGeom prst="rect">
                <a:avLst/>
              </a:prstGeom>
              <a:solidFill>
                <a:srgbClr val="22C55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26" name="Rounded Rectangle 25"/>
              <p:cNvSpPr/>
              <p:nvPr/>
            </p:nvSpPr>
            <p:spPr>
              <a:xfrm>
                <a:off x="4732020" y="1080606"/>
                <a:ext cx="2194560" cy="192024"/>
              </a:xfrm>
              <a:prstGeom prst="roundRect">
                <a:avLst>
                  <a:gd name="adj" fmla="val 40000"/>
                </a:avLst>
              </a:prstGeom>
              <a:solidFill>
                <a:srgbClr val="22C55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>
                  <a:defRPr sz="900" b="1">
                    <a:solidFill>
                      <a:srgbClr val="FFFFFF"/>
                    </a:solidFill>
                    <a:latin typeface="Segoe UI"/>
                  </a:defRPr>
                </a:pPr>
                <a:r>
                  <a:rPr sz="675"/>
                  <a:t>✅  ALREADY KNOWS (Pre-trained)</a:t>
                </a:r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4800600" y="1354926"/>
                <a:ext cx="3634740" cy="6771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225"/>
                  </a:spcAft>
                  <a:defRPr sz="1100" b="0">
                    <a:solidFill>
                      <a:srgbClr val="FFFFFF"/>
                    </a:solidFill>
                    <a:latin typeface="Segoe UI"/>
                  </a:defRPr>
                </a:pPr>
                <a:r>
                  <a:rPr sz="825"/>
                  <a:t>  ✓  English grammar and syntax</a:t>
                </a:r>
              </a:p>
              <a:p>
                <a:pPr>
                  <a:spcAft>
                    <a:spcPts val="225"/>
                  </a:spcAft>
                  <a:defRPr sz="1100" b="0">
                    <a:solidFill>
                      <a:srgbClr val="FFFFFF"/>
                    </a:solidFill>
                    <a:latin typeface="Segoe UI"/>
                  </a:defRPr>
                </a:pPr>
                <a:r>
                  <a:rPr sz="825"/>
                  <a:t>  ✓  Word meanings and relationships</a:t>
                </a:r>
              </a:p>
              <a:p>
                <a:pPr>
                  <a:spcAft>
                    <a:spcPts val="225"/>
                  </a:spcAft>
                  <a:defRPr sz="1100" b="0">
                    <a:solidFill>
                      <a:srgbClr val="FFFFFF"/>
                    </a:solidFill>
                    <a:latin typeface="Segoe UI"/>
                  </a:defRPr>
                </a:pPr>
                <a:r>
                  <a:rPr sz="825"/>
                  <a:t>  ✓  How to generate fluent text</a:t>
                </a:r>
              </a:p>
              <a:p>
                <a:pPr>
                  <a:spcAft>
                    <a:spcPts val="225"/>
                  </a:spcAft>
                  <a:defRPr sz="1100" b="0">
                    <a:solidFill>
                      <a:srgbClr val="FFFFFF"/>
                    </a:solidFill>
                    <a:latin typeface="Segoe UI"/>
                  </a:defRPr>
                </a:pPr>
                <a:r>
                  <a:rPr sz="825"/>
                  <a:t>  ✓  Basic summarization from pre-training</a:t>
                </a:r>
              </a:p>
            </p:txBody>
          </p:sp>
        </p:grp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9565FC29-0338-191C-490E-BA4EF790E051}"/>
              </a:ext>
            </a:extLst>
          </p:cNvPr>
          <p:cNvGrpSpPr/>
          <p:nvPr/>
        </p:nvGrpSpPr>
        <p:grpSpPr>
          <a:xfrm>
            <a:off x="4594860" y="2486496"/>
            <a:ext cx="4046220" cy="1097280"/>
            <a:chOff x="4594860" y="2486496"/>
            <a:chExt cx="4046220" cy="1097280"/>
          </a:xfrm>
        </p:grpSpPr>
        <p:sp>
          <p:nvSpPr>
            <p:cNvPr id="28" name="Rounded Rectangle 27"/>
            <p:cNvSpPr/>
            <p:nvPr/>
          </p:nvSpPr>
          <p:spPr>
            <a:xfrm>
              <a:off x="4594860" y="2486496"/>
              <a:ext cx="4046220" cy="1097280"/>
            </a:xfrm>
            <a:prstGeom prst="roundRect">
              <a:avLst>
                <a:gd name="adj" fmla="val 3000"/>
              </a:avLst>
            </a:prstGeom>
            <a:solidFill>
              <a:srgbClr val="1E293B"/>
            </a:solidFill>
            <a:ln w="19050">
              <a:solidFill>
                <a:srgbClr val="F59E0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4594860" y="2486496"/>
              <a:ext cx="4046220" cy="27432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4732020" y="2589366"/>
              <a:ext cx="2400300" cy="192024"/>
            </a:xfrm>
            <a:prstGeom prst="roundRect">
              <a:avLst>
                <a:gd name="adj" fmla="val 40000"/>
              </a:avLst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❌  NEEDS FINE-TUNING TO LEARN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800600" y="2863687"/>
              <a:ext cx="3634740" cy="52450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225"/>
                </a:spcAft>
                <a:defRPr sz="1100" b="0">
                  <a:solidFill>
                    <a:srgbClr val="FFFFFF"/>
                  </a:solidFill>
                  <a:latin typeface="Segoe UI"/>
                </a:defRPr>
              </a:pPr>
              <a:r>
                <a:rPr sz="825"/>
                <a:t>  ✗  How to summarize news articles specifically</a:t>
              </a:r>
            </a:p>
            <a:p>
              <a:pPr>
                <a:spcAft>
                  <a:spcPts val="225"/>
                </a:spcAft>
                <a:defRPr sz="1100" b="0">
                  <a:solidFill>
                    <a:srgbClr val="FFFFFF"/>
                  </a:solidFill>
                  <a:latin typeface="Segoe UI"/>
                </a:defRPr>
              </a:pPr>
              <a:r>
                <a:rPr sz="825"/>
                <a:t>  ✗  The style &amp; length of CNN/DailyMail summaries</a:t>
              </a:r>
            </a:p>
            <a:p>
              <a:pPr>
                <a:spcAft>
                  <a:spcPts val="225"/>
                </a:spcAft>
                <a:defRPr sz="1100" b="0">
                  <a:solidFill>
                    <a:srgbClr val="FFFFFF"/>
                  </a:solidFill>
                  <a:latin typeface="Segoe UI"/>
                </a:defRPr>
              </a:pPr>
              <a:r>
                <a:rPr sz="825"/>
                <a:t>  ✗  Domain-specific vocabulary and patterns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3466ECB0-55F7-4479-72B8-E3D9ABE3E5B5}"/>
              </a:ext>
            </a:extLst>
          </p:cNvPr>
          <p:cNvGrpSpPr/>
          <p:nvPr/>
        </p:nvGrpSpPr>
        <p:grpSpPr>
          <a:xfrm>
            <a:off x="4594860" y="3670602"/>
            <a:ext cx="4046220" cy="1351026"/>
            <a:chOff x="4594860" y="3720936"/>
            <a:chExt cx="4046220" cy="1351026"/>
          </a:xfrm>
        </p:grpSpPr>
        <p:sp>
          <p:nvSpPr>
            <p:cNvPr id="32" name="TextBox 31"/>
            <p:cNvSpPr txBox="1"/>
            <p:nvPr/>
          </p:nvSpPr>
          <p:spPr>
            <a:xfrm>
              <a:off x="4594860" y="3720936"/>
              <a:ext cx="404622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A78BFA"/>
                  </a:solidFill>
                  <a:latin typeface="Segoe UI"/>
                </a:defRPr>
              </a:pPr>
              <a:r>
                <a:rPr sz="900"/>
                <a:t>THREE LEVELS OF TRANSFER LEARNING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4594860" y="3960966"/>
              <a:ext cx="4046220" cy="240030"/>
            </a:xfrm>
            <a:prstGeom prst="roundRect">
              <a:avLst>
                <a:gd name="adj" fmla="val 2000"/>
              </a:avLst>
            </a:prstGeom>
            <a:solidFill>
              <a:srgbClr val="A78B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697730" y="3981540"/>
              <a:ext cx="113157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Level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863590" y="3981540"/>
              <a:ext cx="109728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What You Do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995160" y="3981540"/>
              <a:ext cx="85725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Data Needed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886700" y="3981540"/>
              <a:ext cx="68580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Cost</a:t>
              </a: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4594860" y="4235286"/>
              <a:ext cx="4046220" cy="260604"/>
            </a:xfrm>
            <a:prstGeom prst="roundRect">
              <a:avLst>
                <a:gd name="adj" fmla="val 2000"/>
              </a:avLst>
            </a:prstGeom>
            <a:solidFill>
              <a:srgbClr val="1620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 dirty="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697730" y="4262718"/>
              <a:ext cx="113157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Feature Extraction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863590" y="4262718"/>
              <a:ext cx="1097280" cy="3000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Freeze weights, new head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995160" y="4262718"/>
              <a:ext cx="85725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&lt;100 examples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7886700" y="4262718"/>
              <a:ext cx="68580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💰</a:t>
              </a: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4594860" y="4523322"/>
              <a:ext cx="4046220" cy="260604"/>
            </a:xfrm>
            <a:prstGeom prst="roundRect">
              <a:avLst>
                <a:gd name="adj" fmla="val 2000"/>
              </a:avLst>
            </a:prstGeom>
            <a:solidFill>
              <a:srgbClr val="1E29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4697730" y="4550754"/>
              <a:ext cx="113157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>
                  <a:solidFill>
                    <a:srgbClr val="22C55E"/>
                  </a:solidFill>
                  <a:latin typeface="Segoe UI"/>
                </a:defRPr>
              </a:pPr>
              <a:r>
                <a:rPr sz="675"/>
                <a:t>Full Fine-Tuning ←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863590" y="4550754"/>
              <a:ext cx="109728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>
                  <a:solidFill>
                    <a:srgbClr val="22C55E"/>
                  </a:solidFill>
                  <a:latin typeface="Segoe UI"/>
                </a:defRPr>
              </a:pPr>
              <a:r>
                <a:rPr sz="675"/>
                <a:t>Update ALL weights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6995160" y="4550754"/>
              <a:ext cx="85725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>
                  <a:solidFill>
                    <a:srgbClr val="22C55E"/>
                  </a:solidFill>
                  <a:latin typeface="Segoe UI"/>
                </a:defRPr>
              </a:pPr>
              <a:r>
                <a:rPr sz="675"/>
                <a:t>1K–100K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7886700" y="4550754"/>
              <a:ext cx="68580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>
                  <a:solidFill>
                    <a:srgbClr val="22C55E"/>
                  </a:solidFill>
                  <a:latin typeface="Segoe UI"/>
                </a:defRPr>
              </a:pPr>
              <a:r>
                <a:rPr sz="675"/>
                <a:t>💰💰</a:t>
              </a:r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4594860" y="4811358"/>
              <a:ext cx="4046220" cy="260604"/>
            </a:xfrm>
            <a:prstGeom prst="roundRect">
              <a:avLst>
                <a:gd name="adj" fmla="val 2000"/>
              </a:avLst>
            </a:prstGeom>
            <a:solidFill>
              <a:srgbClr val="1620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4697730" y="4838790"/>
              <a:ext cx="113157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LoRA / PEFT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5863590" y="4838790"/>
              <a:ext cx="109728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Update ~1% of weights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6995160" y="4838790"/>
              <a:ext cx="85725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1K–100K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886700" y="4838790"/>
              <a:ext cx="68580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💰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C31532CB-7AC4-1201-D078-0BD731C27B72}"/>
              </a:ext>
            </a:extLst>
          </p:cNvPr>
          <p:cNvSpPr/>
          <p:nvPr/>
        </p:nvSpPr>
        <p:spPr>
          <a:xfrm>
            <a:off x="1" y="-640"/>
            <a:ext cx="9143771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4" name="TextBox 3"/>
          <p:cNvSpPr txBox="1"/>
          <p:nvPr/>
        </p:nvSpPr>
        <p:spPr>
          <a:xfrm>
            <a:off x="411480" y="29256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sz="2400" dirty="0"/>
              <a:t>Two Ways to Adapt a Pre-trained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06446"/>
            <a:ext cx="6858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rPr sz="1050"/>
              <a:t>Prompt the model with instructions, or train it on your data?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00348"/>
            <a:ext cx="8298180" cy="2057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38ACE82-488A-8261-BF22-756D37750AB2}"/>
              </a:ext>
            </a:extLst>
          </p:cNvPr>
          <p:cNvGrpSpPr/>
          <p:nvPr/>
        </p:nvGrpSpPr>
        <p:grpSpPr>
          <a:xfrm>
            <a:off x="411480" y="1555446"/>
            <a:ext cx="3977640" cy="2535000"/>
            <a:chOff x="411480" y="1071798"/>
            <a:chExt cx="3977640" cy="2535000"/>
          </a:xfrm>
        </p:grpSpPr>
        <p:sp>
          <p:nvSpPr>
            <p:cNvPr id="7" name="Rounded Rectangle 6"/>
            <p:cNvSpPr/>
            <p:nvPr/>
          </p:nvSpPr>
          <p:spPr>
            <a:xfrm>
              <a:off x="411480" y="1071798"/>
              <a:ext cx="3977640" cy="2535000"/>
            </a:xfrm>
            <a:prstGeom prst="roundRect">
              <a:avLst>
                <a:gd name="adj" fmla="val 3000"/>
              </a:avLst>
            </a:prstGeom>
            <a:solidFill>
              <a:srgbClr val="1E293B"/>
            </a:solidFill>
            <a:ln w="19050">
              <a:solidFill>
                <a:srgbClr val="F59E0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411480" y="1071798"/>
              <a:ext cx="3977640" cy="27432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82930" y="1195242"/>
              <a:ext cx="1920240" cy="219456"/>
            </a:xfrm>
            <a:prstGeom prst="roundRect">
              <a:avLst>
                <a:gd name="adj" fmla="val 40000"/>
              </a:avLst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100" b="1">
                  <a:solidFill>
                    <a:srgbClr val="FFFFFF"/>
                  </a:solidFill>
                  <a:latin typeface="Segoe UI"/>
                </a:defRPr>
              </a:pPr>
              <a:r>
                <a:rPr sz="825"/>
                <a:t>🗣️  PROMPTING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82930" y="1483278"/>
              <a:ext cx="3634740" cy="23083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0">
                  <a:solidFill>
                    <a:srgbClr val="B0B8C8"/>
                  </a:solidFill>
                  <a:latin typeface="Segoe UI"/>
                </a:defRPr>
              </a:pPr>
              <a:r>
                <a:rPr sz="900"/>
                <a:t>Give the model instructions in the input text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17220" y="1757597"/>
              <a:ext cx="15087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94A3B8"/>
                  </a:solidFill>
                  <a:latin typeface="Segoe UI"/>
                </a:defRPr>
              </a:pPr>
              <a:r>
                <a:rPr sz="750"/>
                <a:t>Model weights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194560" y="1757597"/>
              <a:ext cx="198882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F59E0B"/>
                  </a:solidFill>
                  <a:latin typeface="Segoe UI"/>
                </a:defRPr>
              </a:pPr>
              <a:r>
                <a:rPr sz="750"/>
                <a:t>Unchanged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17220" y="1977053"/>
              <a:ext cx="15087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94A3B8"/>
                  </a:solidFill>
                  <a:latin typeface="Segoe UI"/>
                </a:defRPr>
              </a:pPr>
              <a:r>
                <a:rPr sz="750"/>
                <a:t>Setup time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194560" y="1977053"/>
              <a:ext cx="198882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FFFFFF"/>
                  </a:solidFill>
                  <a:latin typeface="Segoe UI"/>
                </a:defRPr>
              </a:pPr>
              <a:r>
                <a:rPr sz="750"/>
                <a:t>Minutes (write a prompt)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17220" y="2196511"/>
              <a:ext cx="15087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94A3B8"/>
                  </a:solidFill>
                  <a:latin typeface="Segoe UI"/>
                </a:defRPr>
              </a:pPr>
              <a:r>
                <a:rPr sz="750"/>
                <a:t>Data needed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4560" y="2196511"/>
              <a:ext cx="198882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FFFFFF"/>
                  </a:solidFill>
                  <a:latin typeface="Segoe UI"/>
                </a:defRPr>
              </a:pPr>
              <a:r>
                <a:rPr sz="750"/>
                <a:t>0–10 examples (in prompt)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17220" y="2415966"/>
              <a:ext cx="15087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94A3B8"/>
                  </a:solidFill>
                  <a:latin typeface="Segoe UI"/>
                </a:defRPr>
              </a:pPr>
              <a:r>
                <a:rPr sz="750"/>
                <a:t>Inference cost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194560" y="2415966"/>
              <a:ext cx="198882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EF4444"/>
                  </a:solidFill>
                  <a:latin typeface="Segoe UI"/>
                </a:defRPr>
              </a:pPr>
              <a:r>
                <a:rPr sz="750"/>
                <a:t>Higher (long prompts)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17220" y="2635422"/>
              <a:ext cx="15087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94A3B8"/>
                  </a:solidFill>
                  <a:latin typeface="Segoe UI"/>
                </a:defRPr>
              </a:pPr>
              <a:r>
                <a:rPr sz="750"/>
                <a:t>Quality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194560" y="2635422"/>
              <a:ext cx="198882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FFFFFF"/>
                  </a:solidFill>
                  <a:latin typeface="Segoe UI"/>
                </a:defRPr>
              </a:pPr>
              <a:r>
                <a:rPr sz="750"/>
                <a:t>Good for general tasks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17220" y="2854878"/>
              <a:ext cx="15087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94A3B8"/>
                  </a:solidFill>
                  <a:latin typeface="Segoe UI"/>
                </a:defRPr>
              </a:pPr>
              <a:r>
                <a:rPr sz="750"/>
                <a:t>Consistency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194560" y="2854878"/>
              <a:ext cx="198882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F59E0B"/>
                  </a:solidFill>
                  <a:latin typeface="Segoe UI"/>
                </a:defRPr>
              </a:pPr>
              <a:r>
                <a:rPr sz="750"/>
                <a:t>Variable (prompt-sensitive)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17220" y="3074334"/>
              <a:ext cx="15087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94A3B8"/>
                  </a:solidFill>
                  <a:latin typeface="Segoe UI"/>
                </a:defRPr>
              </a:pPr>
              <a:r>
                <a:rPr sz="750"/>
                <a:t>Model size needed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194560" y="3074334"/>
              <a:ext cx="198882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FFFFFF"/>
                  </a:solidFill>
                  <a:latin typeface="Segoe UI"/>
                </a:defRPr>
              </a:pPr>
              <a:r>
                <a:rPr sz="750"/>
                <a:t>Large (&gt;7B for good results)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17220" y="3293790"/>
              <a:ext cx="15087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94A3B8"/>
                  </a:solidFill>
                  <a:latin typeface="Segoe UI"/>
                </a:defRPr>
              </a:pPr>
              <a:r>
                <a:rPr sz="750"/>
                <a:t>Customization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194560" y="3293790"/>
              <a:ext cx="198882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FFFFFF"/>
                  </a:solidFill>
                  <a:latin typeface="Segoe UI"/>
                </a:defRPr>
              </a:pPr>
              <a:r>
                <a:rPr sz="750"/>
                <a:t>Surface-level (style, format)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D832CF7E-FD78-69E9-8394-A94E435DF3DE}"/>
              </a:ext>
            </a:extLst>
          </p:cNvPr>
          <p:cNvGrpSpPr/>
          <p:nvPr/>
        </p:nvGrpSpPr>
        <p:grpSpPr>
          <a:xfrm>
            <a:off x="4149090" y="1555446"/>
            <a:ext cx="4491990" cy="2608473"/>
            <a:chOff x="4149090" y="1071798"/>
            <a:chExt cx="4491990" cy="2608473"/>
          </a:xfrm>
        </p:grpSpPr>
        <p:sp>
          <p:nvSpPr>
            <p:cNvPr id="30" name="Rounded Rectangle 29"/>
            <p:cNvSpPr/>
            <p:nvPr/>
          </p:nvSpPr>
          <p:spPr>
            <a:xfrm>
              <a:off x="4663440" y="1071798"/>
              <a:ext cx="3977640" cy="2608473"/>
            </a:xfrm>
            <a:prstGeom prst="roundRect">
              <a:avLst>
                <a:gd name="adj" fmla="val 3000"/>
              </a:avLst>
            </a:prstGeom>
            <a:solidFill>
              <a:srgbClr val="1E293B"/>
            </a:solidFill>
            <a:ln w="19050">
              <a:solidFill>
                <a:srgbClr val="22C55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4663440" y="1071798"/>
              <a:ext cx="3977640" cy="27432"/>
            </a:xfrm>
            <a:prstGeom prst="rect">
              <a:avLst/>
            </a:prstGeom>
            <a:solidFill>
              <a:srgbClr val="22C55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4834890" y="1195242"/>
              <a:ext cx="1920240" cy="219456"/>
            </a:xfrm>
            <a:prstGeom prst="roundRect">
              <a:avLst>
                <a:gd name="adj" fmla="val 40000"/>
              </a:avLst>
            </a:prstGeom>
            <a:solidFill>
              <a:srgbClr val="22C55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100" b="1">
                  <a:solidFill>
                    <a:srgbClr val="FFFFFF"/>
                  </a:solidFill>
                  <a:latin typeface="Segoe UI"/>
                </a:defRPr>
              </a:pPr>
              <a:r>
                <a:rPr sz="825"/>
                <a:t>🎯  FINE-TUNING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834890" y="1483278"/>
              <a:ext cx="363474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0">
                  <a:solidFill>
                    <a:srgbClr val="B0B8C8"/>
                  </a:solidFill>
                  <a:latin typeface="Segoe UI"/>
                </a:defRPr>
              </a:pPr>
              <a:r>
                <a:rPr sz="900"/>
                <a:t>Train the model on your labeled data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869180" y="1757598"/>
              <a:ext cx="15087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94A3B8"/>
                  </a:solidFill>
                  <a:latin typeface="Segoe UI"/>
                </a:defRPr>
              </a:pPr>
              <a:r>
                <a:rPr sz="750"/>
                <a:t>Model weights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446520" y="1757598"/>
              <a:ext cx="198882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22C55E"/>
                  </a:solidFill>
                  <a:latin typeface="Segoe UI"/>
                </a:defRPr>
              </a:pPr>
              <a:r>
                <a:rPr sz="750"/>
                <a:t>Updated (learned)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869180" y="1977054"/>
              <a:ext cx="15087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94A3B8"/>
                  </a:solidFill>
                  <a:latin typeface="Segoe UI"/>
                </a:defRPr>
              </a:pPr>
              <a:r>
                <a:rPr sz="750"/>
                <a:t>Setup time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446520" y="1977054"/>
              <a:ext cx="198882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FFFFFF"/>
                  </a:solidFill>
                  <a:latin typeface="Segoe UI"/>
                </a:defRPr>
              </a:pPr>
              <a:r>
                <a:rPr sz="750"/>
                <a:t>Hours (prepare data, train)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869180" y="2196510"/>
              <a:ext cx="15087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94A3B8"/>
                  </a:solidFill>
                  <a:latin typeface="Segoe UI"/>
                </a:defRPr>
              </a:pPr>
              <a:r>
                <a:rPr sz="750"/>
                <a:t>Data needed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446520" y="2196510"/>
              <a:ext cx="198882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FFFFFF"/>
                  </a:solidFill>
                  <a:latin typeface="Segoe UI"/>
                </a:defRPr>
              </a:pPr>
              <a:r>
                <a:rPr sz="750"/>
                <a:t>100–100K labeled examples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4869180" y="2415966"/>
              <a:ext cx="15087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94A3B8"/>
                  </a:solidFill>
                  <a:latin typeface="Segoe UI"/>
                </a:defRPr>
              </a:pPr>
              <a:r>
                <a:rPr sz="750"/>
                <a:t>Inference cost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446520" y="2415966"/>
              <a:ext cx="198882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22C55E"/>
                  </a:solidFill>
                  <a:latin typeface="Segoe UI"/>
                </a:defRPr>
              </a:pPr>
              <a:r>
                <a:rPr sz="750"/>
                <a:t>Lower (no prompt needed)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869180" y="2635422"/>
              <a:ext cx="15087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94A3B8"/>
                  </a:solidFill>
                  <a:latin typeface="Segoe UI"/>
                </a:defRPr>
              </a:pPr>
              <a:r>
                <a:rPr sz="750"/>
                <a:t>Quality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446520" y="2635422"/>
              <a:ext cx="198882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FFFFFF"/>
                  </a:solidFill>
                  <a:latin typeface="Segoe UI"/>
                </a:defRPr>
              </a:pPr>
              <a:r>
                <a:rPr sz="750"/>
                <a:t>Excellent for specific tasks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4869180" y="2854878"/>
              <a:ext cx="15087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94A3B8"/>
                  </a:solidFill>
                  <a:latin typeface="Segoe UI"/>
                </a:defRPr>
              </a:pPr>
              <a:r>
                <a:rPr sz="750"/>
                <a:t>Consistency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6446520" y="2854878"/>
              <a:ext cx="198882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22C55E"/>
                  </a:solidFill>
                  <a:latin typeface="Segoe UI"/>
                </a:defRPr>
              </a:pPr>
              <a:r>
                <a:rPr sz="750"/>
                <a:t>Highly consistent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4869180" y="3074334"/>
              <a:ext cx="15087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94A3B8"/>
                  </a:solidFill>
                  <a:latin typeface="Segoe UI"/>
                </a:defRPr>
              </a:pPr>
              <a:r>
                <a:rPr sz="750"/>
                <a:t>Model size needed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6446520" y="3074334"/>
              <a:ext cx="198882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FFFFFF"/>
                  </a:solidFill>
                  <a:latin typeface="Segoe UI"/>
                </a:defRPr>
              </a:pPr>
              <a:r>
                <a:rPr sz="750"/>
                <a:t>Any size (even 60M works!)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4869180" y="3293790"/>
              <a:ext cx="15087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94A3B8"/>
                  </a:solidFill>
                  <a:latin typeface="Segoe UI"/>
                </a:defRPr>
              </a:pPr>
              <a:r>
                <a:rPr sz="750"/>
                <a:t>Customization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446520" y="3293790"/>
              <a:ext cx="198882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FFFFFF"/>
                  </a:solidFill>
                  <a:latin typeface="Segoe UI"/>
                </a:defRPr>
              </a:pPr>
              <a:r>
                <a:rPr sz="750"/>
                <a:t>Deep (new knowledge, domain)</a:t>
              </a:r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4149090" y="2511978"/>
              <a:ext cx="754380" cy="342900"/>
            </a:xfrm>
            <a:prstGeom prst="roundRect">
              <a:avLst>
                <a:gd name="adj" fmla="val 30000"/>
              </a:avLst>
            </a:prstGeom>
            <a:solidFill>
              <a:srgbClr val="A78B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4149090" y="2566843"/>
              <a:ext cx="75438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600" b="1">
                  <a:solidFill>
                    <a:srgbClr val="FFFFFF"/>
                  </a:solidFill>
                  <a:latin typeface="Segoe UI"/>
                </a:defRPr>
              </a:pPr>
              <a:r>
                <a:rPr sz="1200"/>
                <a:t>VS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255F2959-6289-D231-DE7B-22C9826D30B9}"/>
              </a:ext>
            </a:extLst>
          </p:cNvPr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4" name="TextBox 3"/>
          <p:cNvSpPr txBox="1"/>
          <p:nvPr/>
        </p:nvSpPr>
        <p:spPr>
          <a:xfrm>
            <a:off x="411480" y="9197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sz="2400" dirty="0"/>
              <a:t>When to Use What — A Decision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6387"/>
            <a:ext cx="6858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rPr sz="1050"/>
              <a:t>Choose the right approach based on your constraints.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740957"/>
            <a:ext cx="8298180" cy="2057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A7F4B8C-7A61-BE56-ECB9-0A2BCF3BC44D}"/>
              </a:ext>
            </a:extLst>
          </p:cNvPr>
          <p:cNvGrpSpPr/>
          <p:nvPr/>
        </p:nvGrpSpPr>
        <p:grpSpPr>
          <a:xfrm>
            <a:off x="411480" y="946697"/>
            <a:ext cx="3909060" cy="2263140"/>
            <a:chOff x="411480" y="946697"/>
            <a:chExt cx="3909060" cy="2263140"/>
          </a:xfrm>
        </p:grpSpPr>
        <p:sp>
          <p:nvSpPr>
            <p:cNvPr id="7" name="Rounded Rectangle 6"/>
            <p:cNvSpPr/>
            <p:nvPr/>
          </p:nvSpPr>
          <p:spPr>
            <a:xfrm>
              <a:off x="411480" y="946697"/>
              <a:ext cx="3909060" cy="2263140"/>
            </a:xfrm>
            <a:prstGeom prst="roundRect">
              <a:avLst>
                <a:gd name="adj" fmla="val 3000"/>
              </a:avLst>
            </a:prstGeom>
            <a:solidFill>
              <a:srgbClr val="1E293B"/>
            </a:solidFill>
            <a:ln w="19050">
              <a:solidFill>
                <a:srgbClr val="F59E0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411480" y="946697"/>
              <a:ext cx="3909060" cy="27432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82930" y="1049567"/>
              <a:ext cx="2194560" cy="205740"/>
            </a:xfrm>
            <a:prstGeom prst="roundRect">
              <a:avLst>
                <a:gd name="adj" fmla="val 40000"/>
              </a:avLst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000" b="1">
                  <a:solidFill>
                    <a:srgbClr val="FFFFFF"/>
                  </a:solidFill>
                  <a:latin typeface="Segoe UI"/>
                </a:defRPr>
              </a:pPr>
              <a:r>
                <a:rPr sz="750"/>
                <a:t>🗣️  USE PROMPTING WHEN...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51510" y="1358177"/>
              <a:ext cx="3497580" cy="14824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225"/>
                </a:spcAft>
                <a:defRPr sz="1200" b="0">
                  <a:solidFill>
                    <a:srgbClr val="FFFFFF"/>
                  </a:solidFill>
                  <a:latin typeface="Segoe UI"/>
                </a:defRPr>
              </a:pPr>
              <a:r>
                <a:rPr sz="900" dirty="0"/>
                <a:t>✓  You are prototyping quickly</a:t>
              </a:r>
            </a:p>
            <a:p>
              <a:pPr>
                <a:spcAft>
                  <a:spcPts val="225"/>
                </a:spcAft>
                <a:defRPr sz="400" b="0">
                  <a:solidFill>
                    <a:srgbClr val="FFFFFF"/>
                  </a:solidFill>
                  <a:latin typeface="Segoe UI"/>
                </a:defRPr>
              </a:pPr>
              <a:endParaRPr sz="300" dirty="0"/>
            </a:p>
            <a:p>
              <a:pPr>
                <a:spcAft>
                  <a:spcPts val="225"/>
                </a:spcAft>
                <a:defRPr sz="1200" b="0">
                  <a:solidFill>
                    <a:srgbClr val="FFFFFF"/>
                  </a:solidFill>
                  <a:latin typeface="Segoe UI"/>
                </a:defRPr>
              </a:pPr>
              <a:r>
                <a:rPr sz="900" dirty="0"/>
                <a:t>✓  You have a large model (&gt;7B params)</a:t>
              </a:r>
            </a:p>
            <a:p>
              <a:pPr>
                <a:spcAft>
                  <a:spcPts val="225"/>
                </a:spcAft>
                <a:defRPr sz="400" b="0">
                  <a:solidFill>
                    <a:srgbClr val="FFFFFF"/>
                  </a:solidFill>
                  <a:latin typeface="Segoe UI"/>
                </a:defRPr>
              </a:pPr>
              <a:endParaRPr sz="300" dirty="0"/>
            </a:p>
            <a:p>
              <a:pPr>
                <a:spcAft>
                  <a:spcPts val="225"/>
                </a:spcAft>
                <a:defRPr sz="1200" b="0">
                  <a:solidFill>
                    <a:srgbClr val="FFFFFF"/>
                  </a:solidFill>
                  <a:latin typeface="Segoe UI"/>
                </a:defRPr>
              </a:pPr>
              <a:r>
                <a:rPr sz="900" dirty="0"/>
                <a:t>✓  Your task is general (Q&amp;A, creative writing)</a:t>
              </a:r>
            </a:p>
            <a:p>
              <a:pPr>
                <a:spcAft>
                  <a:spcPts val="225"/>
                </a:spcAft>
                <a:defRPr sz="400" b="0">
                  <a:solidFill>
                    <a:srgbClr val="FFFFFF"/>
                  </a:solidFill>
                  <a:latin typeface="Segoe UI"/>
                </a:defRPr>
              </a:pPr>
              <a:endParaRPr sz="300" dirty="0"/>
            </a:p>
            <a:p>
              <a:pPr>
                <a:spcAft>
                  <a:spcPts val="225"/>
                </a:spcAft>
                <a:defRPr sz="1200" b="0">
                  <a:solidFill>
                    <a:srgbClr val="FFFFFF"/>
                  </a:solidFill>
                  <a:latin typeface="Segoe UI"/>
                </a:defRPr>
              </a:pPr>
              <a:r>
                <a:rPr sz="900" dirty="0"/>
                <a:t>✓  You need flexibility to change behavior on the fly</a:t>
              </a:r>
            </a:p>
            <a:p>
              <a:pPr>
                <a:spcAft>
                  <a:spcPts val="225"/>
                </a:spcAft>
                <a:defRPr sz="400" b="0">
                  <a:solidFill>
                    <a:srgbClr val="FFFFFF"/>
                  </a:solidFill>
                  <a:latin typeface="Segoe UI"/>
                </a:defRPr>
              </a:pPr>
              <a:endParaRPr sz="300" dirty="0"/>
            </a:p>
            <a:p>
              <a:pPr>
                <a:spcAft>
                  <a:spcPts val="225"/>
                </a:spcAft>
                <a:defRPr sz="1200" b="0">
                  <a:solidFill>
                    <a:srgbClr val="FFFFFF"/>
                  </a:solidFill>
                  <a:latin typeface="Segoe UI"/>
                </a:defRPr>
              </a:pPr>
              <a:r>
                <a:rPr sz="900" dirty="0"/>
                <a:t>✓  You have no labeled training data</a:t>
              </a:r>
            </a:p>
            <a:p>
              <a:pPr>
                <a:spcAft>
                  <a:spcPts val="225"/>
                </a:spcAft>
                <a:defRPr sz="400" b="0">
                  <a:solidFill>
                    <a:srgbClr val="FFFFFF"/>
                  </a:solidFill>
                  <a:latin typeface="Segoe UI"/>
                </a:defRPr>
              </a:pPr>
              <a:endParaRPr sz="300" dirty="0"/>
            </a:p>
            <a:p>
              <a:pPr>
                <a:spcAft>
                  <a:spcPts val="225"/>
                </a:spcAft>
                <a:defRPr sz="1200" b="0">
                  <a:solidFill>
                    <a:srgbClr val="FFFFFF"/>
                  </a:solidFill>
                  <a:latin typeface="Segoe UI"/>
                </a:defRPr>
              </a:pPr>
              <a:r>
                <a:rPr sz="900" dirty="0"/>
                <a:t>✓  Your use case changes frequently</a:t>
              </a:r>
            </a:p>
            <a:p>
              <a:pPr>
                <a:spcAft>
                  <a:spcPts val="225"/>
                </a:spcAft>
                <a:defRPr sz="400" b="0">
                  <a:solidFill>
                    <a:srgbClr val="FFFFFF"/>
                  </a:solidFill>
                  <a:latin typeface="Segoe UI"/>
                </a:defRPr>
              </a:pPr>
              <a:endParaRPr sz="300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B373A2B-99B9-DB1F-1819-4541EEFCFA39}"/>
              </a:ext>
            </a:extLst>
          </p:cNvPr>
          <p:cNvGrpSpPr/>
          <p:nvPr/>
        </p:nvGrpSpPr>
        <p:grpSpPr>
          <a:xfrm>
            <a:off x="4594860" y="946697"/>
            <a:ext cx="3909060" cy="2263140"/>
            <a:chOff x="4594860" y="946697"/>
            <a:chExt cx="3909060" cy="2263140"/>
          </a:xfrm>
        </p:grpSpPr>
        <p:sp>
          <p:nvSpPr>
            <p:cNvPr id="11" name="Rounded Rectangle 10"/>
            <p:cNvSpPr/>
            <p:nvPr/>
          </p:nvSpPr>
          <p:spPr>
            <a:xfrm>
              <a:off x="4594860" y="946697"/>
              <a:ext cx="3909060" cy="2263140"/>
            </a:xfrm>
            <a:prstGeom prst="roundRect">
              <a:avLst>
                <a:gd name="adj" fmla="val 3000"/>
              </a:avLst>
            </a:prstGeom>
            <a:solidFill>
              <a:srgbClr val="1E293B"/>
            </a:solidFill>
            <a:ln w="19050">
              <a:solidFill>
                <a:srgbClr val="22C55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594860" y="946697"/>
              <a:ext cx="3909060" cy="27432"/>
            </a:xfrm>
            <a:prstGeom prst="rect">
              <a:avLst/>
            </a:prstGeom>
            <a:solidFill>
              <a:srgbClr val="22C55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4766310" y="1049567"/>
              <a:ext cx="2194560" cy="205740"/>
            </a:xfrm>
            <a:prstGeom prst="roundRect">
              <a:avLst>
                <a:gd name="adj" fmla="val 40000"/>
              </a:avLst>
            </a:prstGeom>
            <a:solidFill>
              <a:srgbClr val="22C55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000" b="1">
                  <a:solidFill>
                    <a:srgbClr val="FFFFFF"/>
                  </a:solidFill>
                  <a:latin typeface="Segoe UI"/>
                </a:defRPr>
              </a:pPr>
              <a:r>
                <a:rPr sz="750"/>
                <a:t>🎯  USE FINE-TUNING WHEN...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834890" y="1358177"/>
              <a:ext cx="3497580" cy="14824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225"/>
                </a:spcAft>
                <a:defRPr sz="1200" b="0">
                  <a:solidFill>
                    <a:srgbClr val="FFFFFF"/>
                  </a:solidFill>
                  <a:latin typeface="Segoe UI"/>
                </a:defRPr>
              </a:pPr>
              <a:r>
                <a:rPr sz="900" dirty="0"/>
                <a:t>✓  You need consistent, production-quality output</a:t>
              </a:r>
            </a:p>
            <a:p>
              <a:pPr>
                <a:spcAft>
                  <a:spcPts val="225"/>
                </a:spcAft>
                <a:defRPr sz="400" b="0">
                  <a:solidFill>
                    <a:srgbClr val="FFFFFF"/>
                  </a:solidFill>
                  <a:latin typeface="Segoe UI"/>
                </a:defRPr>
              </a:pPr>
              <a:endParaRPr sz="300" dirty="0"/>
            </a:p>
            <a:p>
              <a:pPr>
                <a:spcAft>
                  <a:spcPts val="225"/>
                </a:spcAft>
                <a:defRPr sz="1200" b="0">
                  <a:solidFill>
                    <a:srgbClr val="FFFFFF"/>
                  </a:solidFill>
                  <a:latin typeface="Segoe UI"/>
                </a:defRPr>
              </a:pPr>
              <a:r>
                <a:rPr sz="900" dirty="0"/>
                <a:t>✓  You have labeled data (even 500 examples helps!)</a:t>
              </a:r>
            </a:p>
            <a:p>
              <a:pPr>
                <a:spcAft>
                  <a:spcPts val="225"/>
                </a:spcAft>
                <a:defRPr sz="400" b="0">
                  <a:solidFill>
                    <a:srgbClr val="FFFFFF"/>
                  </a:solidFill>
                  <a:latin typeface="Segoe UI"/>
                </a:defRPr>
              </a:pPr>
              <a:endParaRPr sz="300" dirty="0"/>
            </a:p>
            <a:p>
              <a:pPr>
                <a:spcAft>
                  <a:spcPts val="225"/>
                </a:spcAft>
                <a:defRPr sz="1200" b="0">
                  <a:solidFill>
                    <a:srgbClr val="FFFFFF"/>
                  </a:solidFill>
                  <a:latin typeface="Segoe UI"/>
                </a:defRPr>
              </a:pPr>
              <a:r>
                <a:rPr sz="900" dirty="0"/>
                <a:t>✓  You are using a smaller model (&lt;7B params)</a:t>
              </a:r>
            </a:p>
            <a:p>
              <a:pPr>
                <a:spcAft>
                  <a:spcPts val="225"/>
                </a:spcAft>
                <a:defRPr sz="400" b="0">
                  <a:solidFill>
                    <a:srgbClr val="FFFFFF"/>
                  </a:solidFill>
                  <a:latin typeface="Segoe UI"/>
                </a:defRPr>
              </a:pPr>
              <a:endParaRPr sz="300" dirty="0"/>
            </a:p>
            <a:p>
              <a:pPr>
                <a:spcAft>
                  <a:spcPts val="225"/>
                </a:spcAft>
                <a:defRPr sz="1200" b="0">
                  <a:solidFill>
                    <a:srgbClr val="FFFFFF"/>
                  </a:solidFill>
                  <a:latin typeface="Segoe UI"/>
                </a:defRPr>
              </a:pPr>
              <a:r>
                <a:rPr sz="900" dirty="0"/>
                <a:t>✓  You need domain-specific knowledge (legal, medical)</a:t>
              </a:r>
            </a:p>
            <a:p>
              <a:pPr>
                <a:spcAft>
                  <a:spcPts val="225"/>
                </a:spcAft>
                <a:defRPr sz="400" b="0">
                  <a:solidFill>
                    <a:srgbClr val="FFFFFF"/>
                  </a:solidFill>
                  <a:latin typeface="Segoe UI"/>
                </a:defRPr>
              </a:pPr>
              <a:endParaRPr sz="300" dirty="0"/>
            </a:p>
            <a:p>
              <a:pPr>
                <a:spcAft>
                  <a:spcPts val="225"/>
                </a:spcAft>
                <a:defRPr sz="1200" b="0">
                  <a:solidFill>
                    <a:srgbClr val="FFFFFF"/>
                  </a:solidFill>
                  <a:latin typeface="Segoe UI"/>
                </a:defRPr>
              </a:pPr>
              <a:r>
                <a:rPr sz="900" dirty="0"/>
                <a:t>✓  You want lower inference costs (no long prompts)</a:t>
              </a:r>
            </a:p>
            <a:p>
              <a:pPr>
                <a:spcAft>
                  <a:spcPts val="225"/>
                </a:spcAft>
                <a:defRPr sz="400" b="0">
                  <a:solidFill>
                    <a:srgbClr val="FFFFFF"/>
                  </a:solidFill>
                  <a:latin typeface="Segoe UI"/>
                </a:defRPr>
              </a:pPr>
              <a:endParaRPr sz="300" dirty="0"/>
            </a:p>
            <a:p>
              <a:pPr>
                <a:spcAft>
                  <a:spcPts val="225"/>
                </a:spcAft>
                <a:defRPr sz="1200" b="0">
                  <a:solidFill>
                    <a:srgbClr val="FFFFFF"/>
                  </a:solidFill>
                  <a:latin typeface="Segoe UI"/>
                </a:defRPr>
              </a:pPr>
              <a:r>
                <a:rPr sz="900" dirty="0"/>
                <a:t>✓  You need reliability and predictability</a:t>
              </a:r>
            </a:p>
            <a:p>
              <a:pPr>
                <a:spcAft>
                  <a:spcPts val="225"/>
                </a:spcAft>
                <a:defRPr sz="400" b="0">
                  <a:solidFill>
                    <a:srgbClr val="FFFFFF"/>
                  </a:solidFill>
                  <a:latin typeface="Segoe UI"/>
                </a:defRPr>
              </a:pPr>
              <a:endParaRPr sz="300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096F705-1502-50BA-CB13-07B51DD25AFC}"/>
              </a:ext>
            </a:extLst>
          </p:cNvPr>
          <p:cNvGrpSpPr/>
          <p:nvPr/>
        </p:nvGrpSpPr>
        <p:grpSpPr>
          <a:xfrm>
            <a:off x="391346" y="3231019"/>
            <a:ext cx="8318314" cy="1865722"/>
            <a:chOff x="391346" y="3231019"/>
            <a:chExt cx="8318314" cy="1865722"/>
          </a:xfrm>
        </p:grpSpPr>
        <p:sp>
          <p:nvSpPr>
            <p:cNvPr id="15" name="TextBox 14"/>
            <p:cNvSpPr txBox="1"/>
            <p:nvPr/>
          </p:nvSpPr>
          <p:spPr>
            <a:xfrm>
              <a:off x="411480" y="3231019"/>
              <a:ext cx="822960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A78BFA"/>
                  </a:solidFill>
                  <a:latin typeface="Segoe UI"/>
                </a:defRPr>
              </a:pPr>
              <a:r>
                <a:rPr sz="900" dirty="0"/>
                <a:t>OUR CHOICE FOR THIS WORKSHOP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411480" y="3505339"/>
              <a:ext cx="8298180" cy="1577340"/>
            </a:xfrm>
            <a:prstGeom prst="roundRect">
              <a:avLst>
                <a:gd name="adj" fmla="val 3000"/>
              </a:avLst>
            </a:prstGeom>
            <a:solidFill>
              <a:srgbClr val="162033"/>
            </a:solidFill>
            <a:ln w="19050">
              <a:solidFill>
                <a:srgbClr val="22C55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411480" y="3505339"/>
              <a:ext cx="8298180" cy="34290"/>
            </a:xfrm>
            <a:prstGeom prst="rect">
              <a:avLst/>
            </a:prstGeom>
            <a:solidFill>
              <a:srgbClr val="22C55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685800" y="3642499"/>
              <a:ext cx="1714500" cy="240030"/>
            </a:xfrm>
            <a:prstGeom prst="roundRect">
              <a:avLst>
                <a:gd name="adj" fmla="val 40000"/>
              </a:avLst>
            </a:prstGeom>
            <a:solidFill>
              <a:srgbClr val="22C55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200" b="1">
                  <a:solidFill>
                    <a:srgbClr val="FFFFFF"/>
                  </a:solidFill>
                  <a:latin typeface="Segoe UI"/>
                </a:defRPr>
              </a:pPr>
              <a:r>
                <a:rPr sz="900"/>
                <a:t>🎯  FINE-TUNING ✓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685800" y="3994522"/>
              <a:ext cx="2400300" cy="891540"/>
            </a:xfrm>
            <a:prstGeom prst="roundRect">
              <a:avLst>
                <a:gd name="adj" fmla="val 3000"/>
              </a:avLst>
            </a:prstGeom>
            <a:solidFill>
              <a:srgbClr val="1E293B"/>
            </a:solidFill>
            <a:ln w="19050">
              <a:solidFill>
                <a:srgbClr val="3B82F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88670" y="4063102"/>
              <a:ext cx="2194560" cy="2423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300" b="1">
                  <a:solidFill>
                    <a:srgbClr val="3B82F6"/>
                  </a:solidFill>
                  <a:latin typeface="Segoe UI"/>
                </a:defRPr>
              </a:pPr>
              <a:r>
                <a:rPr sz="975"/>
                <a:t>📊  We have labeled data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88670" y="4303132"/>
              <a:ext cx="2194560" cy="3462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/>
                <a:t>CNN/DailyMail has 287K</a:t>
              </a:r>
              <a:br>
                <a:rPr sz="825"/>
              </a:br>
              <a:r>
                <a:rPr sz="825"/>
                <a:t>article–summary pairs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3257550" y="3994522"/>
              <a:ext cx="2400300" cy="891540"/>
            </a:xfrm>
            <a:prstGeom prst="roundRect">
              <a:avLst>
                <a:gd name="adj" fmla="val 3000"/>
              </a:avLst>
            </a:prstGeom>
            <a:solidFill>
              <a:srgbClr val="1E293B"/>
            </a:solidFill>
            <a:ln w="19050">
              <a:solidFill>
                <a:srgbClr val="14B8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360420" y="4063102"/>
              <a:ext cx="2194560" cy="2423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300" b="1">
                  <a:solidFill>
                    <a:srgbClr val="14B8A6"/>
                  </a:solidFill>
                  <a:latin typeface="Segoe UI"/>
                </a:defRPr>
              </a:pPr>
              <a:r>
                <a:rPr sz="975"/>
                <a:t>🤖  Small model (60M)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360420" y="4303132"/>
              <a:ext cx="2194560" cy="3462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/>
                <a:t>T5-small is small enough</a:t>
              </a:r>
              <a:br>
                <a:rPr sz="825"/>
              </a:br>
              <a:r>
                <a:rPr sz="825"/>
                <a:t>for full fine-tuning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5829300" y="3994522"/>
              <a:ext cx="2400300" cy="891540"/>
            </a:xfrm>
            <a:prstGeom prst="roundRect">
              <a:avLst>
                <a:gd name="adj" fmla="val 3000"/>
              </a:avLst>
            </a:prstGeom>
            <a:solidFill>
              <a:srgbClr val="1E293B"/>
            </a:solidFill>
            <a:ln w="19050">
              <a:solidFill>
                <a:srgbClr val="A78BF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932170" y="4063102"/>
              <a:ext cx="2194560" cy="2423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300" b="1">
                  <a:solidFill>
                    <a:srgbClr val="A78BFA"/>
                  </a:solidFill>
                  <a:latin typeface="Segoe UI"/>
                </a:defRPr>
              </a:pPr>
              <a:r>
                <a:rPr sz="975"/>
                <a:t>🎯  Need consistency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932170" y="4303132"/>
              <a:ext cx="2194560" cy="3462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/>
                <a:t>We want reliable, news-style</a:t>
              </a:r>
              <a:br>
                <a:rPr sz="825"/>
              </a:br>
              <a:r>
                <a:rPr sz="825"/>
                <a:t>summaries every time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91346" y="4877450"/>
              <a:ext cx="829818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100" b="0">
                  <a:solidFill>
                    <a:srgbClr val="94A3B8"/>
                  </a:solidFill>
                  <a:latin typeface="Segoe UI"/>
                </a:defRPr>
              </a:pPr>
              <a:r>
                <a:rPr sz="825" dirty="0"/>
                <a:t>💡 Prompting = giving verbal instructions  |  Fine-tuning = sending someone to a training course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86">
            <a:extLst>
              <a:ext uri="{FF2B5EF4-FFF2-40B4-BE49-F238E27FC236}">
                <a16:creationId xmlns:a16="http://schemas.microsoft.com/office/drawing/2014/main" id="{B40B6228-D9FD-70C2-ED28-3203DBB8489C}"/>
              </a:ext>
            </a:extLst>
          </p:cNvPr>
          <p:cNvSpPr/>
          <p:nvPr/>
        </p:nvSpPr>
        <p:spPr>
          <a:xfrm>
            <a:off x="1" y="-8389"/>
            <a:ext cx="9143771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4" name="TextBox 3"/>
          <p:cNvSpPr txBox="1"/>
          <p:nvPr/>
        </p:nvSpPr>
        <p:spPr>
          <a:xfrm>
            <a:off x="411480" y="20867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sz="2400"/>
              <a:t>What Happens During Fine-Tuning?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98057"/>
            <a:ext cx="6858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rPr sz="1050"/>
              <a:t>The training loop, key hyperparameters, and what each one controls.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16458"/>
            <a:ext cx="8298180" cy="2057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DD4D5F7F-2D1A-57E2-9848-9F04DC2CFCC1}"/>
              </a:ext>
            </a:extLst>
          </p:cNvPr>
          <p:cNvGrpSpPr/>
          <p:nvPr/>
        </p:nvGrpSpPr>
        <p:grpSpPr>
          <a:xfrm>
            <a:off x="411480" y="962741"/>
            <a:ext cx="3566160" cy="3744528"/>
            <a:chOff x="411480" y="962741"/>
            <a:chExt cx="3566160" cy="3744528"/>
          </a:xfrm>
        </p:grpSpPr>
        <p:sp>
          <p:nvSpPr>
            <p:cNvPr id="7" name="TextBox 6"/>
            <p:cNvSpPr txBox="1"/>
            <p:nvPr/>
          </p:nvSpPr>
          <p:spPr>
            <a:xfrm>
              <a:off x="411480" y="962741"/>
              <a:ext cx="342900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A78BFA"/>
                  </a:solidFill>
                  <a:latin typeface="Segoe UI"/>
                </a:defRPr>
              </a:pPr>
              <a:r>
                <a:rPr sz="900"/>
                <a:t>THE TRAINING LOOP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11480" y="1271351"/>
              <a:ext cx="3566160" cy="651510"/>
            </a:xfrm>
            <a:prstGeom prst="roundRect">
              <a:avLst>
                <a:gd name="adj" fmla="val 3000"/>
              </a:avLst>
            </a:prstGeom>
            <a:solidFill>
              <a:srgbClr val="1E293B"/>
            </a:solidFill>
            <a:ln w="19050">
              <a:solidFill>
                <a:srgbClr val="3B82F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411480" y="1271351"/>
              <a:ext cx="41148" cy="651510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82930" y="1326215"/>
              <a:ext cx="322326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3B82F6"/>
                  </a:solidFill>
                  <a:latin typeface="Segoe UI"/>
                </a:defRPr>
              </a:pPr>
              <a:r>
                <a:rPr sz="900"/>
                <a:t>📥  1  FORWARD PASS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82930" y="1531955"/>
              <a:ext cx="3223260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Encoder reads article, decoder generates</a:t>
              </a:r>
              <a:br>
                <a:rPr sz="750"/>
              </a:br>
              <a:r>
                <a:rPr sz="750"/>
                <a:t>summary, compare with target → loss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411480" y="1991441"/>
              <a:ext cx="3566160" cy="651510"/>
            </a:xfrm>
            <a:prstGeom prst="roundRect">
              <a:avLst>
                <a:gd name="adj" fmla="val 3000"/>
              </a:avLst>
            </a:prstGeom>
            <a:solidFill>
              <a:srgbClr val="1E293B"/>
            </a:solidFill>
            <a:ln w="19050">
              <a:solidFill>
                <a:srgbClr val="14B8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11480" y="1991441"/>
              <a:ext cx="41148" cy="651510"/>
            </a:xfrm>
            <a:prstGeom prst="rect">
              <a:avLst/>
            </a:prstGeom>
            <a:solidFill>
              <a:srgbClr val="14B8A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82930" y="2046305"/>
              <a:ext cx="322326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14B8A6"/>
                  </a:solidFill>
                  <a:latin typeface="Segoe UI"/>
                </a:defRPr>
              </a:pPr>
              <a:r>
                <a:rPr sz="900"/>
                <a:t>📐  2  BACKWARD PASS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82930" y="2252045"/>
              <a:ext cx="3223260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Compute gradients: how should each of</a:t>
              </a:r>
              <a:br>
                <a:rPr sz="750"/>
              </a:br>
              <a:r>
                <a:rPr sz="750"/>
                <a:t>the 60M weights be adjusted?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411480" y="2711531"/>
              <a:ext cx="3566160" cy="651510"/>
            </a:xfrm>
            <a:prstGeom prst="roundRect">
              <a:avLst>
                <a:gd name="adj" fmla="val 3000"/>
              </a:avLst>
            </a:prstGeom>
            <a:solidFill>
              <a:srgbClr val="1E293B"/>
            </a:solidFill>
            <a:ln w="19050">
              <a:solidFill>
                <a:srgbClr val="22C55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411480" y="2711531"/>
              <a:ext cx="41148" cy="651510"/>
            </a:xfrm>
            <a:prstGeom prst="rect">
              <a:avLst/>
            </a:prstGeom>
            <a:solidFill>
              <a:srgbClr val="22C55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82930" y="2766395"/>
              <a:ext cx="322326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22C55E"/>
                  </a:solidFill>
                  <a:latin typeface="Segoe UI"/>
                </a:defRPr>
              </a:pPr>
              <a:r>
                <a:rPr sz="900"/>
                <a:t>⚡  3  UPDATE WEIGHTS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82930" y="2972135"/>
              <a:ext cx="3223260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Multiply gradients by learning rate,</a:t>
              </a:r>
              <a:br>
                <a:rPr sz="750"/>
              </a:br>
              <a:r>
                <a:rPr sz="750"/>
                <a:t>update parameters (AdamW optimizer)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411480" y="3431621"/>
              <a:ext cx="3566160" cy="651510"/>
            </a:xfrm>
            <a:prstGeom prst="roundRect">
              <a:avLst>
                <a:gd name="adj" fmla="val 3000"/>
              </a:avLst>
            </a:prstGeom>
            <a:solidFill>
              <a:srgbClr val="1E293B"/>
            </a:solidFill>
            <a:ln w="19050">
              <a:solidFill>
                <a:srgbClr val="A78BF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11480" y="3431621"/>
              <a:ext cx="41148" cy="651510"/>
            </a:xfrm>
            <a:prstGeom prst="rect">
              <a:avLst/>
            </a:prstGeom>
            <a:solidFill>
              <a:srgbClr val="A78B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82930" y="3486485"/>
              <a:ext cx="322326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A78BFA"/>
                  </a:solidFill>
                  <a:latin typeface="Segoe UI"/>
                </a:defRPr>
              </a:pPr>
              <a:r>
                <a:rPr sz="900"/>
                <a:t>📊  4  LOG &amp; REPEAT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82930" y="3692225"/>
              <a:ext cx="3223260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Record loss, check validation metrics,</a:t>
              </a:r>
              <a:br>
                <a:rPr sz="750"/>
              </a:br>
              <a:r>
                <a:rPr sz="750"/>
                <a:t>repeat for every batch in every epoch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920240" y="1909145"/>
              <a:ext cx="68580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200" b="1">
                  <a:solidFill>
                    <a:srgbClr val="94A3B8"/>
                  </a:solidFill>
                  <a:latin typeface="Segoe UI"/>
                </a:defRPr>
              </a:pPr>
              <a:r>
                <a:rPr sz="900"/>
                <a:t>▼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920240" y="2629235"/>
              <a:ext cx="68580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200" b="1">
                  <a:solidFill>
                    <a:srgbClr val="94A3B8"/>
                  </a:solidFill>
                  <a:latin typeface="Segoe UI"/>
                </a:defRPr>
              </a:pPr>
              <a:r>
                <a:rPr sz="900"/>
                <a:t>▼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920240" y="3349325"/>
              <a:ext cx="68580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200" b="1">
                  <a:solidFill>
                    <a:srgbClr val="94A3B8"/>
                  </a:solidFill>
                  <a:latin typeface="Segoe UI"/>
                </a:defRPr>
              </a:pPr>
              <a:r>
                <a:rPr sz="900"/>
                <a:t>▼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411480" y="4220291"/>
              <a:ext cx="3566160" cy="486978"/>
            </a:xfrm>
            <a:prstGeom prst="roundRect">
              <a:avLst>
                <a:gd name="adj" fmla="val 3000"/>
              </a:avLst>
            </a:prstGeom>
            <a:solidFill>
              <a:srgbClr val="162033"/>
            </a:solidFill>
            <a:ln w="19050">
              <a:solidFill>
                <a:srgbClr val="F59E0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82930" y="4254581"/>
              <a:ext cx="3223260" cy="4526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225"/>
                </a:spcAft>
                <a:defRPr sz="1100" b="1">
                  <a:solidFill>
                    <a:srgbClr val="F59E0B"/>
                  </a:solidFill>
                  <a:latin typeface="Segoe UI"/>
                </a:defRPr>
              </a:pPr>
              <a:r>
                <a:rPr sz="825" dirty="0"/>
                <a:t>💡 Teacher Forcing</a:t>
              </a:r>
            </a:p>
            <a:p>
              <a:pPr>
                <a:spcAft>
                  <a:spcPts val="225"/>
                </a:spcAft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 dirty="0"/>
                <a:t>During training, decoder gets CORRECT previous tokens (not its own predictions)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FFF45241-DBA6-278B-D774-883122385B86}"/>
              </a:ext>
            </a:extLst>
          </p:cNvPr>
          <p:cNvGrpSpPr/>
          <p:nvPr/>
        </p:nvGrpSpPr>
        <p:grpSpPr>
          <a:xfrm>
            <a:off x="4251960" y="1038242"/>
            <a:ext cx="4526280" cy="3120390"/>
            <a:chOff x="4251960" y="1038242"/>
            <a:chExt cx="4526280" cy="3120390"/>
          </a:xfrm>
        </p:grpSpPr>
        <p:sp>
          <p:nvSpPr>
            <p:cNvPr id="29" name="TextBox 28"/>
            <p:cNvSpPr txBox="1"/>
            <p:nvPr/>
          </p:nvSpPr>
          <p:spPr>
            <a:xfrm>
              <a:off x="4251960" y="1038242"/>
              <a:ext cx="445770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A78BFA"/>
                  </a:solidFill>
                  <a:latin typeface="Segoe UI"/>
                </a:defRPr>
              </a:pPr>
              <a:r>
                <a:rPr sz="900"/>
                <a:t>KEY HYPERPARAMETERS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4251960" y="1312562"/>
              <a:ext cx="4457700" cy="274320"/>
            </a:xfrm>
            <a:prstGeom prst="roundRect">
              <a:avLst>
                <a:gd name="adj" fmla="val 2000"/>
              </a:avLst>
            </a:prstGeom>
            <a:solidFill>
              <a:srgbClr val="A78B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354830" y="1353710"/>
              <a:ext cx="120015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Parameter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589270" y="1353710"/>
              <a:ext cx="68580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Value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309360" y="1353710"/>
              <a:ext cx="96012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Controls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303770" y="1353710"/>
              <a:ext cx="147447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Why This Value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4251960" y="1614314"/>
              <a:ext cx="4457700" cy="288036"/>
            </a:xfrm>
            <a:prstGeom prst="roundRect">
              <a:avLst>
                <a:gd name="adj" fmla="val 1000"/>
              </a:avLst>
            </a:prstGeom>
            <a:solidFill>
              <a:srgbClr val="1620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354830" y="1655462"/>
              <a:ext cx="120015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>
                  <a:solidFill>
                    <a:srgbClr val="22C55E"/>
                  </a:solidFill>
                  <a:latin typeface="Segoe UI"/>
                </a:defRPr>
              </a:pPr>
              <a:r>
                <a:rPr sz="675"/>
                <a:t>Learning Rate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589270" y="1655462"/>
              <a:ext cx="68580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>
                  <a:solidFill>
                    <a:srgbClr val="22C55E"/>
                  </a:solidFill>
                  <a:latin typeface="Segoe UI"/>
                </a:defRPr>
              </a:pPr>
              <a:r>
                <a:rPr sz="675"/>
                <a:t>2e-5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309360" y="1655462"/>
              <a:ext cx="96012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>
                  <a:solidFill>
                    <a:srgbClr val="22C55E"/>
                  </a:solidFill>
                  <a:latin typeface="Segoe UI"/>
                </a:defRPr>
              </a:pPr>
              <a:r>
                <a:rPr sz="675"/>
                <a:t>Update size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7303770" y="1655462"/>
              <a:ext cx="1474470" cy="3000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>
                  <a:solidFill>
                    <a:srgbClr val="22C55E"/>
                  </a:solidFill>
                  <a:latin typeface="Segoe UI"/>
                </a:defRPr>
              </a:pPr>
              <a:r>
                <a:rPr sz="675"/>
                <a:t>Small! Don't destroy pre-trained knowledge</a:t>
              </a:r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4251960" y="1916066"/>
              <a:ext cx="4457700" cy="288036"/>
            </a:xfrm>
            <a:prstGeom prst="roundRect">
              <a:avLst>
                <a:gd name="adj" fmla="val 1000"/>
              </a:avLst>
            </a:prstGeom>
            <a:solidFill>
              <a:srgbClr val="1E29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354830" y="1957214"/>
              <a:ext cx="120015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Epochs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589270" y="1957214"/>
              <a:ext cx="68580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3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309360" y="1957214"/>
              <a:ext cx="96012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Data passes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7303770" y="1957214"/>
              <a:ext cx="1474470" cy="3000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Enough to learn, not enough to overfit</a:t>
              </a: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4251960" y="2217818"/>
              <a:ext cx="4457700" cy="288036"/>
            </a:xfrm>
            <a:prstGeom prst="roundRect">
              <a:avLst>
                <a:gd name="adj" fmla="val 1000"/>
              </a:avLst>
            </a:prstGeom>
            <a:solidFill>
              <a:srgbClr val="1620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4354830" y="2258966"/>
              <a:ext cx="120015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Batch Size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5589270" y="2258966"/>
              <a:ext cx="68580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4–8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309360" y="2258966"/>
              <a:ext cx="96012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Examples / step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7303770" y="2258966"/>
              <a:ext cx="1474470" cy="3000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Limited by GPU memory (T4 = 15 GB)</a:t>
              </a:r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4251960" y="2519570"/>
              <a:ext cx="4457700" cy="288036"/>
            </a:xfrm>
            <a:prstGeom prst="roundRect">
              <a:avLst>
                <a:gd name="adj" fmla="val 1000"/>
              </a:avLst>
            </a:prstGeom>
            <a:solidFill>
              <a:srgbClr val="1E29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4354830" y="2560718"/>
              <a:ext cx="120015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Warmup Steps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5589270" y="2560718"/>
              <a:ext cx="68580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500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309360" y="2560718"/>
              <a:ext cx="96012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LR ramp-up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7303770" y="2560718"/>
              <a:ext cx="147447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Prevents early instability</a:t>
              </a:r>
            </a:p>
          </p:txBody>
        </p:sp>
        <p:sp>
          <p:nvSpPr>
            <p:cNvPr id="55" name="Rounded Rectangle 54"/>
            <p:cNvSpPr/>
            <p:nvPr/>
          </p:nvSpPr>
          <p:spPr>
            <a:xfrm>
              <a:off x="4251960" y="2821322"/>
              <a:ext cx="4457700" cy="288036"/>
            </a:xfrm>
            <a:prstGeom prst="roundRect">
              <a:avLst>
                <a:gd name="adj" fmla="val 1000"/>
              </a:avLst>
            </a:prstGeom>
            <a:solidFill>
              <a:srgbClr val="1620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4354830" y="2862470"/>
              <a:ext cx="120015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Weight Decay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5589270" y="2862470"/>
              <a:ext cx="68580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0.01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6309360" y="2862470"/>
              <a:ext cx="96012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Regularization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7303770" y="2862470"/>
              <a:ext cx="1474470" cy="3000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Keeps weights from growing too large</a:t>
              </a:r>
            </a:p>
          </p:txBody>
        </p:sp>
        <p:sp>
          <p:nvSpPr>
            <p:cNvPr id="60" name="Rounded Rectangle 59"/>
            <p:cNvSpPr/>
            <p:nvPr/>
          </p:nvSpPr>
          <p:spPr>
            <a:xfrm>
              <a:off x="4251960" y="3123074"/>
              <a:ext cx="4457700" cy="288036"/>
            </a:xfrm>
            <a:prstGeom prst="roundRect">
              <a:avLst>
                <a:gd name="adj" fmla="val 1000"/>
              </a:avLst>
            </a:prstGeom>
            <a:solidFill>
              <a:srgbClr val="1E29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4354830" y="3164222"/>
              <a:ext cx="120015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Max Input Length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5589270" y="3164222"/>
              <a:ext cx="68580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512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6309360" y="3164222"/>
              <a:ext cx="96012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Truncation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7303770" y="3164222"/>
              <a:ext cx="147447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T5-small's context window</a:t>
              </a:r>
            </a:p>
          </p:txBody>
        </p:sp>
        <p:sp>
          <p:nvSpPr>
            <p:cNvPr id="65" name="Rounded Rectangle 64"/>
            <p:cNvSpPr/>
            <p:nvPr/>
          </p:nvSpPr>
          <p:spPr>
            <a:xfrm>
              <a:off x="4251960" y="3424826"/>
              <a:ext cx="4457700" cy="288036"/>
            </a:xfrm>
            <a:prstGeom prst="roundRect">
              <a:avLst>
                <a:gd name="adj" fmla="val 1000"/>
              </a:avLst>
            </a:prstGeom>
            <a:solidFill>
              <a:srgbClr val="1620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4354830" y="3465974"/>
              <a:ext cx="120015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Max Target Length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5589270" y="3465974"/>
              <a:ext cx="68580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128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6309360" y="3465974"/>
              <a:ext cx="96012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Output limit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7303770" y="3465974"/>
              <a:ext cx="147447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CNN/DM summaries ≈ 56 words</a:t>
              </a:r>
            </a:p>
          </p:txBody>
        </p:sp>
        <p:sp>
          <p:nvSpPr>
            <p:cNvPr id="70" name="Rounded Rectangle 69"/>
            <p:cNvSpPr/>
            <p:nvPr/>
          </p:nvSpPr>
          <p:spPr>
            <a:xfrm>
              <a:off x="4251960" y="3726578"/>
              <a:ext cx="4457700" cy="288036"/>
            </a:xfrm>
            <a:prstGeom prst="roundRect">
              <a:avLst>
                <a:gd name="adj" fmla="val 1000"/>
              </a:avLst>
            </a:prstGeom>
            <a:solidFill>
              <a:srgbClr val="1E29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4354830" y="3767726"/>
              <a:ext cx="120015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Grad. Accumulation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5589270" y="3767726"/>
              <a:ext cx="68580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4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6309360" y="3767726"/>
              <a:ext cx="96012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Effective batch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7303770" y="3767726"/>
              <a:ext cx="147447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Simulates batch of 4 × 4 = 16</a:t>
              </a: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4251960" y="4131200"/>
              <a:ext cx="4457700" cy="27432"/>
            </a:xfrm>
            <a:prstGeom prst="rect">
              <a:avLst/>
            </a:prstGeom>
            <a:solidFill>
              <a:srgbClr val="22C55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863C791A-4EE0-A264-C3C8-0F57DA1C6CF0}"/>
              </a:ext>
            </a:extLst>
          </p:cNvPr>
          <p:cNvGrpSpPr/>
          <p:nvPr/>
        </p:nvGrpSpPr>
        <p:grpSpPr>
          <a:xfrm>
            <a:off x="4251960" y="4131200"/>
            <a:ext cx="4457700" cy="857250"/>
            <a:chOff x="4251960" y="4131200"/>
            <a:chExt cx="4457700" cy="857250"/>
          </a:xfrm>
        </p:grpSpPr>
        <p:sp>
          <p:nvSpPr>
            <p:cNvPr id="75" name="Rounded Rectangle 74"/>
            <p:cNvSpPr/>
            <p:nvPr/>
          </p:nvSpPr>
          <p:spPr>
            <a:xfrm>
              <a:off x="4251960" y="4131200"/>
              <a:ext cx="4457700" cy="857250"/>
            </a:xfrm>
            <a:prstGeom prst="roundRect">
              <a:avLst>
                <a:gd name="adj" fmla="val 3000"/>
              </a:avLst>
            </a:prstGeom>
            <a:solidFill>
              <a:srgbClr val="1E293B"/>
            </a:solidFill>
            <a:ln w="19050">
              <a:solidFill>
                <a:srgbClr val="22C55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4389120" y="4213497"/>
              <a:ext cx="411480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22C55E"/>
                  </a:solidFill>
                  <a:latin typeface="Segoe UI"/>
                </a:defRPr>
              </a:pPr>
              <a:r>
                <a:rPr sz="825"/>
                <a:t>⚡ LEARNING RATE — The Most Important Hyperparameter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4457700" y="4439810"/>
              <a:ext cx="102870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Too high (1e-3):</a:t>
              </a: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5520690" y="4439810"/>
              <a:ext cx="123444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EF4444"/>
                  </a:solidFill>
                  <a:latin typeface="Segoe UI"/>
                </a:defRPr>
              </a:pPr>
              <a:r>
                <a:rPr sz="675"/>
                <a:t>████████████</a:t>
              </a: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6789420" y="4439810"/>
              <a:ext cx="178308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EF4444"/>
                  </a:solidFill>
                  <a:latin typeface="Segoe UI"/>
                </a:defRPr>
              </a:pPr>
              <a:r>
                <a:rPr sz="675"/>
                <a:t>Destroys pre-trained knowledge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4457700" y="4604402"/>
              <a:ext cx="102870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Too low (1e-7):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5520690" y="4604402"/>
              <a:ext cx="123444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F59E0B"/>
                  </a:solidFill>
                  <a:latin typeface="Segoe UI"/>
                </a:defRPr>
              </a:pPr>
              <a:r>
                <a:rPr sz="675"/>
                <a:t>█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6789420" y="4604402"/>
              <a:ext cx="178308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F59E0B"/>
                  </a:solidFill>
                  <a:latin typeface="Segoe UI"/>
                </a:defRPr>
              </a:pPr>
              <a:r>
                <a:rPr sz="675"/>
                <a:t>Takes forever, barely learns</a:t>
              </a: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4457700" y="4768994"/>
              <a:ext cx="102870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Just right (2e-5):</a:t>
              </a: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5520690" y="4768994"/>
              <a:ext cx="123444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22C55E"/>
                  </a:solidFill>
                  <a:latin typeface="Segoe UI"/>
                </a:defRPr>
              </a:pPr>
              <a:r>
                <a:rPr sz="675"/>
                <a:t>████</a:t>
              </a: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6789420" y="4768994"/>
              <a:ext cx="178308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22C55E"/>
                  </a:solidFill>
                  <a:latin typeface="Segoe UI"/>
                </a:defRPr>
              </a:pPr>
              <a:r>
                <a:rPr sz="675"/>
                <a:t>Gentle updates, preserves knowledge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69">
            <a:extLst>
              <a:ext uri="{FF2B5EF4-FFF2-40B4-BE49-F238E27FC236}">
                <a16:creationId xmlns:a16="http://schemas.microsoft.com/office/drawing/2014/main" id="{7AABC2F9-3266-A26E-E5A8-EAA2FF8A418A}"/>
              </a:ext>
            </a:extLst>
          </p:cNvPr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4" name="TextBox 3"/>
          <p:cNvSpPr txBox="1"/>
          <p:nvPr/>
        </p:nvSpPr>
        <p:spPr>
          <a:xfrm>
            <a:off x="411480" y="20867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sz="2400"/>
              <a:t>The Three Enemies of Fine-Tuning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98057"/>
            <a:ext cx="6858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rPr sz="1050"/>
              <a:t>What can go wrong and how to prevent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707401"/>
            <a:ext cx="8298180" cy="2057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86CA5275-0A62-2D20-8F0D-4F50E327ED6B}"/>
              </a:ext>
            </a:extLst>
          </p:cNvPr>
          <p:cNvGrpSpPr/>
          <p:nvPr/>
        </p:nvGrpSpPr>
        <p:grpSpPr>
          <a:xfrm>
            <a:off x="411480" y="913141"/>
            <a:ext cx="2640330" cy="2331720"/>
            <a:chOff x="411480" y="913141"/>
            <a:chExt cx="2640330" cy="2331720"/>
          </a:xfrm>
        </p:grpSpPr>
        <p:sp>
          <p:nvSpPr>
            <p:cNvPr id="7" name="Rounded Rectangle 6"/>
            <p:cNvSpPr/>
            <p:nvPr/>
          </p:nvSpPr>
          <p:spPr>
            <a:xfrm>
              <a:off x="411480" y="913141"/>
              <a:ext cx="2640330" cy="2331720"/>
            </a:xfrm>
            <a:prstGeom prst="roundRect">
              <a:avLst>
                <a:gd name="adj" fmla="val 3000"/>
              </a:avLst>
            </a:prstGeom>
            <a:solidFill>
              <a:srgbClr val="1E293B"/>
            </a:solidFill>
            <a:ln w="19050">
              <a:solidFill>
                <a:srgbClr val="EF444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411480" y="913141"/>
              <a:ext cx="2640330" cy="27432"/>
            </a:xfrm>
            <a:prstGeom prst="rect">
              <a:avLst/>
            </a:prstGeom>
            <a:solidFill>
              <a:srgbClr val="EF444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48640" y="1036585"/>
              <a:ext cx="240030" cy="205740"/>
            </a:xfrm>
            <a:prstGeom prst="roundRect">
              <a:avLst>
                <a:gd name="adj" fmla="val 40000"/>
              </a:avLst>
            </a:prstGeom>
            <a:solidFill>
              <a:srgbClr val="EF444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100" b="1">
                  <a:solidFill>
                    <a:srgbClr val="FFFFFF"/>
                  </a:solidFill>
                  <a:latin typeface="Segoe UI"/>
                </a:defRPr>
              </a:pPr>
              <a:r>
                <a:rPr sz="825"/>
                <a:t>1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57250" y="1036585"/>
              <a:ext cx="1920240" cy="2654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500" b="1">
                  <a:solidFill>
                    <a:srgbClr val="EF4444"/>
                  </a:solidFill>
                  <a:latin typeface="Segoe UI"/>
                </a:defRPr>
              </a:pPr>
              <a:r>
                <a:rPr sz="1125"/>
                <a:t>📈  Overfitting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82930" y="1310905"/>
              <a:ext cx="2331720" cy="3462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0">
                  <a:solidFill>
                    <a:srgbClr val="FFFFFF"/>
                  </a:solidFill>
                  <a:latin typeface="Segoe UI"/>
                </a:defRPr>
              </a:pPr>
              <a:r>
                <a:rPr sz="825"/>
                <a:t>Model memorizes training data</a:t>
              </a:r>
              <a:br>
                <a:rPr sz="825"/>
              </a:br>
              <a:r>
                <a:rPr sz="825"/>
                <a:t>instead of learning general patterns.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582930" y="1736101"/>
              <a:ext cx="2331720" cy="240030"/>
            </a:xfrm>
            <a:prstGeom prst="roundRect">
              <a:avLst>
                <a:gd name="adj" fmla="val 3000"/>
              </a:avLst>
            </a:prstGeom>
            <a:solidFill>
              <a:srgbClr val="1620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51510" y="1756675"/>
              <a:ext cx="219456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EF4444"/>
                  </a:solidFill>
                  <a:latin typeface="Segoe UI"/>
                </a:defRPr>
              </a:pPr>
              <a:r>
                <a:rPr sz="675"/>
                <a:t>⚠️  Train loss ↓↓  but  Val loss ↑↑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82930" y="2044711"/>
              <a:ext cx="233172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22C55E"/>
                  </a:solidFill>
                  <a:latin typeface="Segoe UI"/>
                </a:defRPr>
              </a:pPr>
              <a:r>
                <a:rPr sz="750"/>
                <a:t>Prevention: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82930" y="2216161"/>
              <a:ext cx="2331720" cy="6309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225"/>
                </a:spcAft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• Early stopping (stop when val loss rises)</a:t>
              </a:r>
            </a:p>
            <a:p>
              <a:pPr>
                <a:spcAft>
                  <a:spcPts val="225"/>
                </a:spcAft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• Dropout (randomly zero neurons)</a:t>
              </a:r>
            </a:p>
            <a:p>
              <a:pPr>
                <a:spcAft>
                  <a:spcPts val="225"/>
                </a:spcAft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• Weight decay (L2 regularization)</a:t>
              </a:r>
            </a:p>
            <a:p>
              <a:pPr>
                <a:spcAft>
                  <a:spcPts val="225"/>
                </a:spcAft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• More data / fewer epochs</a:t>
              </a: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4C8BE1D0-51C9-F518-F5C9-CB0D3F02F2E9}"/>
              </a:ext>
            </a:extLst>
          </p:cNvPr>
          <p:cNvGrpSpPr/>
          <p:nvPr/>
        </p:nvGrpSpPr>
        <p:grpSpPr>
          <a:xfrm>
            <a:off x="3223259" y="913141"/>
            <a:ext cx="2640330" cy="2331720"/>
            <a:chOff x="3223259" y="913141"/>
            <a:chExt cx="2640330" cy="2331720"/>
          </a:xfrm>
        </p:grpSpPr>
        <p:sp>
          <p:nvSpPr>
            <p:cNvPr id="16" name="Rounded Rectangle 15"/>
            <p:cNvSpPr/>
            <p:nvPr/>
          </p:nvSpPr>
          <p:spPr>
            <a:xfrm>
              <a:off x="3223259" y="913141"/>
              <a:ext cx="2640330" cy="2331720"/>
            </a:xfrm>
            <a:prstGeom prst="roundRect">
              <a:avLst>
                <a:gd name="adj" fmla="val 3000"/>
              </a:avLst>
            </a:prstGeom>
            <a:solidFill>
              <a:srgbClr val="1E293B"/>
            </a:solidFill>
            <a:ln w="19050">
              <a:solidFill>
                <a:srgbClr val="F59E0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223259" y="913141"/>
              <a:ext cx="2640330" cy="27432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3360419" y="1036585"/>
              <a:ext cx="240030" cy="205740"/>
            </a:xfrm>
            <a:prstGeom prst="roundRect">
              <a:avLst>
                <a:gd name="adj" fmla="val 40000"/>
              </a:avLst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100" b="1">
                  <a:solidFill>
                    <a:srgbClr val="FFFFFF"/>
                  </a:solidFill>
                  <a:latin typeface="Segoe UI"/>
                </a:defRPr>
              </a:pPr>
              <a:r>
                <a:rPr sz="825"/>
                <a:t>2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669029" y="1036585"/>
              <a:ext cx="2125980" cy="2654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500" b="1">
                  <a:solidFill>
                    <a:srgbClr val="F59E0B"/>
                  </a:solidFill>
                  <a:latin typeface="Segoe UI"/>
                </a:defRPr>
              </a:pPr>
              <a:r>
                <a:rPr sz="1125" dirty="0"/>
                <a:t>🧠  Catastrophic Forgetting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394709" y="1310905"/>
              <a:ext cx="2331720" cy="3462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0">
                  <a:solidFill>
                    <a:srgbClr val="FFFFFF"/>
                  </a:solidFill>
                  <a:latin typeface="Segoe UI"/>
                </a:defRPr>
              </a:pPr>
              <a:r>
                <a:rPr sz="825"/>
                <a:t>Model forgets pre-trained</a:t>
              </a:r>
              <a:br>
                <a:rPr sz="825"/>
              </a:br>
              <a:r>
                <a:rPr sz="825"/>
                <a:t>knowledge, loses language fluency.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3394709" y="1736101"/>
              <a:ext cx="2331720" cy="240030"/>
            </a:xfrm>
            <a:prstGeom prst="roundRect">
              <a:avLst>
                <a:gd name="adj" fmla="val 3000"/>
              </a:avLst>
            </a:prstGeom>
            <a:solidFill>
              <a:srgbClr val="1620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463289" y="1756675"/>
              <a:ext cx="219456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F59E0B"/>
                  </a:solidFill>
                  <a:latin typeface="Segoe UI"/>
                </a:defRPr>
              </a:pPr>
              <a:r>
                <a:rPr sz="675"/>
                <a:t>⚠️  Output becomes gibberish or incoherent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394709" y="2044711"/>
              <a:ext cx="233172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22C55E"/>
                  </a:solidFill>
                  <a:latin typeface="Segoe UI"/>
                </a:defRPr>
              </a:pPr>
              <a:r>
                <a:rPr sz="750"/>
                <a:t>Prevention: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394709" y="2216161"/>
              <a:ext cx="2331720" cy="6309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225"/>
                </a:spcAft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• Small learning rate (2e-5)</a:t>
              </a:r>
            </a:p>
            <a:p>
              <a:pPr>
                <a:spcAft>
                  <a:spcPts val="225"/>
                </a:spcAft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• Warmup schedule</a:t>
              </a:r>
            </a:p>
            <a:p>
              <a:pPr>
                <a:spcAft>
                  <a:spcPts val="225"/>
                </a:spcAft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• Short training (2–4 epochs)</a:t>
              </a:r>
            </a:p>
            <a:p>
              <a:pPr>
                <a:spcAft>
                  <a:spcPts val="225"/>
                </a:spcAft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• Gradual unfreezing (optional)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C21178A0-2E9F-849F-7F9E-4A24FEE43E51}"/>
              </a:ext>
            </a:extLst>
          </p:cNvPr>
          <p:cNvGrpSpPr/>
          <p:nvPr/>
        </p:nvGrpSpPr>
        <p:grpSpPr>
          <a:xfrm>
            <a:off x="6035039" y="913141"/>
            <a:ext cx="2640330" cy="2331720"/>
            <a:chOff x="6035039" y="913141"/>
            <a:chExt cx="2640330" cy="2331720"/>
          </a:xfrm>
        </p:grpSpPr>
        <p:sp>
          <p:nvSpPr>
            <p:cNvPr id="25" name="Rounded Rectangle 24"/>
            <p:cNvSpPr/>
            <p:nvPr/>
          </p:nvSpPr>
          <p:spPr>
            <a:xfrm>
              <a:off x="6035039" y="913141"/>
              <a:ext cx="2640330" cy="2331720"/>
            </a:xfrm>
            <a:prstGeom prst="roundRect">
              <a:avLst>
                <a:gd name="adj" fmla="val 3000"/>
              </a:avLst>
            </a:prstGeom>
            <a:solidFill>
              <a:srgbClr val="1E293B"/>
            </a:solidFill>
            <a:ln w="19050">
              <a:solidFill>
                <a:srgbClr val="EC489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035039" y="913141"/>
              <a:ext cx="2640330" cy="27432"/>
            </a:xfrm>
            <a:prstGeom prst="rect">
              <a:avLst/>
            </a:prstGeom>
            <a:solidFill>
              <a:srgbClr val="EC48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6172199" y="1036585"/>
              <a:ext cx="240030" cy="205740"/>
            </a:xfrm>
            <a:prstGeom prst="roundRect">
              <a:avLst>
                <a:gd name="adj" fmla="val 40000"/>
              </a:avLst>
            </a:prstGeom>
            <a:solidFill>
              <a:srgbClr val="EC48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100" b="1">
                  <a:solidFill>
                    <a:srgbClr val="FFFFFF"/>
                  </a:solidFill>
                  <a:latin typeface="Segoe UI"/>
                </a:defRPr>
              </a:pPr>
              <a:r>
                <a:rPr sz="825"/>
                <a:t>3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480809" y="1036585"/>
              <a:ext cx="1920240" cy="2654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500" b="1">
                  <a:solidFill>
                    <a:srgbClr val="EC4899"/>
                  </a:solidFill>
                  <a:latin typeface="Segoe UI"/>
                </a:defRPr>
              </a:pPr>
              <a:r>
                <a:rPr sz="1125"/>
                <a:t>🗑️  Data Quality Issues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206489" y="1310905"/>
              <a:ext cx="2331720" cy="3462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0">
                  <a:solidFill>
                    <a:srgbClr val="FFFFFF"/>
                  </a:solidFill>
                  <a:latin typeface="Segoe UI"/>
                </a:defRPr>
              </a:pPr>
              <a:r>
                <a:rPr sz="825"/>
                <a:t>Poor labels → model learns</a:t>
              </a:r>
              <a:br>
                <a:rPr sz="825"/>
              </a:br>
              <a:r>
                <a:rPr sz="825"/>
                <a:t>bad patterns. Garbage in, garbage out.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6206489" y="1736101"/>
              <a:ext cx="2331720" cy="240030"/>
            </a:xfrm>
            <a:prstGeom prst="roundRect">
              <a:avLst>
                <a:gd name="adj" fmla="val 3000"/>
              </a:avLst>
            </a:prstGeom>
            <a:solidFill>
              <a:srgbClr val="1620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275069" y="1756675"/>
              <a:ext cx="219456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EC4899"/>
                  </a:solidFill>
                  <a:latin typeface="Segoe UI"/>
                </a:defRPr>
              </a:pPr>
              <a:r>
                <a:rPr sz="675" dirty="0"/>
                <a:t>⚠️  Model outputs nonsensical summaries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206489" y="2044711"/>
              <a:ext cx="233172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22C55E"/>
                  </a:solidFill>
                  <a:latin typeface="Segoe UI"/>
                </a:defRPr>
              </a:pPr>
              <a:r>
                <a:rPr sz="750"/>
                <a:t>Prevention: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206489" y="2216161"/>
              <a:ext cx="2331720" cy="6309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225"/>
                </a:spcAft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• Use high-quality human labels</a:t>
              </a:r>
            </a:p>
            <a:p>
              <a:pPr>
                <a:spcAft>
                  <a:spcPts val="225"/>
                </a:spcAft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• CNN/DM highlights = journalist quality</a:t>
              </a:r>
            </a:p>
            <a:p>
              <a:pPr>
                <a:spcAft>
                  <a:spcPts val="225"/>
                </a:spcAft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• Filter very short/long examples</a:t>
              </a:r>
            </a:p>
            <a:p>
              <a:pPr>
                <a:spcAft>
                  <a:spcPts val="225"/>
                </a:spcAft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• Inspect samples before training</a:t>
              </a: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220D468E-4CDE-2F24-444F-528A99484FAF}"/>
              </a:ext>
            </a:extLst>
          </p:cNvPr>
          <p:cNvGrpSpPr/>
          <p:nvPr/>
        </p:nvGrpSpPr>
        <p:grpSpPr>
          <a:xfrm>
            <a:off x="411480" y="3575702"/>
            <a:ext cx="8298180" cy="1131570"/>
            <a:chOff x="411480" y="3575702"/>
            <a:chExt cx="8298180" cy="1131570"/>
          </a:xfrm>
        </p:grpSpPr>
        <p:sp>
          <p:nvSpPr>
            <p:cNvPr id="34" name="TextBox 33"/>
            <p:cNvSpPr txBox="1"/>
            <p:nvPr/>
          </p:nvSpPr>
          <p:spPr>
            <a:xfrm>
              <a:off x="411480" y="3575702"/>
              <a:ext cx="822960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A78BFA"/>
                  </a:solidFill>
                  <a:latin typeface="Segoe UI"/>
                </a:defRPr>
              </a:pPr>
              <a:r>
                <a:rPr sz="900"/>
                <a:t>LEARNING RATE SCHEDULE — Our Training Plan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411480" y="3815732"/>
              <a:ext cx="8298180" cy="891540"/>
            </a:xfrm>
            <a:prstGeom prst="roundRect">
              <a:avLst>
                <a:gd name="adj" fmla="val 3000"/>
              </a:avLst>
            </a:prstGeom>
            <a:solidFill>
              <a:srgbClr val="1E293B"/>
            </a:solidFill>
            <a:ln w="19050">
              <a:solidFill>
                <a:srgbClr val="3B82F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685800" y="4376373"/>
              <a:ext cx="96012" cy="56579"/>
            </a:xfrm>
            <a:prstGeom prst="rect">
              <a:avLst/>
            </a:prstGeom>
            <a:solidFill>
              <a:srgbClr val="14B8A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822960" y="4319795"/>
              <a:ext cx="96012" cy="113157"/>
            </a:xfrm>
            <a:prstGeom prst="rect">
              <a:avLst/>
            </a:prstGeom>
            <a:solidFill>
              <a:srgbClr val="14B8A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960120" y="4263216"/>
              <a:ext cx="96012" cy="169736"/>
            </a:xfrm>
            <a:prstGeom prst="rect">
              <a:avLst/>
            </a:prstGeom>
            <a:solidFill>
              <a:srgbClr val="14B8A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1097280" y="4206638"/>
              <a:ext cx="96012" cy="226314"/>
            </a:xfrm>
            <a:prstGeom prst="rect">
              <a:avLst/>
            </a:prstGeom>
            <a:solidFill>
              <a:srgbClr val="14B8A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1234440" y="4150059"/>
              <a:ext cx="96012" cy="282893"/>
            </a:xfrm>
            <a:prstGeom prst="rect">
              <a:avLst/>
            </a:prstGeom>
            <a:solidFill>
              <a:srgbClr val="14B8A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1371600" y="4093481"/>
              <a:ext cx="96012" cy="339471"/>
            </a:xfrm>
            <a:prstGeom prst="rect">
              <a:avLst/>
            </a:prstGeom>
            <a:solidFill>
              <a:srgbClr val="14B8A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1508760" y="4055762"/>
              <a:ext cx="96012" cy="377190"/>
            </a:xfrm>
            <a:prstGeom prst="rect">
              <a:avLst/>
            </a:prstGeom>
            <a:solidFill>
              <a:srgbClr val="14B8A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1645920" y="4055762"/>
              <a:ext cx="96012" cy="377190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1783080" y="4055762"/>
              <a:ext cx="96012" cy="377190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1920240" y="4055762"/>
              <a:ext cx="96012" cy="377190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2057400" y="4055762"/>
              <a:ext cx="96012" cy="377190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2194560" y="4055762"/>
              <a:ext cx="96012" cy="377190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2331720" y="4055762"/>
              <a:ext cx="96012" cy="377190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2468880" y="4055762"/>
              <a:ext cx="96012" cy="377190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2606040" y="4055762"/>
              <a:ext cx="96012" cy="377190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2743200" y="4055762"/>
              <a:ext cx="96012" cy="377190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2880360" y="4055762"/>
              <a:ext cx="96012" cy="377190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3017520" y="4055762"/>
              <a:ext cx="96012" cy="377190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3154680" y="4055762"/>
              <a:ext cx="96012" cy="377190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3291840" y="4074621"/>
              <a:ext cx="96012" cy="358331"/>
            </a:xfrm>
            <a:prstGeom prst="rect">
              <a:avLst/>
            </a:prstGeom>
            <a:solidFill>
              <a:srgbClr val="A78B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3429000" y="4112340"/>
              <a:ext cx="96012" cy="320612"/>
            </a:xfrm>
            <a:prstGeom prst="rect">
              <a:avLst/>
            </a:prstGeom>
            <a:solidFill>
              <a:srgbClr val="A78B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3566160" y="4150059"/>
              <a:ext cx="96012" cy="282893"/>
            </a:xfrm>
            <a:prstGeom prst="rect">
              <a:avLst/>
            </a:prstGeom>
            <a:solidFill>
              <a:srgbClr val="A78B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3703320" y="4187778"/>
              <a:ext cx="96012" cy="245174"/>
            </a:xfrm>
            <a:prstGeom prst="rect">
              <a:avLst/>
            </a:prstGeom>
            <a:solidFill>
              <a:srgbClr val="A78B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3840480" y="4225497"/>
              <a:ext cx="96012" cy="207455"/>
            </a:xfrm>
            <a:prstGeom prst="rect">
              <a:avLst/>
            </a:prstGeom>
            <a:solidFill>
              <a:srgbClr val="A78B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3977640" y="4263216"/>
              <a:ext cx="96012" cy="169736"/>
            </a:xfrm>
            <a:prstGeom prst="rect">
              <a:avLst/>
            </a:prstGeom>
            <a:solidFill>
              <a:srgbClr val="A78B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4114800" y="4300935"/>
              <a:ext cx="96012" cy="132017"/>
            </a:xfrm>
            <a:prstGeom prst="rect">
              <a:avLst/>
            </a:prstGeom>
            <a:solidFill>
              <a:srgbClr val="A78B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4251960" y="4338654"/>
              <a:ext cx="96012" cy="94298"/>
            </a:xfrm>
            <a:prstGeom prst="rect">
              <a:avLst/>
            </a:prstGeom>
            <a:solidFill>
              <a:srgbClr val="A78B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4389120" y="4376373"/>
              <a:ext cx="96012" cy="56579"/>
            </a:xfrm>
            <a:prstGeom prst="rect">
              <a:avLst/>
            </a:prstGeom>
            <a:solidFill>
              <a:srgbClr val="A78B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4526280" y="4402778"/>
              <a:ext cx="96012" cy="30175"/>
            </a:xfrm>
            <a:prstGeom prst="rect">
              <a:avLst/>
            </a:prstGeom>
            <a:solidFill>
              <a:srgbClr val="A78B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685800" y="4467242"/>
              <a:ext cx="102870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>
                  <a:solidFill>
                    <a:srgbClr val="14B8A6"/>
                  </a:solidFill>
                  <a:latin typeface="Segoe UI"/>
                </a:defRPr>
              </a:pPr>
              <a:r>
                <a:rPr sz="675"/>
                <a:t>↑ Warmup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1645920" y="4467242"/>
              <a:ext cx="164592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>
                  <a:solidFill>
                    <a:srgbClr val="3B82F6"/>
                  </a:solidFill>
                  <a:latin typeface="Segoe UI"/>
                </a:defRPr>
              </a:pPr>
              <a:r>
                <a:rPr sz="675"/>
                <a:t>Peak (2e-5)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3291840" y="4467242"/>
              <a:ext cx="137160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>
                  <a:solidFill>
                    <a:srgbClr val="A78BFA"/>
                  </a:solidFill>
                  <a:latin typeface="Segoe UI"/>
                </a:defRPr>
              </a:pPr>
              <a:r>
                <a:rPr sz="675"/>
                <a:t>Linear Decay ↓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5143500" y="3918602"/>
              <a:ext cx="3291840" cy="6694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Warmup: Start with tiny LR, gradually increase to peak to prevent early instability.</a:t>
              </a:r>
              <a:br>
                <a:rPr sz="750"/>
              </a:br>
              <a:r>
                <a:rPr sz="750"/>
                <a:t>Peak: Full learning rate for the main training.</a:t>
              </a:r>
              <a:br>
                <a:rPr sz="750"/>
              </a:br>
              <a:r>
                <a:rPr sz="750"/>
                <a:t>Decay: Gradually decrease to zero by the end of training for smooth convergence.</a:t>
              </a:r>
            </a:p>
          </p:txBody>
        </p:sp>
      </p:grpSp>
      <p:sp>
        <p:nvSpPr>
          <p:cNvPr id="69" name="TextBox 68"/>
          <p:cNvSpPr txBox="1"/>
          <p:nvPr/>
        </p:nvSpPr>
        <p:spPr>
          <a:xfrm>
            <a:off x="411480" y="4818847"/>
            <a:ext cx="8298180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Segoe UI"/>
              </a:defRPr>
            </a:pPr>
            <a:r>
              <a:rPr sz="825" dirty="0"/>
              <a:t>💡 Fine-tuning is like teaching a skilled chef a new cuisine </a:t>
            </a:r>
            <a:r>
              <a:rPr lang="en-IN" sz="825" dirty="0"/>
              <a:t>,</a:t>
            </a:r>
            <a:r>
              <a:rPr sz="825" dirty="0"/>
              <a:t> too aggressive and they forget how to cook, too gentle and they never learn.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5ED2A4D1-9F97-F758-E3E8-D8EEBE1FB606}"/>
              </a:ext>
            </a:extLst>
          </p:cNvPr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4" name="TextBox 3"/>
          <p:cNvSpPr txBox="1"/>
          <p:nvPr/>
        </p:nvSpPr>
        <p:spPr>
          <a:xfrm>
            <a:off x="411480" y="27518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sz="2400" dirty="0"/>
              <a:t>Hugging Face Trainer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04708"/>
            <a:ext cx="6858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rPr sz="1050"/>
              <a:t>Seq2SeqTrainer wraps the entire training loop into a few lines of code.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28889"/>
            <a:ext cx="8298180" cy="2057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29474D1-7F98-0151-5107-DE6B13F1D6F5}"/>
              </a:ext>
            </a:extLst>
          </p:cNvPr>
          <p:cNvGrpSpPr/>
          <p:nvPr/>
        </p:nvGrpSpPr>
        <p:grpSpPr>
          <a:xfrm>
            <a:off x="411480" y="1000339"/>
            <a:ext cx="3566160" cy="2624842"/>
            <a:chOff x="411480" y="1000339"/>
            <a:chExt cx="3566160" cy="2624842"/>
          </a:xfrm>
        </p:grpSpPr>
        <p:sp>
          <p:nvSpPr>
            <p:cNvPr id="7" name="TextBox 6"/>
            <p:cNvSpPr txBox="1"/>
            <p:nvPr/>
          </p:nvSpPr>
          <p:spPr>
            <a:xfrm>
              <a:off x="411480" y="1000339"/>
              <a:ext cx="342900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A78BFA"/>
                  </a:solidFill>
                  <a:latin typeface="Segoe UI"/>
                </a:defRPr>
              </a:pPr>
              <a:r>
                <a:rPr sz="900"/>
                <a:t>WHY USE TRAINER?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11480" y="1274659"/>
              <a:ext cx="3566160" cy="342900"/>
            </a:xfrm>
            <a:prstGeom prst="roundRect">
              <a:avLst>
                <a:gd name="adj" fmla="val 3000"/>
              </a:avLst>
            </a:prstGeom>
            <a:solidFill>
              <a:srgbClr val="1E293B"/>
            </a:solidFill>
            <a:ln w="19050">
              <a:solidFill>
                <a:srgbClr val="EF444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82930" y="1308950"/>
              <a:ext cx="157734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EF4444"/>
                  </a:solidFill>
                  <a:latin typeface="Segoe UI"/>
                </a:defRPr>
              </a:pPr>
              <a:r>
                <a:rPr sz="825"/>
                <a:t>Manual training loop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194560" y="1308950"/>
              <a:ext cx="164592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/>
                <a:t>~200 lines of Python code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411480" y="1651849"/>
              <a:ext cx="3566160" cy="342900"/>
            </a:xfrm>
            <a:prstGeom prst="roundRect">
              <a:avLst>
                <a:gd name="adj" fmla="val 3000"/>
              </a:avLst>
            </a:prstGeom>
            <a:solidFill>
              <a:srgbClr val="1E293B"/>
            </a:solidFill>
            <a:ln w="19050">
              <a:solidFill>
                <a:srgbClr val="22C55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82930" y="1686140"/>
              <a:ext cx="157734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22C55E"/>
                  </a:solidFill>
                  <a:latin typeface="Segoe UI"/>
                </a:defRPr>
              </a:pPr>
              <a:r>
                <a:rPr sz="825"/>
                <a:t>With Seq2SeqTrainer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194560" y="1686140"/>
              <a:ext cx="164592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/>
                <a:t>~20 lines of Python code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11480" y="2097620"/>
              <a:ext cx="342900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14B8A6"/>
                  </a:solidFill>
                  <a:latin typeface="Segoe UI"/>
                </a:defRPr>
              </a:pPr>
              <a:r>
                <a:rPr sz="825"/>
                <a:t>TRAINER HANDLES FOR YOU: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48640" y="2337649"/>
              <a:ext cx="3291840" cy="12875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225"/>
                </a:spcAft>
                <a:defRPr sz="1100" b="0">
                  <a:solidFill>
                    <a:srgbClr val="FFFFFF"/>
                  </a:solidFill>
                  <a:latin typeface="Segoe UI"/>
                </a:defRPr>
              </a:pPr>
              <a:r>
                <a:rPr sz="825"/>
                <a:t>✓  Data loading &amp; batching</a:t>
              </a:r>
            </a:p>
            <a:p>
              <a:pPr>
                <a:spcAft>
                  <a:spcPts val="225"/>
                </a:spcAft>
                <a:defRPr sz="1100" b="0">
                  <a:solidFill>
                    <a:srgbClr val="FFFFFF"/>
                  </a:solidFill>
                  <a:latin typeface="Segoe UI"/>
                </a:defRPr>
              </a:pPr>
              <a:r>
                <a:rPr sz="825"/>
                <a:t>✓  Gradient computation &amp; optimization</a:t>
              </a:r>
            </a:p>
            <a:p>
              <a:pPr>
                <a:spcAft>
                  <a:spcPts val="225"/>
                </a:spcAft>
                <a:defRPr sz="1100" b="0">
                  <a:solidFill>
                    <a:srgbClr val="FFFFFF"/>
                  </a:solidFill>
                  <a:latin typeface="Segoe UI"/>
                </a:defRPr>
              </a:pPr>
              <a:r>
                <a:rPr sz="825"/>
                <a:t>✓  Mixed precision (FP16) for speed</a:t>
              </a:r>
            </a:p>
            <a:p>
              <a:pPr>
                <a:spcAft>
                  <a:spcPts val="225"/>
                </a:spcAft>
                <a:defRPr sz="1100" b="0">
                  <a:solidFill>
                    <a:srgbClr val="FFFFFF"/>
                  </a:solidFill>
                  <a:latin typeface="Segoe UI"/>
                </a:defRPr>
              </a:pPr>
              <a:r>
                <a:rPr sz="825"/>
                <a:t>✓  Evaluation during training</a:t>
              </a:r>
            </a:p>
            <a:p>
              <a:pPr>
                <a:spcAft>
                  <a:spcPts val="225"/>
                </a:spcAft>
                <a:defRPr sz="1100" b="0">
                  <a:solidFill>
                    <a:srgbClr val="FFFFFF"/>
                  </a:solidFill>
                  <a:latin typeface="Segoe UI"/>
                </a:defRPr>
              </a:pPr>
              <a:r>
                <a:rPr sz="825"/>
                <a:t>✓  Checkpoint saving &amp; loading</a:t>
              </a:r>
            </a:p>
            <a:p>
              <a:pPr>
                <a:spcAft>
                  <a:spcPts val="225"/>
                </a:spcAft>
                <a:defRPr sz="1100" b="0">
                  <a:solidFill>
                    <a:srgbClr val="FFFFFF"/>
                  </a:solidFill>
                  <a:latin typeface="Segoe UI"/>
                </a:defRPr>
              </a:pPr>
              <a:r>
                <a:rPr sz="825"/>
                <a:t>✓  Logging to console / TensorBoard</a:t>
              </a:r>
            </a:p>
            <a:p>
              <a:pPr>
                <a:spcAft>
                  <a:spcPts val="225"/>
                </a:spcAft>
                <a:defRPr sz="1100" b="0">
                  <a:solidFill>
                    <a:srgbClr val="FFFFFF"/>
                  </a:solidFill>
                  <a:latin typeface="Segoe UI"/>
                </a:defRPr>
              </a:pPr>
              <a:r>
                <a:rPr sz="825"/>
                <a:t>✓  Early stopping (optional)</a:t>
              </a:r>
            </a:p>
            <a:p>
              <a:pPr>
                <a:spcAft>
                  <a:spcPts val="225"/>
                </a:spcAft>
                <a:defRPr sz="1100" b="0">
                  <a:solidFill>
                    <a:srgbClr val="FFFFFF"/>
                  </a:solidFill>
                  <a:latin typeface="Segoe UI"/>
                </a:defRPr>
              </a:pPr>
              <a:r>
                <a:rPr sz="825"/>
                <a:t>✓  Multi-GPU support (if available)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6179F40-EF7D-F09F-4470-6383DECB3AF6}"/>
              </a:ext>
            </a:extLst>
          </p:cNvPr>
          <p:cNvGrpSpPr/>
          <p:nvPr/>
        </p:nvGrpSpPr>
        <p:grpSpPr>
          <a:xfrm>
            <a:off x="4251960" y="1000339"/>
            <a:ext cx="4457700" cy="857250"/>
            <a:chOff x="4251960" y="1000339"/>
            <a:chExt cx="4457700" cy="857250"/>
          </a:xfrm>
        </p:grpSpPr>
        <p:sp>
          <p:nvSpPr>
            <p:cNvPr id="16" name="TextBox 15"/>
            <p:cNvSpPr txBox="1"/>
            <p:nvPr/>
          </p:nvSpPr>
          <p:spPr>
            <a:xfrm>
              <a:off x="4251960" y="1000339"/>
              <a:ext cx="445770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A78BFA"/>
                  </a:solidFill>
                  <a:latin typeface="Segoe UI"/>
                </a:defRPr>
              </a:pPr>
              <a:r>
                <a:rPr sz="900"/>
                <a:t>LAB 2 CODE STRUCTURE (PREVIEW)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4251960" y="1274659"/>
              <a:ext cx="1371600" cy="171450"/>
            </a:xfrm>
            <a:prstGeom prst="roundRect">
              <a:avLst>
                <a:gd name="adj" fmla="val 40000"/>
              </a:avLst>
            </a:prstGeom>
            <a:solidFill>
              <a:srgbClr val="3B8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800" b="1">
                  <a:solidFill>
                    <a:srgbClr val="FFFFFF"/>
                  </a:solidFill>
                  <a:latin typeface="Segoe UI"/>
                </a:defRPr>
              </a:pPr>
              <a:r>
                <a:rPr sz="600"/>
                <a:t>STEP 1: LOAD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4251960" y="1480399"/>
              <a:ext cx="4457700" cy="377190"/>
            </a:xfrm>
            <a:prstGeom prst="roundRect">
              <a:avLst>
                <a:gd name="adj" fmla="val 2000"/>
              </a:avLst>
            </a:prstGeom>
            <a:solidFill>
              <a:srgbClr val="162033"/>
            </a:solidFill>
            <a:ln w="19050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334256" y="1535264"/>
              <a:ext cx="429310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800" b="0">
                  <a:solidFill>
                    <a:srgbClr val="3B82F6"/>
                  </a:solidFill>
                  <a:latin typeface="Consolas"/>
                </a:defRPr>
              </a:pPr>
              <a:r>
                <a:rPr sz="600"/>
                <a:t>tokenizer = AutoTokenizer.from_pretrained('t5-small')</a:t>
              </a:r>
            </a:p>
            <a:p>
              <a:pPr>
                <a:defRPr sz="800" b="0">
                  <a:solidFill>
                    <a:srgbClr val="FFFFFF"/>
                  </a:solidFill>
                  <a:latin typeface="Consolas"/>
                </a:defRPr>
              </a:pPr>
              <a:r>
                <a:rPr sz="600"/>
                <a:t>model = AutoModelForSeq2SeqLM.from_pretrained('t5-small')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736C9AC-1152-BE0C-92B6-E147EB8E6FD9}"/>
              </a:ext>
            </a:extLst>
          </p:cNvPr>
          <p:cNvGrpSpPr/>
          <p:nvPr/>
        </p:nvGrpSpPr>
        <p:grpSpPr>
          <a:xfrm>
            <a:off x="4251960" y="1926169"/>
            <a:ext cx="4457700" cy="814602"/>
            <a:chOff x="4251960" y="1926169"/>
            <a:chExt cx="4457700" cy="814602"/>
          </a:xfrm>
        </p:grpSpPr>
        <p:sp>
          <p:nvSpPr>
            <p:cNvPr id="20" name="Rounded Rectangle 19"/>
            <p:cNvSpPr/>
            <p:nvPr/>
          </p:nvSpPr>
          <p:spPr>
            <a:xfrm>
              <a:off x="4251960" y="1926169"/>
              <a:ext cx="1920240" cy="171450"/>
            </a:xfrm>
            <a:prstGeom prst="roundRect">
              <a:avLst>
                <a:gd name="adj" fmla="val 40000"/>
              </a:avLst>
            </a:prstGeom>
            <a:solidFill>
              <a:srgbClr val="14B8A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800" b="1">
                  <a:solidFill>
                    <a:srgbClr val="FFFFFF"/>
                  </a:solidFill>
                  <a:latin typeface="Segoe UI"/>
                </a:defRPr>
              </a:pPr>
              <a:r>
                <a:rPr sz="600"/>
                <a:t>STEP 2: PREPROCESS DATA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4251960" y="2131909"/>
              <a:ext cx="4457700" cy="582930"/>
            </a:xfrm>
            <a:prstGeom prst="roundRect">
              <a:avLst>
                <a:gd name="adj" fmla="val 2000"/>
              </a:avLst>
            </a:prstGeom>
            <a:solidFill>
              <a:srgbClr val="162033"/>
            </a:solidFill>
            <a:ln w="19050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334256" y="2186773"/>
              <a:ext cx="4293108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800" b="0">
                  <a:solidFill>
                    <a:srgbClr val="14B8A6"/>
                  </a:solidFill>
                  <a:latin typeface="Consolas"/>
                </a:defRPr>
              </a:pPr>
              <a:r>
                <a:rPr sz="600" dirty="0"/>
                <a:t>dataset = </a:t>
              </a:r>
              <a:r>
                <a:rPr sz="600" dirty="0" err="1"/>
                <a:t>load_dataset</a:t>
              </a:r>
              <a:r>
                <a:rPr sz="600" dirty="0"/>
                <a:t>('</a:t>
              </a:r>
              <a:r>
                <a:rPr sz="600" dirty="0" err="1"/>
                <a:t>cnn_dailymail</a:t>
              </a:r>
              <a:r>
                <a:rPr sz="600" dirty="0"/>
                <a:t>', '3.0.0')</a:t>
              </a:r>
            </a:p>
            <a:p>
              <a:pPr>
                <a:defRPr sz="800" b="0">
                  <a:solidFill>
                    <a:srgbClr val="FFFFFF"/>
                  </a:solidFill>
                  <a:latin typeface="Consolas"/>
                </a:defRPr>
              </a:pPr>
              <a:r>
                <a:rPr sz="600" dirty="0"/>
                <a:t>def preprocess(examples):</a:t>
              </a:r>
            </a:p>
            <a:p>
              <a:pPr>
                <a:defRPr sz="800" b="0">
                  <a:solidFill>
                    <a:srgbClr val="FFFFFF"/>
                  </a:solidFill>
                  <a:latin typeface="Consolas"/>
                </a:defRPr>
              </a:pPr>
              <a:r>
                <a:rPr sz="600" dirty="0"/>
                <a:t>    inputs = tokenizer(['summarize: '+a for a in examples['article']])</a:t>
              </a:r>
            </a:p>
            <a:p>
              <a:pPr>
                <a:defRPr sz="800" b="0">
                  <a:solidFill>
                    <a:srgbClr val="FFFFFF"/>
                  </a:solidFill>
                  <a:latin typeface="Consolas"/>
                </a:defRPr>
              </a:pPr>
              <a:r>
                <a:rPr sz="600" dirty="0"/>
                <a:t>    targets = tokenizer(examples['highlights'])</a:t>
              </a:r>
            </a:p>
            <a:p>
              <a:pPr>
                <a:defRPr sz="800" b="0">
                  <a:solidFill>
                    <a:srgbClr val="FFFFFF"/>
                  </a:solidFill>
                  <a:latin typeface="Consolas"/>
                </a:defRPr>
              </a:pPr>
              <a:r>
                <a:rPr sz="600" dirty="0"/>
                <a:t>    return inputs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77F8704-F49E-661D-C990-9AD16ED75F4E}"/>
              </a:ext>
            </a:extLst>
          </p:cNvPr>
          <p:cNvGrpSpPr/>
          <p:nvPr/>
        </p:nvGrpSpPr>
        <p:grpSpPr>
          <a:xfrm>
            <a:off x="4251960" y="2783419"/>
            <a:ext cx="4457700" cy="814602"/>
            <a:chOff x="4251960" y="2783419"/>
            <a:chExt cx="4457700" cy="814602"/>
          </a:xfrm>
        </p:grpSpPr>
        <p:sp>
          <p:nvSpPr>
            <p:cNvPr id="23" name="Rounded Rectangle 22"/>
            <p:cNvSpPr/>
            <p:nvPr/>
          </p:nvSpPr>
          <p:spPr>
            <a:xfrm>
              <a:off x="4251960" y="2783419"/>
              <a:ext cx="1920240" cy="171450"/>
            </a:xfrm>
            <a:prstGeom prst="roundRect">
              <a:avLst>
                <a:gd name="adj" fmla="val 40000"/>
              </a:avLst>
            </a:prstGeom>
            <a:solidFill>
              <a:srgbClr val="22C55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800" b="1">
                  <a:solidFill>
                    <a:srgbClr val="FFFFFF"/>
                  </a:solidFill>
                  <a:latin typeface="Segoe UI"/>
                </a:defRPr>
              </a:pPr>
              <a:r>
                <a:rPr sz="600"/>
                <a:t>STEP 3: CONFIGURE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4251960" y="2989159"/>
              <a:ext cx="4457700" cy="582930"/>
            </a:xfrm>
            <a:prstGeom prst="roundRect">
              <a:avLst>
                <a:gd name="adj" fmla="val 2000"/>
              </a:avLst>
            </a:prstGeom>
            <a:solidFill>
              <a:srgbClr val="162033"/>
            </a:solidFill>
            <a:ln w="19050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334256" y="3044023"/>
              <a:ext cx="4293108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800" b="0">
                  <a:solidFill>
                    <a:srgbClr val="22C55E"/>
                  </a:solidFill>
                  <a:latin typeface="Consolas"/>
                </a:defRPr>
              </a:pPr>
              <a:r>
                <a:rPr sz="600" dirty="0" err="1"/>
                <a:t>args</a:t>
              </a:r>
              <a:r>
                <a:rPr sz="600" dirty="0"/>
                <a:t> = Seq2SeqTrainingArguments(</a:t>
              </a:r>
            </a:p>
            <a:p>
              <a:pPr>
                <a:defRPr sz="800" b="0">
                  <a:solidFill>
                    <a:srgbClr val="FFFFFF"/>
                  </a:solidFill>
                  <a:latin typeface="Consolas"/>
                </a:defRPr>
              </a:pPr>
              <a:r>
                <a:rPr sz="600" dirty="0"/>
                <a:t>    </a:t>
              </a:r>
              <a:r>
                <a:rPr sz="600" dirty="0" err="1"/>
                <a:t>num_train_epochs</a:t>
              </a:r>
              <a:r>
                <a:rPr sz="600" dirty="0"/>
                <a:t>=3, learning_rate=2e-5,</a:t>
              </a:r>
            </a:p>
            <a:p>
              <a:pPr>
                <a:defRPr sz="800" b="0">
                  <a:solidFill>
                    <a:srgbClr val="FFFFFF"/>
                  </a:solidFill>
                  <a:latin typeface="Consolas"/>
                </a:defRPr>
              </a:pPr>
              <a:r>
                <a:rPr sz="600" dirty="0"/>
                <a:t>    </a:t>
              </a:r>
              <a:r>
                <a:rPr sz="600" dirty="0" err="1"/>
                <a:t>per_device_train_batch_size</a:t>
              </a:r>
              <a:r>
                <a:rPr sz="600" dirty="0"/>
                <a:t>=4,</a:t>
              </a:r>
            </a:p>
            <a:p>
              <a:pPr>
                <a:defRPr sz="800" b="0">
                  <a:solidFill>
                    <a:srgbClr val="FFFFFF"/>
                  </a:solidFill>
                  <a:latin typeface="Consolas"/>
                </a:defRPr>
              </a:pPr>
              <a:r>
                <a:rPr sz="600" dirty="0"/>
                <a:t>    fp16=True, </a:t>
              </a:r>
              <a:r>
                <a:rPr sz="600" dirty="0" err="1"/>
                <a:t>predict_with_generate</a:t>
              </a:r>
              <a:r>
                <a:rPr sz="600" dirty="0"/>
                <a:t>=True,</a:t>
              </a:r>
            </a:p>
            <a:p>
              <a:pPr>
                <a:defRPr sz="800" b="0">
                  <a:solidFill>
                    <a:srgbClr val="FFFFFF"/>
                  </a:solidFill>
                  <a:latin typeface="Consolas"/>
                </a:defRPr>
              </a:pPr>
              <a:r>
                <a:rPr sz="600" dirty="0"/>
                <a:t>)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153B9B0-191C-1996-6396-2975B884E708}"/>
              </a:ext>
            </a:extLst>
          </p:cNvPr>
          <p:cNvGrpSpPr/>
          <p:nvPr/>
        </p:nvGrpSpPr>
        <p:grpSpPr>
          <a:xfrm>
            <a:off x="4251960" y="3640669"/>
            <a:ext cx="4457700" cy="582930"/>
            <a:chOff x="4251960" y="3640669"/>
            <a:chExt cx="4457700" cy="582930"/>
          </a:xfrm>
        </p:grpSpPr>
        <p:sp>
          <p:nvSpPr>
            <p:cNvPr id="26" name="Rounded Rectangle 25"/>
            <p:cNvSpPr/>
            <p:nvPr/>
          </p:nvSpPr>
          <p:spPr>
            <a:xfrm>
              <a:off x="4251960" y="3640669"/>
              <a:ext cx="1371600" cy="171450"/>
            </a:xfrm>
            <a:prstGeom prst="roundRect">
              <a:avLst>
                <a:gd name="adj" fmla="val 40000"/>
              </a:avLst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800" b="1">
                  <a:solidFill>
                    <a:srgbClr val="FFFFFF"/>
                  </a:solidFill>
                  <a:latin typeface="Segoe UI"/>
                </a:defRPr>
              </a:pPr>
              <a:r>
                <a:rPr sz="600"/>
                <a:t>STEP 4: TRAIN!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4251960" y="3846409"/>
              <a:ext cx="4457700" cy="377190"/>
            </a:xfrm>
            <a:prstGeom prst="roundRect">
              <a:avLst>
                <a:gd name="adj" fmla="val 2000"/>
              </a:avLst>
            </a:prstGeom>
            <a:solidFill>
              <a:srgbClr val="162033"/>
            </a:solidFill>
            <a:ln w="19050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334256" y="3901274"/>
              <a:ext cx="429310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800" b="0">
                  <a:solidFill>
                    <a:srgbClr val="F59E0B"/>
                  </a:solidFill>
                  <a:latin typeface="Consolas"/>
                </a:defRPr>
              </a:pPr>
              <a:r>
                <a:rPr sz="600" dirty="0"/>
                <a:t>trainer = Seq2SeqTrainer(model, </a:t>
              </a:r>
              <a:r>
                <a:rPr sz="600" dirty="0" err="1"/>
                <a:t>args</a:t>
              </a:r>
              <a:r>
                <a:rPr sz="600" dirty="0"/>
                <a:t>, </a:t>
              </a:r>
              <a:r>
                <a:rPr sz="600" dirty="0" err="1"/>
                <a:t>train_data</a:t>
              </a:r>
              <a:r>
                <a:rPr sz="600" dirty="0"/>
                <a:t>, </a:t>
              </a:r>
              <a:r>
                <a:rPr sz="600" dirty="0" err="1"/>
                <a:t>eval_data</a:t>
              </a:r>
              <a:r>
                <a:rPr sz="600" dirty="0"/>
                <a:t>)</a:t>
              </a:r>
            </a:p>
            <a:p>
              <a:pPr>
                <a:defRPr sz="800" b="0">
                  <a:solidFill>
                    <a:srgbClr val="FBBF24"/>
                  </a:solidFill>
                  <a:latin typeface="Consolas"/>
                </a:defRPr>
              </a:pPr>
              <a:r>
                <a:rPr sz="600" dirty="0" err="1"/>
                <a:t>trainer.train</a:t>
              </a:r>
              <a:r>
                <a:rPr sz="600" dirty="0"/>
                <a:t>()  # ~15 min on </a:t>
              </a:r>
              <a:r>
                <a:rPr sz="600" dirty="0" err="1"/>
                <a:t>Colab</a:t>
              </a:r>
              <a:r>
                <a:rPr sz="600" dirty="0"/>
                <a:t> T4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9D6F963-806C-462F-6CFC-8B94183601B7}"/>
              </a:ext>
            </a:extLst>
          </p:cNvPr>
          <p:cNvGrpSpPr/>
          <p:nvPr/>
        </p:nvGrpSpPr>
        <p:grpSpPr>
          <a:xfrm>
            <a:off x="4251960" y="4292179"/>
            <a:ext cx="4457700" cy="493776"/>
            <a:chOff x="4251960" y="4292179"/>
            <a:chExt cx="4457700" cy="493776"/>
          </a:xfrm>
        </p:grpSpPr>
        <p:sp>
          <p:nvSpPr>
            <p:cNvPr id="29" name="Rounded Rectangle 28"/>
            <p:cNvSpPr/>
            <p:nvPr/>
          </p:nvSpPr>
          <p:spPr>
            <a:xfrm>
              <a:off x="4251960" y="4292179"/>
              <a:ext cx="2057400" cy="171450"/>
            </a:xfrm>
            <a:prstGeom prst="roundRect">
              <a:avLst>
                <a:gd name="adj" fmla="val 40000"/>
              </a:avLst>
            </a:prstGeom>
            <a:solidFill>
              <a:srgbClr val="A78B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800" b="1">
                  <a:solidFill>
                    <a:srgbClr val="FFFFFF"/>
                  </a:solidFill>
                  <a:latin typeface="Segoe UI"/>
                </a:defRPr>
              </a:pPr>
              <a:r>
                <a:rPr sz="600"/>
                <a:t>STEP 5: USE (SAME AS LAB 1!)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4251960" y="4497919"/>
              <a:ext cx="4457700" cy="288036"/>
            </a:xfrm>
            <a:prstGeom prst="roundRect">
              <a:avLst>
                <a:gd name="adj" fmla="val 2000"/>
              </a:avLst>
            </a:prstGeom>
            <a:solidFill>
              <a:srgbClr val="162033"/>
            </a:solidFill>
            <a:ln w="19050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334256" y="4552783"/>
              <a:ext cx="4293108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800" b="0">
                  <a:solidFill>
                    <a:srgbClr val="A78BFA"/>
                  </a:solidFill>
                  <a:latin typeface="Consolas"/>
                </a:defRPr>
              </a:pPr>
              <a:r>
                <a:rPr sz="600"/>
                <a:t>model.generate(input_ids)  # Now produces BETTER summaries!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66">
            <a:extLst>
              <a:ext uri="{FF2B5EF4-FFF2-40B4-BE49-F238E27FC236}">
                <a16:creationId xmlns:a16="http://schemas.microsoft.com/office/drawing/2014/main" id="{6C12D79F-A6D3-2741-8F4E-F0CC76F39518}"/>
              </a:ext>
            </a:extLst>
          </p:cNvPr>
          <p:cNvSpPr/>
          <p:nvPr/>
        </p:nvSpPr>
        <p:spPr>
          <a:xfrm>
            <a:off x="-11316" y="0"/>
            <a:ext cx="9143771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 dirty="0"/>
          </a:p>
        </p:txBody>
      </p:sp>
      <p:sp>
        <p:nvSpPr>
          <p:cNvPr id="4" name="TextBox 3"/>
          <p:cNvSpPr txBox="1"/>
          <p:nvPr/>
        </p:nvSpPr>
        <p:spPr>
          <a:xfrm>
            <a:off x="411480" y="54612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sz="2400"/>
              <a:t>ROUGE — Measuring Summarization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1802"/>
            <a:ext cx="6858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rPr sz="1050"/>
              <a:t>Recall-Oriented Understudy for Gisting Evaluation — the standard metric since 2004.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774702"/>
            <a:ext cx="8298180" cy="2057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AF57123E-8BFB-B6AF-812B-D2873B435818}"/>
              </a:ext>
            </a:extLst>
          </p:cNvPr>
          <p:cNvGrpSpPr/>
          <p:nvPr/>
        </p:nvGrpSpPr>
        <p:grpSpPr>
          <a:xfrm>
            <a:off x="411480" y="871643"/>
            <a:ext cx="3909060" cy="1282446"/>
            <a:chOff x="411480" y="871643"/>
            <a:chExt cx="3909060" cy="1282446"/>
          </a:xfrm>
        </p:grpSpPr>
        <p:sp>
          <p:nvSpPr>
            <p:cNvPr id="7" name="TextBox 6"/>
            <p:cNvSpPr txBox="1"/>
            <p:nvPr/>
          </p:nvSpPr>
          <p:spPr>
            <a:xfrm>
              <a:off x="411480" y="871643"/>
              <a:ext cx="342900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A78BFA"/>
                  </a:solidFill>
                  <a:latin typeface="Segoe UI"/>
                </a:defRPr>
              </a:pPr>
              <a:r>
                <a:rPr sz="900"/>
                <a:t>THE THREE ROUGE VARIANTS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11480" y="1180253"/>
              <a:ext cx="3909060" cy="973836"/>
            </a:xfrm>
            <a:prstGeom prst="roundRect">
              <a:avLst>
                <a:gd name="adj" fmla="val 3000"/>
              </a:avLst>
            </a:prstGeom>
            <a:solidFill>
              <a:srgbClr val="1E293B"/>
            </a:solidFill>
            <a:ln w="19050">
              <a:solidFill>
                <a:srgbClr val="3B82F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411480" y="1180253"/>
              <a:ext cx="41148" cy="973836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82930" y="1248833"/>
              <a:ext cx="960120" cy="192024"/>
            </a:xfrm>
            <a:prstGeom prst="roundRect">
              <a:avLst>
                <a:gd name="adj" fmla="val 40000"/>
              </a:avLst>
            </a:prstGeom>
            <a:solidFill>
              <a:srgbClr val="3B8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000" b="1">
                  <a:solidFill>
                    <a:srgbClr val="FFFFFF"/>
                  </a:solidFill>
                  <a:latin typeface="Segoe UI"/>
                </a:defRPr>
              </a:pPr>
              <a:r>
                <a:rPr sz="750" dirty="0"/>
                <a:t>ROUGE-1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645920" y="1248834"/>
              <a:ext cx="246888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 dirty="0"/>
                <a:t>Unigram overlap — single word matching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582930" y="1509437"/>
              <a:ext cx="3566160" cy="562356"/>
            </a:xfrm>
            <a:prstGeom prst="roundRect">
              <a:avLst>
                <a:gd name="adj" fmla="val 2000"/>
              </a:avLst>
            </a:prstGeom>
            <a:solidFill>
              <a:srgbClr val="1620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85800" y="1536869"/>
              <a:ext cx="3429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800" b="0">
                  <a:solidFill>
                    <a:srgbClr val="FFFFFF"/>
                  </a:solidFill>
                  <a:latin typeface="Consolas"/>
                </a:defRPr>
              </a:pPr>
              <a:r>
                <a:rPr sz="600" dirty="0"/>
                <a:t>Ref:  "the cat sat on the mat"</a:t>
              </a:r>
              <a:br>
                <a:rPr sz="600" dirty="0"/>
              </a:br>
              <a:r>
                <a:rPr sz="600" dirty="0"/>
                <a:t>Gen:  "a cat on the mat"</a:t>
              </a:r>
              <a:br>
                <a:rPr sz="600" dirty="0"/>
              </a:br>
              <a:r>
                <a:rPr sz="600" dirty="0"/>
                <a:t>Match: {cat, on, the, mat} → F1 ≈ 0.67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B2C9CB83-8E50-A8D7-2878-81C3A5FB35E3}"/>
              </a:ext>
            </a:extLst>
          </p:cNvPr>
          <p:cNvGrpSpPr/>
          <p:nvPr/>
        </p:nvGrpSpPr>
        <p:grpSpPr>
          <a:xfrm>
            <a:off x="411480" y="2243243"/>
            <a:ext cx="3909060" cy="973836"/>
            <a:chOff x="411480" y="2243243"/>
            <a:chExt cx="3909060" cy="973836"/>
          </a:xfrm>
        </p:grpSpPr>
        <p:sp>
          <p:nvSpPr>
            <p:cNvPr id="14" name="Rounded Rectangle 13"/>
            <p:cNvSpPr/>
            <p:nvPr/>
          </p:nvSpPr>
          <p:spPr>
            <a:xfrm>
              <a:off x="411480" y="2243243"/>
              <a:ext cx="3909060" cy="973836"/>
            </a:xfrm>
            <a:prstGeom prst="roundRect">
              <a:avLst>
                <a:gd name="adj" fmla="val 3000"/>
              </a:avLst>
            </a:prstGeom>
            <a:solidFill>
              <a:srgbClr val="1E293B"/>
            </a:solidFill>
            <a:ln w="19050">
              <a:solidFill>
                <a:srgbClr val="14B8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411480" y="2243243"/>
              <a:ext cx="41148" cy="973836"/>
            </a:xfrm>
            <a:prstGeom prst="rect">
              <a:avLst/>
            </a:prstGeom>
            <a:solidFill>
              <a:srgbClr val="14B8A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582930" y="2311823"/>
              <a:ext cx="960120" cy="192024"/>
            </a:xfrm>
            <a:prstGeom prst="roundRect">
              <a:avLst>
                <a:gd name="adj" fmla="val 40000"/>
              </a:avLst>
            </a:prstGeom>
            <a:solidFill>
              <a:srgbClr val="14B8A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000" b="1">
                  <a:solidFill>
                    <a:srgbClr val="FFFFFF"/>
                  </a:solidFill>
                  <a:latin typeface="Segoe UI"/>
                </a:defRPr>
              </a:pPr>
              <a:r>
                <a:rPr sz="750" dirty="0"/>
                <a:t>ROUGE-2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645920" y="2311824"/>
              <a:ext cx="246888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/>
                <a:t>Bigram overlap — two-word phrase matching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582930" y="2572427"/>
              <a:ext cx="3566160" cy="562356"/>
            </a:xfrm>
            <a:prstGeom prst="roundRect">
              <a:avLst>
                <a:gd name="adj" fmla="val 2000"/>
              </a:avLst>
            </a:prstGeom>
            <a:solidFill>
              <a:srgbClr val="1620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85800" y="2599859"/>
              <a:ext cx="3429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800" b="0">
                  <a:solidFill>
                    <a:srgbClr val="FFFFFF"/>
                  </a:solidFill>
                  <a:latin typeface="Consolas"/>
                </a:defRPr>
              </a:pPr>
              <a:r>
                <a:rPr sz="600" dirty="0"/>
                <a:t>Ref bigrams:  {the-cat, cat-sat, sat-on, on-the, the-mat}</a:t>
              </a:r>
              <a:br>
                <a:rPr sz="600" dirty="0"/>
              </a:br>
              <a:r>
                <a:rPr sz="600" dirty="0"/>
                <a:t>Gen bigrams:  {a-cat, cat-on, on-the, the-mat}</a:t>
              </a:r>
              <a:br>
                <a:rPr sz="600" dirty="0"/>
              </a:br>
              <a:r>
                <a:rPr sz="600" dirty="0"/>
                <a:t>Match: {on-the, the-mat} → F1 ≈ 0.40</a:t>
              </a: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5E029E49-0FB0-68FB-393F-0C4A5DF74564}"/>
              </a:ext>
            </a:extLst>
          </p:cNvPr>
          <p:cNvGrpSpPr/>
          <p:nvPr/>
        </p:nvGrpSpPr>
        <p:grpSpPr>
          <a:xfrm>
            <a:off x="411480" y="3306233"/>
            <a:ext cx="3909060" cy="973836"/>
            <a:chOff x="411480" y="3306233"/>
            <a:chExt cx="3909060" cy="973836"/>
          </a:xfrm>
        </p:grpSpPr>
        <p:sp>
          <p:nvSpPr>
            <p:cNvPr id="20" name="Rounded Rectangle 19"/>
            <p:cNvSpPr/>
            <p:nvPr/>
          </p:nvSpPr>
          <p:spPr>
            <a:xfrm>
              <a:off x="411480" y="3306233"/>
              <a:ext cx="3909060" cy="973836"/>
            </a:xfrm>
            <a:prstGeom prst="roundRect">
              <a:avLst>
                <a:gd name="adj" fmla="val 3000"/>
              </a:avLst>
            </a:prstGeom>
            <a:solidFill>
              <a:srgbClr val="1E293B"/>
            </a:solidFill>
            <a:ln w="19050">
              <a:solidFill>
                <a:srgbClr val="22C55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11480" y="3306233"/>
              <a:ext cx="41148" cy="973836"/>
            </a:xfrm>
            <a:prstGeom prst="rect">
              <a:avLst/>
            </a:prstGeom>
            <a:solidFill>
              <a:srgbClr val="22C55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582930" y="3374813"/>
              <a:ext cx="960120" cy="192024"/>
            </a:xfrm>
            <a:prstGeom prst="roundRect">
              <a:avLst>
                <a:gd name="adj" fmla="val 40000"/>
              </a:avLst>
            </a:prstGeom>
            <a:solidFill>
              <a:srgbClr val="22C55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000" b="1">
                  <a:solidFill>
                    <a:srgbClr val="FFFFFF"/>
                  </a:solidFill>
                  <a:latin typeface="Segoe UI"/>
                </a:defRPr>
              </a:pPr>
              <a:r>
                <a:rPr sz="750" dirty="0"/>
                <a:t>ROUGE-L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645920" y="3374814"/>
              <a:ext cx="246888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0">
                  <a:solidFill>
                    <a:srgbClr val="B0B8C8"/>
                  </a:solidFill>
                  <a:latin typeface="Segoe UI"/>
                </a:defRPr>
              </a:pPr>
              <a:r>
                <a:rPr sz="825"/>
                <a:t>Longest Common Subsequence (LCS)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582930" y="3635417"/>
              <a:ext cx="3566160" cy="562356"/>
            </a:xfrm>
            <a:prstGeom prst="roundRect">
              <a:avLst>
                <a:gd name="adj" fmla="val 2000"/>
              </a:avLst>
            </a:prstGeom>
            <a:solidFill>
              <a:srgbClr val="1620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85800" y="3662849"/>
              <a:ext cx="3429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800" b="0">
                  <a:solidFill>
                    <a:srgbClr val="FFFFFF"/>
                  </a:solidFill>
                  <a:latin typeface="Consolas"/>
                </a:defRPr>
              </a:pPr>
              <a:r>
                <a:rPr sz="600" dirty="0"/>
                <a:t>Captures structural similarity</a:t>
              </a:r>
              <a:br>
                <a:rPr sz="600" dirty="0"/>
              </a:br>
              <a:r>
                <a:rPr sz="600" dirty="0"/>
                <a:t>LCS of "on the mat" in both → F1 ≈ 0.67</a:t>
              </a:r>
              <a:br>
                <a:rPr sz="600" dirty="0"/>
              </a:br>
              <a:r>
                <a:rPr sz="600" dirty="0"/>
                <a:t>Order matters!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3800DD61-8F13-3255-EC4D-1C8135F9080E}"/>
              </a:ext>
            </a:extLst>
          </p:cNvPr>
          <p:cNvGrpSpPr/>
          <p:nvPr/>
        </p:nvGrpSpPr>
        <p:grpSpPr>
          <a:xfrm>
            <a:off x="4594860" y="885191"/>
            <a:ext cx="4114800" cy="1776222"/>
            <a:chOff x="4594860" y="885191"/>
            <a:chExt cx="4114800" cy="1776222"/>
          </a:xfrm>
        </p:grpSpPr>
        <p:sp>
          <p:nvSpPr>
            <p:cNvPr id="26" name="TextBox 25"/>
            <p:cNvSpPr txBox="1"/>
            <p:nvPr/>
          </p:nvSpPr>
          <p:spPr>
            <a:xfrm>
              <a:off x="4594860" y="885191"/>
              <a:ext cx="411480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A78BFA"/>
                  </a:solidFill>
                  <a:latin typeface="Segoe UI"/>
                </a:defRPr>
              </a:pPr>
              <a:r>
                <a:rPr sz="900"/>
                <a:t>EXPECTED SCORES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4594860" y="1159511"/>
              <a:ext cx="4046220" cy="260604"/>
            </a:xfrm>
            <a:prstGeom prst="roundRect">
              <a:avLst>
                <a:gd name="adj" fmla="val 2000"/>
              </a:avLst>
            </a:prstGeom>
            <a:solidFill>
              <a:srgbClr val="A78B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697730" y="1193801"/>
              <a:ext cx="133731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Model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069330" y="1193801"/>
              <a:ext cx="72009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>
                  <a:solidFill>
                    <a:srgbClr val="FFFFFF"/>
                  </a:solidFill>
                  <a:latin typeface="Segoe UI"/>
                </a:defRPr>
              </a:pPr>
              <a:r>
                <a:rPr sz="675" dirty="0"/>
                <a:t>ROUGE-1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823710" y="1193801"/>
              <a:ext cx="72009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ROUGE-2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7578090" y="1193801"/>
              <a:ext cx="72009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ROUGE-L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4594860" y="1447547"/>
              <a:ext cx="4046220" cy="288036"/>
            </a:xfrm>
            <a:prstGeom prst="roundRect">
              <a:avLst>
                <a:gd name="adj" fmla="val 1000"/>
              </a:avLst>
            </a:prstGeom>
            <a:solidFill>
              <a:srgbClr val="1620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697730" y="1495553"/>
              <a:ext cx="133731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F59E0B"/>
                  </a:solidFill>
                  <a:latin typeface="Segoe UI"/>
                </a:defRPr>
              </a:pPr>
              <a:r>
                <a:rPr sz="675"/>
                <a:t>Pre-trained T5 (Lab 1)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069330" y="1495553"/>
              <a:ext cx="72009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F59E0B"/>
                  </a:solidFill>
                  <a:latin typeface="Segoe UI"/>
                </a:defRPr>
              </a:pPr>
              <a:r>
                <a:rPr sz="675"/>
                <a:t>~0.25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823710" y="1495553"/>
              <a:ext cx="72009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F59E0B"/>
                  </a:solidFill>
                  <a:latin typeface="Segoe UI"/>
                </a:defRPr>
              </a:pPr>
              <a:r>
                <a:rPr sz="675"/>
                <a:t>~0.08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578090" y="1495553"/>
              <a:ext cx="72009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F59E0B"/>
                  </a:solidFill>
                  <a:latin typeface="Segoe UI"/>
                </a:defRPr>
              </a:pPr>
              <a:r>
                <a:rPr sz="675"/>
                <a:t>~0.20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4594860" y="1756157"/>
              <a:ext cx="4046220" cy="288036"/>
            </a:xfrm>
            <a:prstGeom prst="roundRect">
              <a:avLst>
                <a:gd name="adj" fmla="val 1000"/>
              </a:avLst>
            </a:prstGeom>
            <a:solidFill>
              <a:srgbClr val="1E293B"/>
            </a:solidFill>
            <a:ln w="19050">
              <a:solidFill>
                <a:srgbClr val="22C55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697730" y="1804163"/>
              <a:ext cx="133731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>
                  <a:solidFill>
                    <a:srgbClr val="22C55E"/>
                  </a:solidFill>
                  <a:latin typeface="Segoe UI"/>
                </a:defRPr>
              </a:pPr>
              <a:r>
                <a:rPr sz="675"/>
                <a:t>Fine-tuned T5 (Lab 2)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069330" y="1804163"/>
              <a:ext cx="72009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>
                  <a:solidFill>
                    <a:srgbClr val="22C55E"/>
                  </a:solidFill>
                  <a:latin typeface="Segoe UI"/>
                </a:defRPr>
              </a:pPr>
              <a:r>
                <a:rPr sz="675"/>
                <a:t>~0.37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823710" y="1804163"/>
              <a:ext cx="72009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>
                  <a:solidFill>
                    <a:srgbClr val="22C55E"/>
                  </a:solidFill>
                  <a:latin typeface="Segoe UI"/>
                </a:defRPr>
              </a:pPr>
              <a:r>
                <a:rPr sz="675"/>
                <a:t>~0.15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7578090" y="1804163"/>
              <a:ext cx="72009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>
                  <a:solidFill>
                    <a:srgbClr val="22C55E"/>
                  </a:solidFill>
                  <a:latin typeface="Segoe UI"/>
                </a:defRPr>
              </a:pPr>
              <a:r>
                <a:rPr sz="675"/>
                <a:t>~0.30</a:t>
              </a:r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4594860" y="2064767"/>
              <a:ext cx="4046220" cy="288036"/>
            </a:xfrm>
            <a:prstGeom prst="roundRect">
              <a:avLst>
                <a:gd name="adj" fmla="val 1000"/>
              </a:avLst>
            </a:prstGeom>
            <a:solidFill>
              <a:srgbClr val="1620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697730" y="2112773"/>
              <a:ext cx="133731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3B82F6"/>
                  </a:solidFill>
                  <a:latin typeface="Segoe UI"/>
                </a:defRPr>
              </a:pPr>
              <a:r>
                <a:rPr sz="675"/>
                <a:t>State-of-the-art (Pegasus)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069330" y="2112773"/>
              <a:ext cx="72009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3B82F6"/>
                  </a:solidFill>
                  <a:latin typeface="Segoe UI"/>
                </a:defRPr>
              </a:pPr>
              <a:r>
                <a:rPr sz="675"/>
                <a:t>~0.47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6823710" y="2112773"/>
              <a:ext cx="72009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3B82F6"/>
                  </a:solidFill>
                  <a:latin typeface="Segoe UI"/>
                </a:defRPr>
              </a:pPr>
              <a:r>
                <a:rPr sz="675"/>
                <a:t>~0.23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7578090" y="2112773"/>
              <a:ext cx="72009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3B82F6"/>
                  </a:solidFill>
                  <a:latin typeface="Segoe UI"/>
                </a:defRPr>
              </a:pPr>
              <a:r>
                <a:rPr sz="675"/>
                <a:t>~0.40</a:t>
              </a:r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4594860" y="2373377"/>
              <a:ext cx="4046220" cy="288036"/>
            </a:xfrm>
            <a:prstGeom prst="roundRect">
              <a:avLst>
                <a:gd name="adj" fmla="val 1000"/>
              </a:avLst>
            </a:prstGeom>
            <a:solidFill>
              <a:srgbClr val="1620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4697730" y="2421383"/>
              <a:ext cx="133731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FBBF24"/>
                  </a:solidFill>
                  <a:latin typeface="Segoe UI"/>
                </a:defRPr>
              </a:pPr>
              <a:r>
                <a:rPr sz="675"/>
                <a:t>Human Performance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069330" y="2421383"/>
              <a:ext cx="72009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FBBF24"/>
                  </a:solidFill>
                  <a:latin typeface="Segoe UI"/>
                </a:defRPr>
              </a:pPr>
              <a:r>
                <a:rPr sz="675"/>
                <a:t>~0.55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823710" y="2421383"/>
              <a:ext cx="72009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FBBF24"/>
                  </a:solidFill>
                  <a:latin typeface="Segoe UI"/>
                </a:defRPr>
              </a:pPr>
              <a:r>
                <a:rPr sz="675"/>
                <a:t>~0.30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7578090" y="2421383"/>
              <a:ext cx="720090" cy="196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FBBF24"/>
                  </a:solidFill>
                  <a:latin typeface="Segoe UI"/>
                </a:defRPr>
              </a:pPr>
              <a:r>
                <a:rPr sz="675"/>
                <a:t>~0.45</a:t>
              </a: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E264A40B-CB63-9D31-855B-F8DA0F24C68F}"/>
              </a:ext>
            </a:extLst>
          </p:cNvPr>
          <p:cNvGrpSpPr/>
          <p:nvPr/>
        </p:nvGrpSpPr>
        <p:grpSpPr>
          <a:xfrm>
            <a:off x="4678938" y="2951480"/>
            <a:ext cx="3913539" cy="2013948"/>
            <a:chOff x="4678938" y="3114209"/>
            <a:chExt cx="3913539" cy="2013948"/>
          </a:xfrm>
        </p:grpSpPr>
        <p:sp>
          <p:nvSpPr>
            <p:cNvPr id="2" name="Rounded Rectangle 9">
              <a:extLst>
                <a:ext uri="{FF2B5EF4-FFF2-40B4-BE49-F238E27FC236}">
                  <a16:creationId xmlns:a16="http://schemas.microsoft.com/office/drawing/2014/main" id="{F616983A-B8BF-7F42-DDF6-7FF08EE84A7A}"/>
                </a:ext>
              </a:extLst>
            </p:cNvPr>
            <p:cNvSpPr/>
            <p:nvPr/>
          </p:nvSpPr>
          <p:spPr>
            <a:xfrm>
              <a:off x="4697730" y="3114209"/>
              <a:ext cx="960120" cy="192024"/>
            </a:xfrm>
            <a:prstGeom prst="roundRect">
              <a:avLst>
                <a:gd name="adj" fmla="val 40000"/>
              </a:avLst>
            </a:prstGeom>
            <a:solidFill>
              <a:srgbClr val="3B8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000" b="1">
                  <a:solidFill>
                    <a:srgbClr val="FFFFFF"/>
                  </a:solidFill>
                  <a:latin typeface="Segoe UI"/>
                </a:defRPr>
              </a:pPr>
              <a:r>
                <a:rPr sz="750" dirty="0"/>
                <a:t>ROUGE-1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638E87C-FDA2-1C3E-09F1-6A35AF29DF73}"/>
                </a:ext>
              </a:extLst>
            </p:cNvPr>
            <p:cNvSpPr txBox="1"/>
            <p:nvPr/>
          </p:nvSpPr>
          <p:spPr>
            <a:xfrm>
              <a:off x="4697730" y="3348458"/>
              <a:ext cx="34290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FontTx/>
                <a:buChar char="•"/>
              </a:pPr>
              <a:r>
                <a:rPr lang="en-US" altLang="en-US" sz="800" dirty="0">
                  <a:solidFill>
                    <a:schemeClr val="tx1"/>
                  </a:solidFill>
                  <a:latin typeface="Arial" panose="020B0604020202020204" pitchFamily="34" charset="0"/>
                </a:rPr>
                <a:t>Whether important words are present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FontTx/>
                <a:buChar char="•"/>
              </a:pPr>
              <a:r>
                <a:rPr lang="en-US" altLang="en-US" sz="800" dirty="0">
                  <a:solidFill>
                    <a:schemeClr val="tx1"/>
                  </a:solidFill>
                  <a:latin typeface="Arial" panose="020B0604020202020204" pitchFamily="34" charset="0"/>
                </a:rPr>
                <a:t>General topic/content coverage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FontTx/>
                <a:buChar char="•"/>
              </a:pPr>
              <a:r>
                <a:rPr lang="en-US" altLang="en-US" sz="800" dirty="0">
                  <a:solidFill>
                    <a:schemeClr val="tx1"/>
                  </a:solidFill>
                  <a:latin typeface="Arial" panose="020B0604020202020204" pitchFamily="34" charset="0"/>
                </a:rPr>
                <a:t>Early experiments with summarization</a:t>
              </a:r>
              <a:endParaRPr sz="600" dirty="0"/>
            </a:p>
          </p:txBody>
        </p:sp>
        <p:sp>
          <p:nvSpPr>
            <p:cNvPr id="66" name="Rounded Rectangle 15">
              <a:extLst>
                <a:ext uri="{FF2B5EF4-FFF2-40B4-BE49-F238E27FC236}">
                  <a16:creationId xmlns:a16="http://schemas.microsoft.com/office/drawing/2014/main" id="{D2E7C26C-C333-0E3C-5EFE-45AC9DA29978}"/>
                </a:ext>
              </a:extLst>
            </p:cNvPr>
            <p:cNvSpPr/>
            <p:nvPr/>
          </p:nvSpPr>
          <p:spPr>
            <a:xfrm>
              <a:off x="4697730" y="3834197"/>
              <a:ext cx="960120" cy="192024"/>
            </a:xfrm>
            <a:prstGeom prst="roundRect">
              <a:avLst>
                <a:gd name="adj" fmla="val 40000"/>
              </a:avLst>
            </a:prstGeom>
            <a:solidFill>
              <a:srgbClr val="14B8A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000" b="1">
                  <a:solidFill>
                    <a:srgbClr val="FFFFFF"/>
                  </a:solidFill>
                  <a:latin typeface="Segoe UI"/>
                </a:defRPr>
              </a:pPr>
              <a:r>
                <a:rPr sz="750" dirty="0"/>
                <a:t>ROUGE-2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EEEC240F-4E50-0E74-257F-2F7679B8A8A2}"/>
                </a:ext>
              </a:extLst>
            </p:cNvPr>
            <p:cNvSpPr txBox="1"/>
            <p:nvPr/>
          </p:nvSpPr>
          <p:spPr>
            <a:xfrm>
              <a:off x="4683417" y="4018294"/>
              <a:ext cx="390906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800" dirty="0">
                  <a:solidFill>
                    <a:schemeClr val="tx1"/>
                  </a:solidFill>
                  <a:latin typeface="Arial" panose="020B0604020202020204" pitchFamily="34" charset="0"/>
                </a:rPr>
                <a:t>Fluency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800" dirty="0">
                  <a:solidFill>
                    <a:schemeClr val="tx1"/>
                  </a:solidFill>
                  <a:latin typeface="Arial" panose="020B0604020202020204" pitchFamily="34" charset="0"/>
                </a:rPr>
                <a:t>Correct phrasing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800" dirty="0">
                  <a:solidFill>
                    <a:schemeClr val="tx1"/>
                  </a:solidFill>
                  <a:latin typeface="Arial" panose="020B0604020202020204" pitchFamily="34" charset="0"/>
                </a:rPr>
                <a:t>Better structural similarity</a:t>
              </a:r>
            </a:p>
          </p:txBody>
        </p:sp>
        <p:sp>
          <p:nvSpPr>
            <p:cNvPr id="76" name="Rounded Rectangle 21">
              <a:extLst>
                <a:ext uri="{FF2B5EF4-FFF2-40B4-BE49-F238E27FC236}">
                  <a16:creationId xmlns:a16="http://schemas.microsoft.com/office/drawing/2014/main" id="{2E656F2B-8E93-6E81-72EF-9ADE7911047F}"/>
                </a:ext>
              </a:extLst>
            </p:cNvPr>
            <p:cNvSpPr/>
            <p:nvPr/>
          </p:nvSpPr>
          <p:spPr>
            <a:xfrm>
              <a:off x="4683417" y="4501710"/>
              <a:ext cx="960120" cy="192024"/>
            </a:xfrm>
            <a:prstGeom prst="roundRect">
              <a:avLst>
                <a:gd name="adj" fmla="val 40000"/>
              </a:avLst>
            </a:prstGeom>
            <a:solidFill>
              <a:srgbClr val="22C55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000" b="1">
                  <a:solidFill>
                    <a:srgbClr val="FFFFFF"/>
                  </a:solidFill>
                  <a:latin typeface="Segoe UI"/>
                </a:defRPr>
              </a:pPr>
              <a:r>
                <a:rPr sz="750" dirty="0"/>
                <a:t>ROUGE-L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8B807E1F-8BB1-E19C-2EA9-38B72A352C91}"/>
                </a:ext>
              </a:extLst>
            </p:cNvPr>
            <p:cNvSpPr txBox="1"/>
            <p:nvPr/>
          </p:nvSpPr>
          <p:spPr>
            <a:xfrm>
              <a:off x="4678938" y="4666492"/>
              <a:ext cx="390906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FontTx/>
                <a:buChar char="•"/>
              </a:pPr>
              <a:r>
                <a:rPr lang="en-US" altLang="en-US" sz="800" dirty="0">
                  <a:solidFill>
                    <a:schemeClr val="tx1"/>
                  </a:solidFill>
                  <a:latin typeface="Arial" panose="020B0604020202020204" pitchFamily="34" charset="0"/>
                </a:rPr>
                <a:t>Sentence structure similarity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FontTx/>
                <a:buChar char="•"/>
              </a:pPr>
              <a:r>
                <a:rPr lang="en-US" altLang="en-US" sz="800" dirty="0">
                  <a:solidFill>
                    <a:schemeClr val="tx1"/>
                  </a:solidFill>
                  <a:latin typeface="Arial" panose="020B0604020202020204" pitchFamily="34" charset="0"/>
                </a:rPr>
                <a:t>Logical word order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FontTx/>
                <a:buChar char="•"/>
              </a:pPr>
              <a:r>
                <a:rPr lang="en-US" altLang="en-US" sz="800" dirty="0">
                  <a:solidFill>
                    <a:schemeClr val="tx1"/>
                  </a:solidFill>
                  <a:latin typeface="Arial" panose="020B0604020202020204" pitchFamily="34" charset="0"/>
                </a:rPr>
                <a:t>Overall summary coherence</a:t>
              </a:r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6844D829-9893-22AC-3A05-44E562B5784F}"/>
              </a:ext>
            </a:extLst>
          </p:cNvPr>
          <p:cNvSpPr txBox="1"/>
          <p:nvPr/>
        </p:nvSpPr>
        <p:spPr>
          <a:xfrm>
            <a:off x="411480" y="4434993"/>
            <a:ext cx="39090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Together they measure </a:t>
            </a:r>
            <a:r>
              <a:rPr lang="en-US" b="1" dirty="0">
                <a:solidFill>
                  <a:srgbClr val="FF0000"/>
                </a:solidFill>
              </a:rPr>
              <a:t>content + phrasing + structure</a:t>
            </a:r>
            <a:r>
              <a:rPr lang="en-US" dirty="0">
                <a:solidFill>
                  <a:srgbClr val="FF0000"/>
                </a:solidFill>
              </a:rPr>
              <a:t>.</a:t>
            </a:r>
            <a:endParaRPr lang="en-IN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00809-C622-D398-4850-95FA0404F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0255A1-99EE-D031-F277-F0F1F4A2F5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39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0AE32D-E5A3-33A0-AFAC-2A6D7B80B3A6}"/>
              </a:ext>
            </a:extLst>
          </p:cNvPr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914139-37D2-55FD-2B37-DDB4BB10C672}"/>
              </a:ext>
            </a:extLst>
          </p:cNvPr>
          <p:cNvSpPr txBox="1"/>
          <p:nvPr/>
        </p:nvSpPr>
        <p:spPr>
          <a:xfrm>
            <a:off x="1897380" y="1491527"/>
            <a:ext cx="61645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lang="en-IN" sz="2400" dirty="0"/>
              <a:t>It`s Time to do practical again:</a:t>
            </a:r>
          </a:p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lang="en-IN" sz="2400" dirty="0"/>
              <a:t> </a:t>
            </a:r>
          </a:p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lang="en-IN" sz="2400" dirty="0"/>
              <a:t>				LAB 2</a:t>
            </a:r>
          </a:p>
        </p:txBody>
      </p:sp>
      <p:pic>
        <p:nvPicPr>
          <p:cNvPr id="6" name="Graphic 5" descr="Alien with one eye">
            <a:extLst>
              <a:ext uri="{FF2B5EF4-FFF2-40B4-BE49-F238E27FC236}">
                <a16:creationId xmlns:a16="http://schemas.microsoft.com/office/drawing/2014/main" id="{864436AC-C1AB-DEF7-E254-F3F7052B14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30967" y="1949439"/>
            <a:ext cx="1647825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9635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4B68B6-37C1-E2D1-105B-BC6A38CF1E08}"/>
              </a:ext>
            </a:extLst>
          </p:cNvPr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229600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rPr sz="2250" dirty="0"/>
              <a:t>Your 3-Hour Journey </a:t>
            </a:r>
            <a:r>
              <a:rPr lang="en-IN" sz="2250" dirty="0"/>
              <a:t>:</a:t>
            </a:r>
            <a:r>
              <a:rPr sz="2250" dirty="0"/>
              <a:t> From Zero to Transformer Engineer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82296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rPr lang="en-IN" sz="1050" dirty="0"/>
              <a:t>H</a:t>
            </a:r>
            <a:r>
              <a:rPr sz="1050" dirty="0" err="1"/>
              <a:t>ere's</a:t>
            </a:r>
            <a:r>
              <a:rPr sz="1050" dirty="0"/>
              <a:t> the complete map of what you learned today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914AA0D-96A5-D11B-7029-5EB75C11CE65}"/>
              </a:ext>
            </a:extLst>
          </p:cNvPr>
          <p:cNvGrpSpPr/>
          <p:nvPr/>
        </p:nvGrpSpPr>
        <p:grpSpPr>
          <a:xfrm>
            <a:off x="411480" y="1268730"/>
            <a:ext cx="1508760" cy="1783080"/>
            <a:chOff x="548640" y="1691640"/>
            <a:chExt cx="2011680" cy="2377440"/>
          </a:xfrm>
        </p:grpSpPr>
        <p:sp>
          <p:nvSpPr>
            <p:cNvPr id="6" name="Rounded Rectangle 5"/>
            <p:cNvSpPr/>
            <p:nvPr/>
          </p:nvSpPr>
          <p:spPr>
            <a:xfrm>
              <a:off x="548640" y="1691640"/>
              <a:ext cx="2011680" cy="2377440"/>
            </a:xfrm>
            <a:prstGeom prst="roundRect">
              <a:avLst>
                <a:gd name="adj" fmla="val 4000"/>
              </a:avLst>
            </a:prstGeom>
            <a:solidFill>
              <a:srgbClr val="1E293B"/>
            </a:solidFill>
            <a:ln w="19050">
              <a:solidFill>
                <a:srgbClr val="3B82F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731520" y="1828800"/>
              <a:ext cx="1645920" cy="256032"/>
            </a:xfrm>
            <a:prstGeom prst="roundRect">
              <a:avLst>
                <a:gd name="adj" fmla="val 40000"/>
              </a:avLst>
            </a:prstGeom>
            <a:solidFill>
              <a:srgbClr val="3B8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Theory 1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31520" y="2194560"/>
              <a:ext cx="1645920" cy="4001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800" b="1">
                  <a:solidFill>
                    <a:srgbClr val="3B82F6"/>
                  </a:solidFill>
                  <a:latin typeface="Segoe UI"/>
                </a:defRPr>
              </a:pPr>
              <a:r>
                <a:rPr sz="1350" dirty="0"/>
                <a:t>"WHY?"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31520" y="2514600"/>
              <a:ext cx="1645920" cy="492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200" b="1">
                  <a:solidFill>
                    <a:srgbClr val="FFFFFF"/>
                  </a:solidFill>
                  <a:latin typeface="Segoe UI"/>
                </a:defRPr>
              </a:pPr>
              <a:r>
                <a:rPr sz="900" dirty="0"/>
                <a:t>From RNNs</a:t>
              </a:r>
              <a:br>
                <a:rPr sz="900" dirty="0"/>
              </a:br>
              <a:r>
                <a:rPr sz="900" dirty="0"/>
                <a:t>to Attention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85800" y="3063240"/>
              <a:ext cx="1737360" cy="5386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 dirty="0"/>
                <a:t>NLP Timeline</a:t>
              </a:r>
              <a:br>
                <a:rPr sz="675" dirty="0"/>
              </a:br>
              <a:r>
                <a:rPr sz="675" dirty="0"/>
                <a:t>RNN Problems</a:t>
              </a:r>
              <a:br>
                <a:rPr sz="675" dirty="0"/>
              </a:br>
              <a:r>
                <a:rPr sz="675" dirty="0"/>
                <a:t>Attention Birth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815163D-0336-2565-F5BE-5444182D914A}"/>
              </a:ext>
            </a:extLst>
          </p:cNvPr>
          <p:cNvGrpSpPr/>
          <p:nvPr/>
        </p:nvGrpSpPr>
        <p:grpSpPr>
          <a:xfrm>
            <a:off x="1927098" y="1268730"/>
            <a:ext cx="1783080" cy="1783080"/>
            <a:chOff x="2569464" y="1691640"/>
            <a:chExt cx="2377440" cy="2377440"/>
          </a:xfrm>
        </p:grpSpPr>
        <p:sp>
          <p:nvSpPr>
            <p:cNvPr id="11" name="TextBox 10"/>
            <p:cNvSpPr txBox="1"/>
            <p:nvPr/>
          </p:nvSpPr>
          <p:spPr>
            <a:xfrm>
              <a:off x="2569464" y="2606040"/>
              <a:ext cx="18288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2200" b="1">
                  <a:solidFill>
                    <a:srgbClr val="94A3B8"/>
                  </a:solidFill>
                  <a:latin typeface="Segoe UI"/>
                </a:defRPr>
              </a:pPr>
              <a:r>
                <a:rPr sz="1650"/>
                <a:t>→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2743200" y="1691640"/>
              <a:ext cx="2011680" cy="2377440"/>
            </a:xfrm>
            <a:prstGeom prst="roundRect">
              <a:avLst>
                <a:gd name="adj" fmla="val 4000"/>
              </a:avLst>
            </a:prstGeom>
            <a:solidFill>
              <a:srgbClr val="1E293B"/>
            </a:solidFill>
            <a:ln w="19050">
              <a:solidFill>
                <a:srgbClr val="14B8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2926080" y="1828800"/>
              <a:ext cx="1645920" cy="256032"/>
            </a:xfrm>
            <a:prstGeom prst="roundRect">
              <a:avLst>
                <a:gd name="adj" fmla="val 40000"/>
              </a:avLst>
            </a:prstGeom>
            <a:solidFill>
              <a:srgbClr val="14B8A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Theory 2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926080" y="2194560"/>
              <a:ext cx="1645920" cy="4001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800" b="1">
                  <a:solidFill>
                    <a:srgbClr val="14B8A6"/>
                  </a:solidFill>
                  <a:latin typeface="Segoe UI"/>
                </a:defRPr>
              </a:pPr>
              <a:r>
                <a:rPr sz="1350"/>
                <a:t>"HOW?"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926080" y="2514600"/>
              <a:ext cx="1645920" cy="492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200" b="1">
                  <a:solidFill>
                    <a:srgbClr val="FFFFFF"/>
                  </a:solidFill>
                  <a:latin typeface="Segoe UI"/>
                </a:defRPr>
              </a:pPr>
              <a:r>
                <a:rPr sz="900"/>
                <a:t>Transformer</a:t>
              </a:r>
              <a:br>
                <a:rPr sz="900"/>
              </a:br>
              <a:r>
                <a:rPr sz="900"/>
                <a:t>Architecture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880360" y="3063240"/>
              <a:ext cx="1737360" cy="5386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Self-Attention</a:t>
              </a:r>
              <a:br>
                <a:rPr sz="675"/>
              </a:br>
              <a:r>
                <a:rPr sz="675"/>
                <a:t>Multi-Head</a:t>
              </a:r>
              <a:br>
                <a:rPr sz="675"/>
              </a:br>
              <a:r>
                <a:rPr sz="675"/>
                <a:t>Encoder-Decoder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764024" y="2606040"/>
              <a:ext cx="18288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2200" b="1">
                  <a:solidFill>
                    <a:srgbClr val="94A3B8"/>
                  </a:solidFill>
                  <a:latin typeface="Segoe UI"/>
                </a:defRPr>
              </a:pPr>
              <a:r>
                <a:rPr sz="1650"/>
                <a:t>→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FBBF2F6E-E02E-A90F-F80F-F547127D9873}"/>
              </a:ext>
            </a:extLst>
          </p:cNvPr>
          <p:cNvGrpSpPr/>
          <p:nvPr/>
        </p:nvGrpSpPr>
        <p:grpSpPr>
          <a:xfrm>
            <a:off x="3703320" y="1268730"/>
            <a:ext cx="1652778" cy="1783080"/>
            <a:chOff x="4937760" y="1691640"/>
            <a:chExt cx="2203704" cy="2377440"/>
          </a:xfrm>
        </p:grpSpPr>
        <p:sp>
          <p:nvSpPr>
            <p:cNvPr id="18" name="Rounded Rectangle 17"/>
            <p:cNvSpPr/>
            <p:nvPr/>
          </p:nvSpPr>
          <p:spPr>
            <a:xfrm>
              <a:off x="4937760" y="1691640"/>
              <a:ext cx="2011680" cy="2377440"/>
            </a:xfrm>
            <a:prstGeom prst="roundRect">
              <a:avLst>
                <a:gd name="adj" fmla="val 4000"/>
              </a:avLst>
            </a:prstGeom>
            <a:solidFill>
              <a:srgbClr val="1E293B"/>
            </a:solidFill>
            <a:ln w="19050">
              <a:solidFill>
                <a:srgbClr val="A78BF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5120640" y="1828800"/>
              <a:ext cx="1645920" cy="256032"/>
            </a:xfrm>
            <a:prstGeom prst="roundRect">
              <a:avLst>
                <a:gd name="adj" fmla="val 40000"/>
              </a:avLst>
            </a:prstGeom>
            <a:solidFill>
              <a:srgbClr val="A78B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Theory 3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120640" y="2194560"/>
              <a:ext cx="1645920" cy="4001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800" b="1">
                  <a:solidFill>
                    <a:srgbClr val="A78BFA"/>
                  </a:solidFill>
                  <a:latin typeface="Segoe UI"/>
                </a:defRPr>
              </a:pPr>
              <a:r>
                <a:rPr sz="1350"/>
                <a:t>"WHICH?"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120640" y="2514600"/>
              <a:ext cx="1645920" cy="492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200" b="1">
                  <a:solidFill>
                    <a:srgbClr val="FFFFFF"/>
                  </a:solidFill>
                  <a:latin typeface="Segoe UI"/>
                </a:defRPr>
              </a:pPr>
              <a:r>
                <a:rPr sz="900" dirty="0"/>
                <a:t>The Family</a:t>
              </a:r>
              <a:br>
                <a:rPr sz="900" dirty="0"/>
              </a:br>
              <a:r>
                <a:rPr sz="900" dirty="0"/>
                <a:t>Tree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074920" y="3063240"/>
              <a:ext cx="1737360" cy="5386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Enc / Dec / Both</a:t>
              </a:r>
              <a:br>
                <a:rPr sz="675"/>
              </a:br>
              <a:r>
                <a:rPr sz="675"/>
                <a:t>Tokenization</a:t>
              </a:r>
              <a:br>
                <a:rPr sz="675"/>
              </a:br>
              <a:r>
                <a:rPr sz="675"/>
                <a:t>BPE Algorithm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958584" y="2606040"/>
              <a:ext cx="18288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2200" b="1">
                  <a:solidFill>
                    <a:srgbClr val="94A3B8"/>
                  </a:solidFill>
                  <a:latin typeface="Segoe UI"/>
                </a:defRPr>
              </a:pPr>
              <a:r>
                <a:rPr sz="1650"/>
                <a:t>→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8985F0FD-8439-4104-D964-43F047422579}"/>
              </a:ext>
            </a:extLst>
          </p:cNvPr>
          <p:cNvGrpSpPr/>
          <p:nvPr/>
        </p:nvGrpSpPr>
        <p:grpSpPr>
          <a:xfrm>
            <a:off x="5349240" y="1268730"/>
            <a:ext cx="1652778" cy="1783080"/>
            <a:chOff x="7132320" y="1691640"/>
            <a:chExt cx="2203704" cy="2377440"/>
          </a:xfrm>
        </p:grpSpPr>
        <p:sp>
          <p:nvSpPr>
            <p:cNvPr id="24" name="Rounded Rectangle 23"/>
            <p:cNvSpPr/>
            <p:nvPr/>
          </p:nvSpPr>
          <p:spPr>
            <a:xfrm>
              <a:off x="7132320" y="1691640"/>
              <a:ext cx="2011680" cy="2377440"/>
            </a:xfrm>
            <a:prstGeom prst="roundRect">
              <a:avLst>
                <a:gd name="adj" fmla="val 4000"/>
              </a:avLst>
            </a:prstGeom>
            <a:solidFill>
              <a:srgbClr val="1E293B"/>
            </a:solidFill>
            <a:ln w="19050">
              <a:solidFill>
                <a:srgbClr val="F59E0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7315200" y="1828800"/>
              <a:ext cx="1645920" cy="256032"/>
            </a:xfrm>
            <a:prstGeom prst="roundRect">
              <a:avLst>
                <a:gd name="adj" fmla="val 40000"/>
              </a:avLst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Theory 4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7315200" y="2194560"/>
              <a:ext cx="1645920" cy="4001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800" b="1">
                  <a:solidFill>
                    <a:srgbClr val="F59E0B"/>
                  </a:solidFill>
                  <a:latin typeface="Segoe UI"/>
                </a:defRPr>
              </a:pPr>
              <a:r>
                <a:rPr sz="1350"/>
                <a:t>"WHAT?"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315200" y="2514600"/>
              <a:ext cx="1645920" cy="492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200" b="1">
                  <a:solidFill>
                    <a:srgbClr val="FFFFFF"/>
                  </a:solidFill>
                  <a:latin typeface="Segoe UI"/>
                </a:defRPr>
              </a:pPr>
              <a:r>
                <a:rPr sz="900" dirty="0"/>
                <a:t>Use Case:</a:t>
              </a:r>
              <a:br>
                <a:rPr sz="900" dirty="0"/>
              </a:br>
              <a:r>
                <a:rPr sz="900" dirty="0"/>
                <a:t>Summarization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269480" y="3063240"/>
              <a:ext cx="1737360" cy="5386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Why Summary?</a:t>
              </a:r>
              <a:br>
                <a:rPr sz="675"/>
              </a:br>
              <a:r>
                <a:rPr sz="675"/>
                <a:t>Ext. vs Abs.</a:t>
              </a:r>
              <a:br>
                <a:rPr sz="675"/>
              </a:br>
              <a:r>
                <a:rPr sz="675"/>
                <a:t>CNN/DailyMail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153144" y="2606040"/>
              <a:ext cx="18288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2200" b="1">
                  <a:solidFill>
                    <a:srgbClr val="94A3B8"/>
                  </a:solidFill>
                  <a:latin typeface="Segoe UI"/>
                </a:defRPr>
              </a:pPr>
              <a:r>
                <a:rPr sz="1650"/>
                <a:t>→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55042BAA-203A-203C-F1CF-8A29A0F7DFD1}"/>
              </a:ext>
            </a:extLst>
          </p:cNvPr>
          <p:cNvGrpSpPr/>
          <p:nvPr/>
        </p:nvGrpSpPr>
        <p:grpSpPr>
          <a:xfrm>
            <a:off x="6995160" y="1268730"/>
            <a:ext cx="1508760" cy="1783080"/>
            <a:chOff x="9326880" y="1691640"/>
            <a:chExt cx="2011680" cy="2377440"/>
          </a:xfrm>
        </p:grpSpPr>
        <p:sp>
          <p:nvSpPr>
            <p:cNvPr id="30" name="Rounded Rectangle 29"/>
            <p:cNvSpPr/>
            <p:nvPr/>
          </p:nvSpPr>
          <p:spPr>
            <a:xfrm>
              <a:off x="9326880" y="1691640"/>
              <a:ext cx="2011680" cy="2377440"/>
            </a:xfrm>
            <a:prstGeom prst="roundRect">
              <a:avLst>
                <a:gd name="adj" fmla="val 4000"/>
              </a:avLst>
            </a:prstGeom>
            <a:solidFill>
              <a:srgbClr val="1E293B"/>
            </a:solidFill>
            <a:ln w="19050">
              <a:solidFill>
                <a:srgbClr val="EC489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9509760" y="1828800"/>
              <a:ext cx="1645920" cy="256032"/>
            </a:xfrm>
            <a:prstGeom prst="roundRect">
              <a:avLst>
                <a:gd name="adj" fmla="val 40000"/>
              </a:avLst>
            </a:prstGeom>
            <a:solidFill>
              <a:srgbClr val="EC48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FFFFFF"/>
                  </a:solidFill>
                  <a:latin typeface="Segoe UI"/>
                </a:defRPr>
              </a:pPr>
              <a:r>
                <a:rPr sz="675" dirty="0"/>
                <a:t>Theory 5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9509760" y="2194560"/>
              <a:ext cx="1645920" cy="4001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800" b="1">
                  <a:solidFill>
                    <a:srgbClr val="EC4899"/>
                  </a:solidFill>
                  <a:latin typeface="Segoe UI"/>
                </a:defRPr>
              </a:pPr>
              <a:r>
                <a:rPr sz="1350"/>
                <a:t>"ADAPT"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9509760" y="2514600"/>
              <a:ext cx="1645920" cy="492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200" b="1">
                  <a:solidFill>
                    <a:srgbClr val="FFFFFF"/>
                  </a:solidFill>
                  <a:latin typeface="Segoe UI"/>
                </a:defRPr>
              </a:pPr>
              <a:r>
                <a:rPr sz="900"/>
                <a:t>Fine-Tuning</a:t>
              </a:r>
              <a:br>
                <a:rPr sz="900"/>
              </a:br>
              <a:r>
                <a:rPr sz="900"/>
                <a:t>Fundamentals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9464040" y="3063240"/>
              <a:ext cx="1737360" cy="5386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 dirty="0"/>
                <a:t>Transfer Learning</a:t>
              </a:r>
              <a:br>
                <a:rPr sz="675" dirty="0"/>
              </a:br>
              <a:r>
                <a:rPr sz="675" dirty="0"/>
                <a:t>Hyperparameters</a:t>
              </a:r>
              <a:br>
                <a:rPr sz="675" dirty="0"/>
              </a:br>
              <a:r>
                <a:rPr sz="675" dirty="0"/>
                <a:t>ROUGE Metrics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96FDEB6-64F2-617C-7B76-A72C8D1EEA3D}"/>
              </a:ext>
            </a:extLst>
          </p:cNvPr>
          <p:cNvGrpSpPr/>
          <p:nvPr/>
        </p:nvGrpSpPr>
        <p:grpSpPr>
          <a:xfrm>
            <a:off x="411480" y="3463290"/>
            <a:ext cx="3977640" cy="1028700"/>
            <a:chOff x="548640" y="4617720"/>
            <a:chExt cx="5303520" cy="1371600"/>
          </a:xfrm>
        </p:grpSpPr>
        <p:sp>
          <p:nvSpPr>
            <p:cNvPr id="35" name="Rounded Rectangle 34"/>
            <p:cNvSpPr/>
            <p:nvPr/>
          </p:nvSpPr>
          <p:spPr>
            <a:xfrm>
              <a:off x="548640" y="4617720"/>
              <a:ext cx="5303520" cy="1371600"/>
            </a:xfrm>
            <a:prstGeom prst="roundRect">
              <a:avLst>
                <a:gd name="adj" fmla="val 3000"/>
              </a:avLst>
            </a:prstGeom>
            <a:solidFill>
              <a:srgbClr val="162033"/>
            </a:solidFill>
            <a:ln w="19050">
              <a:solidFill>
                <a:srgbClr val="22C55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731520" y="4754880"/>
              <a:ext cx="1828800" cy="256032"/>
            </a:xfrm>
            <a:prstGeom prst="roundRect">
              <a:avLst>
                <a:gd name="adj" fmla="val 40000"/>
              </a:avLst>
            </a:prstGeom>
            <a:solidFill>
              <a:srgbClr val="22C55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FFFFFF"/>
                  </a:solidFill>
                  <a:latin typeface="Segoe UI"/>
                </a:defRPr>
              </a:pPr>
              <a:r>
                <a:rPr sz="675" dirty="0"/>
                <a:t>🔬  LAB 1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31520" y="5093208"/>
              <a:ext cx="4846320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300" b="1">
                  <a:solidFill>
                    <a:srgbClr val="FFFFFF"/>
                  </a:solidFill>
                  <a:latin typeface="Segoe UI"/>
                </a:defRPr>
              </a:pPr>
              <a:r>
                <a:rPr sz="975" dirty="0"/>
                <a:t>Inference Pipeline — Using T5 Out of the Box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731520" y="5394960"/>
              <a:ext cx="484632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225"/>
                </a:spcAft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Load model → Tokenize → Generate → Control params → Visualize attention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D66D91E-705C-FB40-A2FA-219F6380D25A}"/>
              </a:ext>
            </a:extLst>
          </p:cNvPr>
          <p:cNvGrpSpPr/>
          <p:nvPr/>
        </p:nvGrpSpPr>
        <p:grpSpPr>
          <a:xfrm>
            <a:off x="4629150" y="3463290"/>
            <a:ext cx="4080510" cy="1028700"/>
            <a:chOff x="6172200" y="4617720"/>
            <a:chExt cx="5440680" cy="1371600"/>
          </a:xfrm>
        </p:grpSpPr>
        <p:sp>
          <p:nvSpPr>
            <p:cNvPr id="39" name="Rounded Rectangle 38"/>
            <p:cNvSpPr/>
            <p:nvPr/>
          </p:nvSpPr>
          <p:spPr>
            <a:xfrm>
              <a:off x="6172200" y="4617720"/>
              <a:ext cx="5440680" cy="1371600"/>
            </a:xfrm>
            <a:prstGeom prst="roundRect">
              <a:avLst>
                <a:gd name="adj" fmla="val 3000"/>
              </a:avLst>
            </a:prstGeom>
            <a:solidFill>
              <a:srgbClr val="162033"/>
            </a:solidFill>
            <a:ln w="19050">
              <a:solidFill>
                <a:srgbClr val="FBBF2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6355080" y="4754880"/>
              <a:ext cx="1828800" cy="256032"/>
            </a:xfrm>
            <a:prstGeom prst="roundRect">
              <a:avLst>
                <a:gd name="adj" fmla="val 40000"/>
              </a:avLst>
            </a:prstGeom>
            <a:solidFill>
              <a:srgbClr val="FBBF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0F172A"/>
                  </a:solidFill>
                  <a:latin typeface="Segoe UI"/>
                </a:defRPr>
              </a:pPr>
              <a:r>
                <a:rPr sz="675"/>
                <a:t>🛠  LAB 2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355080" y="5093208"/>
              <a:ext cx="5029200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300" b="1">
                  <a:solidFill>
                    <a:srgbClr val="FFFFFF"/>
                  </a:solidFill>
                  <a:latin typeface="Segoe UI"/>
                </a:defRPr>
              </a:pPr>
              <a:r>
                <a:rPr sz="975" dirty="0"/>
                <a:t>Fine-Tuning — Teaching T5 News Summarization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355080" y="5394960"/>
              <a:ext cx="502920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225"/>
                </a:spcAft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Load data → Preprocess → Train 3 epochs → Compare → ROUGE → Save model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C2812EC-716B-59BF-6A51-B37F8656AE8B}"/>
              </a:ext>
            </a:extLst>
          </p:cNvPr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4" name="TextBox 3"/>
          <p:cNvSpPr txBox="1"/>
          <p:nvPr/>
        </p:nvSpPr>
        <p:spPr>
          <a:xfrm>
            <a:off x="411480" y="168592"/>
            <a:ext cx="8229600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rPr sz="2250" dirty="0"/>
              <a:t>Six Concepts That Changed How You Think About NLP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27321D0-5EDE-D801-3188-0D3868147FD5}"/>
              </a:ext>
            </a:extLst>
          </p:cNvPr>
          <p:cNvGrpSpPr/>
          <p:nvPr/>
        </p:nvGrpSpPr>
        <p:grpSpPr>
          <a:xfrm>
            <a:off x="411480" y="968693"/>
            <a:ext cx="2640330" cy="1062990"/>
            <a:chOff x="548640" y="1291590"/>
            <a:chExt cx="3520440" cy="1417320"/>
          </a:xfrm>
        </p:grpSpPr>
        <p:sp>
          <p:nvSpPr>
            <p:cNvPr id="5" name="Rounded Rectangle 4"/>
            <p:cNvSpPr/>
            <p:nvPr/>
          </p:nvSpPr>
          <p:spPr>
            <a:xfrm>
              <a:off x="548640" y="1291590"/>
              <a:ext cx="3520440" cy="1417320"/>
            </a:xfrm>
            <a:prstGeom prst="roundRect">
              <a:avLst>
                <a:gd name="adj" fmla="val 3000"/>
              </a:avLst>
            </a:prstGeom>
            <a:solidFill>
              <a:srgbClr val="1E293B"/>
            </a:solidFill>
            <a:ln w="19050">
              <a:solidFill>
                <a:srgbClr val="3B82F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85800" y="1428750"/>
              <a:ext cx="320040" cy="320040"/>
            </a:xfrm>
            <a:prstGeom prst="roundRect">
              <a:avLst>
                <a:gd name="adj" fmla="val 40000"/>
              </a:avLst>
            </a:prstGeom>
            <a:solidFill>
              <a:srgbClr val="3B8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400" b="1">
                  <a:solidFill>
                    <a:srgbClr val="FFFFFF"/>
                  </a:solidFill>
                  <a:latin typeface="Segoe UI"/>
                </a:defRPr>
              </a:pPr>
              <a:r>
                <a:rPr sz="1050"/>
                <a:t>1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97280" y="1401318"/>
              <a:ext cx="2743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600" b="1">
                  <a:solidFill>
                    <a:srgbClr val="FFFFFF"/>
                  </a:solidFill>
                  <a:latin typeface="Segoe UI"/>
                </a:defRPr>
              </a:pPr>
              <a:r>
                <a:rPr sz="1200"/>
                <a:t>Attention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097280" y="1721358"/>
              <a:ext cx="2788920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 dirty="0"/>
                <a:t>The model learns WHAT to focus on —</a:t>
              </a:r>
              <a:br>
                <a:rPr sz="750" dirty="0"/>
              </a:br>
              <a:r>
                <a:rPr sz="750" dirty="0"/>
                <a:t>like a spotlight on relevant words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1A1C690-EE86-D169-C5F7-075B2B842366}"/>
              </a:ext>
            </a:extLst>
          </p:cNvPr>
          <p:cNvGrpSpPr/>
          <p:nvPr/>
        </p:nvGrpSpPr>
        <p:grpSpPr>
          <a:xfrm>
            <a:off x="3223260" y="968693"/>
            <a:ext cx="2640330" cy="1062990"/>
            <a:chOff x="4297680" y="1291590"/>
            <a:chExt cx="3520440" cy="1417320"/>
          </a:xfrm>
        </p:grpSpPr>
        <p:sp>
          <p:nvSpPr>
            <p:cNvPr id="10" name="Rounded Rectangle 9"/>
            <p:cNvSpPr/>
            <p:nvPr/>
          </p:nvSpPr>
          <p:spPr>
            <a:xfrm>
              <a:off x="4297680" y="1291590"/>
              <a:ext cx="3520440" cy="1417320"/>
            </a:xfrm>
            <a:prstGeom prst="roundRect">
              <a:avLst>
                <a:gd name="adj" fmla="val 3000"/>
              </a:avLst>
            </a:prstGeom>
            <a:solidFill>
              <a:srgbClr val="1E293B"/>
            </a:solidFill>
            <a:ln w="19050">
              <a:solidFill>
                <a:srgbClr val="14B8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4434840" y="1428750"/>
              <a:ext cx="320040" cy="320040"/>
            </a:xfrm>
            <a:prstGeom prst="roundRect">
              <a:avLst>
                <a:gd name="adj" fmla="val 40000"/>
              </a:avLst>
            </a:prstGeom>
            <a:solidFill>
              <a:srgbClr val="14B8A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400" b="1">
                  <a:solidFill>
                    <a:srgbClr val="FFFFFF"/>
                  </a:solidFill>
                  <a:latin typeface="Segoe UI"/>
                </a:defRPr>
              </a:pPr>
              <a:r>
                <a:rPr sz="1050"/>
                <a:t>2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846320" y="1401318"/>
              <a:ext cx="2743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600" b="1">
                  <a:solidFill>
                    <a:srgbClr val="FFFFFF"/>
                  </a:solidFill>
                  <a:latin typeface="Segoe UI"/>
                </a:defRPr>
              </a:pPr>
              <a:r>
                <a:rPr sz="1200"/>
                <a:t>Self-Attention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846320" y="1721358"/>
              <a:ext cx="2788920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Every word looks at every other word</a:t>
              </a:r>
              <a:br>
                <a:rPr sz="750"/>
              </a:br>
              <a:r>
                <a:rPr sz="750"/>
                <a:t>in parallel — no distance limit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949B72D-0CD5-DFC1-A112-EB8C69D9CC5C}"/>
              </a:ext>
            </a:extLst>
          </p:cNvPr>
          <p:cNvGrpSpPr/>
          <p:nvPr/>
        </p:nvGrpSpPr>
        <p:grpSpPr>
          <a:xfrm>
            <a:off x="6035040" y="968693"/>
            <a:ext cx="2640330" cy="1062990"/>
            <a:chOff x="8046720" y="1291590"/>
            <a:chExt cx="3520440" cy="1417320"/>
          </a:xfrm>
        </p:grpSpPr>
        <p:sp>
          <p:nvSpPr>
            <p:cNvPr id="15" name="Rounded Rectangle 14"/>
            <p:cNvSpPr/>
            <p:nvPr/>
          </p:nvSpPr>
          <p:spPr>
            <a:xfrm>
              <a:off x="8046720" y="1291590"/>
              <a:ext cx="3520440" cy="1417320"/>
            </a:xfrm>
            <a:prstGeom prst="roundRect">
              <a:avLst>
                <a:gd name="adj" fmla="val 3000"/>
              </a:avLst>
            </a:prstGeom>
            <a:solidFill>
              <a:srgbClr val="1E293B"/>
            </a:solidFill>
            <a:ln w="19050">
              <a:solidFill>
                <a:srgbClr val="A78BF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8183880" y="1428750"/>
              <a:ext cx="320040" cy="320040"/>
            </a:xfrm>
            <a:prstGeom prst="roundRect">
              <a:avLst>
                <a:gd name="adj" fmla="val 40000"/>
              </a:avLst>
            </a:prstGeom>
            <a:solidFill>
              <a:srgbClr val="A78B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400" b="1">
                  <a:solidFill>
                    <a:srgbClr val="FFFFFF"/>
                  </a:solidFill>
                  <a:latin typeface="Segoe UI"/>
                </a:defRPr>
              </a:pPr>
              <a:r>
                <a:rPr sz="1050"/>
                <a:t>3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595360" y="1401318"/>
              <a:ext cx="2743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600" b="1">
                  <a:solidFill>
                    <a:srgbClr val="FFFFFF"/>
                  </a:solidFill>
                  <a:latin typeface="Segoe UI"/>
                </a:defRPr>
              </a:pPr>
              <a:r>
                <a:rPr sz="1200"/>
                <a:t>Encoder-Decoder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595360" y="1721358"/>
              <a:ext cx="2788920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 dirty="0"/>
                <a:t>Encoder READS &amp; understands;</a:t>
              </a:r>
              <a:br>
                <a:rPr sz="750" dirty="0"/>
              </a:br>
              <a:r>
                <a:rPr sz="750" dirty="0"/>
                <a:t>Decoder WRITES &amp; generates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FA6EEAC-BE46-F2AA-C6A3-95E42B6732F4}"/>
              </a:ext>
            </a:extLst>
          </p:cNvPr>
          <p:cNvGrpSpPr/>
          <p:nvPr/>
        </p:nvGrpSpPr>
        <p:grpSpPr>
          <a:xfrm>
            <a:off x="411480" y="2168843"/>
            <a:ext cx="2640330" cy="1062990"/>
            <a:chOff x="548640" y="2891790"/>
            <a:chExt cx="3520440" cy="1417320"/>
          </a:xfrm>
        </p:grpSpPr>
        <p:sp>
          <p:nvSpPr>
            <p:cNvPr id="20" name="Rounded Rectangle 19"/>
            <p:cNvSpPr/>
            <p:nvPr/>
          </p:nvSpPr>
          <p:spPr>
            <a:xfrm>
              <a:off x="548640" y="2891790"/>
              <a:ext cx="3520440" cy="1417320"/>
            </a:xfrm>
            <a:prstGeom prst="roundRect">
              <a:avLst>
                <a:gd name="adj" fmla="val 3000"/>
              </a:avLst>
            </a:prstGeom>
            <a:solidFill>
              <a:srgbClr val="1E293B"/>
            </a:solidFill>
            <a:ln w="19050">
              <a:solidFill>
                <a:srgbClr val="F59E0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685800" y="3028950"/>
              <a:ext cx="320040" cy="320040"/>
            </a:xfrm>
            <a:prstGeom prst="roundRect">
              <a:avLst>
                <a:gd name="adj" fmla="val 40000"/>
              </a:avLst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400" b="1">
                  <a:solidFill>
                    <a:srgbClr val="FFFFFF"/>
                  </a:solidFill>
                  <a:latin typeface="Segoe UI"/>
                </a:defRPr>
              </a:pPr>
              <a:r>
                <a:rPr sz="1050"/>
                <a:t>4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097280" y="3001518"/>
              <a:ext cx="2743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600" b="1">
                  <a:solidFill>
                    <a:srgbClr val="FFFFFF"/>
                  </a:solidFill>
                  <a:latin typeface="Segoe UI"/>
                </a:defRPr>
              </a:pPr>
              <a:r>
                <a:rPr sz="1200"/>
                <a:t>Tokenization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097280" y="3321558"/>
              <a:ext cx="2788920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 dirty="0"/>
                <a:t>Text → numbers via </a:t>
              </a:r>
              <a:r>
                <a:rPr sz="750" dirty="0" err="1"/>
                <a:t>subword</a:t>
              </a:r>
              <a:r>
                <a:rPr sz="750" dirty="0"/>
                <a:t> splitting;</a:t>
              </a:r>
              <a:br>
                <a:rPr sz="750" dirty="0"/>
              </a:br>
              <a:r>
                <a:rPr sz="750" dirty="0"/>
                <a:t>unknown words → known pieces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A75A9C2-4B63-748C-2282-5DDC4269B489}"/>
              </a:ext>
            </a:extLst>
          </p:cNvPr>
          <p:cNvGrpSpPr/>
          <p:nvPr/>
        </p:nvGrpSpPr>
        <p:grpSpPr>
          <a:xfrm>
            <a:off x="3223260" y="2168843"/>
            <a:ext cx="2640330" cy="1062990"/>
            <a:chOff x="4297680" y="2891790"/>
            <a:chExt cx="3520440" cy="1417320"/>
          </a:xfrm>
        </p:grpSpPr>
        <p:sp>
          <p:nvSpPr>
            <p:cNvPr id="25" name="Rounded Rectangle 24"/>
            <p:cNvSpPr/>
            <p:nvPr/>
          </p:nvSpPr>
          <p:spPr>
            <a:xfrm>
              <a:off x="4297680" y="2891790"/>
              <a:ext cx="3520440" cy="1417320"/>
            </a:xfrm>
            <a:prstGeom prst="roundRect">
              <a:avLst>
                <a:gd name="adj" fmla="val 3000"/>
              </a:avLst>
            </a:prstGeom>
            <a:solidFill>
              <a:srgbClr val="1E293B"/>
            </a:solidFill>
            <a:ln w="19050">
              <a:solidFill>
                <a:srgbClr val="EC489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4434840" y="3028950"/>
              <a:ext cx="320040" cy="320040"/>
            </a:xfrm>
            <a:prstGeom prst="roundRect">
              <a:avLst>
                <a:gd name="adj" fmla="val 40000"/>
              </a:avLst>
            </a:prstGeom>
            <a:solidFill>
              <a:srgbClr val="EC48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400" b="1">
                  <a:solidFill>
                    <a:srgbClr val="FFFFFF"/>
                  </a:solidFill>
                  <a:latin typeface="Segoe UI"/>
                </a:defRPr>
              </a:pPr>
              <a:r>
                <a:rPr sz="1050"/>
                <a:t>5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846320" y="3001518"/>
              <a:ext cx="2743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600" b="1">
                  <a:solidFill>
                    <a:srgbClr val="FFFFFF"/>
                  </a:solidFill>
                  <a:latin typeface="Segoe UI"/>
                </a:defRPr>
              </a:pPr>
              <a:r>
                <a:rPr sz="1200"/>
                <a:t>Transfer Learning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846320" y="3321558"/>
              <a:ext cx="2788920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 dirty="0"/>
                <a:t>Pre-train on massive data, fine-tune</a:t>
              </a:r>
              <a:br>
                <a:rPr sz="750" dirty="0"/>
              </a:br>
              <a:r>
                <a:rPr sz="750" dirty="0"/>
                <a:t>on YOUR task — 143× less data needed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DE25AEC-4780-2E96-7467-0EBDDAEFED8D}"/>
              </a:ext>
            </a:extLst>
          </p:cNvPr>
          <p:cNvGrpSpPr/>
          <p:nvPr/>
        </p:nvGrpSpPr>
        <p:grpSpPr>
          <a:xfrm>
            <a:off x="6035040" y="2168843"/>
            <a:ext cx="2640330" cy="1062990"/>
            <a:chOff x="8046720" y="2891790"/>
            <a:chExt cx="3520440" cy="1417320"/>
          </a:xfrm>
        </p:grpSpPr>
        <p:sp>
          <p:nvSpPr>
            <p:cNvPr id="30" name="Rounded Rectangle 29"/>
            <p:cNvSpPr/>
            <p:nvPr/>
          </p:nvSpPr>
          <p:spPr>
            <a:xfrm>
              <a:off x="8046720" y="2891790"/>
              <a:ext cx="3520440" cy="1417320"/>
            </a:xfrm>
            <a:prstGeom prst="roundRect">
              <a:avLst>
                <a:gd name="adj" fmla="val 3000"/>
              </a:avLst>
            </a:prstGeom>
            <a:solidFill>
              <a:srgbClr val="1E293B"/>
            </a:solidFill>
            <a:ln w="19050">
              <a:solidFill>
                <a:srgbClr val="22C55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8183880" y="3028950"/>
              <a:ext cx="320040" cy="320040"/>
            </a:xfrm>
            <a:prstGeom prst="roundRect">
              <a:avLst>
                <a:gd name="adj" fmla="val 40000"/>
              </a:avLst>
            </a:prstGeom>
            <a:solidFill>
              <a:srgbClr val="22C55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400" b="1">
                  <a:solidFill>
                    <a:srgbClr val="FFFFFF"/>
                  </a:solidFill>
                  <a:latin typeface="Segoe UI"/>
                </a:defRPr>
              </a:pPr>
              <a:r>
                <a:rPr sz="1050"/>
                <a:t>6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8595360" y="3001518"/>
              <a:ext cx="2743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600" b="1">
                  <a:solidFill>
                    <a:srgbClr val="FFFFFF"/>
                  </a:solidFill>
                  <a:latin typeface="Segoe UI"/>
                </a:defRPr>
              </a:pPr>
              <a:r>
                <a:rPr sz="1200"/>
                <a:t>ROUGE Evaluation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8595360" y="3321558"/>
              <a:ext cx="2788920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 dirty="0"/>
                <a:t>Measure summary quality objectively;</a:t>
              </a:r>
              <a:br>
                <a:rPr sz="750" dirty="0"/>
              </a:br>
              <a:r>
                <a:rPr sz="750" dirty="0"/>
                <a:t>compare generated vs. reference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31DE294-68D7-032E-4E30-C0F07EF6E81A}"/>
              </a:ext>
            </a:extLst>
          </p:cNvPr>
          <p:cNvGrpSpPr/>
          <p:nvPr/>
        </p:nvGrpSpPr>
        <p:grpSpPr>
          <a:xfrm>
            <a:off x="411480" y="3566160"/>
            <a:ext cx="8298180" cy="1337310"/>
            <a:chOff x="548640" y="4754880"/>
            <a:chExt cx="11064240" cy="1783080"/>
          </a:xfrm>
        </p:grpSpPr>
        <p:sp>
          <p:nvSpPr>
            <p:cNvPr id="35" name="Rounded Rectangle 34"/>
            <p:cNvSpPr/>
            <p:nvPr/>
          </p:nvSpPr>
          <p:spPr>
            <a:xfrm>
              <a:off x="548640" y="4754880"/>
              <a:ext cx="11064240" cy="1783080"/>
            </a:xfrm>
            <a:prstGeom prst="roundRect">
              <a:avLst>
                <a:gd name="adj" fmla="val 3000"/>
              </a:avLst>
            </a:prstGeom>
            <a:solidFill>
              <a:srgbClr val="162033"/>
            </a:solidFill>
            <a:ln w="19050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14400" y="4864608"/>
              <a:ext cx="100584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600" b="1">
                  <a:solidFill>
                    <a:srgbClr val="FBBF24"/>
                  </a:solidFill>
                  <a:latin typeface="Segoe UI"/>
                </a:defRPr>
              </a:pPr>
              <a:r>
                <a:rPr sz="1200"/>
                <a:t>🏆  What You Built Today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914400" y="5257800"/>
              <a:ext cx="4754880" cy="12482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225"/>
                </a:spcAft>
                <a:defRPr sz="1200" b="1">
                  <a:solidFill>
                    <a:srgbClr val="22C55E"/>
                  </a:solidFill>
                  <a:latin typeface="Segoe UI"/>
                </a:defRPr>
              </a:pPr>
              <a:r>
                <a:rPr sz="900" dirty="0"/>
                <a:t>Lab 1: Inference Pipeline</a:t>
              </a:r>
            </a:p>
            <a:p>
              <a:pPr>
                <a:spcAft>
                  <a:spcPts val="225"/>
                </a:spcAft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 dirty="0"/>
                <a:t>✓ Loaded T5-small (60M parameters)</a:t>
              </a:r>
            </a:p>
            <a:p>
              <a:pPr>
                <a:spcAft>
                  <a:spcPts val="225"/>
                </a:spcAft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 dirty="0"/>
                <a:t>✓ Tokenized text with </a:t>
              </a:r>
              <a:r>
                <a:rPr sz="750" dirty="0" err="1"/>
                <a:t>SentencePiece</a:t>
              </a:r>
              <a:endParaRPr sz="750" dirty="0"/>
            </a:p>
            <a:p>
              <a:pPr>
                <a:spcAft>
                  <a:spcPts val="225"/>
                </a:spcAft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 dirty="0"/>
                <a:t>✓ Generated summaries with beam search</a:t>
              </a:r>
            </a:p>
            <a:p>
              <a:pPr>
                <a:spcAft>
                  <a:spcPts val="225"/>
                </a:spcAft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 dirty="0"/>
                <a:t>✓ Experimented with temperature</a:t>
              </a:r>
            </a:p>
            <a:p>
              <a:pPr>
                <a:spcAft>
                  <a:spcPts val="225"/>
                </a:spcAft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 dirty="0"/>
                <a:t>✓ Visualized real attention weight patterns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217920" y="5257800"/>
              <a:ext cx="5029200" cy="12482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225"/>
                </a:spcAft>
                <a:defRPr sz="1200" b="1">
                  <a:solidFill>
                    <a:srgbClr val="FBBF24"/>
                  </a:solidFill>
                  <a:latin typeface="Segoe UI"/>
                </a:defRPr>
              </a:pPr>
              <a:r>
                <a:rPr sz="900"/>
                <a:t>Lab 2: Fine-Tuning Pipeline</a:t>
              </a:r>
            </a:p>
            <a:p>
              <a:pPr>
                <a:spcAft>
                  <a:spcPts val="225"/>
                </a:spcAft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✓ Loaded and explored CNN/DailyMail dataset</a:t>
              </a:r>
            </a:p>
            <a:p>
              <a:pPr>
                <a:spcAft>
                  <a:spcPts val="225"/>
                </a:spcAft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✓ Preprocessed &amp; tokenized 1,500 articles</a:t>
              </a:r>
            </a:p>
            <a:p>
              <a:pPr>
                <a:spcAft>
                  <a:spcPts val="225"/>
                </a:spcAft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✓ Configured Seq2SeqTrainer + hyperparameters</a:t>
              </a:r>
            </a:p>
            <a:p>
              <a:pPr>
                <a:spcAft>
                  <a:spcPts val="225"/>
                </a:spcAft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✓ Fine-tuned T5-small for 3 epochs (~15 min)</a:t>
              </a:r>
            </a:p>
            <a:p>
              <a:pPr>
                <a:spcAft>
                  <a:spcPts val="225"/>
                </a:spcAft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✓ Achieved ~50% ROUGE-1 improvement — $0 cost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2A6594E-02D2-1284-9D8F-E63A3D3018A8}"/>
              </a:ext>
            </a:extLst>
          </p:cNvPr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 dirty="0"/>
          </a:p>
        </p:txBody>
      </p:sp>
      <p:sp>
        <p:nvSpPr>
          <p:cNvPr id="4" name="TextBox 3"/>
          <p:cNvSpPr txBox="1"/>
          <p:nvPr/>
        </p:nvSpPr>
        <p:spPr>
          <a:xfrm>
            <a:off x="411480" y="18574"/>
            <a:ext cx="8229600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rPr sz="2250" dirty="0"/>
              <a:t>From Notebook to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0054"/>
            <a:ext cx="82296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rPr sz="1050"/>
              <a:t>Your Lab 2 model works. Here's how to make it fast, small, and production-ready.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28FE542-BE06-508D-D6BA-357CB485C358}"/>
              </a:ext>
            </a:extLst>
          </p:cNvPr>
          <p:cNvGrpSpPr/>
          <p:nvPr/>
        </p:nvGrpSpPr>
        <p:grpSpPr>
          <a:xfrm>
            <a:off x="377190" y="748664"/>
            <a:ext cx="8298180" cy="445770"/>
            <a:chOff x="548640" y="1874519"/>
            <a:chExt cx="11064240" cy="594360"/>
          </a:xfrm>
        </p:grpSpPr>
        <p:sp>
          <p:nvSpPr>
            <p:cNvPr id="6" name="Rounded Rectangle 5"/>
            <p:cNvSpPr/>
            <p:nvPr/>
          </p:nvSpPr>
          <p:spPr>
            <a:xfrm>
              <a:off x="548640" y="1874519"/>
              <a:ext cx="11064240" cy="594360"/>
            </a:xfrm>
            <a:prstGeom prst="roundRect">
              <a:avLst>
                <a:gd name="adj" fmla="val 3000"/>
              </a:avLst>
            </a:prstGeom>
            <a:solidFill>
              <a:srgbClr val="162033"/>
            </a:solidFill>
            <a:ln w="19050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14400" y="1920239"/>
              <a:ext cx="10332720" cy="3077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225"/>
                </a:spcAft>
                <a:defRPr sz="1200" b="0">
                  <a:solidFill>
                    <a:srgbClr val="B0B8C8"/>
                  </a:solidFill>
                  <a:latin typeface="Segoe UI"/>
                </a:defRPr>
              </a:pPr>
              <a:r>
                <a:rPr sz="900" dirty="0"/>
                <a:t>📓 Lab notebook  ≠  🚀 Production system     The gap: speed, reliability, cost, monitoring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EF7A298-4E55-7EE2-BD34-1BB718F92E4D}"/>
              </a:ext>
            </a:extLst>
          </p:cNvPr>
          <p:cNvGrpSpPr/>
          <p:nvPr/>
        </p:nvGrpSpPr>
        <p:grpSpPr>
          <a:xfrm>
            <a:off x="411480" y="1560195"/>
            <a:ext cx="2640330" cy="960120"/>
            <a:chOff x="548640" y="2080260"/>
            <a:chExt cx="3520440" cy="1280160"/>
          </a:xfrm>
        </p:grpSpPr>
        <p:sp>
          <p:nvSpPr>
            <p:cNvPr id="8" name="Rounded Rectangle 7"/>
            <p:cNvSpPr/>
            <p:nvPr/>
          </p:nvSpPr>
          <p:spPr>
            <a:xfrm>
              <a:off x="548640" y="2080260"/>
              <a:ext cx="3520440" cy="1280160"/>
            </a:xfrm>
            <a:prstGeom prst="roundRect">
              <a:avLst>
                <a:gd name="adj" fmla="val 3000"/>
              </a:avLst>
            </a:prstGeom>
            <a:solidFill>
              <a:srgbClr val="1E293B"/>
            </a:solidFill>
            <a:ln w="19050">
              <a:solidFill>
                <a:srgbClr val="3B82F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85800" y="2171700"/>
              <a:ext cx="320040" cy="4001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800" b="0">
                  <a:solidFill>
                    <a:srgbClr val="FFFFFF"/>
                  </a:solidFill>
                  <a:latin typeface="Segoe UI"/>
                </a:defRPr>
              </a:pPr>
              <a:r>
                <a:rPr sz="1350"/>
                <a:t>⚡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005840" y="2153412"/>
              <a:ext cx="2560320" cy="492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FFFFFF"/>
                  </a:solidFill>
                  <a:latin typeface="Segoe UI"/>
                </a:defRPr>
              </a:pPr>
              <a:r>
                <a:rPr sz="900"/>
                <a:t>Quantization</a:t>
              </a:r>
              <a:br>
                <a:rPr sz="900"/>
              </a:br>
              <a:r>
                <a:rPr sz="900"/>
                <a:t>(INT8)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85800" y="2628900"/>
              <a:ext cx="3200400" cy="4001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 dirty="0"/>
                <a:t>32-bit → 8-bit weights</a:t>
              </a:r>
              <a:br>
                <a:rPr sz="675" dirty="0"/>
              </a:br>
              <a:r>
                <a:rPr sz="675" dirty="0"/>
                <a:t>2–4× faster, &lt;1% quality loss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85800" y="3067812"/>
              <a:ext cx="1280160" cy="201168"/>
            </a:xfrm>
            <a:prstGeom prst="roundRect">
              <a:avLst>
                <a:gd name="adj" fmla="val 40000"/>
              </a:avLst>
            </a:prstGeom>
            <a:solidFill>
              <a:srgbClr val="3B8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800" b="1">
                  <a:solidFill>
                    <a:srgbClr val="FFFFFF"/>
                  </a:solidFill>
                  <a:latin typeface="Segoe UI"/>
                </a:defRPr>
              </a:pPr>
              <a:r>
                <a:rPr sz="600"/>
                <a:t>Try first!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4566680-F7EE-3E30-57AF-BA215B9F020C}"/>
              </a:ext>
            </a:extLst>
          </p:cNvPr>
          <p:cNvGrpSpPr/>
          <p:nvPr/>
        </p:nvGrpSpPr>
        <p:grpSpPr>
          <a:xfrm>
            <a:off x="3223260" y="1560195"/>
            <a:ext cx="2640330" cy="971496"/>
            <a:chOff x="4297680" y="2080260"/>
            <a:chExt cx="3520440" cy="1280160"/>
          </a:xfrm>
        </p:grpSpPr>
        <p:sp>
          <p:nvSpPr>
            <p:cNvPr id="13" name="Rounded Rectangle 12"/>
            <p:cNvSpPr/>
            <p:nvPr/>
          </p:nvSpPr>
          <p:spPr>
            <a:xfrm>
              <a:off x="4297680" y="2080260"/>
              <a:ext cx="3520440" cy="1280160"/>
            </a:xfrm>
            <a:prstGeom prst="roundRect">
              <a:avLst>
                <a:gd name="adj" fmla="val 3000"/>
              </a:avLst>
            </a:prstGeom>
            <a:solidFill>
              <a:srgbClr val="1E293B"/>
            </a:solidFill>
            <a:ln w="19050">
              <a:solidFill>
                <a:srgbClr val="14B8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434840" y="2171700"/>
              <a:ext cx="320040" cy="4001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800" b="0">
                  <a:solidFill>
                    <a:srgbClr val="FFFFFF"/>
                  </a:solidFill>
                  <a:latin typeface="Segoe UI"/>
                </a:defRPr>
              </a:pPr>
              <a:r>
                <a:rPr sz="1350"/>
                <a:t>📦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754880" y="2153412"/>
              <a:ext cx="2560320" cy="3077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FFFFFF"/>
                  </a:solidFill>
                  <a:latin typeface="Segoe UI"/>
                </a:defRPr>
              </a:pPr>
              <a:r>
                <a:rPr sz="900"/>
                <a:t>ONNX Export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434840" y="2628900"/>
              <a:ext cx="3200400" cy="4001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 dirty="0" err="1"/>
                <a:t>PyTorch</a:t>
              </a:r>
              <a:r>
                <a:rPr sz="675" dirty="0"/>
                <a:t> → ONNX format</a:t>
              </a:r>
              <a:br>
                <a:rPr sz="675" dirty="0"/>
              </a:br>
              <a:r>
                <a:rPr sz="675" dirty="0"/>
                <a:t>1.5–3× faster, 0% quality loss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4434840" y="3067812"/>
              <a:ext cx="1280160" cy="201168"/>
            </a:xfrm>
            <a:prstGeom prst="roundRect">
              <a:avLst>
                <a:gd name="adj" fmla="val 40000"/>
              </a:avLst>
            </a:prstGeom>
            <a:solidFill>
              <a:srgbClr val="14B8A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800" b="1">
                  <a:solidFill>
                    <a:srgbClr val="FFFFFF"/>
                  </a:solidFill>
                  <a:latin typeface="Segoe UI"/>
                </a:defRPr>
              </a:pPr>
              <a:r>
                <a:rPr sz="600"/>
                <a:t>Cross-platform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16B4EFD-1318-0299-AF2E-A8573C588298}"/>
              </a:ext>
            </a:extLst>
          </p:cNvPr>
          <p:cNvGrpSpPr/>
          <p:nvPr/>
        </p:nvGrpSpPr>
        <p:grpSpPr>
          <a:xfrm>
            <a:off x="6035040" y="1560195"/>
            <a:ext cx="2640330" cy="960120"/>
            <a:chOff x="8046720" y="2080260"/>
            <a:chExt cx="3520440" cy="1280160"/>
          </a:xfrm>
        </p:grpSpPr>
        <p:sp>
          <p:nvSpPr>
            <p:cNvPr id="18" name="Rounded Rectangle 17"/>
            <p:cNvSpPr/>
            <p:nvPr/>
          </p:nvSpPr>
          <p:spPr>
            <a:xfrm>
              <a:off x="8046720" y="2080260"/>
              <a:ext cx="3520440" cy="1280160"/>
            </a:xfrm>
            <a:prstGeom prst="roundRect">
              <a:avLst>
                <a:gd name="adj" fmla="val 3000"/>
              </a:avLst>
            </a:prstGeom>
            <a:solidFill>
              <a:srgbClr val="1E293B"/>
            </a:solidFill>
            <a:ln w="19050">
              <a:solidFill>
                <a:srgbClr val="A78BF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183880" y="2171700"/>
              <a:ext cx="320040" cy="4001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800" b="0">
                  <a:solidFill>
                    <a:srgbClr val="FFFFFF"/>
                  </a:solidFill>
                  <a:latin typeface="Segoe UI"/>
                </a:defRPr>
              </a:pPr>
              <a:r>
                <a:rPr sz="1350"/>
                <a:t>🧪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503920" y="2153412"/>
              <a:ext cx="2560320" cy="3077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FFFFFF"/>
                  </a:solidFill>
                  <a:latin typeface="Segoe UI"/>
                </a:defRPr>
              </a:pPr>
              <a:r>
                <a:rPr sz="900"/>
                <a:t>Distillation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183880" y="2628900"/>
              <a:ext cx="3200400" cy="4001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 dirty="0"/>
                <a:t>Train smaller model to mimic</a:t>
              </a:r>
              <a:br>
                <a:rPr sz="675" dirty="0"/>
              </a:br>
              <a:r>
                <a:rPr sz="675" dirty="0"/>
                <a:t>the larger — 5–10× speedup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8183880" y="3067812"/>
              <a:ext cx="1280160" cy="201168"/>
            </a:xfrm>
            <a:prstGeom prst="roundRect">
              <a:avLst>
                <a:gd name="adj" fmla="val 40000"/>
              </a:avLst>
            </a:prstGeom>
            <a:solidFill>
              <a:srgbClr val="A78B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800" b="1">
                  <a:solidFill>
                    <a:srgbClr val="FFFFFF"/>
                  </a:solidFill>
                  <a:latin typeface="Segoe UI"/>
                </a:defRPr>
              </a:pPr>
              <a:r>
                <a:rPr sz="600"/>
                <a:t>Latency critical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3671EFC-7F20-4E62-1A63-E84C176F9CBC}"/>
              </a:ext>
            </a:extLst>
          </p:cNvPr>
          <p:cNvGrpSpPr/>
          <p:nvPr/>
        </p:nvGrpSpPr>
        <p:grpSpPr>
          <a:xfrm>
            <a:off x="411480" y="2657475"/>
            <a:ext cx="2640330" cy="960120"/>
            <a:chOff x="548640" y="3543300"/>
            <a:chExt cx="3520440" cy="1280160"/>
          </a:xfrm>
        </p:grpSpPr>
        <p:sp>
          <p:nvSpPr>
            <p:cNvPr id="23" name="Rounded Rectangle 22"/>
            <p:cNvSpPr/>
            <p:nvPr/>
          </p:nvSpPr>
          <p:spPr>
            <a:xfrm>
              <a:off x="548640" y="3543300"/>
              <a:ext cx="3520440" cy="1280160"/>
            </a:xfrm>
            <a:prstGeom prst="roundRect">
              <a:avLst>
                <a:gd name="adj" fmla="val 3000"/>
              </a:avLst>
            </a:prstGeom>
            <a:solidFill>
              <a:srgbClr val="1E293B"/>
            </a:solidFill>
            <a:ln w="19050">
              <a:solidFill>
                <a:srgbClr val="F59E0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85800" y="3634740"/>
              <a:ext cx="320040" cy="4001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800" b="0">
                  <a:solidFill>
                    <a:srgbClr val="FFFFFF"/>
                  </a:solidFill>
                  <a:latin typeface="Segoe UI"/>
                </a:defRPr>
              </a:pPr>
              <a:r>
                <a:rPr sz="1350"/>
                <a:t>💨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005840" y="3616452"/>
              <a:ext cx="2560320" cy="3077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FFFFFF"/>
                  </a:solidFill>
                  <a:latin typeface="Segoe UI"/>
                </a:defRPr>
              </a:pPr>
              <a:r>
                <a:rPr sz="900"/>
                <a:t>FP16 / BF16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85800" y="4091940"/>
              <a:ext cx="3200400" cy="4001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 dirty="0"/>
                <a:t>Half-precision inference</a:t>
              </a:r>
              <a:br>
                <a:rPr sz="675" dirty="0"/>
              </a:br>
              <a:r>
                <a:rPr sz="675" dirty="0"/>
                <a:t>2× faster, negligible loss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685800" y="4530852"/>
              <a:ext cx="1280160" cy="201168"/>
            </a:xfrm>
            <a:prstGeom prst="roundRect">
              <a:avLst>
                <a:gd name="adj" fmla="val 40000"/>
              </a:avLst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800" b="1">
                  <a:solidFill>
                    <a:srgbClr val="FFFFFF"/>
                  </a:solidFill>
                  <a:latin typeface="Segoe UI"/>
                </a:defRPr>
              </a:pPr>
              <a:r>
                <a:rPr sz="600"/>
                <a:t>GPU required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44E7EA9-05A1-DEC6-FDC4-A8C8438C4163}"/>
              </a:ext>
            </a:extLst>
          </p:cNvPr>
          <p:cNvGrpSpPr/>
          <p:nvPr/>
        </p:nvGrpSpPr>
        <p:grpSpPr>
          <a:xfrm>
            <a:off x="3223260" y="2657475"/>
            <a:ext cx="2640330" cy="960120"/>
            <a:chOff x="4297680" y="3543300"/>
            <a:chExt cx="3520440" cy="1280160"/>
          </a:xfrm>
        </p:grpSpPr>
        <p:sp>
          <p:nvSpPr>
            <p:cNvPr id="28" name="Rounded Rectangle 27"/>
            <p:cNvSpPr/>
            <p:nvPr/>
          </p:nvSpPr>
          <p:spPr>
            <a:xfrm>
              <a:off x="4297680" y="3543300"/>
              <a:ext cx="3520440" cy="1280160"/>
            </a:xfrm>
            <a:prstGeom prst="roundRect">
              <a:avLst>
                <a:gd name="adj" fmla="val 3000"/>
              </a:avLst>
            </a:prstGeom>
            <a:solidFill>
              <a:srgbClr val="1E293B"/>
            </a:solidFill>
            <a:ln w="19050">
              <a:solidFill>
                <a:srgbClr val="EC489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434840" y="3634740"/>
              <a:ext cx="320040" cy="4001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800" b="0">
                  <a:solidFill>
                    <a:srgbClr val="FFFFFF"/>
                  </a:solidFill>
                  <a:latin typeface="Segoe UI"/>
                </a:defRPr>
              </a:pPr>
              <a:r>
                <a:rPr sz="1350"/>
                <a:t>✂️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754880" y="3616452"/>
              <a:ext cx="2560320" cy="3077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FFFFFF"/>
                  </a:solidFill>
                  <a:latin typeface="Segoe UI"/>
                </a:defRPr>
              </a:pPr>
              <a:r>
                <a:rPr sz="900"/>
                <a:t>Pruning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434840" y="4091940"/>
              <a:ext cx="3200400" cy="4001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 dirty="0"/>
                <a:t>Remove unnecessary weights</a:t>
              </a:r>
              <a:br>
                <a:rPr sz="675" dirty="0"/>
              </a:br>
              <a:r>
                <a:rPr sz="675" dirty="0"/>
                <a:t>2–3× faster, 1–2% loss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4434840" y="4530852"/>
              <a:ext cx="1280160" cy="201168"/>
            </a:xfrm>
            <a:prstGeom prst="roundRect">
              <a:avLst>
                <a:gd name="adj" fmla="val 40000"/>
              </a:avLst>
            </a:prstGeom>
            <a:solidFill>
              <a:srgbClr val="EC48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800" b="1">
                  <a:solidFill>
                    <a:srgbClr val="FFFFFF"/>
                  </a:solidFill>
                  <a:latin typeface="Segoe UI"/>
                </a:defRPr>
              </a:pPr>
              <a:r>
                <a:rPr sz="600"/>
                <a:t>Edge devices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80D859B6-2F71-71DC-9112-7E4BFEA0E738}"/>
              </a:ext>
            </a:extLst>
          </p:cNvPr>
          <p:cNvGrpSpPr/>
          <p:nvPr/>
        </p:nvGrpSpPr>
        <p:grpSpPr>
          <a:xfrm>
            <a:off x="6035040" y="2657475"/>
            <a:ext cx="2640330" cy="960120"/>
            <a:chOff x="8046720" y="3543300"/>
            <a:chExt cx="3520440" cy="1280160"/>
          </a:xfrm>
        </p:grpSpPr>
        <p:sp>
          <p:nvSpPr>
            <p:cNvPr id="33" name="Rounded Rectangle 32"/>
            <p:cNvSpPr/>
            <p:nvPr/>
          </p:nvSpPr>
          <p:spPr>
            <a:xfrm>
              <a:off x="8046720" y="3543300"/>
              <a:ext cx="3520440" cy="1280160"/>
            </a:xfrm>
            <a:prstGeom prst="roundRect">
              <a:avLst>
                <a:gd name="adj" fmla="val 3000"/>
              </a:avLst>
            </a:prstGeom>
            <a:solidFill>
              <a:srgbClr val="1E293B"/>
            </a:solidFill>
            <a:ln w="19050">
              <a:solidFill>
                <a:srgbClr val="22C55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 dirty="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183880" y="3634740"/>
              <a:ext cx="320040" cy="4001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800" b="0">
                  <a:solidFill>
                    <a:srgbClr val="FFFFFF"/>
                  </a:solidFill>
                  <a:latin typeface="Segoe UI"/>
                </a:defRPr>
              </a:pPr>
              <a:r>
                <a:rPr sz="1350"/>
                <a:t>🖥️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503920" y="3616452"/>
              <a:ext cx="2560320" cy="3077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FFFFFF"/>
                  </a:solidFill>
                  <a:latin typeface="Segoe UI"/>
                </a:defRPr>
              </a:pPr>
              <a:r>
                <a:rPr sz="900"/>
                <a:t>vLLM / TGI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8183880" y="4091940"/>
              <a:ext cx="3200400" cy="4001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Optimized serving engines</a:t>
              </a:r>
              <a:br>
                <a:rPr sz="675"/>
              </a:br>
              <a:r>
                <a:rPr sz="675"/>
                <a:t>3–8× throughput, KV-cache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8183880" y="4530852"/>
              <a:ext cx="1280160" cy="201168"/>
            </a:xfrm>
            <a:prstGeom prst="roundRect">
              <a:avLst>
                <a:gd name="adj" fmla="val 40000"/>
              </a:avLst>
            </a:prstGeom>
            <a:solidFill>
              <a:srgbClr val="22C55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800" b="1">
                  <a:solidFill>
                    <a:srgbClr val="FFFFFF"/>
                  </a:solidFill>
                  <a:latin typeface="Segoe UI"/>
                </a:defRPr>
              </a:pPr>
              <a:r>
                <a:rPr sz="600"/>
                <a:t>High traffic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52422833-05BA-6B70-722D-6A6D0B704654}"/>
              </a:ext>
            </a:extLst>
          </p:cNvPr>
          <p:cNvGrpSpPr/>
          <p:nvPr/>
        </p:nvGrpSpPr>
        <p:grpSpPr>
          <a:xfrm>
            <a:off x="453771" y="3773274"/>
            <a:ext cx="8187309" cy="1045680"/>
            <a:chOff x="453771" y="3773274"/>
            <a:chExt cx="8187309" cy="1045680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D781AED7-E7F7-7761-F74F-5BE17D6C8D4E}"/>
                </a:ext>
              </a:extLst>
            </p:cNvPr>
            <p:cNvGrpSpPr/>
            <p:nvPr/>
          </p:nvGrpSpPr>
          <p:grpSpPr>
            <a:xfrm>
              <a:off x="453771" y="3821049"/>
              <a:ext cx="3940493" cy="994411"/>
              <a:chOff x="605028" y="5094731"/>
              <a:chExt cx="5253990" cy="1325881"/>
            </a:xfrm>
          </p:grpSpPr>
          <p:sp>
            <p:nvSpPr>
              <p:cNvPr id="38" name="TextBox 37"/>
              <p:cNvSpPr txBox="1"/>
              <p:nvPr/>
            </p:nvSpPr>
            <p:spPr>
              <a:xfrm>
                <a:off x="605028" y="5094731"/>
                <a:ext cx="2743200" cy="2923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1100" b="1">
                    <a:solidFill>
                      <a:srgbClr val="14B8A6"/>
                    </a:solidFill>
                    <a:latin typeface="Segoe UI"/>
                  </a:defRPr>
                </a:pPr>
                <a:r>
                  <a:rPr sz="825" dirty="0"/>
                  <a:t>Quantize in 2 lines:</a:t>
                </a:r>
              </a:p>
            </p:txBody>
          </p: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55ABF829-C335-AAB4-49B3-74FD3CB679AD}"/>
                  </a:ext>
                </a:extLst>
              </p:cNvPr>
              <p:cNvGrpSpPr/>
              <p:nvPr/>
            </p:nvGrpSpPr>
            <p:grpSpPr>
              <a:xfrm>
                <a:off x="646938" y="5369052"/>
                <a:ext cx="5212080" cy="1051560"/>
                <a:chOff x="548640" y="5303520"/>
                <a:chExt cx="5212080" cy="1051560"/>
              </a:xfrm>
            </p:grpSpPr>
            <p:sp>
              <p:nvSpPr>
                <p:cNvPr id="39" name="Rounded Rectangle 38"/>
                <p:cNvSpPr/>
                <p:nvPr/>
              </p:nvSpPr>
              <p:spPr>
                <a:xfrm>
                  <a:off x="548640" y="5303520"/>
                  <a:ext cx="5212080" cy="1051560"/>
                </a:xfrm>
                <a:prstGeom prst="roundRect">
                  <a:avLst>
                    <a:gd name="adj" fmla="val 2000"/>
                  </a:avLst>
                </a:prstGeom>
                <a:solidFill>
                  <a:srgbClr val="162033"/>
                </a:solidFill>
                <a:ln w="19050">
                  <a:solidFill>
                    <a:srgbClr val="33445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1050"/>
                </a:p>
              </p:txBody>
            </p:sp>
            <p:sp>
              <p:nvSpPr>
                <p:cNvPr id="40" name="TextBox 39"/>
                <p:cNvSpPr txBox="1"/>
                <p:nvPr/>
              </p:nvSpPr>
              <p:spPr>
                <a:xfrm>
                  <a:off x="658368" y="5376672"/>
                  <a:ext cx="4992624" cy="861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defRPr sz="800" b="0">
                      <a:solidFill>
                        <a:srgbClr val="3B82F6"/>
                      </a:solidFill>
                      <a:latin typeface="Consolas"/>
                    </a:defRPr>
                  </a:pPr>
                  <a:r>
                    <a:rPr sz="600"/>
                    <a:t>from transformers import AutoModelForSeq2SeqLM</a:t>
                  </a:r>
                </a:p>
                <a:p>
                  <a:pPr>
                    <a:defRPr sz="800" b="0">
                      <a:solidFill>
                        <a:srgbClr val="FFFFFF"/>
                      </a:solidFill>
                      <a:latin typeface="Consolas"/>
                    </a:defRPr>
                  </a:pPr>
                  <a:endParaRPr sz="600"/>
                </a:p>
                <a:p>
                  <a:pPr>
                    <a:defRPr sz="800" b="0">
                      <a:solidFill>
                        <a:srgbClr val="FFFFFF"/>
                      </a:solidFill>
                      <a:latin typeface="Consolas"/>
                    </a:defRPr>
                  </a:pPr>
                  <a:r>
                    <a:rPr sz="600"/>
                    <a:t>model = AutoModelForSeq2SeqLM.from_pretrained(</a:t>
                  </a:r>
                </a:p>
                <a:p>
                  <a:pPr>
                    <a:defRPr sz="800" b="0">
                      <a:solidFill>
                        <a:srgbClr val="B0B8C8"/>
                      </a:solidFill>
                      <a:latin typeface="Consolas"/>
                    </a:defRPr>
                  </a:pPr>
                  <a:r>
                    <a:rPr sz="600"/>
                    <a:t>    "./t5-summarizer-final",</a:t>
                  </a:r>
                </a:p>
                <a:p>
                  <a:pPr>
                    <a:defRPr sz="800" b="0">
                      <a:solidFill>
                        <a:srgbClr val="22C55E"/>
                      </a:solidFill>
                      <a:latin typeface="Consolas"/>
                    </a:defRPr>
                  </a:pPr>
                  <a:r>
                    <a:rPr sz="600"/>
                    <a:t>    load_in_8bit=True   # ← that's it!</a:t>
                  </a:r>
                </a:p>
                <a:p>
                  <a:pPr>
                    <a:defRPr sz="800" b="0">
                      <a:solidFill>
                        <a:srgbClr val="FFFFFF"/>
                      </a:solidFill>
                      <a:latin typeface="Consolas"/>
                    </a:defRPr>
                  </a:pPr>
                  <a:r>
                    <a:rPr sz="600"/>
                    <a:t>)</a:t>
                  </a:r>
                </a:p>
              </p:txBody>
            </p:sp>
          </p:grpSp>
        </p:grpSp>
        <p:sp>
          <p:nvSpPr>
            <p:cNvPr id="41" name="TextBox 40"/>
            <p:cNvSpPr txBox="1"/>
            <p:nvPr/>
          </p:nvSpPr>
          <p:spPr>
            <a:xfrm>
              <a:off x="4697730" y="3773274"/>
              <a:ext cx="2057400" cy="219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14B8A6"/>
                  </a:solidFill>
                  <a:latin typeface="Segoe UI"/>
                </a:defRPr>
              </a:pPr>
              <a:r>
                <a:rPr sz="825" dirty="0"/>
                <a:t>ONNX export:</a:t>
              </a: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B877CA8A-B5FE-4FCA-B61F-CAD7B10DBFEC}"/>
                </a:ext>
              </a:extLst>
            </p:cNvPr>
            <p:cNvGrpSpPr/>
            <p:nvPr/>
          </p:nvGrpSpPr>
          <p:grpSpPr>
            <a:xfrm>
              <a:off x="4732020" y="4030284"/>
              <a:ext cx="3909060" cy="788670"/>
              <a:chOff x="5989320" y="5303520"/>
              <a:chExt cx="5212080" cy="1051560"/>
            </a:xfrm>
          </p:grpSpPr>
          <p:sp>
            <p:nvSpPr>
              <p:cNvPr id="42" name="Rounded Rectangle 41"/>
              <p:cNvSpPr/>
              <p:nvPr/>
            </p:nvSpPr>
            <p:spPr>
              <a:xfrm>
                <a:off x="5989320" y="5303520"/>
                <a:ext cx="5212080" cy="1051560"/>
              </a:xfrm>
              <a:prstGeom prst="roundRect">
                <a:avLst>
                  <a:gd name="adj" fmla="val 2000"/>
                </a:avLst>
              </a:prstGeom>
              <a:solidFill>
                <a:srgbClr val="162033"/>
              </a:solidFill>
              <a:ln w="19050">
                <a:solidFill>
                  <a:srgbClr val="33445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43" name="TextBox 42"/>
              <p:cNvSpPr txBox="1"/>
              <p:nvPr/>
            </p:nvSpPr>
            <p:spPr>
              <a:xfrm>
                <a:off x="6096000" y="5404104"/>
                <a:ext cx="4992624" cy="861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800" b="0">
                    <a:solidFill>
                      <a:srgbClr val="3B82F6"/>
                    </a:solidFill>
                    <a:latin typeface="Consolas"/>
                  </a:defRPr>
                </a:pPr>
                <a:r>
                  <a:rPr sz="600" dirty="0"/>
                  <a:t>from </a:t>
                </a:r>
                <a:r>
                  <a:rPr sz="600" dirty="0" err="1"/>
                  <a:t>optimum.onnxruntime</a:t>
                </a:r>
                <a:r>
                  <a:rPr sz="600" dirty="0"/>
                  <a:t> import ORTModelForSeq2SeqLM</a:t>
                </a:r>
              </a:p>
              <a:p>
                <a:pPr>
                  <a:defRPr sz="800" b="0">
                    <a:solidFill>
                      <a:srgbClr val="FFFFFF"/>
                    </a:solidFill>
                    <a:latin typeface="Consolas"/>
                  </a:defRPr>
                </a:pPr>
                <a:endParaRPr sz="600" dirty="0"/>
              </a:p>
              <a:p>
                <a:pPr>
                  <a:defRPr sz="800" b="0">
                    <a:solidFill>
                      <a:srgbClr val="FFFFFF"/>
                    </a:solidFill>
                    <a:latin typeface="Consolas"/>
                  </a:defRPr>
                </a:pPr>
                <a:r>
                  <a:rPr sz="600" dirty="0" err="1"/>
                  <a:t>ort_model</a:t>
                </a:r>
                <a:r>
                  <a:rPr sz="600" dirty="0"/>
                  <a:t> = ORTModelForSeq2SeqLM.from_pretrained(</a:t>
                </a:r>
              </a:p>
              <a:p>
                <a:pPr>
                  <a:defRPr sz="800" b="0">
                    <a:solidFill>
                      <a:srgbClr val="B0B8C8"/>
                    </a:solidFill>
                    <a:latin typeface="Consolas"/>
                  </a:defRPr>
                </a:pPr>
                <a:r>
                  <a:rPr sz="600" dirty="0"/>
                  <a:t>    "./t5-summarizer-final",</a:t>
                </a:r>
              </a:p>
              <a:p>
                <a:pPr>
                  <a:defRPr sz="800" b="0">
                    <a:solidFill>
                      <a:srgbClr val="22C55E"/>
                    </a:solidFill>
                    <a:latin typeface="Consolas"/>
                  </a:defRPr>
                </a:pPr>
                <a:r>
                  <a:rPr sz="600" dirty="0"/>
                  <a:t>    export=True           # ← converts to ONNX</a:t>
                </a:r>
              </a:p>
              <a:p>
                <a:pPr>
                  <a:defRPr sz="800" b="0">
                    <a:solidFill>
                      <a:srgbClr val="FFFFFF"/>
                    </a:solidFill>
                    <a:latin typeface="Consolas"/>
                  </a:defRPr>
                </a:pPr>
                <a:r>
                  <a:rPr sz="600" dirty="0"/>
                  <a:t>)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571EA82-345A-6D49-1746-9620C8679AF9}"/>
              </a:ext>
            </a:extLst>
          </p:cNvPr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4" name="TextBox 3"/>
          <p:cNvSpPr txBox="1"/>
          <p:nvPr/>
        </p:nvSpPr>
        <p:spPr>
          <a:xfrm>
            <a:off x="411480" y="82867"/>
            <a:ext cx="8229600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rPr sz="2250"/>
              <a:t>Where to Deploy + Production Checklist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23FEA5C1-CEEC-A620-677C-DA90AE4A451E}"/>
              </a:ext>
            </a:extLst>
          </p:cNvPr>
          <p:cNvGrpSpPr/>
          <p:nvPr/>
        </p:nvGrpSpPr>
        <p:grpSpPr>
          <a:xfrm>
            <a:off x="411480" y="884396"/>
            <a:ext cx="4183380" cy="802386"/>
            <a:chOff x="548640" y="1179195"/>
            <a:chExt cx="5577840" cy="1069848"/>
          </a:xfrm>
        </p:grpSpPr>
        <p:sp>
          <p:nvSpPr>
            <p:cNvPr id="5" name="TextBox 4"/>
            <p:cNvSpPr txBox="1"/>
            <p:nvPr/>
          </p:nvSpPr>
          <p:spPr>
            <a:xfrm>
              <a:off x="548640" y="1179195"/>
              <a:ext cx="5029200" cy="353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500" b="1">
                  <a:solidFill>
                    <a:srgbClr val="14B8A6"/>
                  </a:solidFill>
                  <a:latin typeface="Segoe UI"/>
                </a:defRPr>
              </a:pPr>
              <a:r>
                <a:rPr sz="1125" dirty="0"/>
                <a:t>🚀  Deployment Options (Easy → Advanced)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548640" y="1590675"/>
              <a:ext cx="5577840" cy="658368"/>
            </a:xfrm>
            <a:prstGeom prst="roundRect">
              <a:avLst>
                <a:gd name="adj" fmla="val 3000"/>
              </a:avLst>
            </a:prstGeom>
            <a:solidFill>
              <a:srgbClr val="1E293B"/>
            </a:solidFill>
            <a:ln w="19050">
              <a:solidFill>
                <a:srgbClr val="22C55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731520" y="1773555"/>
              <a:ext cx="914400" cy="256032"/>
            </a:xfrm>
            <a:prstGeom prst="roundRect">
              <a:avLst>
                <a:gd name="adj" fmla="val 40000"/>
              </a:avLst>
            </a:prstGeom>
            <a:solidFill>
              <a:srgbClr val="22C55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800" b="1">
                  <a:solidFill>
                    <a:srgbClr val="FFFFFF"/>
                  </a:solidFill>
                  <a:latin typeface="Segoe UI"/>
                </a:defRPr>
              </a:pPr>
              <a:r>
                <a:rPr sz="600"/>
                <a:t>Easy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783080" y="1645539"/>
              <a:ext cx="2286000" cy="3077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FFFFFF"/>
                  </a:solidFill>
                  <a:latin typeface="Segoe UI"/>
                </a:defRPr>
              </a:pPr>
              <a:r>
                <a:rPr sz="900" dirty="0"/>
                <a:t>HF Inference API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783080" y="1919859"/>
              <a:ext cx="182880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94A3B8"/>
                  </a:solidFill>
                  <a:latin typeface="Segoe UI"/>
                </a:defRPr>
              </a:pPr>
              <a:r>
                <a:rPr sz="675"/>
                <a:t>Free tier / pay per call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114800" y="1755267"/>
              <a:ext cx="182880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Demos, prototypes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C8B10440-257B-C517-DEC7-AEBDA62103E1}"/>
              </a:ext>
            </a:extLst>
          </p:cNvPr>
          <p:cNvGrpSpPr/>
          <p:nvPr/>
        </p:nvGrpSpPr>
        <p:grpSpPr>
          <a:xfrm>
            <a:off x="411480" y="1775936"/>
            <a:ext cx="4183380" cy="493776"/>
            <a:chOff x="548640" y="2367915"/>
            <a:chExt cx="5577840" cy="658368"/>
          </a:xfrm>
        </p:grpSpPr>
        <p:sp>
          <p:nvSpPr>
            <p:cNvPr id="11" name="Rounded Rectangle 10"/>
            <p:cNvSpPr/>
            <p:nvPr/>
          </p:nvSpPr>
          <p:spPr>
            <a:xfrm>
              <a:off x="548640" y="2367915"/>
              <a:ext cx="5577840" cy="658368"/>
            </a:xfrm>
            <a:prstGeom prst="roundRect">
              <a:avLst>
                <a:gd name="adj" fmla="val 3000"/>
              </a:avLst>
            </a:prstGeom>
            <a:solidFill>
              <a:srgbClr val="1E293B"/>
            </a:solidFill>
            <a:ln w="19050">
              <a:solidFill>
                <a:srgbClr val="3B82F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731520" y="2550795"/>
              <a:ext cx="914400" cy="256032"/>
            </a:xfrm>
            <a:prstGeom prst="roundRect">
              <a:avLst>
                <a:gd name="adj" fmla="val 40000"/>
              </a:avLst>
            </a:prstGeom>
            <a:solidFill>
              <a:srgbClr val="3B8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800" b="1">
                  <a:solidFill>
                    <a:srgbClr val="FFFFFF"/>
                  </a:solidFill>
                  <a:latin typeface="Segoe UI"/>
                </a:defRPr>
              </a:pPr>
              <a:r>
                <a:rPr sz="600"/>
                <a:t>Easy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783080" y="2422779"/>
              <a:ext cx="2286000" cy="3077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FFFFFF"/>
                  </a:solidFill>
                  <a:latin typeface="Segoe UI"/>
                </a:defRPr>
              </a:pPr>
              <a:r>
                <a:rPr sz="900" dirty="0"/>
                <a:t>HF Endpoints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783080" y="2697099"/>
              <a:ext cx="182880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94A3B8"/>
                  </a:solidFill>
                  <a:latin typeface="Segoe UI"/>
                </a:defRPr>
              </a:pPr>
              <a:r>
                <a:rPr sz="675" dirty="0"/>
                <a:t>Managed, $0.06+/</a:t>
              </a:r>
              <a:r>
                <a:rPr sz="675" dirty="0" err="1"/>
                <a:t>hr</a:t>
              </a:r>
              <a:endParaRPr sz="675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114800" y="2532507"/>
              <a:ext cx="182880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Production, no DevOps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2225702-4874-4B9B-1CB5-C80319349A2E}"/>
              </a:ext>
            </a:extLst>
          </p:cNvPr>
          <p:cNvGrpSpPr/>
          <p:nvPr/>
        </p:nvGrpSpPr>
        <p:grpSpPr>
          <a:xfrm>
            <a:off x="411480" y="2358866"/>
            <a:ext cx="4183380" cy="493776"/>
            <a:chOff x="548640" y="3145155"/>
            <a:chExt cx="5577840" cy="658368"/>
          </a:xfrm>
        </p:grpSpPr>
        <p:sp>
          <p:nvSpPr>
            <p:cNvPr id="16" name="Rounded Rectangle 15"/>
            <p:cNvSpPr/>
            <p:nvPr/>
          </p:nvSpPr>
          <p:spPr>
            <a:xfrm>
              <a:off x="548640" y="3145155"/>
              <a:ext cx="5577840" cy="658368"/>
            </a:xfrm>
            <a:prstGeom prst="roundRect">
              <a:avLst>
                <a:gd name="adj" fmla="val 3000"/>
              </a:avLst>
            </a:prstGeom>
            <a:solidFill>
              <a:srgbClr val="1E293B"/>
            </a:solidFill>
            <a:ln w="19050">
              <a:solidFill>
                <a:srgbClr val="14B8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731520" y="3328035"/>
              <a:ext cx="914400" cy="256032"/>
            </a:xfrm>
            <a:prstGeom prst="roundRect">
              <a:avLst>
                <a:gd name="adj" fmla="val 40000"/>
              </a:avLst>
            </a:prstGeom>
            <a:solidFill>
              <a:srgbClr val="14B8A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800" b="1">
                  <a:solidFill>
                    <a:srgbClr val="FFFFFF"/>
                  </a:solidFill>
                  <a:latin typeface="Segoe UI"/>
                </a:defRPr>
              </a:pPr>
              <a:r>
                <a:rPr sz="600"/>
                <a:t>Medium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783080" y="3200019"/>
              <a:ext cx="2286000" cy="3077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FFFFFF"/>
                  </a:solidFill>
                  <a:latin typeface="Segoe UI"/>
                </a:defRPr>
              </a:pPr>
              <a:r>
                <a:rPr sz="900" dirty="0" err="1"/>
                <a:t>FastAPI</a:t>
              </a:r>
              <a:r>
                <a:rPr sz="900" dirty="0"/>
                <a:t> + Docker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783080" y="3474339"/>
              <a:ext cx="182880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94A3B8"/>
                  </a:solidFill>
                  <a:latin typeface="Segoe UI"/>
                </a:defRPr>
              </a:pPr>
              <a:r>
                <a:rPr sz="675" dirty="0"/>
                <a:t>Self-hosted, full control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114800" y="3309747"/>
              <a:ext cx="182880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On-prem, custom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939B34C-1D11-BE62-F2CC-A0878CB865FA}"/>
              </a:ext>
            </a:extLst>
          </p:cNvPr>
          <p:cNvGrpSpPr/>
          <p:nvPr/>
        </p:nvGrpSpPr>
        <p:grpSpPr>
          <a:xfrm>
            <a:off x="411480" y="2941796"/>
            <a:ext cx="4183380" cy="493776"/>
            <a:chOff x="548640" y="3922395"/>
            <a:chExt cx="5577840" cy="658368"/>
          </a:xfrm>
        </p:grpSpPr>
        <p:sp>
          <p:nvSpPr>
            <p:cNvPr id="21" name="Rounded Rectangle 20"/>
            <p:cNvSpPr/>
            <p:nvPr/>
          </p:nvSpPr>
          <p:spPr>
            <a:xfrm>
              <a:off x="548640" y="3922395"/>
              <a:ext cx="5577840" cy="658368"/>
            </a:xfrm>
            <a:prstGeom prst="roundRect">
              <a:avLst>
                <a:gd name="adj" fmla="val 3000"/>
              </a:avLst>
            </a:prstGeom>
            <a:solidFill>
              <a:srgbClr val="1E293B"/>
            </a:solidFill>
            <a:ln w="19050">
              <a:solidFill>
                <a:srgbClr val="A78BF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731520" y="4105275"/>
              <a:ext cx="914400" cy="256032"/>
            </a:xfrm>
            <a:prstGeom prst="roundRect">
              <a:avLst>
                <a:gd name="adj" fmla="val 40000"/>
              </a:avLst>
            </a:prstGeom>
            <a:solidFill>
              <a:srgbClr val="A78B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800" b="1">
                  <a:solidFill>
                    <a:srgbClr val="FFFFFF"/>
                  </a:solidFill>
                  <a:latin typeface="Segoe UI"/>
                </a:defRPr>
              </a:pPr>
              <a:r>
                <a:rPr sz="600"/>
                <a:t>Medium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783080" y="3977259"/>
              <a:ext cx="2286000" cy="3077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FFFFFF"/>
                  </a:solidFill>
                  <a:latin typeface="Segoe UI"/>
                </a:defRPr>
              </a:pPr>
              <a:r>
                <a:rPr sz="900"/>
                <a:t>AWS / GCP / Azure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783080" y="4251579"/>
              <a:ext cx="182880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94A3B8"/>
                  </a:solidFill>
                  <a:latin typeface="Segoe UI"/>
                </a:defRPr>
              </a:pPr>
              <a:r>
                <a:rPr sz="675" dirty="0"/>
                <a:t>Pay per use, auto-scale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114800" y="4086987"/>
              <a:ext cx="182880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Enterprise, scale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E016133-B76A-C694-EC96-59C6A6181E4D}"/>
              </a:ext>
            </a:extLst>
          </p:cNvPr>
          <p:cNvGrpSpPr/>
          <p:nvPr/>
        </p:nvGrpSpPr>
        <p:grpSpPr>
          <a:xfrm>
            <a:off x="411480" y="3524726"/>
            <a:ext cx="4183380" cy="493776"/>
            <a:chOff x="548640" y="4699635"/>
            <a:chExt cx="5577840" cy="658368"/>
          </a:xfrm>
        </p:grpSpPr>
        <p:sp>
          <p:nvSpPr>
            <p:cNvPr id="26" name="Rounded Rectangle 25"/>
            <p:cNvSpPr/>
            <p:nvPr/>
          </p:nvSpPr>
          <p:spPr>
            <a:xfrm>
              <a:off x="548640" y="4699635"/>
              <a:ext cx="5577840" cy="658368"/>
            </a:xfrm>
            <a:prstGeom prst="roundRect">
              <a:avLst>
                <a:gd name="adj" fmla="val 3000"/>
              </a:avLst>
            </a:prstGeom>
            <a:solidFill>
              <a:srgbClr val="1E293B"/>
            </a:solidFill>
            <a:ln w="19050">
              <a:solidFill>
                <a:srgbClr val="F59E0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731520" y="4882515"/>
              <a:ext cx="914400" cy="256032"/>
            </a:xfrm>
            <a:prstGeom prst="roundRect">
              <a:avLst>
                <a:gd name="adj" fmla="val 40000"/>
              </a:avLst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800" b="1">
                  <a:solidFill>
                    <a:srgbClr val="FFFFFF"/>
                  </a:solidFill>
                  <a:latin typeface="Segoe UI"/>
                </a:defRPr>
              </a:pPr>
              <a:r>
                <a:rPr sz="600"/>
                <a:t>Advanced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783080" y="4754499"/>
              <a:ext cx="2286000" cy="3077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FFFFFF"/>
                  </a:solidFill>
                  <a:latin typeface="Segoe UI"/>
                </a:defRPr>
              </a:pPr>
              <a:r>
                <a:rPr sz="900" dirty="0"/>
                <a:t>Triton / </a:t>
              </a:r>
              <a:r>
                <a:rPr sz="900" dirty="0" err="1"/>
                <a:t>vLLM</a:t>
              </a:r>
              <a:endParaRPr sz="900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783080" y="5028819"/>
              <a:ext cx="182880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94A3B8"/>
                  </a:solidFill>
                  <a:latin typeface="Segoe UI"/>
                </a:defRPr>
              </a:pPr>
              <a:r>
                <a:rPr sz="675"/>
                <a:t>Max performance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114800" y="4864227"/>
              <a:ext cx="182880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High-traffic APIs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7974136E-8665-3E6D-E89D-1A98906C8722}"/>
              </a:ext>
            </a:extLst>
          </p:cNvPr>
          <p:cNvGrpSpPr/>
          <p:nvPr/>
        </p:nvGrpSpPr>
        <p:grpSpPr>
          <a:xfrm>
            <a:off x="4869180" y="1062990"/>
            <a:ext cx="3771900" cy="1067174"/>
            <a:chOff x="6492240" y="1417320"/>
            <a:chExt cx="5029200" cy="1422899"/>
          </a:xfrm>
        </p:grpSpPr>
        <p:sp>
          <p:nvSpPr>
            <p:cNvPr id="31" name="TextBox 30"/>
            <p:cNvSpPr txBox="1"/>
            <p:nvPr/>
          </p:nvSpPr>
          <p:spPr>
            <a:xfrm>
              <a:off x="6492240" y="1417320"/>
              <a:ext cx="5029200" cy="353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500" b="1">
                  <a:solidFill>
                    <a:srgbClr val="FBBF24"/>
                  </a:solidFill>
                  <a:latin typeface="Segoe UI"/>
                </a:defRPr>
              </a:pPr>
              <a:r>
                <a:rPr sz="1125"/>
                <a:t>✅  Production Checklist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492240" y="1828800"/>
              <a:ext cx="5029200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3B82F6"/>
                  </a:solidFill>
                  <a:latin typeface="Segoe UI"/>
                </a:defRPr>
              </a:pPr>
              <a:r>
                <a:rPr sz="825"/>
                <a:t>⚡ Performance</a:t>
              </a:r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EB3DFAED-FF3D-53B8-CC20-BB84A544A0AE}"/>
                </a:ext>
              </a:extLst>
            </p:cNvPr>
            <p:cNvGrpSpPr/>
            <p:nvPr/>
          </p:nvGrpSpPr>
          <p:grpSpPr>
            <a:xfrm>
              <a:off x="6720840" y="2103120"/>
              <a:ext cx="4754880" cy="737099"/>
              <a:chOff x="6720840" y="2103120"/>
              <a:chExt cx="4754880" cy="737099"/>
            </a:xfrm>
          </p:grpSpPr>
          <p:sp>
            <p:nvSpPr>
              <p:cNvPr id="33" name="TextBox 32"/>
              <p:cNvSpPr txBox="1"/>
              <p:nvPr/>
            </p:nvSpPr>
            <p:spPr>
              <a:xfrm>
                <a:off x="6720840" y="2103120"/>
                <a:ext cx="4754880" cy="2616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900" b="0">
                    <a:solidFill>
                      <a:srgbClr val="B0B8C8"/>
                    </a:solidFill>
                    <a:latin typeface="Segoe UI"/>
                  </a:defRPr>
                </a:pPr>
                <a:r>
                  <a:rPr sz="675"/>
                  <a:t>☐  Quantize to INT8 (2–4× speedup)</a:t>
                </a: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6720840" y="2340864"/>
                <a:ext cx="4754880" cy="2616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900" b="0">
                    <a:solidFill>
                      <a:srgbClr val="B0B8C8"/>
                    </a:solidFill>
                    <a:latin typeface="Segoe UI"/>
                  </a:defRPr>
                </a:pPr>
                <a:r>
                  <a:rPr sz="675"/>
                  <a:t>☐  Set max_length limits (prevent OOM)</a:t>
                </a: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6720840" y="2578608"/>
                <a:ext cx="4754880" cy="2616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900" b="0">
                    <a:solidFill>
                      <a:srgbClr val="B0B8C8"/>
                    </a:solidFill>
                    <a:latin typeface="Segoe UI"/>
                  </a:defRPr>
                </a:pPr>
                <a:r>
                  <a:rPr sz="675"/>
                  <a:t>☐  Batch inference requests</a:t>
                </a:r>
              </a:p>
            </p:txBody>
          </p:sp>
        </p:grp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DE31295-6C77-02E1-DB10-42853CB98165}"/>
              </a:ext>
            </a:extLst>
          </p:cNvPr>
          <p:cNvGrpSpPr/>
          <p:nvPr/>
        </p:nvGrpSpPr>
        <p:grpSpPr>
          <a:xfrm>
            <a:off x="4869180" y="2194559"/>
            <a:ext cx="3771900" cy="758564"/>
            <a:chOff x="6492240" y="2926080"/>
            <a:chExt cx="5029200" cy="1011419"/>
          </a:xfrm>
        </p:grpSpPr>
        <p:sp>
          <p:nvSpPr>
            <p:cNvPr id="36" name="TextBox 35"/>
            <p:cNvSpPr txBox="1"/>
            <p:nvPr/>
          </p:nvSpPr>
          <p:spPr>
            <a:xfrm>
              <a:off x="6492240" y="2926080"/>
              <a:ext cx="5029200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14B8A6"/>
                  </a:solidFill>
                  <a:latin typeface="Segoe UI"/>
                </a:defRPr>
              </a:pPr>
              <a:r>
                <a:rPr sz="825"/>
                <a:t>🛡️ Reliability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720840" y="3200400"/>
              <a:ext cx="475488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☐  Input validation (reject bad inputs)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720840" y="3438144"/>
              <a:ext cx="475488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☐  Timeout handling (kill hung inference)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720840" y="3675888"/>
              <a:ext cx="475488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 dirty="0"/>
                <a:t>☐  Fallback behavior (graceful errors)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36AD7AEC-4179-126D-3B4A-4E8FB1B20195}"/>
              </a:ext>
            </a:extLst>
          </p:cNvPr>
          <p:cNvGrpSpPr/>
          <p:nvPr/>
        </p:nvGrpSpPr>
        <p:grpSpPr>
          <a:xfrm>
            <a:off x="4869180" y="3017519"/>
            <a:ext cx="3771900" cy="758564"/>
            <a:chOff x="6492240" y="4023360"/>
            <a:chExt cx="5029200" cy="1011419"/>
          </a:xfrm>
        </p:grpSpPr>
        <p:sp>
          <p:nvSpPr>
            <p:cNvPr id="40" name="TextBox 39"/>
            <p:cNvSpPr txBox="1"/>
            <p:nvPr/>
          </p:nvSpPr>
          <p:spPr>
            <a:xfrm>
              <a:off x="6492240" y="4023360"/>
              <a:ext cx="5029200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A78BFA"/>
                  </a:solidFill>
                  <a:latin typeface="Segoe UI"/>
                </a:defRPr>
              </a:pPr>
              <a:r>
                <a:rPr sz="825"/>
                <a:t>📊 Quality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720840" y="4297680"/>
              <a:ext cx="475488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 dirty="0"/>
                <a:t>☐  Post-process outputs (strip artifacts)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720840" y="4535424"/>
              <a:ext cx="475488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 dirty="0"/>
                <a:t>☐  Content filtering (hallucinations)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720840" y="4773168"/>
              <a:ext cx="475488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☐  Human eval (sample &amp; review regularly)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38559C8-5677-33AF-B698-32DE0ABD2C59}"/>
              </a:ext>
            </a:extLst>
          </p:cNvPr>
          <p:cNvGrpSpPr/>
          <p:nvPr/>
        </p:nvGrpSpPr>
        <p:grpSpPr>
          <a:xfrm>
            <a:off x="4869180" y="3840479"/>
            <a:ext cx="3771900" cy="758564"/>
            <a:chOff x="6492240" y="5120640"/>
            <a:chExt cx="5029200" cy="1011419"/>
          </a:xfrm>
        </p:grpSpPr>
        <p:sp>
          <p:nvSpPr>
            <p:cNvPr id="44" name="TextBox 43"/>
            <p:cNvSpPr txBox="1"/>
            <p:nvPr/>
          </p:nvSpPr>
          <p:spPr>
            <a:xfrm>
              <a:off x="6492240" y="5120640"/>
              <a:ext cx="5029200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F59E0B"/>
                  </a:solidFill>
                  <a:latin typeface="Segoe UI"/>
                </a:defRPr>
              </a:pPr>
              <a:r>
                <a:rPr sz="825"/>
                <a:t>📈 Monitoring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6720840" y="5394960"/>
              <a:ext cx="475488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☐  Log latency &amp; throughput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6720840" y="5632704"/>
              <a:ext cx="475488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 dirty="0"/>
                <a:t>☐  Track ROUGE on live data (drift)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6720840" y="5870448"/>
              <a:ext cx="475488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☐  A/B test model versions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919C9582-D594-282A-1780-5FDB7338113D}"/>
              </a:ext>
            </a:extLst>
          </p:cNvPr>
          <p:cNvGrpSpPr/>
          <p:nvPr/>
        </p:nvGrpSpPr>
        <p:grpSpPr>
          <a:xfrm>
            <a:off x="411480" y="4491990"/>
            <a:ext cx="4317683" cy="445770"/>
            <a:chOff x="548640" y="5989320"/>
            <a:chExt cx="5756910" cy="594360"/>
          </a:xfrm>
        </p:grpSpPr>
        <p:sp>
          <p:nvSpPr>
            <p:cNvPr id="48" name="Rounded Rectangle 47"/>
            <p:cNvSpPr/>
            <p:nvPr/>
          </p:nvSpPr>
          <p:spPr>
            <a:xfrm>
              <a:off x="548640" y="5989320"/>
              <a:ext cx="5756910" cy="594360"/>
            </a:xfrm>
            <a:prstGeom prst="roundRect">
              <a:avLst>
                <a:gd name="adj" fmla="val 3000"/>
              </a:avLst>
            </a:prstGeom>
            <a:solidFill>
              <a:srgbClr val="162033"/>
            </a:solidFill>
            <a:ln w="19050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731520" y="6053328"/>
              <a:ext cx="511683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300" b="0">
                  <a:solidFill>
                    <a:srgbClr val="14B8A6"/>
                  </a:solidFill>
                  <a:latin typeface="Segoe UI"/>
                </a:defRPr>
              </a:pPr>
              <a:r>
                <a:rPr sz="975" dirty="0"/>
                <a:t>💡  Start simple: quantize → wrap in </a:t>
              </a:r>
              <a:r>
                <a:rPr sz="975" dirty="0" err="1"/>
                <a:t>FastAPI</a:t>
              </a:r>
              <a:r>
                <a:rPr sz="975" dirty="0"/>
                <a:t> → deploy to managed endpoint → optimize as traffic grows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3ED362-5D12-2C4D-39F2-9C0F54623F6A}"/>
              </a:ext>
            </a:extLst>
          </p:cNvPr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4" name="TextBox 3"/>
          <p:cNvSpPr txBox="1"/>
          <p:nvPr/>
        </p:nvSpPr>
        <p:spPr>
          <a:xfrm>
            <a:off x="411480" y="254317"/>
            <a:ext cx="8229600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rPr sz="2250" dirty="0"/>
              <a:t>Three Paths Forward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5224"/>
            <a:ext cx="82296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rPr sz="1050"/>
              <a:t>Today was the foundation. Here's where you can go next, depending on your goal.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B69B9743-1458-56FD-FC7C-A2C503795520}"/>
              </a:ext>
            </a:extLst>
          </p:cNvPr>
          <p:cNvGrpSpPr/>
          <p:nvPr/>
        </p:nvGrpSpPr>
        <p:grpSpPr>
          <a:xfrm>
            <a:off x="411480" y="1194435"/>
            <a:ext cx="2640330" cy="2091690"/>
            <a:chOff x="548640" y="1592580"/>
            <a:chExt cx="3520440" cy="2788920"/>
          </a:xfrm>
        </p:grpSpPr>
        <p:sp>
          <p:nvSpPr>
            <p:cNvPr id="6" name="Rounded Rectangle 5"/>
            <p:cNvSpPr/>
            <p:nvPr/>
          </p:nvSpPr>
          <p:spPr>
            <a:xfrm>
              <a:off x="548640" y="1592580"/>
              <a:ext cx="3520440" cy="2788920"/>
            </a:xfrm>
            <a:prstGeom prst="roundRect">
              <a:avLst>
                <a:gd name="adj" fmla="val 4000"/>
              </a:avLst>
            </a:prstGeom>
            <a:solidFill>
              <a:srgbClr val="1E293B"/>
            </a:solidFill>
            <a:ln w="19050">
              <a:solidFill>
                <a:srgbClr val="22C55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31520" y="1702308"/>
              <a:ext cx="3200400" cy="3385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400" b="1">
                  <a:solidFill>
                    <a:srgbClr val="FFFFFF"/>
                  </a:solidFill>
                  <a:latin typeface="Segoe UI"/>
                </a:defRPr>
              </a:pPr>
              <a:r>
                <a:rPr sz="1050"/>
                <a:t>🔧  Path 1: USE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31520" y="2031492"/>
              <a:ext cx="3200400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94A3B8"/>
                  </a:solidFill>
                  <a:latin typeface="Segoe UI"/>
                </a:defRPr>
              </a:pPr>
              <a:r>
                <a:rPr sz="750" dirty="0"/>
                <a:t>I want to apply Transformers</a:t>
              </a:r>
              <a:br>
                <a:rPr sz="750" dirty="0"/>
              </a:br>
              <a:r>
                <a:rPr sz="750" dirty="0"/>
                <a:t>to my projects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731520" y="2506980"/>
              <a:ext cx="3108960" cy="12700"/>
            </a:xfrm>
            <a:prstGeom prst="rect">
              <a:avLst/>
            </a:prstGeom>
            <a:solidFill>
              <a:srgbClr val="33445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731520" y="2644140"/>
              <a:ext cx="274320" cy="228600"/>
            </a:xfrm>
            <a:prstGeom prst="roundRect">
              <a:avLst>
                <a:gd name="adj" fmla="val 40000"/>
              </a:avLst>
            </a:prstGeom>
            <a:solidFill>
              <a:srgbClr val="22C55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800" b="1">
                  <a:solidFill>
                    <a:srgbClr val="FFFFFF"/>
                  </a:solidFill>
                  <a:latin typeface="Segoe UI"/>
                </a:defRPr>
              </a:pPr>
              <a:r>
                <a:rPr lang="en-IN" sz="600" dirty="0"/>
                <a:t>1</a:t>
              </a:r>
              <a:endParaRPr sz="600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097280" y="2625852"/>
              <a:ext cx="27432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 dirty="0"/>
                <a:t>HF Transformers library in depth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731520" y="2973324"/>
              <a:ext cx="274320" cy="228600"/>
            </a:xfrm>
            <a:prstGeom prst="roundRect">
              <a:avLst>
                <a:gd name="adj" fmla="val 40000"/>
              </a:avLst>
            </a:prstGeom>
            <a:solidFill>
              <a:srgbClr val="22C55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800" b="1">
                  <a:solidFill>
                    <a:srgbClr val="FFFFFF"/>
                  </a:solidFill>
                  <a:latin typeface="Segoe UI"/>
                </a:defRPr>
              </a:pPr>
              <a:r>
                <a:rPr lang="en-IN" sz="600" dirty="0"/>
                <a:t>2</a:t>
              </a:r>
              <a:endParaRPr sz="600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097280" y="2955036"/>
              <a:ext cx="27432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More tasks: NER, QA, classification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731520" y="3302508"/>
              <a:ext cx="274320" cy="228600"/>
            </a:xfrm>
            <a:prstGeom prst="roundRect">
              <a:avLst>
                <a:gd name="adj" fmla="val 40000"/>
              </a:avLst>
            </a:prstGeom>
            <a:solidFill>
              <a:srgbClr val="22C55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800" b="1">
                  <a:solidFill>
                    <a:srgbClr val="FFFFFF"/>
                  </a:solidFill>
                  <a:latin typeface="Segoe UI"/>
                </a:defRPr>
              </a:pPr>
              <a:r>
                <a:rPr lang="en-IN" sz="600" dirty="0"/>
                <a:t>3</a:t>
              </a:r>
              <a:endParaRPr sz="600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097280" y="3284220"/>
              <a:ext cx="27432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Prompt engineering for larger models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731520" y="3631692"/>
              <a:ext cx="274320" cy="228600"/>
            </a:xfrm>
            <a:prstGeom prst="roundRect">
              <a:avLst>
                <a:gd name="adj" fmla="val 40000"/>
              </a:avLst>
            </a:prstGeom>
            <a:solidFill>
              <a:srgbClr val="22C55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800" b="1">
                  <a:solidFill>
                    <a:srgbClr val="FFFFFF"/>
                  </a:solidFill>
                  <a:latin typeface="Segoe UI"/>
                </a:defRPr>
              </a:pPr>
              <a:r>
                <a:rPr lang="en-IN" sz="600" dirty="0"/>
                <a:t>4</a:t>
              </a:r>
              <a:endParaRPr sz="600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097280" y="3613404"/>
              <a:ext cx="27432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RAG — ground LLMs on your data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731520" y="3960876"/>
              <a:ext cx="274320" cy="228600"/>
            </a:xfrm>
            <a:prstGeom prst="roundRect">
              <a:avLst>
                <a:gd name="adj" fmla="val 40000"/>
              </a:avLst>
            </a:prstGeom>
            <a:solidFill>
              <a:srgbClr val="22C55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800" b="1">
                  <a:solidFill>
                    <a:srgbClr val="FFFFFF"/>
                  </a:solidFill>
                  <a:latin typeface="Segoe UI"/>
                </a:defRPr>
              </a:pPr>
              <a:r>
                <a:rPr lang="en-IN" sz="600" dirty="0"/>
                <a:t>5</a:t>
              </a:r>
              <a:endParaRPr sz="600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097280" y="3942588"/>
              <a:ext cx="27432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Build apps with LangChain / LlamaIndex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9354683C-2BAF-B401-BB12-157CDB739E78}"/>
              </a:ext>
            </a:extLst>
          </p:cNvPr>
          <p:cNvGrpSpPr/>
          <p:nvPr/>
        </p:nvGrpSpPr>
        <p:grpSpPr>
          <a:xfrm>
            <a:off x="3223260" y="1194435"/>
            <a:ext cx="2640330" cy="2091690"/>
            <a:chOff x="4297680" y="1592580"/>
            <a:chExt cx="3520440" cy="2788920"/>
          </a:xfrm>
        </p:grpSpPr>
        <p:sp>
          <p:nvSpPr>
            <p:cNvPr id="20" name="Rounded Rectangle 19"/>
            <p:cNvSpPr/>
            <p:nvPr/>
          </p:nvSpPr>
          <p:spPr>
            <a:xfrm>
              <a:off x="4297680" y="1592580"/>
              <a:ext cx="3520440" cy="2788920"/>
            </a:xfrm>
            <a:prstGeom prst="roundRect">
              <a:avLst>
                <a:gd name="adj" fmla="val 4000"/>
              </a:avLst>
            </a:prstGeom>
            <a:solidFill>
              <a:srgbClr val="1E293B"/>
            </a:solidFill>
            <a:ln w="19050">
              <a:solidFill>
                <a:srgbClr val="3B82F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480560" y="1702308"/>
              <a:ext cx="3200400" cy="3385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400" b="1">
                  <a:solidFill>
                    <a:srgbClr val="FFFFFF"/>
                  </a:solidFill>
                  <a:latin typeface="Segoe UI"/>
                </a:defRPr>
              </a:pPr>
              <a:r>
                <a:rPr sz="1050"/>
                <a:t>🧠  Path 2: UNDERSTAND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480560" y="2031492"/>
              <a:ext cx="3200400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94A3B8"/>
                  </a:solidFill>
                  <a:latin typeface="Segoe UI"/>
                </a:defRPr>
              </a:pPr>
              <a:r>
                <a:rPr sz="750"/>
                <a:t>I want to deeply understand</a:t>
              </a:r>
              <a:br>
                <a:rPr sz="750"/>
              </a:br>
              <a:r>
                <a:rPr sz="750"/>
                <a:t>how Transformers work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480560" y="2506980"/>
              <a:ext cx="3108960" cy="12700"/>
            </a:xfrm>
            <a:prstGeom prst="rect">
              <a:avLst/>
            </a:prstGeom>
            <a:solidFill>
              <a:srgbClr val="33445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4480560" y="2644140"/>
              <a:ext cx="274320" cy="228600"/>
            </a:xfrm>
            <a:prstGeom prst="roundRect">
              <a:avLst>
                <a:gd name="adj" fmla="val 40000"/>
              </a:avLst>
            </a:prstGeom>
            <a:solidFill>
              <a:srgbClr val="3B8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800" b="1">
                  <a:solidFill>
                    <a:srgbClr val="FFFFFF"/>
                  </a:solidFill>
                  <a:latin typeface="Segoe UI"/>
                </a:defRPr>
              </a:pPr>
              <a:r>
                <a:rPr sz="600" dirty="0"/>
                <a:t>1</a:t>
              </a:r>
              <a:endParaRPr lang="en-IN" sz="600" dirty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846320" y="2625852"/>
              <a:ext cx="27432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Read 'Attention Is All You Need' paper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4480560" y="2973324"/>
              <a:ext cx="274320" cy="228600"/>
            </a:xfrm>
            <a:prstGeom prst="roundRect">
              <a:avLst>
                <a:gd name="adj" fmla="val 40000"/>
              </a:avLst>
            </a:prstGeom>
            <a:solidFill>
              <a:srgbClr val="3B8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800" b="1">
                  <a:solidFill>
                    <a:srgbClr val="FFFFFF"/>
                  </a:solidFill>
                  <a:latin typeface="Segoe UI"/>
                </a:defRPr>
              </a:pPr>
              <a:r>
                <a:rPr lang="en-IN" sz="600" dirty="0"/>
                <a:t>2</a:t>
              </a:r>
              <a:endParaRPr sz="600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846320" y="2955036"/>
              <a:ext cx="27432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 dirty="0"/>
                <a:t>Implement Transformer from scratch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4480560" y="3302508"/>
              <a:ext cx="274320" cy="228600"/>
            </a:xfrm>
            <a:prstGeom prst="roundRect">
              <a:avLst>
                <a:gd name="adj" fmla="val 40000"/>
              </a:avLst>
            </a:prstGeom>
            <a:solidFill>
              <a:srgbClr val="3B8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800" b="1">
                  <a:solidFill>
                    <a:srgbClr val="FFFFFF"/>
                  </a:solidFill>
                  <a:latin typeface="Segoe UI"/>
                </a:defRPr>
              </a:pPr>
              <a:r>
                <a:rPr sz="600" dirty="0"/>
                <a:t>3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846320" y="3284220"/>
              <a:ext cx="27432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Study BERT, GPT-2, T5 papers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4480560" y="3631692"/>
              <a:ext cx="274320" cy="228600"/>
            </a:xfrm>
            <a:prstGeom prst="roundRect">
              <a:avLst>
                <a:gd name="adj" fmla="val 40000"/>
              </a:avLst>
            </a:prstGeom>
            <a:solidFill>
              <a:srgbClr val="3B8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800" b="1">
                  <a:solidFill>
                    <a:srgbClr val="FFFFFF"/>
                  </a:solidFill>
                  <a:latin typeface="Segoe UI"/>
                </a:defRPr>
              </a:pPr>
              <a:r>
                <a:rPr sz="600" dirty="0"/>
                <a:t>4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846320" y="3613404"/>
              <a:ext cx="27432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Scaling laws &amp; training at scale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4480560" y="3960876"/>
              <a:ext cx="274320" cy="228600"/>
            </a:xfrm>
            <a:prstGeom prst="roundRect">
              <a:avLst>
                <a:gd name="adj" fmla="val 40000"/>
              </a:avLst>
            </a:prstGeom>
            <a:solidFill>
              <a:srgbClr val="3B8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800" b="1">
                  <a:solidFill>
                    <a:srgbClr val="FFFFFF"/>
                  </a:solidFill>
                  <a:latin typeface="Segoe UI"/>
                </a:defRPr>
              </a:pPr>
              <a:r>
                <a:rPr lang="en-IN" sz="600" dirty="0"/>
                <a:t>5</a:t>
              </a:r>
              <a:endParaRPr sz="600" dirty="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846320" y="3942588"/>
              <a:ext cx="27432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Advanced: MoE, State Space Models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EF17AD5-487B-90EB-9E49-B3F0534EB2B4}"/>
              </a:ext>
            </a:extLst>
          </p:cNvPr>
          <p:cNvGrpSpPr/>
          <p:nvPr/>
        </p:nvGrpSpPr>
        <p:grpSpPr>
          <a:xfrm>
            <a:off x="6035040" y="1194435"/>
            <a:ext cx="2640330" cy="2091690"/>
            <a:chOff x="8046720" y="1592580"/>
            <a:chExt cx="3520440" cy="2788920"/>
          </a:xfrm>
        </p:grpSpPr>
        <p:sp>
          <p:nvSpPr>
            <p:cNvPr id="34" name="Rounded Rectangle 33"/>
            <p:cNvSpPr/>
            <p:nvPr/>
          </p:nvSpPr>
          <p:spPr>
            <a:xfrm>
              <a:off x="8046720" y="1592580"/>
              <a:ext cx="3520440" cy="2788920"/>
            </a:xfrm>
            <a:prstGeom prst="roundRect">
              <a:avLst>
                <a:gd name="adj" fmla="val 4000"/>
              </a:avLst>
            </a:prstGeom>
            <a:solidFill>
              <a:srgbClr val="1E293B"/>
            </a:solidFill>
            <a:ln w="19050">
              <a:solidFill>
                <a:srgbClr val="A78BF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229600" y="1702308"/>
              <a:ext cx="3200400" cy="3385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400" b="1">
                  <a:solidFill>
                    <a:srgbClr val="FFFFFF"/>
                  </a:solidFill>
                  <a:latin typeface="Segoe UI"/>
                </a:defRPr>
              </a:pPr>
              <a:r>
                <a:rPr sz="1050"/>
                <a:t>🏗️  Path 3: BUILD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8229600" y="2031492"/>
              <a:ext cx="3200400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94A3B8"/>
                  </a:solidFill>
                  <a:latin typeface="Segoe UI"/>
                </a:defRPr>
              </a:pPr>
              <a:r>
                <a:rPr sz="750"/>
                <a:t>I want to build production</a:t>
              </a:r>
              <a:br>
                <a:rPr sz="750"/>
              </a:br>
              <a:r>
                <a:rPr sz="750"/>
                <a:t>NLP systems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8229600" y="2506980"/>
              <a:ext cx="3108960" cy="12700"/>
            </a:xfrm>
            <a:prstGeom prst="rect">
              <a:avLst/>
            </a:prstGeom>
            <a:solidFill>
              <a:srgbClr val="33445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8229600" y="2644140"/>
              <a:ext cx="274320" cy="228600"/>
            </a:xfrm>
            <a:prstGeom prst="roundRect">
              <a:avLst>
                <a:gd name="adj" fmla="val 40000"/>
              </a:avLst>
            </a:prstGeom>
            <a:solidFill>
              <a:srgbClr val="A78B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800" b="1">
                  <a:solidFill>
                    <a:srgbClr val="FFFFFF"/>
                  </a:solidFill>
                  <a:latin typeface="Segoe UI"/>
                </a:defRPr>
              </a:pPr>
              <a:r>
                <a:rPr sz="600" dirty="0"/>
                <a:t>1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8595360" y="2625852"/>
              <a:ext cx="27432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LoRA / QLoRA for efficient fine-tuning</a:t>
              </a:r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8229600" y="2973324"/>
              <a:ext cx="274320" cy="228600"/>
            </a:xfrm>
            <a:prstGeom prst="roundRect">
              <a:avLst>
                <a:gd name="adj" fmla="val 40000"/>
              </a:avLst>
            </a:prstGeom>
            <a:solidFill>
              <a:srgbClr val="A78B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800" b="1">
                  <a:solidFill>
                    <a:srgbClr val="FFFFFF"/>
                  </a:solidFill>
                  <a:latin typeface="Segoe UI"/>
                </a:defRPr>
              </a:pPr>
              <a:r>
                <a:rPr sz="600" dirty="0"/>
                <a:t>2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8595360" y="2955036"/>
              <a:ext cx="27432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RLHF and alignment techniques</a:t>
              </a:r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8229600" y="3302508"/>
              <a:ext cx="274320" cy="228600"/>
            </a:xfrm>
            <a:prstGeom prst="roundRect">
              <a:avLst>
                <a:gd name="adj" fmla="val 40000"/>
              </a:avLst>
            </a:prstGeom>
            <a:solidFill>
              <a:srgbClr val="A78B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800" b="1">
                  <a:solidFill>
                    <a:srgbClr val="FFFFFF"/>
                  </a:solidFill>
                  <a:latin typeface="Segoe UI"/>
                </a:defRPr>
              </a:pPr>
              <a:r>
                <a:rPr sz="600" dirty="0"/>
                <a:t>3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8595360" y="3284220"/>
              <a:ext cx="27432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Model serving: vLLM, ONNX, Triton</a:t>
              </a:r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8229600" y="3631692"/>
              <a:ext cx="274320" cy="228600"/>
            </a:xfrm>
            <a:prstGeom prst="roundRect">
              <a:avLst>
                <a:gd name="adj" fmla="val 40000"/>
              </a:avLst>
            </a:prstGeom>
            <a:solidFill>
              <a:srgbClr val="A78B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800" b="1">
                  <a:solidFill>
                    <a:srgbClr val="FFFFFF"/>
                  </a:solidFill>
                  <a:latin typeface="Segoe UI"/>
                </a:defRPr>
              </a:pPr>
              <a:r>
                <a:rPr sz="600" dirty="0"/>
                <a:t>4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8595360" y="3613404"/>
              <a:ext cx="27432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Evaluation frameworks (DeepEval, RAGAS)</a:t>
              </a:r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8229600" y="3960876"/>
              <a:ext cx="274320" cy="228600"/>
            </a:xfrm>
            <a:prstGeom prst="roundRect">
              <a:avLst>
                <a:gd name="adj" fmla="val 40000"/>
              </a:avLst>
            </a:prstGeom>
            <a:solidFill>
              <a:srgbClr val="A78B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800" b="1">
                  <a:solidFill>
                    <a:srgbClr val="FFFFFF"/>
                  </a:solidFill>
                  <a:latin typeface="Segoe UI"/>
                </a:defRPr>
              </a:pPr>
              <a:r>
                <a:rPr sz="600" dirty="0"/>
                <a:t>5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8595360" y="3942588"/>
              <a:ext cx="27432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MLOps: MLflow, Weights &amp; Biases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77093425-1F8D-2458-5C6B-7157B5033BEB}"/>
              </a:ext>
            </a:extLst>
          </p:cNvPr>
          <p:cNvGrpSpPr/>
          <p:nvPr/>
        </p:nvGrpSpPr>
        <p:grpSpPr>
          <a:xfrm>
            <a:off x="411480" y="3401854"/>
            <a:ext cx="8298180" cy="1234440"/>
            <a:chOff x="548640" y="4535805"/>
            <a:chExt cx="11064240" cy="1645920"/>
          </a:xfrm>
        </p:grpSpPr>
        <p:sp>
          <p:nvSpPr>
            <p:cNvPr id="48" name="Rounded Rectangle 47"/>
            <p:cNvSpPr/>
            <p:nvPr/>
          </p:nvSpPr>
          <p:spPr>
            <a:xfrm>
              <a:off x="548640" y="4535805"/>
              <a:ext cx="11064240" cy="1645920"/>
            </a:xfrm>
            <a:prstGeom prst="roundRect">
              <a:avLst>
                <a:gd name="adj" fmla="val 3000"/>
              </a:avLst>
            </a:prstGeom>
            <a:solidFill>
              <a:srgbClr val="162033"/>
            </a:solidFill>
            <a:ln w="19050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914400" y="4645533"/>
              <a:ext cx="10515600" cy="3385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400" b="1">
                  <a:solidFill>
                    <a:srgbClr val="FBBF24"/>
                  </a:solidFill>
                  <a:latin typeface="Segoe UI"/>
                </a:defRPr>
              </a:pPr>
              <a:r>
                <a:rPr sz="1050"/>
                <a:t>🔮  What We Didn't Cover (But You Should Know Exists)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914400" y="5038725"/>
              <a:ext cx="1645920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F59E0B"/>
                  </a:solidFill>
                  <a:latin typeface="Segoe UI"/>
                </a:defRPr>
              </a:pPr>
              <a:r>
                <a:rPr sz="825"/>
                <a:t>LoRA / QLoRA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2651760" y="5038725"/>
              <a:ext cx="32004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Fine-tune 70B+ models on consumer GPUs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914400" y="5422773"/>
              <a:ext cx="1645920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F59E0B"/>
                  </a:solidFill>
                  <a:latin typeface="Segoe UI"/>
                </a:defRPr>
              </a:pPr>
              <a:r>
                <a:rPr sz="825"/>
                <a:t>RLHF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2651760" y="5422773"/>
              <a:ext cx="32004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How ChatGPT was trained to follow instructions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914400" y="5806821"/>
              <a:ext cx="1645920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F59E0B"/>
                  </a:solidFill>
                  <a:latin typeface="Segoe UI"/>
                </a:defRPr>
              </a:pPr>
              <a:r>
                <a:rPr sz="825"/>
                <a:t>RAG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2651760" y="5806821"/>
              <a:ext cx="32004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Ground LLMs with your own documents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6263640" y="5038725"/>
              <a:ext cx="1828800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F59E0B"/>
                  </a:solidFill>
                  <a:latin typeface="Segoe UI"/>
                </a:defRPr>
              </a:pPr>
              <a:r>
                <a:rPr sz="825"/>
                <a:t>Agents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8321040" y="5038725"/>
              <a:ext cx="32004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LLMs that use tools, browse web, write code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6263640" y="5422773"/>
              <a:ext cx="1828800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F59E0B"/>
                  </a:solidFill>
                  <a:latin typeface="Segoe UI"/>
                </a:defRPr>
              </a:pPr>
              <a:r>
                <a:rPr sz="825"/>
                <a:t>Multimodal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8321040" y="5422773"/>
              <a:ext cx="32004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Vision + Language (GPT-4V, LLaVA)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6263640" y="5806821"/>
              <a:ext cx="1828800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F59E0B"/>
                  </a:solidFill>
                  <a:latin typeface="Segoe UI"/>
                </a:defRPr>
              </a:pPr>
              <a:r>
                <a:rPr sz="825"/>
                <a:t>State Space Models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8321040" y="5806821"/>
              <a:ext cx="32004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 dirty="0"/>
                <a:t>Mamba — potential Transformer competitor</a:t>
              </a:r>
            </a:p>
          </p:txBody>
        </p:sp>
      </p:grpSp>
      <p:sp>
        <p:nvSpPr>
          <p:cNvPr id="62" name="TextBox 61"/>
          <p:cNvSpPr txBox="1"/>
          <p:nvPr/>
        </p:nvSpPr>
        <p:spPr>
          <a:xfrm>
            <a:off x="651510" y="4842034"/>
            <a:ext cx="774954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rPr sz="750" dirty="0"/>
              <a:t>Each of these could be an entire workshop. Today's foundation makes all of them accessible.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AE36694-F950-5D23-3130-EB6EC7932F5B}"/>
              </a:ext>
            </a:extLst>
          </p:cNvPr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4" name="TextBox 3"/>
          <p:cNvSpPr txBox="1"/>
          <p:nvPr/>
        </p:nvSpPr>
        <p:spPr>
          <a:xfrm>
            <a:off x="350044" y="205740"/>
            <a:ext cx="8229600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rPr sz="2250" dirty="0"/>
              <a:t>Curated Resources — Your NLP Reading List</a:t>
            </a: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017DE020-A3DC-E6C2-C4AC-B2F92D06C755}"/>
              </a:ext>
            </a:extLst>
          </p:cNvPr>
          <p:cNvGrpSpPr/>
          <p:nvPr/>
        </p:nvGrpSpPr>
        <p:grpSpPr>
          <a:xfrm>
            <a:off x="411480" y="874395"/>
            <a:ext cx="4183380" cy="1752974"/>
            <a:chOff x="548640" y="1508760"/>
            <a:chExt cx="5577840" cy="2337299"/>
          </a:xfrm>
        </p:grpSpPr>
        <p:sp>
          <p:nvSpPr>
            <p:cNvPr id="5" name="Rounded Rectangle 4"/>
            <p:cNvSpPr/>
            <p:nvPr/>
          </p:nvSpPr>
          <p:spPr>
            <a:xfrm>
              <a:off x="548640" y="1508760"/>
              <a:ext cx="5577840" cy="2331720"/>
            </a:xfrm>
            <a:prstGeom prst="roundRect">
              <a:avLst>
                <a:gd name="adj" fmla="val 3000"/>
              </a:avLst>
            </a:prstGeom>
            <a:solidFill>
              <a:srgbClr val="1E293B"/>
            </a:solidFill>
            <a:ln w="19050">
              <a:solidFill>
                <a:srgbClr val="22C55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731520" y="1600200"/>
              <a:ext cx="2743200" cy="3385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400" b="1">
                  <a:solidFill>
                    <a:srgbClr val="22C55E"/>
                  </a:solidFill>
                  <a:latin typeface="Segoe UI"/>
                </a:defRPr>
              </a:pPr>
              <a:r>
                <a:rPr sz="1050" dirty="0"/>
                <a:t>📚  Free Courses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31520" y="1947672"/>
              <a:ext cx="182880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94A3B8"/>
                  </a:solidFill>
                  <a:latin typeface="Segoe UI"/>
                </a:defRPr>
              </a:pPr>
              <a:r>
                <a:rPr sz="675"/>
                <a:t>Course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560320" y="1947672"/>
              <a:ext cx="146304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94A3B8"/>
                  </a:solidFill>
                  <a:latin typeface="Segoe UI"/>
                </a:defRPr>
              </a:pPr>
              <a:r>
                <a:rPr sz="675"/>
                <a:t>Provider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023360" y="1947672"/>
              <a:ext cx="91440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94A3B8"/>
                  </a:solidFill>
                  <a:latin typeface="Segoe UI"/>
                </a:defRPr>
              </a:pPr>
              <a:r>
                <a:rPr sz="675"/>
                <a:t>Duration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029200" y="1947672"/>
              <a:ext cx="91440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94A3B8"/>
                  </a:solidFill>
                  <a:latin typeface="Segoe UI"/>
                </a:defRPr>
              </a:pPr>
              <a:r>
                <a:rPr sz="675"/>
                <a:t>Level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31520" y="2203704"/>
              <a:ext cx="5120640" cy="12700"/>
            </a:xfrm>
            <a:prstGeom prst="rect">
              <a:avLst/>
            </a:prstGeom>
            <a:solidFill>
              <a:srgbClr val="33445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31520" y="2267712"/>
              <a:ext cx="182880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HF NLP Course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560320" y="2267712"/>
              <a:ext cx="146304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Hugging Face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023360" y="2267712"/>
              <a:ext cx="91440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8 chapters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029200" y="2267712"/>
              <a:ext cx="91440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94A3B8"/>
                  </a:solidFill>
                  <a:latin typeface="Segoe UI"/>
                </a:defRPr>
              </a:pPr>
              <a:r>
                <a:rPr sz="675"/>
                <a:t>Beginner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31520" y="2596896"/>
              <a:ext cx="182880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CS224N: NLP with DL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560320" y="2596896"/>
              <a:ext cx="146304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Stanford / YouTube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023360" y="2596896"/>
              <a:ext cx="91440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20 lectures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029200" y="2596896"/>
              <a:ext cx="91440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94A3B8"/>
                  </a:solidFill>
                  <a:latin typeface="Segoe UI"/>
                </a:defRPr>
              </a:pPr>
              <a:r>
                <a:rPr sz="675"/>
                <a:t>Intermediate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31520" y="2926080"/>
              <a:ext cx="182880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Practical Deep Learning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560320" y="2926080"/>
              <a:ext cx="146304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fast.ai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023360" y="2926080"/>
              <a:ext cx="91440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8 lessons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029200" y="2926080"/>
              <a:ext cx="91440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94A3B8"/>
                  </a:solidFill>
                  <a:latin typeface="Segoe UI"/>
                </a:defRPr>
              </a:pPr>
              <a:r>
                <a:rPr sz="675"/>
                <a:t>Beginner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31520" y="3255264"/>
              <a:ext cx="182880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Neural Nets: Zero→Hero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560320" y="3255264"/>
              <a:ext cx="146304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Karpathy / YouTube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023360" y="3255264"/>
              <a:ext cx="91440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10 videos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029200" y="3255264"/>
              <a:ext cx="91440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94A3B8"/>
                  </a:solidFill>
                  <a:latin typeface="Segoe UI"/>
                </a:defRPr>
              </a:pPr>
              <a:r>
                <a:rPr sz="675"/>
                <a:t>Beginner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31520" y="3584448"/>
              <a:ext cx="182880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LLM University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560320" y="3584448"/>
              <a:ext cx="146304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Cohere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023360" y="3584448"/>
              <a:ext cx="91440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Self-paced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029200" y="3584448"/>
              <a:ext cx="91440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94A3B8"/>
                  </a:solidFill>
                  <a:latin typeface="Segoe UI"/>
                </a:defRPr>
              </a:pPr>
              <a:r>
                <a:rPr sz="675"/>
                <a:t>Beginner</a:t>
              </a: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63C3C88A-5ED8-859C-7268-7FA38473450B}"/>
              </a:ext>
            </a:extLst>
          </p:cNvPr>
          <p:cNvGrpSpPr/>
          <p:nvPr/>
        </p:nvGrpSpPr>
        <p:grpSpPr>
          <a:xfrm>
            <a:off x="4766310" y="867251"/>
            <a:ext cx="3977640" cy="1875949"/>
            <a:chOff x="6355080" y="1508759"/>
            <a:chExt cx="5303520" cy="2501265"/>
          </a:xfrm>
        </p:grpSpPr>
        <p:sp>
          <p:nvSpPr>
            <p:cNvPr id="32" name="Rounded Rectangle 31"/>
            <p:cNvSpPr/>
            <p:nvPr/>
          </p:nvSpPr>
          <p:spPr>
            <a:xfrm>
              <a:off x="6355080" y="1508759"/>
              <a:ext cx="5303520" cy="2501265"/>
            </a:xfrm>
            <a:prstGeom prst="roundRect">
              <a:avLst>
                <a:gd name="adj" fmla="val 3000"/>
              </a:avLst>
            </a:prstGeom>
            <a:solidFill>
              <a:srgbClr val="1E293B"/>
            </a:solidFill>
            <a:ln w="19050">
              <a:solidFill>
                <a:srgbClr val="3B82F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537960" y="1600200"/>
              <a:ext cx="2743200" cy="3385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400" b="1">
                  <a:solidFill>
                    <a:srgbClr val="3B82F6"/>
                  </a:solidFill>
                  <a:latin typeface="Segoe UI"/>
                </a:defRPr>
              </a:pPr>
              <a:r>
                <a:rPr sz="1050"/>
                <a:t>📄  Must-Read Papers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537960" y="1947672"/>
              <a:ext cx="228600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94A3B8"/>
                  </a:solidFill>
                  <a:latin typeface="Segoe UI"/>
                </a:defRPr>
              </a:pPr>
              <a:r>
                <a:rPr sz="675" dirty="0"/>
                <a:t>Paper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823960" y="1947672"/>
              <a:ext cx="54864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94A3B8"/>
                  </a:solidFill>
                  <a:latin typeface="Segoe UI"/>
                </a:defRPr>
              </a:pPr>
              <a:r>
                <a:rPr sz="675"/>
                <a:t>Year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372600" y="1947672"/>
              <a:ext cx="201168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94A3B8"/>
                  </a:solidFill>
                  <a:latin typeface="Segoe UI"/>
                </a:defRPr>
              </a:pPr>
              <a:r>
                <a:rPr sz="675"/>
                <a:t>Why Read It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6537960" y="2203704"/>
              <a:ext cx="4846320" cy="12700"/>
            </a:xfrm>
            <a:prstGeom prst="rect">
              <a:avLst/>
            </a:prstGeom>
            <a:solidFill>
              <a:srgbClr val="33445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537960" y="2267712"/>
              <a:ext cx="228600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Attention Is All You Need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8823960" y="2267712"/>
              <a:ext cx="54864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F59E0B"/>
                  </a:solidFill>
                  <a:latin typeface="Segoe UI"/>
                </a:defRPr>
              </a:pPr>
              <a:r>
                <a:rPr sz="675" dirty="0"/>
                <a:t>2017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9372600" y="2267712"/>
              <a:ext cx="201168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The original Transformer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537960" y="2560320"/>
              <a:ext cx="228600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BERT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8823960" y="2560320"/>
              <a:ext cx="54864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F59E0B"/>
                  </a:solidFill>
                  <a:latin typeface="Segoe UI"/>
                </a:defRPr>
              </a:pPr>
              <a:r>
                <a:rPr sz="675"/>
                <a:t>2018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9372600" y="2560320"/>
              <a:ext cx="201168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Encoder-only revolution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537960" y="2852928"/>
              <a:ext cx="228600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GPT-2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8823960" y="2852928"/>
              <a:ext cx="54864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F59E0B"/>
                  </a:solidFill>
                  <a:latin typeface="Segoe UI"/>
                </a:defRPr>
              </a:pPr>
              <a:r>
                <a:rPr sz="675"/>
                <a:t>2019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9372600" y="2852928"/>
              <a:ext cx="201168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Decoder-only scaling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6537960" y="3145536"/>
              <a:ext cx="228600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T5: Text-to-Text Transfer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8823960" y="3145536"/>
              <a:ext cx="54864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F59E0B"/>
                  </a:solidFill>
                  <a:latin typeface="Segoe UI"/>
                </a:defRPr>
              </a:pPr>
              <a:r>
                <a:rPr sz="675"/>
                <a:t>2019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9372600" y="3145536"/>
              <a:ext cx="201168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Our model's paper!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537960" y="3438144"/>
              <a:ext cx="228600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InstructGPT (RLHF)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8823960" y="3438144"/>
              <a:ext cx="54864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F59E0B"/>
                  </a:solidFill>
                  <a:latin typeface="Segoe UI"/>
                </a:defRPr>
              </a:pPr>
              <a:r>
                <a:rPr sz="675"/>
                <a:t>2022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9372600" y="3438144"/>
              <a:ext cx="201168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How ChatGPT was aligned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537960" y="3730752"/>
              <a:ext cx="228600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FFFFFF"/>
                  </a:solidFill>
                  <a:latin typeface="Segoe UI"/>
                </a:defRPr>
              </a:pPr>
              <a:r>
                <a:rPr sz="675"/>
                <a:t>LoRA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8823960" y="3730752"/>
              <a:ext cx="54864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F59E0B"/>
                  </a:solidFill>
                  <a:latin typeface="Segoe UI"/>
                </a:defRPr>
              </a:pPr>
              <a:r>
                <a:rPr sz="675"/>
                <a:t>2021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9372600" y="3730752"/>
              <a:ext cx="201168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B0B8C8"/>
                  </a:solidFill>
                  <a:latin typeface="Segoe UI"/>
                </a:defRPr>
              </a:pPr>
              <a:r>
                <a:rPr sz="675"/>
                <a:t>Efficient fine-tuning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C6A76395-E176-A893-73F2-F79450AC093C}"/>
              </a:ext>
            </a:extLst>
          </p:cNvPr>
          <p:cNvGrpSpPr/>
          <p:nvPr/>
        </p:nvGrpSpPr>
        <p:grpSpPr>
          <a:xfrm>
            <a:off x="205740" y="2931795"/>
            <a:ext cx="4423410" cy="1131570"/>
            <a:chOff x="548640" y="4023360"/>
            <a:chExt cx="5897880" cy="1508760"/>
          </a:xfrm>
        </p:grpSpPr>
        <p:sp>
          <p:nvSpPr>
            <p:cNvPr id="56" name="Rounded Rectangle 55"/>
            <p:cNvSpPr/>
            <p:nvPr/>
          </p:nvSpPr>
          <p:spPr>
            <a:xfrm>
              <a:off x="548640" y="4023360"/>
              <a:ext cx="5897880" cy="1508760"/>
            </a:xfrm>
            <a:prstGeom prst="roundRect">
              <a:avLst>
                <a:gd name="adj" fmla="val 3000"/>
              </a:avLst>
            </a:prstGeom>
            <a:solidFill>
              <a:srgbClr val="1E293B"/>
            </a:solidFill>
            <a:ln w="19050">
              <a:solidFill>
                <a:srgbClr val="A78BF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731520" y="4114800"/>
              <a:ext cx="2743200" cy="3385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400" b="1">
                  <a:solidFill>
                    <a:srgbClr val="A78BFA"/>
                  </a:solidFill>
                  <a:latin typeface="Segoe UI"/>
                </a:defRPr>
              </a:pPr>
              <a:r>
                <a:rPr sz="1050"/>
                <a:t>🛠  Tools to Explore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731520" y="4462272"/>
              <a:ext cx="100584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FFFFFF"/>
                  </a:solidFill>
                  <a:latin typeface="Consolas"/>
                </a:defRPr>
              </a:pPr>
              <a:r>
                <a:rPr sz="675" dirty="0"/>
                <a:t>transformers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1691640" y="4462272"/>
              <a:ext cx="109728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800" b="0">
                  <a:solidFill>
                    <a:srgbClr val="94A3B8"/>
                  </a:solidFill>
                  <a:latin typeface="Segoe UI"/>
                </a:defRPr>
              </a:pPr>
              <a:r>
                <a:rPr sz="600"/>
                <a:t>Models, training, inference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2560320" y="4462272"/>
              <a:ext cx="91440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FFFFFF"/>
                  </a:solidFill>
                  <a:latin typeface="Consolas"/>
                </a:defRPr>
              </a:pPr>
              <a:r>
                <a:rPr sz="675"/>
                <a:t>datasets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3520440" y="4462272"/>
              <a:ext cx="109728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800" b="0">
                  <a:solidFill>
                    <a:srgbClr val="94A3B8"/>
                  </a:solidFill>
                  <a:latin typeface="Segoe UI"/>
                </a:defRPr>
              </a:pPr>
              <a:r>
                <a:rPr sz="600"/>
                <a:t>Data loading &amp; preprocessing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4389120" y="4462272"/>
              <a:ext cx="91440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FFFFFF"/>
                  </a:solidFill>
                  <a:latin typeface="Consolas"/>
                </a:defRPr>
              </a:pPr>
              <a:r>
                <a:rPr sz="675"/>
                <a:t>peft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5349240" y="4462272"/>
              <a:ext cx="109728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800" b="0">
                  <a:solidFill>
                    <a:srgbClr val="94A3B8"/>
                  </a:solidFill>
                  <a:latin typeface="Segoe UI"/>
                </a:defRPr>
              </a:pPr>
              <a:r>
                <a:rPr sz="600"/>
                <a:t>LoRA / efficient fine-tuning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731520" y="4791456"/>
              <a:ext cx="91440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FFFFFF"/>
                  </a:solidFill>
                  <a:latin typeface="Consolas"/>
                </a:defRPr>
              </a:pPr>
              <a:r>
                <a:rPr sz="675"/>
                <a:t>trl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1691640" y="4791456"/>
              <a:ext cx="109728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800" b="0">
                  <a:solidFill>
                    <a:srgbClr val="94A3B8"/>
                  </a:solidFill>
                  <a:latin typeface="Segoe UI"/>
                </a:defRPr>
              </a:pPr>
              <a:r>
                <a:rPr sz="600"/>
                <a:t>RLHF training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2560320" y="4791456"/>
              <a:ext cx="91440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FFFFFF"/>
                  </a:solidFill>
                  <a:latin typeface="Consolas"/>
                </a:defRPr>
              </a:pPr>
              <a:r>
                <a:rPr sz="675"/>
                <a:t>accelerate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3520440" y="4791456"/>
              <a:ext cx="109728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800" b="0">
                  <a:solidFill>
                    <a:srgbClr val="94A3B8"/>
                  </a:solidFill>
                  <a:latin typeface="Segoe UI"/>
                </a:defRPr>
              </a:pPr>
              <a:r>
                <a:rPr sz="600"/>
                <a:t>Multi-GPU, mixed precision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4389120" y="4791456"/>
              <a:ext cx="91440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FFFFFF"/>
                  </a:solidFill>
                  <a:latin typeface="Consolas"/>
                </a:defRPr>
              </a:pPr>
              <a:r>
                <a:rPr sz="675"/>
                <a:t>optimum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5349240" y="4791456"/>
              <a:ext cx="109728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800" b="0">
                  <a:solidFill>
                    <a:srgbClr val="94A3B8"/>
                  </a:solidFill>
                  <a:latin typeface="Segoe UI"/>
                </a:defRPr>
              </a:pPr>
              <a:r>
                <a:rPr sz="600"/>
                <a:t>ONNX, quantization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731520" y="5120640"/>
              <a:ext cx="91440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FFFFFF"/>
                  </a:solidFill>
                  <a:latin typeface="Consolas"/>
                </a:defRPr>
              </a:pPr>
              <a:r>
                <a:rPr sz="675" dirty="0" err="1"/>
                <a:t>gradio</a:t>
              </a:r>
              <a:endParaRPr sz="675" dirty="0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1691640" y="5120640"/>
              <a:ext cx="109728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800" b="0">
                  <a:solidFill>
                    <a:srgbClr val="94A3B8"/>
                  </a:solidFill>
                  <a:latin typeface="Segoe UI"/>
                </a:defRPr>
              </a:pPr>
              <a:r>
                <a:rPr sz="600"/>
                <a:t>Quick demo UIs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2560320" y="5120640"/>
              <a:ext cx="91440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FFFFFF"/>
                  </a:solidFill>
                  <a:latin typeface="Consolas"/>
                </a:defRPr>
              </a:pPr>
              <a:r>
                <a:rPr sz="675"/>
                <a:t>langchain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3520440" y="5120640"/>
              <a:ext cx="109728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800" b="0">
                  <a:solidFill>
                    <a:srgbClr val="94A3B8"/>
                  </a:solidFill>
                  <a:latin typeface="Segoe UI"/>
                </a:defRPr>
              </a:pPr>
              <a:r>
                <a:rPr sz="600"/>
                <a:t>LLM app framework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4389120" y="5120640"/>
              <a:ext cx="914400" cy="2616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FFFFFF"/>
                  </a:solidFill>
                  <a:latin typeface="Consolas"/>
                </a:defRPr>
              </a:pPr>
              <a:r>
                <a:rPr sz="675"/>
                <a:t>vllm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5349240" y="5120640"/>
              <a:ext cx="109728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800" b="0">
                  <a:solidFill>
                    <a:srgbClr val="94A3B8"/>
                  </a:solidFill>
                  <a:latin typeface="Segoe UI"/>
                </a:defRPr>
              </a:pPr>
              <a:r>
                <a:rPr sz="600"/>
                <a:t>High-perf inference</a:t>
              </a:r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6F3544C2-93A6-B4CA-13DC-2E68BB2297CA}"/>
              </a:ext>
            </a:extLst>
          </p:cNvPr>
          <p:cNvGrpSpPr/>
          <p:nvPr/>
        </p:nvGrpSpPr>
        <p:grpSpPr>
          <a:xfrm>
            <a:off x="4766310" y="2948939"/>
            <a:ext cx="3977640" cy="1131570"/>
            <a:chOff x="6355080" y="4023360"/>
            <a:chExt cx="5303520" cy="1508760"/>
          </a:xfrm>
        </p:grpSpPr>
        <p:sp>
          <p:nvSpPr>
            <p:cNvPr id="76" name="Rounded Rectangle 75"/>
            <p:cNvSpPr/>
            <p:nvPr/>
          </p:nvSpPr>
          <p:spPr>
            <a:xfrm>
              <a:off x="6355080" y="4023360"/>
              <a:ext cx="5303520" cy="1508760"/>
            </a:xfrm>
            <a:prstGeom prst="roundRect">
              <a:avLst>
                <a:gd name="adj" fmla="val 3000"/>
              </a:avLst>
            </a:prstGeom>
            <a:solidFill>
              <a:srgbClr val="1E293B"/>
            </a:solidFill>
            <a:ln w="19050">
              <a:solidFill>
                <a:srgbClr val="FBBF2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 dirty="0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6537959" y="4114800"/>
              <a:ext cx="3872865" cy="3385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400" b="1">
                  <a:solidFill>
                    <a:srgbClr val="FBBF24"/>
                  </a:solidFill>
                  <a:latin typeface="Segoe UI"/>
                </a:defRPr>
              </a:pPr>
              <a:r>
                <a:rPr sz="1050" dirty="0"/>
                <a:t>🎁  Your Take-Home Materials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537960" y="4462272"/>
              <a:ext cx="484632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 dirty="0"/>
                <a:t>✅  All </a:t>
              </a:r>
              <a:r>
                <a:rPr lang="en-IN" sz="750" dirty="0"/>
                <a:t>40+</a:t>
              </a:r>
              <a:r>
                <a:rPr sz="750" dirty="0"/>
                <a:t> slides</a:t>
              </a: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6537960" y="4663440"/>
              <a:ext cx="484632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 dirty="0"/>
                <a:t>✅  Lab 1 Notebook — Inference Pipeline</a:t>
              </a: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6537960" y="4864608"/>
              <a:ext cx="484632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 dirty="0"/>
                <a:t>✅  Lab 2 Notebook — Fine-Tuning Pipeline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6537960" y="5065776"/>
              <a:ext cx="484632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✅  Saved fine-tuned model (from Colab)</a:t>
              </a: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1A8679E6-031C-3868-5C98-397D4FD24EFC}"/>
              </a:ext>
            </a:extLst>
          </p:cNvPr>
          <p:cNvGrpSpPr/>
          <p:nvPr/>
        </p:nvGrpSpPr>
        <p:grpSpPr>
          <a:xfrm>
            <a:off x="411480" y="4286250"/>
            <a:ext cx="8332470" cy="651510"/>
            <a:chOff x="548640" y="5715000"/>
            <a:chExt cx="11109960" cy="868680"/>
          </a:xfrm>
        </p:grpSpPr>
        <p:sp>
          <p:nvSpPr>
            <p:cNvPr id="83" name="Rounded Rectangle 82"/>
            <p:cNvSpPr/>
            <p:nvPr/>
          </p:nvSpPr>
          <p:spPr>
            <a:xfrm>
              <a:off x="548640" y="5715000"/>
              <a:ext cx="11109960" cy="868680"/>
            </a:xfrm>
            <a:prstGeom prst="roundRect">
              <a:avLst>
                <a:gd name="adj" fmla="val 3000"/>
              </a:avLst>
            </a:prstGeom>
            <a:solidFill>
              <a:srgbClr val="162033"/>
            </a:solidFill>
            <a:ln w="19050">
              <a:solidFill>
                <a:srgbClr val="334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914400" y="5779008"/>
              <a:ext cx="10515600" cy="3077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14B8A6"/>
                  </a:solidFill>
                  <a:latin typeface="Segoe UI"/>
                </a:defRPr>
              </a:pPr>
              <a:r>
                <a:rPr sz="900"/>
                <a:t>📖  Recommended Book</a:t>
              </a: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914400" y="6035040"/>
              <a:ext cx="10515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225"/>
                </a:spcAft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 dirty="0"/>
                <a:t>Natural Language Processing with Transformers  by Lewis Tunstall, Leandro von Werra &amp; Thomas Wolf  — the definitive practical guide to the Hugging Face ecosystem (O'Reilly, 2022)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41B1D21-3EAE-893A-F195-09CF896E3FF7}"/>
              </a:ext>
            </a:extLst>
          </p:cNvPr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2" name="Rectangle 1"/>
          <p:cNvSpPr/>
          <p:nvPr/>
        </p:nvSpPr>
        <p:spPr>
          <a:xfrm>
            <a:off x="1" y="0"/>
            <a:ext cx="9143771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3E372B9-55B7-B6AA-9A65-879C3066531C}"/>
              </a:ext>
            </a:extLst>
          </p:cNvPr>
          <p:cNvGrpSpPr/>
          <p:nvPr/>
        </p:nvGrpSpPr>
        <p:grpSpPr>
          <a:xfrm>
            <a:off x="411480" y="727234"/>
            <a:ext cx="8298180" cy="1082040"/>
            <a:chOff x="548640" y="1188720"/>
            <a:chExt cx="11064240" cy="1442720"/>
          </a:xfrm>
        </p:grpSpPr>
        <p:sp>
          <p:nvSpPr>
            <p:cNvPr id="4" name="TextBox 3"/>
            <p:cNvSpPr txBox="1"/>
            <p:nvPr/>
          </p:nvSpPr>
          <p:spPr>
            <a:xfrm>
              <a:off x="548640" y="1188720"/>
              <a:ext cx="11064240" cy="923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5200" b="1">
                  <a:solidFill>
                    <a:srgbClr val="FFFFFF"/>
                  </a:solidFill>
                  <a:latin typeface="Segoe UI"/>
                </a:defRPr>
              </a:pPr>
              <a:r>
                <a:rPr sz="3900"/>
                <a:t>Thank You!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371600" y="2011680"/>
              <a:ext cx="9418320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2000" b="0">
                  <a:solidFill>
                    <a:srgbClr val="3B82F6"/>
                  </a:solidFill>
                  <a:latin typeface="Segoe UI"/>
                </a:defRPr>
              </a:pPr>
              <a:r>
                <a:rPr sz="1500"/>
                <a:t>Advanced NLP: Transformers — From RNNs to Attention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5029200" y="2606040"/>
              <a:ext cx="2103120" cy="25400"/>
            </a:xfrm>
            <a:prstGeom prst="rect">
              <a:avLst/>
            </a:prstGeom>
            <a:solidFill>
              <a:srgbClr val="33445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D867917-803D-E9DD-360D-DC41BD8F2BCE}"/>
              </a:ext>
            </a:extLst>
          </p:cNvPr>
          <p:cNvGrpSpPr/>
          <p:nvPr/>
        </p:nvGrpSpPr>
        <p:grpSpPr>
          <a:xfrm>
            <a:off x="1028700" y="2088833"/>
            <a:ext cx="7063740" cy="848469"/>
            <a:chOff x="1371600" y="2880360"/>
            <a:chExt cx="9418320" cy="1131292"/>
          </a:xfrm>
        </p:grpSpPr>
        <p:sp>
          <p:nvSpPr>
            <p:cNvPr id="7" name="Rounded Rectangle 6"/>
            <p:cNvSpPr/>
            <p:nvPr/>
          </p:nvSpPr>
          <p:spPr>
            <a:xfrm>
              <a:off x="1371600" y="2880360"/>
              <a:ext cx="9418320" cy="1097280"/>
            </a:xfrm>
            <a:prstGeom prst="roundRect">
              <a:avLst>
                <a:gd name="adj" fmla="val 3000"/>
              </a:avLst>
            </a:prstGeom>
            <a:solidFill>
              <a:srgbClr val="1E293B"/>
            </a:solidFill>
            <a:ln w="19050">
              <a:solidFill>
                <a:srgbClr val="3B82F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828800" y="2924175"/>
              <a:ext cx="8503920" cy="10874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225"/>
                </a:spcAft>
                <a:defRPr sz="1400" b="0">
                  <a:solidFill>
                    <a:srgbClr val="B0B8C8"/>
                  </a:solidFill>
                  <a:latin typeface="Segoe UI"/>
                </a:defRPr>
              </a:pPr>
              <a:r>
                <a:rPr sz="1050" dirty="0"/>
                <a:t>Three hours ago, Transformers were a buzzword.</a:t>
              </a:r>
            </a:p>
            <a:p>
              <a:pPr algn="ctr">
                <a:spcAft>
                  <a:spcPts val="225"/>
                </a:spcAft>
                <a:defRPr sz="1400" b="0">
                  <a:solidFill>
                    <a:srgbClr val="B0B8C8"/>
                  </a:solidFill>
                  <a:latin typeface="Segoe UI"/>
                </a:defRPr>
              </a:pPr>
              <a:r>
                <a:rPr sz="1050" dirty="0"/>
                <a:t>Now you can explain self-attention, draw the encoder-decoder architecture,</a:t>
              </a:r>
            </a:p>
            <a:p>
              <a:pPr algn="ctr">
                <a:spcAft>
                  <a:spcPts val="225"/>
                </a:spcAft>
                <a:defRPr sz="1400" b="0">
                  <a:solidFill>
                    <a:srgbClr val="B0B8C8"/>
                  </a:solidFill>
                  <a:latin typeface="Segoe UI"/>
                </a:defRPr>
              </a:pPr>
              <a:r>
                <a:rPr sz="1050" dirty="0"/>
                <a:t>load a model, generate summaries, fine-tune on custom data, and evaluate with ROUGE.</a:t>
              </a:r>
            </a:p>
            <a:p>
              <a:pPr algn="ctr">
                <a:spcAft>
                  <a:spcPts val="225"/>
                </a:spcAft>
                <a:defRPr sz="1400" b="1">
                  <a:solidFill>
                    <a:srgbClr val="FFFFFF"/>
                  </a:solidFill>
                  <a:latin typeface="Segoe UI"/>
                </a:defRPr>
              </a:pPr>
              <a:r>
                <a:rPr lang="en-IN" sz="1050" dirty="0"/>
                <a:t>"</a:t>
              </a:r>
              <a:r>
                <a:rPr sz="1050" dirty="0"/>
                <a:t>You went from theory to working code. That's remarkable."</a:t>
              </a:r>
            </a:p>
          </p:txBody>
        </p:sp>
      </p:grpSp>
      <p:sp>
        <p:nvSpPr>
          <p:cNvPr id="9" name="Rounded Rectangle 8"/>
          <p:cNvSpPr/>
          <p:nvPr/>
        </p:nvSpPr>
        <p:spPr>
          <a:xfrm>
            <a:off x="1417205" y="3154680"/>
            <a:ext cx="1920240" cy="288036"/>
          </a:xfrm>
          <a:prstGeom prst="roundRect">
            <a:avLst>
              <a:gd name="adj" fmla="val 4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rPr sz="900"/>
              <a:t>5 Theory Sessions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765" y="3154680"/>
            <a:ext cx="1920240" cy="288036"/>
          </a:xfrm>
          <a:prstGeom prst="roundRect">
            <a:avLst>
              <a:gd name="adj" fmla="val 4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rPr sz="900"/>
              <a:t>2 Hands-On Labs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6325" y="3154680"/>
            <a:ext cx="1920240" cy="288036"/>
          </a:xfrm>
          <a:prstGeom prst="roundRect">
            <a:avLst>
              <a:gd name="adj" fmla="val 4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rPr sz="900"/>
              <a:t>1 Fine-Tuned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" y="3600450"/>
            <a:ext cx="706374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BBF24"/>
                </a:solidFill>
                <a:latin typeface="Segoe UI"/>
              </a:defRPr>
            </a:pPr>
            <a:r>
              <a:rPr sz="1650"/>
              <a:t>You Are Now Transformer-Literate  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00300" y="4011930"/>
            <a:ext cx="4320540" cy="44577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 w="1905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4" name="TextBox 13"/>
          <p:cNvSpPr txBox="1"/>
          <p:nvPr/>
        </p:nvSpPr>
        <p:spPr>
          <a:xfrm>
            <a:off x="2400300" y="4059936"/>
            <a:ext cx="432054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4B8A6"/>
                </a:solidFill>
                <a:latin typeface="Segoe UI"/>
              </a:defRPr>
            </a:pPr>
            <a:r>
              <a:rPr sz="1350"/>
              <a:t>💬  Questions?  Let's discuss!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594860"/>
            <a:ext cx="8298180" cy="455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25"/>
              </a:spcAft>
              <a:defRPr sz="1100" b="0">
                <a:solidFill>
                  <a:srgbClr val="B0B8C8"/>
                </a:solidFill>
                <a:latin typeface="Segoe UI"/>
              </a:defRPr>
            </a:pPr>
            <a:r>
              <a:rPr sz="825" dirty="0"/>
              <a:t>📝  Please share your feedback — it helps </a:t>
            </a:r>
            <a:r>
              <a:rPr lang="en-IN" sz="825" dirty="0"/>
              <a:t>me</a:t>
            </a:r>
            <a:r>
              <a:rPr sz="825" dirty="0"/>
              <a:t> make future workshops even better!</a:t>
            </a:r>
          </a:p>
          <a:p>
            <a:pPr algn="ctr">
              <a:spcAft>
                <a:spcPts val="225"/>
              </a:spcAft>
              <a:defRPr sz="600" b="0">
                <a:solidFill>
                  <a:srgbClr val="94A3B8"/>
                </a:solidFill>
                <a:latin typeface="Segoe UI"/>
              </a:defRPr>
            </a:pPr>
            <a:endParaRPr sz="450" dirty="0"/>
          </a:p>
          <a:p>
            <a:pPr algn="ctr">
              <a:spcAft>
                <a:spcPts val="225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rPr sz="750" dirty="0"/>
              <a:t>All slides, notebooks, and resources will be shared after the session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D9C6489-F09A-E176-16D0-989456276C37}"/>
              </a:ext>
            </a:extLst>
          </p:cNvPr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E12937-51A7-8D9A-0D6B-CD6D0E180CA0}"/>
              </a:ext>
            </a:extLst>
          </p:cNvPr>
          <p:cNvSpPr/>
          <p:nvPr/>
        </p:nvSpPr>
        <p:spPr>
          <a:xfrm>
            <a:off x="1" y="0"/>
            <a:ext cx="9143771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26D16AF-BC00-91D9-66B3-A009C3B100BA}"/>
              </a:ext>
            </a:extLst>
          </p:cNvPr>
          <p:cNvGrpSpPr/>
          <p:nvPr/>
        </p:nvGrpSpPr>
        <p:grpSpPr>
          <a:xfrm>
            <a:off x="411480" y="727233"/>
            <a:ext cx="8298180" cy="1480873"/>
            <a:chOff x="548640" y="1188720"/>
            <a:chExt cx="11064240" cy="14427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602960F-1D7F-0A00-D3B7-60F19376EEA4}"/>
                </a:ext>
              </a:extLst>
            </p:cNvPr>
            <p:cNvSpPr txBox="1"/>
            <p:nvPr/>
          </p:nvSpPr>
          <p:spPr>
            <a:xfrm>
              <a:off x="548640" y="1188720"/>
              <a:ext cx="11064240" cy="9438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400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Appendix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CB2BAB9-DDB7-BAE6-DCF2-D2E5497609CA}"/>
                </a:ext>
              </a:extLst>
            </p:cNvPr>
            <p:cNvSpPr txBox="1"/>
            <p:nvPr/>
          </p:nvSpPr>
          <p:spPr>
            <a:xfrm>
              <a:off x="1371600" y="2011680"/>
              <a:ext cx="9418320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2000" b="0">
                  <a:solidFill>
                    <a:srgbClr val="3B82F6"/>
                  </a:solidFill>
                  <a:latin typeface="Segoe UI"/>
                </a:defRPr>
              </a:pPr>
              <a:r>
                <a:rPr sz="1500" dirty="0"/>
                <a:t>Advanced NLP: Transformers — From RNNs to Attention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39136A9-A019-EBCC-590A-24CAA8A4AB01}"/>
                </a:ext>
              </a:extLst>
            </p:cNvPr>
            <p:cNvSpPr/>
            <p:nvPr/>
          </p:nvSpPr>
          <p:spPr>
            <a:xfrm>
              <a:off x="5029200" y="2606040"/>
              <a:ext cx="2103120" cy="25400"/>
            </a:xfrm>
            <a:prstGeom prst="rect">
              <a:avLst/>
            </a:prstGeom>
            <a:solidFill>
              <a:srgbClr val="33445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</p:grpSp>
    </p:spTree>
    <p:extLst>
      <p:ext uri="{BB962C8B-B14F-4D97-AF65-F5344CB8AC3E}">
        <p14:creationId xmlns:p14="http://schemas.microsoft.com/office/powerpoint/2010/main" val="16700763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5591F8E-289E-A6C7-3E15-12B93C57FBB3}"/>
              </a:ext>
            </a:extLst>
          </p:cNvPr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1282EE7-D9F2-8C5C-869D-75C725B3C885}"/>
              </a:ext>
            </a:extLst>
          </p:cNvPr>
          <p:cNvGrpSpPr/>
          <p:nvPr/>
        </p:nvGrpSpPr>
        <p:grpSpPr>
          <a:xfrm>
            <a:off x="411480" y="305647"/>
            <a:ext cx="8140446" cy="3600450"/>
            <a:chOff x="411480" y="617220"/>
            <a:chExt cx="8140446" cy="3600450"/>
          </a:xfrm>
        </p:grpSpPr>
        <p:sp>
          <p:nvSpPr>
            <p:cNvPr id="3" name="TextBox 2"/>
            <p:cNvSpPr txBox="1"/>
            <p:nvPr/>
          </p:nvSpPr>
          <p:spPr>
            <a:xfrm>
              <a:off x="548640" y="617220"/>
              <a:ext cx="5486400" cy="4847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3400" b="1">
                  <a:solidFill>
                    <a:srgbClr val="FFFFFF"/>
                  </a:solidFill>
                  <a:latin typeface="Segoe UI"/>
                </a:defRPr>
              </a:pPr>
              <a:r>
                <a:rPr sz="2550"/>
                <a:t>Pre-Lab 1 Checklist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48640" y="1097280"/>
              <a:ext cx="6858000" cy="2654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500" b="0">
                  <a:solidFill>
                    <a:srgbClr val="94A3B8"/>
                  </a:solidFill>
                  <a:latin typeface="Segoe UI"/>
                </a:defRPr>
              </a:pPr>
              <a:r>
                <a:rPr sz="1125" dirty="0"/>
                <a:t>Make sure you're ready before we begin  —  Summarization Inference Pipeline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548640" y="1433407"/>
              <a:ext cx="2743200" cy="27432"/>
            </a:xfrm>
            <a:prstGeom prst="rect">
              <a:avLst/>
            </a:prstGeom>
            <a:solidFill>
              <a:srgbClr val="14B8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11480" y="1748790"/>
              <a:ext cx="1474470" cy="2468880"/>
            </a:xfrm>
            <a:prstGeom prst="roundRect">
              <a:avLst>
                <a:gd name="adj" fmla="val 5581"/>
              </a:avLst>
            </a:prstGeom>
            <a:solidFill>
              <a:srgbClr val="1E293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514350" y="1748790"/>
              <a:ext cx="1268730" cy="34290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8" name="Oval 7"/>
            <p:cNvSpPr/>
            <p:nvPr/>
          </p:nvSpPr>
          <p:spPr>
            <a:xfrm>
              <a:off x="891540" y="1920240"/>
              <a:ext cx="480060" cy="480060"/>
            </a:xfrm>
            <a:prstGeom prst="ellipse">
              <a:avLst/>
            </a:prstGeom>
            <a:solidFill>
              <a:srgbClr val="3B82F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650" b="1">
                  <a:solidFill>
                    <a:srgbClr val="FFFFFF"/>
                  </a:solidFill>
                  <a:latin typeface="Segoe UI"/>
                </a:rPr>
                <a:t>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14350" y="2537460"/>
              <a:ext cx="1268730" cy="3924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300" b="1">
                  <a:solidFill>
                    <a:srgbClr val="FFFFFF"/>
                  </a:solidFill>
                  <a:latin typeface="Segoe UI"/>
                </a:defRPr>
              </a:pPr>
              <a:r>
                <a:rPr sz="975"/>
                <a:t>Open Google Colab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14350" y="2914650"/>
              <a:ext cx="1371600" cy="6694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 dirty="0"/>
                <a:t>Go to  colab.research.google.com  and create a new notebook</a:t>
              </a:r>
              <a:br>
                <a:rPr sz="750" dirty="0"/>
              </a:br>
              <a:r>
                <a:rPr sz="750" dirty="0"/>
                <a:t>or open the shared Lab 1 notebook link.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2077974" y="1748790"/>
              <a:ext cx="1474470" cy="2468880"/>
            </a:xfrm>
            <a:prstGeom prst="roundRect">
              <a:avLst>
                <a:gd name="adj" fmla="val 5581"/>
              </a:avLst>
            </a:prstGeom>
            <a:solidFill>
              <a:srgbClr val="1E293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180844" y="1748790"/>
              <a:ext cx="1268730" cy="3429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3" name="Oval 12"/>
            <p:cNvSpPr/>
            <p:nvPr/>
          </p:nvSpPr>
          <p:spPr>
            <a:xfrm>
              <a:off x="2558034" y="1920240"/>
              <a:ext cx="480060" cy="48006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650" b="1">
                  <a:solidFill>
                    <a:srgbClr val="FFFFFF"/>
                  </a:solidFill>
                  <a:latin typeface="Segoe UI"/>
                </a:rPr>
                <a:t>2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180844" y="2537460"/>
              <a:ext cx="1268730" cy="3924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300" b="1">
                  <a:solidFill>
                    <a:srgbClr val="FFFFFF"/>
                  </a:solidFill>
                  <a:latin typeface="Segoe UI"/>
                </a:defRPr>
              </a:pPr>
              <a:r>
                <a:rPr sz="975"/>
                <a:t>Enable GPU Runtime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180844" y="2914650"/>
              <a:ext cx="1268730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 dirty="0"/>
                <a:t>Runtime  &gt;  Change runtime type  &gt;  T4 GPU</a:t>
              </a:r>
              <a:br>
                <a:rPr sz="750" dirty="0"/>
              </a:br>
              <a:r>
                <a:rPr sz="750" dirty="0"/>
                <a:t>You'll see "T4" in the top-right when connected.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3744468" y="1748790"/>
              <a:ext cx="1474470" cy="2468880"/>
            </a:xfrm>
            <a:prstGeom prst="roundRect">
              <a:avLst>
                <a:gd name="adj" fmla="val 5581"/>
              </a:avLst>
            </a:prstGeom>
            <a:solidFill>
              <a:srgbClr val="1E293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847338" y="1748790"/>
              <a:ext cx="1268730" cy="34290"/>
            </a:xfrm>
            <a:prstGeom prst="rect">
              <a:avLst/>
            </a:prstGeom>
            <a:solidFill>
              <a:srgbClr val="14B8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8" name="Oval 17"/>
            <p:cNvSpPr/>
            <p:nvPr/>
          </p:nvSpPr>
          <p:spPr>
            <a:xfrm>
              <a:off x="4224528" y="1920240"/>
              <a:ext cx="480060" cy="480060"/>
            </a:xfrm>
            <a:prstGeom prst="ellipse">
              <a:avLst/>
            </a:prstGeom>
            <a:solidFill>
              <a:srgbClr val="14B8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650" b="1">
                  <a:solidFill>
                    <a:srgbClr val="FFFFFF"/>
                  </a:solidFill>
                  <a:latin typeface="Segoe UI"/>
                </a:rPr>
                <a:t>3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847338" y="2537460"/>
              <a:ext cx="1268730" cy="3924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300" b="1">
                  <a:solidFill>
                    <a:srgbClr val="FFFFFF"/>
                  </a:solidFill>
                  <a:latin typeface="Segoe UI"/>
                </a:defRPr>
              </a:pPr>
              <a:r>
                <a:rPr sz="975"/>
                <a:t>Install Dependencies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847338" y="2914650"/>
              <a:ext cx="1268730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Run the first cell to install transformers,</a:t>
              </a:r>
              <a:br>
                <a:rPr sz="750"/>
              </a:br>
              <a:r>
                <a:rPr sz="750"/>
                <a:t>datasets, and other packages (~30 seconds).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5410962" y="1748790"/>
              <a:ext cx="1474470" cy="2468880"/>
            </a:xfrm>
            <a:prstGeom prst="roundRect">
              <a:avLst>
                <a:gd name="adj" fmla="val 5581"/>
              </a:avLst>
            </a:prstGeom>
            <a:solidFill>
              <a:srgbClr val="1E293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5513832" y="1748790"/>
              <a:ext cx="1268730" cy="34290"/>
            </a:xfrm>
            <a:prstGeom prst="rect">
              <a:avLst/>
            </a:prstGeom>
            <a:solidFill>
              <a:srgbClr val="22C5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3" name="Oval 22"/>
            <p:cNvSpPr/>
            <p:nvPr/>
          </p:nvSpPr>
          <p:spPr>
            <a:xfrm>
              <a:off x="5891022" y="1920240"/>
              <a:ext cx="480060" cy="48006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650" b="1">
                  <a:solidFill>
                    <a:srgbClr val="FFFFFF"/>
                  </a:solidFill>
                  <a:latin typeface="Segoe UI"/>
                </a:rPr>
                <a:t>4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513832" y="2537460"/>
              <a:ext cx="1268730" cy="2423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300" b="1">
                  <a:solidFill>
                    <a:srgbClr val="FFFFFF"/>
                  </a:solidFill>
                  <a:latin typeface="Segoe UI"/>
                </a:defRPr>
              </a:pPr>
              <a:r>
                <a:rPr sz="975"/>
                <a:t>Verify GPU Access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513832" y="2914650"/>
              <a:ext cx="1268730" cy="4385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Run:  import torch; torch.cuda.is_available()</a:t>
              </a:r>
              <a:br>
                <a:rPr sz="750"/>
              </a:br>
              <a:r>
                <a:rPr sz="750"/>
                <a:t>Expect:  True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7077456" y="1748790"/>
              <a:ext cx="1474470" cy="2468880"/>
            </a:xfrm>
            <a:prstGeom prst="roundRect">
              <a:avLst>
                <a:gd name="adj" fmla="val 5581"/>
              </a:avLst>
            </a:prstGeom>
            <a:solidFill>
              <a:srgbClr val="1E293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7180326" y="1748790"/>
              <a:ext cx="1268730" cy="34290"/>
            </a:xfrm>
            <a:prstGeom prst="rect">
              <a:avLst/>
            </a:prstGeom>
            <a:solidFill>
              <a:srgbClr val="A78BF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8" name="Oval 27"/>
            <p:cNvSpPr/>
            <p:nvPr/>
          </p:nvSpPr>
          <p:spPr>
            <a:xfrm>
              <a:off x="7557516" y="1920240"/>
              <a:ext cx="480060" cy="480060"/>
            </a:xfrm>
            <a:prstGeom prst="ellipse">
              <a:avLst/>
            </a:prstGeom>
            <a:solidFill>
              <a:srgbClr val="A78BF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650" b="1">
                  <a:solidFill>
                    <a:srgbClr val="FFFFFF"/>
                  </a:solidFill>
                  <a:latin typeface="Segoe UI"/>
                </a:rPr>
                <a:t>5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180326" y="2537460"/>
              <a:ext cx="1268730" cy="2423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300" b="1">
                  <a:solidFill>
                    <a:srgbClr val="FFFFFF"/>
                  </a:solidFill>
                  <a:latin typeface="Segoe UI"/>
                </a:defRPr>
              </a:pPr>
              <a:r>
                <a:rPr sz="975"/>
                <a:t>You're Ready!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180326" y="2914650"/>
              <a:ext cx="1268730" cy="4385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Follow along cell-by-cell.</a:t>
              </a:r>
              <a:br>
                <a:rPr sz="750"/>
              </a:br>
              <a:r>
                <a:rPr sz="750"/>
                <a:t>Read the markdown — it explains each step.</a:t>
              </a:r>
            </a:p>
          </p:txBody>
        </p:sp>
      </p:grpSp>
      <p:sp>
        <p:nvSpPr>
          <p:cNvPr id="31" name="Rectangle 30"/>
          <p:cNvSpPr/>
          <p:nvPr/>
        </p:nvSpPr>
        <p:spPr>
          <a:xfrm>
            <a:off x="1" y="4629150"/>
            <a:ext cx="9143771" cy="5143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32" name="TextBox 31"/>
          <p:cNvSpPr txBox="1"/>
          <p:nvPr/>
        </p:nvSpPr>
        <p:spPr>
          <a:xfrm>
            <a:off x="548640" y="4732020"/>
            <a:ext cx="7543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rPr sz="900"/>
              <a:t>💡  Tip: If Colab disconnects, just re-run all cells from the top  —  your model weights will re-download in ~60 seconds.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4AA8C799-8B20-F9A5-558A-B24CB7A946F0}"/>
              </a:ext>
            </a:extLst>
          </p:cNvPr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B634BF0-7D48-52C1-5963-A89D70392C41}"/>
              </a:ext>
            </a:extLst>
          </p:cNvPr>
          <p:cNvGrpSpPr/>
          <p:nvPr/>
        </p:nvGrpSpPr>
        <p:grpSpPr>
          <a:xfrm>
            <a:off x="411480" y="298876"/>
            <a:ext cx="8229600" cy="3977640"/>
            <a:chOff x="411480" y="298876"/>
            <a:chExt cx="8229600" cy="3977640"/>
          </a:xfrm>
        </p:grpSpPr>
        <p:sp>
          <p:nvSpPr>
            <p:cNvPr id="3" name="TextBox 2"/>
            <p:cNvSpPr txBox="1"/>
            <p:nvPr/>
          </p:nvSpPr>
          <p:spPr>
            <a:xfrm>
              <a:off x="548640" y="298876"/>
              <a:ext cx="5486400" cy="4847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3400" b="1">
                  <a:solidFill>
                    <a:srgbClr val="FFFFFF"/>
                  </a:solidFill>
                  <a:latin typeface="Segoe UI"/>
                </a:defRPr>
              </a:pPr>
              <a:r>
                <a:rPr sz="2550"/>
                <a:t>Pre-Lab 2 Checklist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48640" y="778936"/>
              <a:ext cx="6858000" cy="2654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500" b="0">
                  <a:solidFill>
                    <a:srgbClr val="94A3B8"/>
                  </a:solidFill>
                  <a:latin typeface="Segoe UI"/>
                </a:defRPr>
              </a:pPr>
              <a:r>
                <a:rPr sz="1125"/>
                <a:t>Get set up for fine-tuning  —  this lab trains a real model on CNN/DailyMail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548640" y="1121836"/>
              <a:ext cx="2743200" cy="27432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11480" y="1396156"/>
              <a:ext cx="3977640" cy="2880360"/>
            </a:xfrm>
            <a:prstGeom prst="roundRect">
              <a:avLst>
                <a:gd name="adj" fmla="val 2068"/>
              </a:avLst>
            </a:prstGeom>
            <a:solidFill>
              <a:srgbClr val="1E293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11480" y="1396156"/>
              <a:ext cx="54864" cy="2880360"/>
            </a:xfrm>
            <a:prstGeom prst="rect">
              <a:avLst/>
            </a:prstGeom>
            <a:solidFill>
              <a:srgbClr val="14B8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51510" y="1396156"/>
              <a:ext cx="3429000" cy="3000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800" b="1">
                  <a:solidFill>
                    <a:srgbClr val="14B8A6"/>
                  </a:solidFill>
                  <a:latin typeface="Segoe UI"/>
                </a:defRPr>
              </a:pPr>
              <a:r>
                <a:rPr sz="1350"/>
                <a:t>Setup Checklist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685800" y="1828210"/>
              <a:ext cx="192024" cy="192024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975" b="1">
                  <a:solidFill>
                    <a:srgbClr val="FFFFFF"/>
                  </a:solidFill>
                  <a:latin typeface="Segoe UI"/>
                </a:rPr>
                <a:t>✓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94410" y="1793920"/>
              <a:ext cx="3086100" cy="2423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300" b="1">
                  <a:solidFill>
                    <a:srgbClr val="FFFFFF"/>
                  </a:solidFill>
                  <a:latin typeface="Segoe UI"/>
                </a:defRPr>
              </a:pPr>
              <a:r>
                <a:rPr sz="975"/>
                <a:t>Open Google Colab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94410" y="1958512"/>
              <a:ext cx="308610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New notebook or shared Lab 2 link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85800" y="2225974"/>
              <a:ext cx="192024" cy="192024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975" b="1">
                  <a:solidFill>
                    <a:srgbClr val="FFFFFF"/>
                  </a:solidFill>
                  <a:latin typeface="Segoe UI"/>
                </a:rPr>
                <a:t>✓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94410" y="2191684"/>
              <a:ext cx="3086100" cy="2423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300" b="1">
                  <a:solidFill>
                    <a:srgbClr val="FFFFFF"/>
                  </a:solidFill>
                  <a:latin typeface="Segoe UI"/>
                </a:defRPr>
              </a:pPr>
              <a:r>
                <a:rPr sz="975"/>
                <a:t>GPU Runtime = T4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94410" y="2356276"/>
              <a:ext cx="308610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Runtime &gt; Change runtime type &gt; T4 GPU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85800" y="2623738"/>
              <a:ext cx="192024" cy="192024"/>
            </a:xfrm>
            <a:prstGeom prst="rect">
              <a:avLst/>
            </a:prstGeom>
            <a:solidFill>
              <a:srgbClr val="14B8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975" b="1">
                  <a:solidFill>
                    <a:srgbClr val="FFFFFF"/>
                  </a:solidFill>
                  <a:latin typeface="Segoe UI"/>
                </a:rPr>
                <a:t>✓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94410" y="2589448"/>
              <a:ext cx="3086100" cy="2423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300" b="1">
                  <a:solidFill>
                    <a:srgbClr val="FFFFFF"/>
                  </a:solidFill>
                  <a:latin typeface="Segoe UI"/>
                </a:defRPr>
              </a:pPr>
              <a:r>
                <a:rPr sz="975"/>
                <a:t>Install packages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94410" y="2754040"/>
              <a:ext cx="308610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transformers, datasets, evaluate, rouge_score, accelerate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685800" y="3021502"/>
              <a:ext cx="192024" cy="192024"/>
            </a:xfrm>
            <a:prstGeom prst="rect">
              <a:avLst/>
            </a:prstGeom>
            <a:solidFill>
              <a:srgbClr val="22C5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975" b="1">
                  <a:solidFill>
                    <a:srgbClr val="FFFFFF"/>
                  </a:solidFill>
                  <a:latin typeface="Segoe UI"/>
                </a:rPr>
                <a:t>✓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94410" y="2987212"/>
              <a:ext cx="3086100" cy="2423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300" b="1">
                  <a:solidFill>
                    <a:srgbClr val="FFFFFF"/>
                  </a:solidFill>
                  <a:latin typeface="Segoe UI"/>
                </a:defRPr>
              </a:pPr>
              <a:r>
                <a:rPr sz="975"/>
                <a:t>Verify GPU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94410" y="3151804"/>
              <a:ext cx="308610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import torch; torch.cuda.is_available()  →  True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85800" y="3419266"/>
              <a:ext cx="192024" cy="192024"/>
            </a:xfrm>
            <a:prstGeom prst="rect">
              <a:avLst/>
            </a:prstGeom>
            <a:solidFill>
              <a:srgbClr val="A78BF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975" b="1">
                  <a:solidFill>
                    <a:srgbClr val="FFFFFF"/>
                  </a:solidFill>
                  <a:latin typeface="Segoe UI"/>
                </a:rPr>
                <a:t>✓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994410" y="3384976"/>
              <a:ext cx="3086100" cy="2423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300" b="1">
                  <a:solidFill>
                    <a:srgbClr val="FFFFFF"/>
                  </a:solidFill>
                  <a:latin typeface="Segoe UI"/>
                </a:defRPr>
              </a:pPr>
              <a:r>
                <a:rPr sz="975"/>
                <a:t>Verify disk space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994410" y="3549568"/>
              <a:ext cx="308610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!df -h  — need ~2 GB for model + dataset cache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685800" y="3817030"/>
              <a:ext cx="192024" cy="192024"/>
            </a:xfrm>
            <a:prstGeom prst="rect">
              <a:avLst/>
            </a:prstGeom>
            <a:solidFill>
              <a:srgbClr val="FBBF2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975" b="1">
                  <a:solidFill>
                    <a:srgbClr val="FFFFFF"/>
                  </a:solidFill>
                  <a:latin typeface="Segoe UI"/>
                </a:rPr>
                <a:t>✓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994410" y="3782740"/>
              <a:ext cx="3086100" cy="2423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300" b="1">
                  <a:solidFill>
                    <a:srgbClr val="FFFFFF"/>
                  </a:solidFill>
                  <a:latin typeface="Segoe UI"/>
                </a:defRPr>
              </a:pPr>
              <a:r>
                <a:rPr sz="975"/>
                <a:t>You're all set!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994410" y="3947332"/>
              <a:ext cx="308610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Follow along cell-by-cell, don't skip the markdown!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4663440" y="1396156"/>
              <a:ext cx="3977640" cy="2880360"/>
            </a:xfrm>
            <a:prstGeom prst="roundRect">
              <a:avLst>
                <a:gd name="adj" fmla="val 2068"/>
              </a:avLst>
            </a:prstGeom>
            <a:solidFill>
              <a:srgbClr val="1E293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4663440" y="1396156"/>
              <a:ext cx="54864" cy="288036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903470" y="1396156"/>
              <a:ext cx="3429000" cy="3000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800" b="1">
                  <a:solidFill>
                    <a:srgbClr val="F59E0B"/>
                  </a:solidFill>
                  <a:latin typeface="Segoe UI"/>
                </a:defRPr>
              </a:pPr>
              <a:r>
                <a:rPr sz="1350"/>
                <a:t>What to Expect</a:t>
              </a:r>
            </a:p>
          </p:txBody>
        </p:sp>
        <p:sp>
          <p:nvSpPr>
            <p:cNvPr id="30" name="Oval 29"/>
            <p:cNvSpPr/>
            <p:nvPr/>
          </p:nvSpPr>
          <p:spPr>
            <a:xfrm>
              <a:off x="4869180" y="1821352"/>
              <a:ext cx="192024" cy="192024"/>
            </a:xfrm>
            <a:prstGeom prst="ellipse">
              <a:avLst/>
            </a:prstGeom>
            <a:solidFill>
              <a:srgbClr val="3B82F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750" b="1">
                  <a:solidFill>
                    <a:srgbClr val="FFFFFF"/>
                  </a:solidFill>
                  <a:latin typeface="Segoe UI"/>
                </a:rPr>
                <a:t>1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177790" y="1793920"/>
              <a:ext cx="3086100" cy="2423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300" b="1">
                  <a:solidFill>
                    <a:srgbClr val="FFFFFF"/>
                  </a:solidFill>
                  <a:latin typeface="Segoe UI"/>
                </a:defRPr>
              </a:pPr>
              <a:r>
                <a:rPr sz="975"/>
                <a:t>~35 minutes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177790" y="1958512"/>
              <a:ext cx="308610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Guided, cell-by-cell walk-through</a:t>
              </a:r>
            </a:p>
          </p:txBody>
        </p:sp>
        <p:sp>
          <p:nvSpPr>
            <p:cNvPr id="33" name="Oval 32"/>
            <p:cNvSpPr/>
            <p:nvPr/>
          </p:nvSpPr>
          <p:spPr>
            <a:xfrm>
              <a:off x="4869180" y="2219116"/>
              <a:ext cx="192024" cy="192024"/>
            </a:xfrm>
            <a:prstGeom prst="ellipse">
              <a:avLst/>
            </a:prstGeom>
            <a:solidFill>
              <a:srgbClr val="14B8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750" b="1">
                  <a:solidFill>
                    <a:srgbClr val="FFFFFF"/>
                  </a:solidFill>
                  <a:latin typeface="Segoe UI"/>
                </a:rPr>
                <a:t>2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177790" y="2191684"/>
              <a:ext cx="3086100" cy="2423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300" b="1">
                  <a:solidFill>
                    <a:srgbClr val="FFFFFF"/>
                  </a:solidFill>
                  <a:latin typeface="Segoe UI"/>
                </a:defRPr>
              </a:pPr>
              <a:r>
                <a:rPr sz="975"/>
                <a:t>Real training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177790" y="2356276"/>
              <a:ext cx="308610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We fine-tune BART on CNN/DailyMail (3k examples)</a:t>
              </a:r>
            </a:p>
          </p:txBody>
        </p:sp>
        <p:sp>
          <p:nvSpPr>
            <p:cNvPr id="36" name="Oval 35"/>
            <p:cNvSpPr/>
            <p:nvPr/>
          </p:nvSpPr>
          <p:spPr>
            <a:xfrm>
              <a:off x="4869180" y="2616880"/>
              <a:ext cx="192024" cy="192024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750" b="1">
                  <a:solidFill>
                    <a:srgbClr val="FFFFFF"/>
                  </a:solidFill>
                  <a:latin typeface="Segoe UI"/>
                </a:rPr>
                <a:t>3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177790" y="2589448"/>
              <a:ext cx="3086100" cy="2423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300" b="1">
                  <a:solidFill>
                    <a:srgbClr val="FFFFFF"/>
                  </a:solidFill>
                  <a:latin typeface="Segoe UI"/>
                </a:defRPr>
              </a:pPr>
              <a:r>
                <a:rPr sz="975"/>
                <a:t>~10 min training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5177790" y="2754040"/>
              <a:ext cx="308610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3 epochs on T4 GPU — watch the loss decrease!</a:t>
              </a:r>
            </a:p>
          </p:txBody>
        </p:sp>
        <p:sp>
          <p:nvSpPr>
            <p:cNvPr id="39" name="Oval 38"/>
            <p:cNvSpPr/>
            <p:nvPr/>
          </p:nvSpPr>
          <p:spPr>
            <a:xfrm>
              <a:off x="4869180" y="3014644"/>
              <a:ext cx="192024" cy="192024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750" b="1">
                  <a:solidFill>
                    <a:srgbClr val="FFFFFF"/>
                  </a:solidFill>
                  <a:latin typeface="Segoe UI"/>
                </a:rPr>
                <a:t>4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177790" y="2987212"/>
              <a:ext cx="3086100" cy="2423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300" b="1">
                  <a:solidFill>
                    <a:srgbClr val="FFFFFF"/>
                  </a:solidFill>
                  <a:latin typeface="Segoe UI"/>
                </a:defRPr>
              </a:pPr>
              <a:r>
                <a:rPr sz="975"/>
                <a:t>Before vs After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177790" y="3151804"/>
              <a:ext cx="308610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Compare base model vs your fine-tuned model</a:t>
              </a:r>
            </a:p>
          </p:txBody>
        </p:sp>
        <p:sp>
          <p:nvSpPr>
            <p:cNvPr id="42" name="Oval 41"/>
            <p:cNvSpPr/>
            <p:nvPr/>
          </p:nvSpPr>
          <p:spPr>
            <a:xfrm>
              <a:off x="4869180" y="3412408"/>
              <a:ext cx="192024" cy="192024"/>
            </a:xfrm>
            <a:prstGeom prst="ellipse">
              <a:avLst/>
            </a:prstGeom>
            <a:solidFill>
              <a:srgbClr val="A78BF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750" b="1">
                  <a:solidFill>
                    <a:srgbClr val="FFFFFF"/>
                  </a:solidFill>
                  <a:latin typeface="Segoe UI"/>
                </a:rPr>
                <a:t>5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177790" y="3384976"/>
              <a:ext cx="3086100" cy="2423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300" b="1">
                  <a:solidFill>
                    <a:srgbClr val="FFFFFF"/>
                  </a:solidFill>
                  <a:latin typeface="Segoe UI"/>
                </a:defRPr>
              </a:pPr>
              <a:r>
                <a:rPr sz="975"/>
                <a:t>ROUGE scores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5177790" y="3549568"/>
              <a:ext cx="308610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Quantitative evaluation — not just vibes!</a:t>
              </a:r>
            </a:p>
          </p:txBody>
        </p:sp>
        <p:sp>
          <p:nvSpPr>
            <p:cNvPr id="45" name="Oval 44"/>
            <p:cNvSpPr/>
            <p:nvPr/>
          </p:nvSpPr>
          <p:spPr>
            <a:xfrm>
              <a:off x="4869180" y="3810172"/>
              <a:ext cx="192024" cy="192024"/>
            </a:xfrm>
            <a:prstGeom prst="ellipse">
              <a:avLst/>
            </a:prstGeom>
            <a:solidFill>
              <a:srgbClr val="FBBF2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750" b="1">
                  <a:solidFill>
                    <a:srgbClr val="FFFFFF"/>
                  </a:solidFill>
                  <a:latin typeface="Segoe UI"/>
                </a:rPr>
                <a:t>6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5177790" y="3782740"/>
              <a:ext cx="3086100" cy="2423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300" b="1">
                  <a:solidFill>
                    <a:srgbClr val="FFFFFF"/>
                  </a:solidFill>
                  <a:latin typeface="Segoe UI"/>
                </a:defRPr>
              </a:pPr>
              <a:r>
                <a:rPr sz="975"/>
                <a:t>Save &amp; reload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5177790" y="3947332"/>
              <a:ext cx="308610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B0B8C8"/>
                  </a:solidFill>
                  <a:latin typeface="Segoe UI"/>
                </a:defRPr>
              </a:pPr>
              <a:r>
                <a:rPr sz="750"/>
                <a:t>Export your model and load it back for inference</a:t>
              </a:r>
            </a:p>
          </p:txBody>
        </p:sp>
      </p:grpSp>
      <p:sp>
        <p:nvSpPr>
          <p:cNvPr id="48" name="Rectangle 47"/>
          <p:cNvSpPr/>
          <p:nvPr/>
        </p:nvSpPr>
        <p:spPr>
          <a:xfrm>
            <a:off x="1" y="4629150"/>
            <a:ext cx="9143771" cy="5143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49" name="Rounded Rectangle 48"/>
          <p:cNvSpPr/>
          <p:nvPr/>
        </p:nvSpPr>
        <p:spPr>
          <a:xfrm>
            <a:off x="548640" y="4732020"/>
            <a:ext cx="1097280" cy="240030"/>
          </a:xfrm>
          <a:prstGeom prst="roundRect">
            <a:avLst>
              <a:gd name="adj" fmla="val 10937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675" b="1">
                <a:solidFill>
                  <a:srgbClr val="FFFFFF"/>
                </a:solidFill>
                <a:latin typeface="Segoe UI"/>
              </a:rPr>
              <a:t>⚠ IMPORTANT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783080" y="4732021"/>
            <a:ext cx="617220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Segoe UI"/>
              </a:defRPr>
            </a:pPr>
            <a:r>
              <a:rPr sz="825"/>
              <a:t>Fine-tuning uses more GPU memory than inference.  If you hit OOM errors, reduce batch_size to 2 or enable gradient_accumulation_steps=4.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Streamline">
    <a:dk1>
      <a:srgbClr val="1A9988"/>
    </a:dk1>
    <a:lt1>
      <a:srgbClr val="FFFFFF"/>
    </a:lt1>
    <a:dk2>
      <a:srgbClr val="1A1A1A"/>
    </a:dk2>
    <a:lt2>
      <a:srgbClr val="E9EDEE"/>
    </a:lt2>
    <a:accent1>
      <a:srgbClr val="595959"/>
    </a:accent1>
    <a:accent2>
      <a:srgbClr val="6AA4C8"/>
    </a:accent2>
    <a:accent3>
      <a:srgbClr val="EB5600"/>
    </a:accent3>
    <a:accent4>
      <a:srgbClr val="A2FFE8"/>
    </a:accent4>
    <a:accent5>
      <a:srgbClr val="1C3678"/>
    </a:accent5>
    <a:accent6>
      <a:srgbClr val="FFB8A2"/>
    </a:accent6>
    <a:hlink>
      <a:srgbClr val="1C3678"/>
    </a:hlink>
    <a:folHlink>
      <a:srgbClr val="1C3678"/>
    </a:folHlink>
  </a:clrScheme>
</a:themeOverride>
</file>

<file path=docMetadata/LabelInfo.xml><?xml version="1.0" encoding="utf-8"?>
<clbl:labelList xmlns:clbl="http://schemas.microsoft.com/office/2020/mipLabelMetadata">
  <clbl:label id="{bad6f6f2-a951-4904-b531-92e1207fc7a5}" enabled="1" method="Standard" siteId="{b7be7686-6f97-4db7-9081-a23cf09a96b5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1257</TotalTime>
  <Words>10118</Words>
  <Application>Microsoft Office PowerPoint</Application>
  <PresentationFormat>On-screen Show (16:9)</PresentationFormat>
  <Paragraphs>1924</Paragraphs>
  <Slides>49</Slides>
  <Notes>45</Notes>
  <HiddenSlides>6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7" baseType="lpstr">
      <vt:lpstr>Lato</vt:lpstr>
      <vt:lpstr>Noto Sans Symbols</vt:lpstr>
      <vt:lpstr>Arial</vt:lpstr>
      <vt:lpstr>Calibri</vt:lpstr>
      <vt:lpstr>Raleway</vt:lpstr>
      <vt:lpstr>Segoe UI</vt:lpstr>
      <vt:lpstr>Wingdings</vt:lpstr>
      <vt:lpstr>Streamline</vt:lpstr>
      <vt:lpstr>GenAI Under the Hood: Transformers — From Theory to Fine-Tuning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Olivia Tay</dc:creator>
  <cp:lastModifiedBy>Shreshth Srivastav</cp:lastModifiedBy>
  <cp:revision>59</cp:revision>
  <dcterms:created xsi:type="dcterms:W3CDTF">2023-01-09T06:55:18Z</dcterms:created>
  <dcterms:modified xsi:type="dcterms:W3CDTF">2026-03-10T09:19:12Z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fs.IsStoryboard">
    <vt:bool>true</vt:bool>
  </property>
  <property fmtid="{D5CDD505-2E9C-101B-9397-08002B2CF9AE}" pid="3" name="ContentTypeId">
    <vt:lpwstr>0x010100D35801D1EC8272458E4D836A757CD43D</vt:lpwstr>
  </property>
  <property fmtid="{D5CDD505-2E9C-101B-9397-08002B2CF9AE}" pid="4" name="TaxKeyword">
    <vt:lpwstr/>
  </property>
</Properties>
</file>